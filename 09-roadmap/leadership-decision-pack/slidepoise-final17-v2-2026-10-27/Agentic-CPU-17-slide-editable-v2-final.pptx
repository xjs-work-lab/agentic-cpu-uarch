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S01 讲者备注｜Agentic AI 将改变手机 CPU 与异构系统的协作方式
&gt; 版本：2026-10-27；依照现行页序重新映射，来源依项目研究结论与正式决策。图片尚不是已可编辑 PowerPoint 备注。
## 本页核心观点和画面讲解
先讲报告的对象是智能手机 SoC 内现有 CPU、GPU、NPU、共享内存以及 Runtime/OS 的协同。所谓 Agentic 负载，并非单次语言模型推理的简单重复，而是有用户目标、可选择的计划和工具操作、上下文状态与验证反馈的多阶段工作流。左侧用户目标/Agent 概念与右侧手机 SoC 的图像为示意关系，不是芯片物理版图、真实互连或已实现的硬件流水线。
## 来源支持了什么
本报告结论来源于公开研究论文、平台/厂商官方接口与现行研究决策。规划窗口是 2027—2029，AArch64/LLVM 与性能—能耗权衡为重点。相关总判断见研究终稿及 current.md。
## 不能推出什么／适用边界
未做真实手机实验。封面只定义范围；不能凭概念绘画宣布新 ISA、SoC 量产时间、硬件面积、CPU/NPU 固定分工或已批准实施排期。
[SlidePoise sources]
Generated target visual: C:\00-workspace\01-github-opensource\SlidePoise\workspace\agentic-cpu-17-slide-run\slides\s01\work\accepted-slide.png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S02 讲者备注｜四个章节推动从负载变化走向证据约束下的技术路线
&gt; 版本：2026-10-27；依照现行页序重新映射，来源依项目研究结论与正式决策。图片尚不是已可编辑 PowerPoint 备注。
## 本页核心观点和画面讲解
讲清整套页码：S01 封面，S02 目录；第一节 S03—S05 回答优先级、Agent 工作负载变化、动态 DAG；第二节 S06—S09 检查 CPU/NPU、llm.npu/ShadowNPU、CPU SME2、Runtime/OS 和 DRAM/QoE 的实际机制；第三节 S10—S14 检验可信动作、软件进度强基线、跨层协同、工程路径与条件研究；第四节 S15—S17 汇总三年建议、证据边界与管理决策。
## 来源支持了什么
依据：本仓 01-deck-outline.md 和 02-slide-contracts.md 所冻结的 17 页叙事。框内数字是页号而非实验证据。
## 不能推出什么／适用边界
历史另一版 17 页讲者备注与当前顺序不同，不得按旧页号复制。本页不要求观众记忆研究内部编码。
[SlidePoise sources]
Generated target visual: C:\00-workspace\01-github-opensource\SlidePoise\workspace\agentic-cpu-17-slide-run\slides\s02\work\accepted-slide.png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S03 讲者备注｜三项软件工程优先、三项条件储备、零项充分证据支持的新硬件主押注
&gt; 版本：2026-10-27；依照现行页序重新映射，来源依项目研究结论与正式决策。图片尚不是已可编辑 PowerPoint 备注。
## 本页核心观点和画面讲解
先说明真正的优先事项是三种可落地跨层能力：现有 CPU/AArch64/LLVM 与异构加速的执行快速路径、可信 Agent 工具动作的权限与结果验证、Runtime/OS 动态阶段放置和前台 QoE。三项只在新证据到来时开启窄范围评估的方向是额外私有任务进度、跨引擎派生状态的物理有效性、CPU continuation locality。这里的“0”代表当前公开证据门槛未过，而不是断言永远不可能出现专用 Agent CPU 硬件。
## 来源支持了什么
依据：current.md、DEC-PORTFOLIO-002、DEC-A-008；后者已正式将 A 从历史 Primary Bet 降为 conditional reserve。论文/厂商 API 为现有软件和系统手段提供实例，而不能自行构成新硅片必要性证明。
## 不能推出什么／适用边界
3/3/0 是研究组合计数而非预算数额、人员分配或已批准里程碑。不要使用历史 82.5 等评分作为当前推荐。
[SlidePoise sources]
Generated target visual: C:\00-workspace\01-github-opensource\SlidePoise\workspace\agentic-cpu-17-slide-run\slides\s03\work\accepted-slide.png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S04 讲者备注｜Agent 连续任务改变手机执行负载与唤醒决策
&gt; 版本：2026-10-27；依照现行页序重新映射，来源依项目研究结论与正式决策。图片尚不是已可编辑 PowerPoint 备注。
## 本页核心观点和画面讲解
按四种结构变化讲：连续会话和跨应用工具涉及权限与实际效果验证；反复异构交接让检索、生成、必要时再次查询形成动态阶段依赖，CPU↔NPU 交接及共享 DRAM 成本可能重要；目标与状态修订让版本、TTL、撤销和恢复变为运行时问题；低功耗准入决定是否值得唤醒执行，必须考虑误报、隐私与用户价值。页面中央任务生命周期是典型概念示意，并非所有 Agent 都必须走同样顺序。
## 来源支持了什么
HeRo（PAPER-098）支持 Agentic RAG 动态 DAG 与异构资源关联；ProAgentBench（PAPER-044）支持历史上下文影响主动帮助时机的软件评估；Apple FoundationModels Session/Tool 说明现有平台具备会话与工具接口。
## 不能推出什么／适用边界
示例日历、邮箱、传感唤醒用于解释机制，不等于论文设备测量。工具操作、结果核验、低功耗唤醒均受场景、用户授权与实际系统能力约束。
[SlidePoise sources]
Generated target visual: C:\00-workspace\01-github-opensource\SlidePoise\workspace\agentic-cpu-17-slide-run\slides\s04\work\accepted-slide.png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S05 讲者备注｜动态 DAG 使调度对象从单算子扩展为阶段与依赖
&gt; 版本：2026-10-27；依照现行页序重新映射，来源依项目研究结论与正式决策。图片尚不是已可编辑 PowerPoint 备注。
## 本页核心观点和画面讲解
逐步解释用户目标、规划、可选查询重写与两个并行检索分支、聚合/重排、推理/生成、授权后可选工具操作、独立外部结果核验、状态更新/有条件反馈。实线是执行/数据依赖，虚线是可选/反馈控制；不能把动态 DAG 画成固定序列。CPU/GPU/NPU 是可选资源池，由阶段、后端能力、启动和同步、搬运、内存争用决定放置。
## 来源支持了什么
HeRo（PAPER-098，https://arxiv.org/abs/2603.01661）研究动态 Agentic RAG DAG 和阶段放置；SERENO（PAPER-003，OSDI 2026）研究前台 QoE 和后台 LLM 共享 DRAM 争用。两篇支撑不同问题，图为综合概念图而非原论文图。
## 不能推出什么／适用边界
不能宣称所有 Agent 都有同一 DAG，也不能给 CPU/NPU 固定阶段角色。此页无经过核实的统一端到端性能倍数，不能以局部算子快推断端到端必快。
[SlidePoise sources]
Generated target visual: C:\00-workspace\01-github-opensource\SlidePoise\workspace\agentic-cpu-17-slide-run\slides\s05\work\accepted-slide.png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S06 讲者备注｜同机 CPU/NPU 的性能交叉取决于阶段和非计算开销
&gt; 版本：2026-10-27；依照现行页序重新映射，来源依项目研究结论与正式决策。图片尚不是已可编辑 PowerPoint 备注。
## 本页核心观点和画面讲解
先让观众明确分母不同：被测 Snapdragon 8 Gen3/Hexagon v75 某软件栈下 NPU Prefill 可能比六核 CPU 慢 1.27–1.62×；Decode MUL_MAT 单算子在 NPU 上约低延迟 1.55–1.67×，但论文摘要中整条 Decode 路径的优势约仅 1.05–1.20×。通信约占被测 NPU 路径 9.9–13.0%，它是成本比例而非 9.9–13.0% 的收益。初始化、同步、张量布局、fallback 和共享竞争可能重叠，并非可机械加总的独立实验柱。
## 来源支持了什么
来源 PAPER-009 “When NPUs Are Not Always Faster” https://arxiv.org/abs/2605.27435。图中比较范围受论文设备、软件后端、算子形状、量化与基线约束；绝对毫秒原图数值因缺少逐表锁定而没有引用。
## 不能推出什么／适用边界
不推出“CPU 永远强于 NPU”“所有 NPU Prefill 必慢”“单个 MUL_MAT 的倍数就是整体 Decode 倍数”或“Agent 端到端获得同样加速”。下一页 S07 给出了软件优化后 NPU 的强基线。
[SlidePoise sources]
Generated target visual: C:\00-workspace\01-github-opensource\SlidePoise\workspace\agentic-cpu-17-slide-run\slides\s06\work\accepted-slide.png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S07 讲者备注｜llm.npu 与 ShadowNPU 是两个异构软件优化机制
&gt; 版本：2026-10-27；依照现行页序重新映射，来源依项目研究结论与正式决策。图片尚不是已可编辑 PowerPoint 备注。
## 本页核心观点和画面讲解
左侧 llm.npu 将动态 Prompt 分块映射到可复用 NPU 静态图，INT8 核心运算更多交给 NPU，CPU/GPU 仍要处理 outlier、敏感子图或不适配算子；右侧 ShadowNPU 重点在 Prefill Attention，由 NPU 做低精重要 token/位置估计，CPU/GPU 对 top-k 和高精度稀疏残差做必要计算。观众应看出分工几何不同，而不把所有推理都下沉 NPU。
## 来源支持了什么
PAPER-059 llm.npu（ASPLOS 2025, https://arxiv.org/abs/2407.05858）；PAPER-057 ShadowNPU（MobiSys 2026, https://arxiv.org/abs/2508.16703）。两项研究机构谱系相关，不能误当完全独立重复验证。某些论文报道的提速/省电幅度只适用于其平台与特定比较基线，本页没有把倍数放在同一坐标轴。
## 不能推出什么／适用边界
ShadowNPU 不支持“完整 Decode Attention 全面搬到 NPU”的说法。图形中任何 CPU/GPU 箭头代表可协作的高精工作，而非各 GPU/CPU 步骤必然串行；也不能由这两篇研究推出新增 CPU 专用 ISA 的必要性。
[SlidePoise sources]
Generated target visual: C:\00-workspace\01-github-opensource\SlidePoise\workspace\agentic-cpu-17-slide-run\slides\s07\work\accepted-slide.png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S08 讲者备注｜SME2 属于 CPU 内部执行能力，手机算子优化仍有空间
&gt; 版本：2026-10-27；依照现行页序重新映射，来源依项目研究结论与正式决策。图片尚不是已可编辑 PowerPoint 备注。
## 本页核心观点和画面讲解
首先解释 SoC 有 CPU、GPU、NPU 等独立处理引擎，SME/SME2 则属于 Arm CPU 内的架构扩展/流式矩阵能力，而不是一颗独立处理器。编译器应考虑形状、tile、packing、布局复用和状态/ABI；内存搬运可能成为瓶颈。解释右侧 vivo X300 SqueezeSAM 视觉分割模型，在单一 CPU 核、正常功耗配置下，INT8 555.8→304.1 ms；FP16 1163.0→298.2 ms，两个精度使用统一毫秒刻度。
## 来源支持了什么
PyTorch/Arm ExecuTorch+XNNPACK+KleidiAI 官方案例（TOOL-012, https://pytorch.org/blog/accelerating-on-device-ml-inference-with-executorch-and-arm-sme2/）；SMEPilot（PAPER-052, https://arxiv.org/abs/2606.16332）支持 CPU/SME operator-aware 协作、tile 与 attention 的工程机制；LLVM AArch64 SME/ArmSME 文档支持指令语义和状态/编译约束。
## 不能推出什么／适用边界
SqueezeSAM 属于手机上的视觉任务，不是 Agent E2E，也不是 CPU-vs-NPU 同机对照。SMEPilot 的 Apple M4 Pro 能耗数值不是手机电池测量，不能混为一谈。装饰性芯片图不代表真实 die floorplan。
[SlidePoise sources]
Generated target visual: C:\00-workspace\01-github-opensource\SlidePoise\workspace\agentic-cpu-17-slide-run\slides\s08\work\accepted-slide.png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S09 讲者备注｜HeRo 与 SERENO 指向不同但互补的 Runtime/OS 能力
&gt; 版本：2026-10-27；依照现行页序重新映射，来源依项目研究结论与正式决策。图片尚不是已可编辑 PowerPoint 备注。
## 本页核心观点和画面讲解
左半 HeRo 关注动态 Agentic RAG 阶段依赖和完成时间，借关键路径、后端能力/资源亲和、内存压力做阶段放置；右半 SERENO 关注后台 LLM 计算与前台 App 共享 DRAM 带宽造成交互卡顿，并让后台工作依据前台 QoE 需求让步。底部汇到 Runtime/OS 的共同能力，是研究者的系统架构综合而非两篇论文直接互相依赖。
## 来源支持了什么
PAPER-098 HeRo (https://arxiv.org/abs/2603.01661) 商用手机 Agentic RAG 的动态 DAG 实证，其独立消融案例 5.79→3.82 s 和 17.23→5.38 s 不是全局平均；PAPER-003 SERENO（OSDI 2026, https://www.usenix.org/system/files/osdi26-xin.pdf）用于说明背景 LLM DRAM/QoE 争用及让步机制。
## 不能推出什么／适用边界
左侧 CPU/GPU/NPU 任务泳道为概念放置举例，不是 HeRo 在所有配置中的固定执行映射；右侧没有显示精确 DRAM 带宽数字，不能拿两篇不同指标求和/相乘，也不能据此宣布新 CPU 专用硬件必要。
[SlidePoise sources]
Generated target visual: C:\00-workspace\01-github-opensource\SlidePoise\workspace\agentic-cpu-17-slide-run\slides\s09\work\accepted-slide.png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S10 讲者备注｜工具 API 成功响应不等于用户目标真实完成
&gt; 版本：2026-10-27；依照现行页序重新映射，来源依项目研究结论与正式决策。图片尚不是已可编辑 PowerPoint 备注。
## 本页核心观点和画面讲解
讲述从用户意图与权限、新鲜的目标对象绑定、受限工具调用到外部世界状态变化，再独立回读并验证真实效果的整个闭环。判定节点有两种结果：目标证据一致则确认完成；不一致、超时或目标变化则取消、补偿或有界重试，并记录责任状态。必须区分请求路径与外部世界效果回读路径。
## 来源支持了什么
Apple FoundationModels LanguageModelSession/Tools (VENDOR-032) 官方接口证明工具和会话能力存在；PATENT-033 仅为软件事务/回滚专利申请先例；项目现行 PT-A 是需要被工程实现的可信工具动作合同。
## 不能推出什么／适用边界
OutcomeReceipt 为本研究建议的效果回执接口表达，不是 Apple/Android 已统一公布同名标准；API 200 不意味着物理世界/第三方系统已达成目标；恢复必须遵守权限、用户确认、重试上限和终止条件，不能以此证明新增 CPU 语义 ISA。
[SlidePoise sources]
Generated target visual: C:\00-workspace\01-github-opensource\SlidePoise\workspace\agentic-cpu-17-slide-run\slides\s10\work\accepted-slide.png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S11 讲者备注｜软件 Ledger/语义摘要是进度判断的强基线
&gt; 版本：2026-10-27；依照现行页序重新映射，来源依项目研究结论与正式决策。图片尚不是已可编辑 PowerPoint 备注。
## 本页核心观点和画面讲解
解释用户目标、DAG/计划、历史动作、产物、权限、资源状态与验证记录可以由软件显式观察并合成为 Ledger 和语义摘要，支持下一步调度、路由、完成判断与恢复。LAS 强调可观察验证门控；ProgRouter 强调软件账本/摘要驱动模型路由；ProAgentBench 强调历史上下文影响是否主动帮助。右侧私有 RequiredProgress 是尚待证明的窄问题，虚线表示没有发现/未证明。
## 来源支持了什么
PAPER-119 LAS (ACL 2026, https://aclanthology.org/2026.acl-long.581/), PAPER-121 ProgRouter (https://arxiv.org/abs/2608.25992), PAPER-044 ProAgentBench；正式 DEC-A-008 将历史 A 主押注降为条件研究。
## 不能推出什么／适用边界
上述多为软件/云端/代码或应用级研究，不是同手机 SoC 测量。未知私有进度信号没有被发现，也没有被证明不存在；唯有在完整可观察历史之外存在独立增量信息且产生真实手机收益时才有重开价值。
[SlidePoise sources]
Generated target visual: C:\00-workspace\01-github-opensource\SlidePoise\workspace\agentic-cpu-17-slide-run\slides\s11\work\accepted-slide.png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S12｜跨层状态治理、主动低功耗准入与语义进度/QoE协同（修订后 Speaker Notes）
&gt; 版本：2026-10-27 v2。对应最新 S12 Image2.5 视觉图。本文件仅是待导入 PowerPoint 的备注原稿，尚未被写入 PPTX。
## 本页核心论点
Agent 工作流跨越应用层、Runtime/OS、CPU/LLVM和GPU/NPU/DRAM。**执行/派生状态生命周期（F）、主动低功耗准入（P）、语义进度/体验（V）是相互作用的跨层工程主题，而不是三个要新做的专用芯片模块**。
## 如何讲解画面
先看上方三个机制域。第一组是状态生命周期：用户目标、派生结果、缓存和执行中间状态具有来源、版本、有效期、撤销、失效与恢复规则。第二组是感知准入：事件到来后先判断用户意图/价值，再决定是否唤醒或执行；价值低则保持低功耗，防止无意义唤醒和隐私侵扰。第三组是语义进度/QoE：根据阶段和目标决定继续、切换模型/工具、验证结果，同时关注前台交互体验。
下方四层是协作职责：Agent/应用提供目标、任务上下文与效果反馈；Runtime/OS管理状态合同、唤醒策略和动态资源准入；CPU/LLVM实现通用控制和已有指令路径的执行优化；GPU/NPU/DRAM提供条件适用的加速/缓存资源与可观测运行状态。上下箭头是**接口交接、状态与约束反馈的概念示意**，不表示已存在统一硬件协议或新的 CPU↔NPU 专用 ISA。
## 证据为什么支持这个技术判断
- PAPER-098（HeRo）支撑动态 Agentic RAG 阶段和异构资源放置影响任务完成时间；PAPER-003（SERENO）支撑后台 LLM 与前台应用共享 DRAM 带宽争用，QoE 需要系统级控制。两项研究任务和指标不同，不相加收益。
- PAPER-119（LAS）和 PAPER-121（ProgRouter）支持**软件可观察进度/任务账本**已经可供调度/验证/路由使用，但并非手机 CPU 私有寄存器实验。
- VENDOR-027 Android NPU Manager、VENDOR-029 Qualcomm shared buffer、VENDOR-032 Apple Session/Tools 是公开平台能力或接口示例，**并不证明**所有机型跨引擎零拷贝，也不证明图中端到端跨层治理架构已有统一实现。
- 低功耗准入可参考既有 CHRE/AOP/Sensing Hub 路线；要综合误唤醒、漏报、隐私、用户价值和电池，不能假设每次感知都启动 LLM。
## 不能外推什么
本图是跨层工程能力的研究者综合架构图，不是已有产品架构的物理框图；不存在独立证据支持新语义寄存器/专用缓存保持硬件已被证明必要。不能把共享 buffer 视为任意处理器零开销一致性，也不能把 QoE 目标等同于测量得到的确定加速。无真机测量。
[SlidePoise sources]
Generated target visual: C:\00-workspace\01-github-opensource\SlidePoise\workspace\agentic-cpu-17-slide-run\slides\s12\work\accepted-slide.png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S13 讲者备注｜三项优先建设的工程责任不同，但需要跨层接口
&gt; 版本：2026-10-27；依照现行页序重新映射，来源依项目研究结论与正式决策。图片尚不是已可编辑 PowerPoint 备注。
## 本页核心观点和画面讲解
将 Runtime/OS 动态调度和前台 QoE、可信 Agent 工具动作/真实结果验证、现有 ISA/LLVM+微内核/packing 及 CPU↔NPU 分阶段放置，解释为三个工程责任域。再讲贯穿它们的状态接口、观测/遥测、异构放置、fallback/恢复、唤醒能耗策略和权限合同。Compiler 可优化已有 CPU 指令与算子处理，Runtime 决定系统级放置与资源准入，Agent/OS 负责工具授权与效果。
## 来源支持了什么
决策依据 current.md、DEC-PORTFOLIO-002；PAPER-009/052/098/003、TOOL-012 和 VENDOR-027/029/032 为软件/硬件已有机制的支撑，不是某团队已按这些图完成产品开发的证明。
## 不能推出什么／适用边界
图中的三根工程支柱是工作分工建议，不对应已经签署的真实负责人、经费或性能目标。仍须从真实手机系统测量判定跨层收益，不宣称三个专用新硅片模块。
[SlidePoise sources]
Generated target visual: C:\00-workspace\01-github-opensource\SlidePoise\workspace\agentic-cpu-17-slide-run\slides\s13\work\accepted-slide.png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S14 讲者备注｜强软件替代解释之后才讨论硬件残余机会
&gt; 版本：2026-10-27；依照现行页序重新映射，来源依项目研究结论与正式决策。图片尚不是已可编辑 PowerPoint 备注。
## 本页核心观点和画面讲解
中心展示强软件基线已经在 NPU、Runtime/OS、可信动作和软件进度控制层压缩硬件创新空间。右侧保留三项窄条件假设：软件账本外私有任务进度增量、跨处理器派生状态失效的物理残差、CPU continuation locality 剩余损失。底部五项证据门槛（软件不可替代、真实手机收益、能耗/QoE、接口可实现、与现有CPU/NPU协同）是进入窄范围研究的评估条件，不是五项都已通过的验收勾选。
## 来源支持了什么
决策依据 DEC-A-008、DEC-PORTFOLIO-002/current.md；强基线分别见 LAS/ProgRouter、Android NPU Manager、Qualcomm shared buffer、缓存迁移/状态专利、公开 CPU cache 机制、llm.npu/ShadowNPU/HeRo/SERENO。
## 不能推出什么／适用边界
不存在当前可批准的独立新 CPU Agent 硬件 Primary Bet。旧研究历史分值不可替代现行决策；新专用语义 ISA 当前 BLOCKED，低功耗平台及公开竞争者研究 FOLLOW/WATCH。
[SlidePoise sources]
Generated target visual: C:\00-workspace\01-github-opensource\SlidePoise\workspace\agentic-cpu-17-slide-run\slides\s14\work\accepted-slide.png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S15 讲者备注｜三年路线是按证据推进的软件与系统能力建议
&gt; 版本：2026-10-27；依照现行页序重新映射，来源依项目研究结论与正式决策。图片尚不是已可编辑 PowerPoint 备注。
## 本页核心观点和画面讲解
横向解释 2027 建立工程基础、2028 强化跨层协作合同、2029 持续改进并依据新证据讨论研究储备；纵向解释 CPU/LLVM、Runtime/OS、可信 Agent 工具、内存/派生状态与主动低功耗。可继续现有 AArch64/SME2、LLVM、动态 DAG、QoE、权限/状态治理、低功耗已知接口，不把条件方向按年度标成已定流片/量产。
## 来源支持了什么
current.md、DEC-PORTFOLIO-002、DEC-A-008 和研究终稿第十三章提供层×年度建议；SMEPilot、ExecuTorch、llm.npu/ShadowNPU、HeRo/SERENO 等案例说明现有软件/系统优化具有真实研究空间。
## 不能推出什么／适用边界
2027/28/29 是建议时间窗，不是厂商公开量产时间、公司预算、人力计划；条件研究方向 A/B-residual/R2 必须等强软件基线不能吸收的可复核新证据出现才能重启。
[SlidePoise sources]
Generated target visual: C:\00-workspace\01-github-opensource\SlidePoise\workspace\agentic-cpu-17-slide-run\slides\s15\work\accepted-slide.png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S16｜证据适用边界比论文数量重要（修订后 Speaker Notes）
&gt; 版本：2026-10-27 v2。对应最新 S16 Image2.5 视觉图。本文件仅是待导入 PowerPoint 的备注原稿，尚未被写入 PPTX。
## 本页核心论点
对新 CPU 微架构的判断必须沿着“原始事实→条件限定→跨源推断→实验/复核门槛”形成证据链，**不能仅因某论文在特殊配置下获得倍率，就推出所有手机或新的 Agent ISA 必需**。
## 如何讲解画面
上方四个证据等级分别是：
1. **直接事实**：某篇论文、官方数据在具体平台、模型、软件栈与比较基线下的测量或公开能力；只能在原条件内使用。
2. **跨来源推断**：把多个具有边界的来源串联，提出合理技术判断，但必须公开解释额外假设、来源关联和适用范围。
3. **待证实假设**：目前尚无足够原始实验的潜在机制，只能引导未来可能的窄问题研究，不应直接制定产品或硬件路线。
4. **尚无充分证据支持的主张**：例如“所有手机 CPU 更快”或“现在必须新增 Agent 语义 ISA”；这意味着没有达到证据门槛，**不等于数学上证明永久不可能**。
中间三个成对例子：PAPER-009 的被测手机 CPU/NPU Prefill、Decode 性能交叉，不支持对所有手机普适判断；PAPER-052/TOOL-012 的现有 CPU SME/SME2 路径改进，不支持必须新增 Agent ISA；LAS/ProgRouter 等可观察软件进度控制的结果，不支持已有不可观察 CPU 私有语义信号被发现且有独立收益。
## 科学审稿需检查的六条边界
设备/SoC 型号、模型/任务、软件栈和基线、指标及单位、平均/峰值/最佳、来源谱系与独立性。包括原论文表图并非每个公开摘要提供了完整上下文、相近团队的不同论文不等于独立重复验证。当前研究基于公开证据，未完成新真机实验或专利自由实施的完整法律判断。
## 后续何时可以重审
仅当已有软件/编译/Runtime/OS 强基线仍无法吸收稳定可重复的手机物理残差，在真实手机上对任务、功耗/能效、前台 QoE 有明确净益，而且拟议接口能够安全、兼容、可维护地实现时，才可重新评估狭义硬件方向。这不是已批准的研发、预算或量产承诺。
[SlidePoise sources]
Generated target visual: C:\00-workspace\01-github-opensource\SlidePoise\workspace\agentic-cpu-17-slide-run\slides\s16\work\accepted-slide.png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S17 讲者备注｜软件优先、三项储备开放、硬件随新证据重审
&gt; 版本：2026-10-27；依照现行页序重新映射，来源依项目研究结论与正式决策。图片尚不是已可编辑 PowerPoint 备注。
## 本页核心观点和画面讲解
作为管理层结束页，先用最短语言复述三项当前优先工程：现有 CPU/LLVM 异构快速路径、可信工具动作与实际效果核验、Runtime/OS 动态调度和前台 QoE；三项条件研究保持跟踪：额外私有任务进度信息、跨引擎派生状态物理有效性、CPU 续执行局部性；独立新 Agent CPU ISA/寄存器/大规模硅片项目没有已过门槛主押注。下方路线图强调先建立可交付、可测量的系统软件价值，再按外部新手机对照研究更新判断。
## 来源支持了什么
依据现行 current.md、DEC-PORTFOLIO-002、DEC-A-008 及研究结题验收。若出现与强软件基线同设备同场景可复核的新公开 CPU-NPU 对比、硬件物理状态残差、真实手机能耗/QoE收益及可实现接口，才形成研究议题重新审查。
## 不能推出什么／适用边界
此页提出的“季度复审”属于建议的管理节奏，并非已批准的自动流程或承诺。没有在本轮发起真机测试、外部合作、芯片开发或人力预算申请。结束句：CPU 仍重要，但新增 Agent 专用硅片要由证据决定。
[SlidePoise sources]
Generated target visual: C:\00-workspace\01-github-opensource\SlidePoise\workspace\agentic-cpu-17-slide-run\slides\s17\work\accepted-slide.png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POISE_MASTER_1">
    <p:bg>
      <p:bgPr>
        <a:solidFill>
          <a:srgbClr val="FFFFFF"/>
        </a:solidFill>
      </p:bgPr>
    </p:bg>
    <p:spTree>
      <p:nvGrpSpPr>
        <p:cNvPr id="1" name=""/>
        <p:cNvGrpSpPr/>
        <p:nvPr/>
      </p:nvGrpSpPr>
      <p:grpSpPr>
        <a:xfrm>
          <a:off x="0" y="0"/>
          <a:ext cx="0" cy="0"/>
          <a:chOff x="0" y="0"/>
          <a:chExt cx="0" cy="0"/>
        </a:xfrm>
      </p:grpSpPr>
      <p:sp>
        <p:nvSpPr>
          <p:cNvPr id="2" name="SC_MASTER_HEADER_LEFT"/>
          <p:cNvSpPr/>
          <p:nvPr/>
        </p:nvSpPr>
        <p:spPr>
          <a:xfrm>
            <a:off x="238125" y="29766"/>
            <a:ext cx="5614035" cy="184547"/>
          </a:xfrm>
          <a:prstGeom prst="rect">
            <a:avLst/>
          </a:prstGeom>
          <a:noFill/>
          <a:ln/>
        </p:spPr>
        <p:txBody>
          <a:bodyPr wrap="square" lIns="0" tIns="0" rIns="0" bIns="0" rtlCol="0" anchor="ctr">
            <a:normAutofit/>
          </a:bodyPr>
          <a:lstStyle/>
          <a:p>
            <a:pPr algn="l" indent="0" marL="0">
              <a:buNone/>
            </a:pPr>
            <a:r>
              <a:rPr lang="en-US" sz="600" b="1" dirty="0">
                <a:solidFill>
                  <a:srgbClr val="173753"/>
                </a:solidFill>
                <a:latin typeface="Microsoft YaHei" pitchFamily="34" charset="0"/>
                <a:ea typeface="Microsoft YaHei" pitchFamily="34" charset="-122"/>
                <a:cs typeface="Microsoft YaHei" pitchFamily="34" charset="-120"/>
              </a:rPr>
              <a:t>Agentic CPU µArch Insight</a:t>
            </a:r>
            <a:endParaRPr lang="en-US" sz="600" dirty="0"/>
          </a:p>
        </p:txBody>
      </p:sp>
      <p:sp>
        <p:nvSpPr>
          <p:cNvPr id="3" name="SC_MASTER_HEADER_RIGHT"/>
          <p:cNvSpPr/>
          <p:nvPr/>
        </p:nvSpPr>
        <p:spPr>
          <a:xfrm>
            <a:off x="6339840" y="29766"/>
            <a:ext cx="5614035" cy="184547"/>
          </a:xfrm>
          <a:prstGeom prst="rect">
            <a:avLst/>
          </a:prstGeom>
          <a:noFill/>
          <a:ln/>
        </p:spPr>
        <p:txBody>
          <a:bodyPr wrap="square" lIns="0" tIns="0" rIns="0" bIns="0" rtlCol="0" anchor="ctr">
            <a:normAutofit/>
          </a:bodyPr>
          <a:lstStyle/>
          <a:p>
            <a:pPr algn="r" indent="0" marL="0">
              <a:buNone/>
            </a:pPr>
            <a:r>
              <a:rPr lang="en-US" sz="600" b="1" dirty="0">
                <a:solidFill>
                  <a:srgbClr val="58738A"/>
                </a:solidFill>
                <a:latin typeface="Microsoft YaHei" pitchFamily="34" charset="0"/>
                <a:ea typeface="Microsoft YaHei" pitchFamily="34" charset="-122"/>
                <a:cs typeface="Microsoft YaHei" pitchFamily="34" charset="-120"/>
              </a:rPr>
              <a:t>2027–2029 · 公开证据</a:t>
            </a:r>
            <a:endParaRPr lang="en-US" sz="600" dirty="0"/>
          </a:p>
        </p:txBody>
      </p:sp>
      <p:sp>
        <p:nvSpPr>
          <p:cNvPr id="4" name="Shape 2"/>
          <p:cNvSpPr/>
          <p:nvPr/>
        </p:nvSpPr>
        <p:spPr>
          <a:xfrm>
            <a:off x="238125" y="238125"/>
            <a:ext cx="11715750" cy="0"/>
          </a:xfrm>
          <a:prstGeom prst="line">
            <a:avLst/>
          </a:prstGeom>
          <a:noFill/>
          <a:ln w="6350">
            <a:solidFill>
              <a:srgbClr val="C9DBEA"/>
            </a:solidFill>
            <a:prstDash val="solid"/>
          </a:ln>
        </p:spPr>
      </p:sp>
      <p:sp>
        <p:nvSpPr>
          <p:cNvPr id="5" name="Shape 3"/>
          <p:cNvSpPr/>
          <p:nvPr/>
        </p:nvSpPr>
        <p:spPr>
          <a:xfrm>
            <a:off x="238125" y="238125"/>
            <a:ext cx="714375" cy="0"/>
          </a:xfrm>
          <a:prstGeom prst="line">
            <a:avLst/>
          </a:prstGeom>
          <a:noFill/>
          <a:ln w="11906">
            <a:solidFill>
              <a:srgbClr val="2473B6"/>
            </a:solidFill>
            <a:prstDash val="solid"/>
          </a:ln>
        </p:spPr>
      </p:sp>
      <p:sp>
        <p:nvSpPr>
          <p:cNvPr id="6" name="Shape 4"/>
          <p:cNvSpPr/>
          <p:nvPr/>
        </p:nvSpPr>
        <p:spPr>
          <a:xfrm>
            <a:off x="238125" y="6613922"/>
            <a:ext cx="11715750" cy="0"/>
          </a:xfrm>
          <a:prstGeom prst="line">
            <a:avLst/>
          </a:prstGeom>
          <a:noFill/>
          <a:ln w="6350">
            <a:solidFill>
              <a:srgbClr val="C9DBEA"/>
            </a:solidFill>
            <a:prstDash val="solid"/>
          </a:ln>
        </p:spPr>
      </p:sp>
      <p:sp>
        <p:nvSpPr>
          <p:cNvPr id="7" name="SC_MASTER_FOOTER_LEFT"/>
          <p:cNvSpPr/>
          <p:nvPr/>
        </p:nvSpPr>
        <p:spPr>
          <a:xfrm>
            <a:off x="238125" y="6643688"/>
            <a:ext cx="4267200" cy="184547"/>
          </a:xfrm>
          <a:prstGeom prst="rect">
            <a:avLst/>
          </a:prstGeom>
          <a:noFill/>
          <a:ln/>
        </p:spPr>
        <p:txBody>
          <a:bodyPr wrap="square" lIns="0" tIns="0" rIns="0" bIns="0" rtlCol="0" anchor="ctr">
            <a:normAutofit/>
          </a:bodyPr>
          <a:lstStyle/>
          <a:p>
            <a:pPr algn="l" indent="0" marL="0">
              <a:buNone/>
            </a:pPr>
            <a:r>
              <a:rPr lang="en-US" sz="550" b="1" dirty="0">
                <a:solidFill>
                  <a:srgbClr val="58738A"/>
                </a:solidFill>
                <a:latin typeface="Microsoft YaHei" pitchFamily="34" charset="0"/>
                <a:ea typeface="Microsoft YaHei" pitchFamily="34" charset="-122"/>
                <a:cs typeface="Microsoft YaHei" pitchFamily="34" charset="-120"/>
              </a:rPr>
              <a:t>技术路线研判 · 公开资料</a:t>
            </a:r>
            <a:endParaRPr lang="en-US" sz="550" dirty="0"/>
          </a:p>
        </p:txBody>
      </p:sp>
      <p:sp>
        <p:nvSpPr>
          <p:cNvPr id="8" name="SC_MASTER_FOOTER_CENTER"/>
          <p:cNvSpPr/>
          <p:nvPr/>
        </p:nvSpPr>
        <p:spPr>
          <a:xfrm>
            <a:off x="4267200" y="6643688"/>
            <a:ext cx="3657600" cy="184547"/>
          </a:xfrm>
          <a:prstGeom prst="rect">
            <a:avLst/>
          </a:prstGeom>
          <a:noFill/>
          <a:ln/>
        </p:spPr>
        <p:txBody>
          <a:bodyPr wrap="square" lIns="0" tIns="0" rIns="0" bIns="0" rtlCol="0" anchor="ctr">
            <a:normAutofit/>
          </a:bodyPr>
          <a:lstStyle/>
          <a:p>
            <a:pPr algn="ctr" indent="0" marL="0">
              <a:buNone/>
            </a:pPr>
            <a:endParaRPr lang="en-US" sz="550" dirty="0"/>
          </a:p>
        </p:txBody>
      </p:sp>
      <p:sp>
        <p:nvSpPr>
          <p:cNvPr id="25"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lstStyle>
            <a:lvl1pPr>
              <a:defRPr sz="550">
                <a:solidFill>
                  <a:srgbClr val="58738A"/>
                </a:solidFill>
                <a:latin typeface="Microsoft YaHei"/>
                <a:ea typeface="Microsoft YaHei"/>
                <a:cs typeface="Microsoft YaHe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lstStyle>
            <a:lvl1pPr>
              <a:defRPr sz="550">
                <a:solidFill>
                  <a:srgbClr val="58738A"/>
                </a:solidFill>
                <a:latin typeface="Microsoft YaHei"/>
                <a:ea typeface="Microsoft YaHei"/>
                <a:cs typeface="Microsoft YaHe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2.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cover-agent-field"/>
          <p:cNvSpPr/>
          <p:nvPr/>
        </p:nvSpPr>
        <p:spPr>
          <a:xfrm>
            <a:off x="654844" y="2256234"/>
            <a:ext cx="6846094" cy="3661172"/>
          </a:xfrm>
          <a:prstGeom prst="ellipse">
            <a:avLst/>
          </a:prstGeom>
          <a:solidFill>
            <a:srgbClr val="EAF5FD"/>
          </a:solidFill>
          <a:ln w="11906">
            <a:solidFill>
              <a:srgbClr val="D5EBFA"/>
            </a:solidFill>
            <a:prstDash val="solid"/>
          </a:ln>
        </p:spPr>
      </p:sp>
      <p:sp>
        <p:nvSpPr>
          <p:cNvPr id="3" name="cover-user"/>
          <p:cNvSpPr/>
          <p:nvPr/>
        </p:nvSpPr>
        <p:spPr>
          <a:xfrm>
            <a:off x="386953" y="3827859"/>
            <a:ext cx="1250156" cy="863203"/>
          </a:xfrm>
          <a:prstGeom prst="roundRect">
            <a:avLst>
              <a:gd name="adj" fmla="val 16552"/>
            </a:avLst>
          </a:prstGeom>
          <a:solidFill>
            <a:srgbClr val="FFFFFF"/>
          </a:solidFill>
          <a:ln w="14883">
            <a:solidFill>
              <a:srgbClr val="388DCE"/>
            </a:solidFill>
            <a:prstDash val="solid"/>
          </a:ln>
        </p:spPr>
      </p:sp>
      <p:sp>
        <p:nvSpPr>
          <p:cNvPr id="4" name="cover-knowledge"/>
          <p:cNvSpPr/>
          <p:nvPr/>
        </p:nvSpPr>
        <p:spPr>
          <a:xfrm>
            <a:off x="1785938" y="2863453"/>
            <a:ext cx="1101328" cy="654844"/>
          </a:xfrm>
          <a:prstGeom prst="roundRect">
            <a:avLst>
              <a:gd name="adj" fmla="val 21818"/>
            </a:avLst>
          </a:prstGeom>
          <a:solidFill>
            <a:srgbClr val="FFFFFF"/>
          </a:solidFill>
          <a:ln w="14883">
            <a:solidFill>
              <a:srgbClr val="388DCE"/>
            </a:solidFill>
            <a:prstDash val="solid"/>
          </a:ln>
        </p:spPr>
      </p:sp>
      <p:sp>
        <p:nvSpPr>
          <p:cNvPr id="5" name="cover-task"/>
          <p:cNvSpPr/>
          <p:nvPr/>
        </p:nvSpPr>
        <p:spPr>
          <a:xfrm>
            <a:off x="3095625" y="2696766"/>
            <a:ext cx="1101328" cy="654844"/>
          </a:xfrm>
          <a:prstGeom prst="roundRect">
            <a:avLst>
              <a:gd name="adj" fmla="val 21818"/>
            </a:avLst>
          </a:prstGeom>
          <a:solidFill>
            <a:srgbClr val="FFFFFF"/>
          </a:solidFill>
          <a:ln w="14883">
            <a:solidFill>
              <a:srgbClr val="388DCE"/>
            </a:solidFill>
            <a:prstDash val="solid"/>
          </a:ln>
        </p:spPr>
      </p:sp>
      <p:sp>
        <p:nvSpPr>
          <p:cNvPr id="6" name="cover-tool"/>
          <p:cNvSpPr/>
          <p:nvPr/>
        </p:nvSpPr>
        <p:spPr>
          <a:xfrm>
            <a:off x="4405313" y="2863453"/>
            <a:ext cx="1101328" cy="654844"/>
          </a:xfrm>
          <a:prstGeom prst="roundRect">
            <a:avLst>
              <a:gd name="adj" fmla="val 21818"/>
            </a:avLst>
          </a:prstGeom>
          <a:solidFill>
            <a:srgbClr val="FFFFFF"/>
          </a:solidFill>
          <a:ln w="14883">
            <a:solidFill>
              <a:srgbClr val="388DCE"/>
            </a:solidFill>
            <a:prstDash val="solid"/>
          </a:ln>
        </p:spPr>
      </p:sp>
      <p:sp>
        <p:nvSpPr>
          <p:cNvPr id="7" name="cover-result"/>
          <p:cNvSpPr/>
          <p:nvPr/>
        </p:nvSpPr>
        <p:spPr>
          <a:xfrm>
            <a:off x="5387578" y="3827859"/>
            <a:ext cx="1131094" cy="863203"/>
          </a:xfrm>
          <a:prstGeom prst="roundRect">
            <a:avLst>
              <a:gd name="adj" fmla="val 16552"/>
            </a:avLst>
          </a:prstGeom>
          <a:solidFill>
            <a:srgbClr val="FFFFFF"/>
          </a:solidFill>
          <a:ln w="14883">
            <a:solidFill>
              <a:srgbClr val="388DCE"/>
            </a:solidFill>
            <a:prstDash val="solid"/>
          </a:ln>
        </p:spPr>
      </p:sp>
      <p:sp>
        <p:nvSpPr>
          <p:cNvPr id="8" name="cover-agent"/>
          <p:cNvSpPr/>
          <p:nvPr/>
        </p:nvSpPr>
        <p:spPr>
          <a:xfrm>
            <a:off x="2589609" y="3845719"/>
            <a:ext cx="2083594" cy="952500"/>
          </a:xfrm>
          <a:prstGeom prst="roundRect">
            <a:avLst>
              <a:gd name="adj" fmla="val 15000"/>
            </a:avLst>
          </a:prstGeom>
          <a:solidFill>
            <a:srgbClr val="D6ECFC"/>
          </a:solidFill>
          <a:ln w="14883">
            <a:solidFill>
              <a:srgbClr val="388DCE"/>
            </a:solidFill>
            <a:prstDash val="solid"/>
          </a:ln>
        </p:spPr>
      </p:sp>
      <p:sp>
        <p:nvSpPr>
          <p:cNvPr id="9" name="SC_FREEFORM_ROUTE__user-to-agent__0"/>
          <p:cNvSpPr/>
          <p:nvPr/>
        </p:nvSpPr>
        <p:spPr>
          <a:xfrm>
            <a:off x="1637109" y="4259461"/>
            <a:ext cx="952500" cy="62508"/>
          </a:xfrm>
          <a:custGeom>
            <a:avLst/>
            <a:gdLst/>
            <a:ahLst/>
            <a:cxnLst/>
            <a:rect l="l" t="t" r="r" b="b"/>
            <a:pathLst>
              <a:path w="952500" h="62508">
                <a:moveTo>
                  <a:pt x="0" y="0"/>
                </a:moveTo>
                <a:lnTo>
                  <a:pt x="476250" y="0"/>
                </a:lnTo>
                <a:lnTo>
                  <a:pt x="476250" y="62508"/>
                </a:lnTo>
                <a:lnTo>
                  <a:pt x="952500" y="62508"/>
                </a:lnTo>
              </a:path>
            </a:pathLst>
          </a:custGeom>
          <a:solidFill>
            <a:srgbClr val="FFFFFF">
              <a:alpha val="0"/>
            </a:srgbClr>
          </a:solidFill>
          <a:ln w="17859">
            <a:solidFill>
              <a:srgbClr val="2473B6"/>
            </a:solidFill>
            <a:prstDash val="solid"/>
            <a:round/>
            <a:headEnd type="none"/>
            <a:tailEnd type="triangle" w="med" len="med"/>
          </a:ln>
        </p:spPr>
      </p:sp>
      <p:sp>
        <p:nvSpPr>
          <p:cNvPr id="10" name="SC_FREEFORM_ROUTE__agent-to-result__0"/>
          <p:cNvSpPr/>
          <p:nvPr/>
        </p:nvSpPr>
        <p:spPr>
          <a:xfrm>
            <a:off x="4673203" y="4259461"/>
            <a:ext cx="714375" cy="62508"/>
          </a:xfrm>
          <a:custGeom>
            <a:avLst/>
            <a:gdLst/>
            <a:ahLst/>
            <a:cxnLst/>
            <a:rect l="l" t="t" r="r" b="b"/>
            <a:pathLst>
              <a:path w="714375" h="62508">
                <a:moveTo>
                  <a:pt x="0" y="62508"/>
                </a:moveTo>
                <a:lnTo>
                  <a:pt x="357188" y="62508"/>
                </a:lnTo>
                <a:lnTo>
                  <a:pt x="357188" y="0"/>
                </a:lnTo>
                <a:lnTo>
                  <a:pt x="714375" y="0"/>
                </a:lnTo>
              </a:path>
            </a:pathLst>
          </a:custGeom>
          <a:solidFill>
            <a:srgbClr val="FFFFFF">
              <a:alpha val="0"/>
            </a:srgbClr>
          </a:solidFill>
          <a:ln w="17859">
            <a:solidFill>
              <a:srgbClr val="2473B6"/>
            </a:solidFill>
            <a:prstDash val="solid"/>
            <a:round/>
            <a:headEnd type="none"/>
            <a:tailEnd type="triangle" w="med" len="med"/>
          </a:ln>
        </p:spPr>
      </p:sp>
      <p:sp>
        <p:nvSpPr>
          <p:cNvPr id="11" name="SC_FREEFORM_ROUTE__cover-knowledge-to-agent__0"/>
          <p:cNvSpPr/>
          <p:nvPr/>
        </p:nvSpPr>
        <p:spPr>
          <a:xfrm>
            <a:off x="2336602" y="3518297"/>
            <a:ext cx="1294805" cy="327422"/>
          </a:xfrm>
          <a:custGeom>
            <a:avLst/>
            <a:gdLst/>
            <a:ahLst/>
            <a:cxnLst/>
            <a:rect l="l" t="t" r="r" b="b"/>
            <a:pathLst>
              <a:path w="1294805" h="327422">
                <a:moveTo>
                  <a:pt x="0" y="0"/>
                </a:moveTo>
                <a:lnTo>
                  <a:pt x="0" y="163711"/>
                </a:lnTo>
                <a:lnTo>
                  <a:pt x="1294805" y="163711"/>
                </a:lnTo>
                <a:lnTo>
                  <a:pt x="1294805" y="327422"/>
                </a:lnTo>
              </a:path>
            </a:pathLst>
          </a:custGeom>
          <a:solidFill>
            <a:srgbClr val="FFFFFF">
              <a:alpha val="0"/>
            </a:srgbClr>
          </a:solidFill>
          <a:ln w="17859">
            <a:solidFill>
              <a:srgbClr val="2473B6"/>
            </a:solidFill>
            <a:prstDash val="solid"/>
            <a:round/>
            <a:headEnd type="none"/>
            <a:tailEnd type="triangle" w="med" len="med"/>
          </a:ln>
        </p:spPr>
      </p:sp>
      <p:sp>
        <p:nvSpPr>
          <p:cNvPr id="12" name="SC_FREEFORM_ROUTE__cover-task-to-agent__0"/>
          <p:cNvSpPr/>
          <p:nvPr/>
        </p:nvSpPr>
        <p:spPr>
          <a:xfrm>
            <a:off x="3631406" y="3351609"/>
            <a:ext cx="14883" cy="494109"/>
          </a:xfrm>
          <a:custGeom>
            <a:avLst/>
            <a:gdLst/>
            <a:ahLst/>
            <a:cxnLst/>
            <a:rect l="l" t="t" r="r" b="b"/>
            <a:pathLst>
              <a:path w="14883" h="494109">
                <a:moveTo>
                  <a:pt x="14883" y="0"/>
                </a:moveTo>
                <a:lnTo>
                  <a:pt x="14883" y="247055"/>
                </a:lnTo>
                <a:lnTo>
                  <a:pt x="0" y="247055"/>
                </a:lnTo>
                <a:lnTo>
                  <a:pt x="0" y="494109"/>
                </a:lnTo>
              </a:path>
            </a:pathLst>
          </a:custGeom>
          <a:solidFill>
            <a:srgbClr val="FFFFFF">
              <a:alpha val="0"/>
            </a:srgbClr>
          </a:solidFill>
          <a:ln w="17859">
            <a:solidFill>
              <a:srgbClr val="2473B6"/>
            </a:solidFill>
            <a:prstDash val="solid"/>
            <a:round/>
            <a:headEnd type="none"/>
            <a:tailEnd type="triangle" w="med" len="med"/>
          </a:ln>
        </p:spPr>
      </p:sp>
      <p:sp>
        <p:nvSpPr>
          <p:cNvPr id="13" name="SC_FREEFORM_ROUTE__cover-tool-to-agent__0"/>
          <p:cNvSpPr/>
          <p:nvPr/>
        </p:nvSpPr>
        <p:spPr>
          <a:xfrm>
            <a:off x="3631406" y="3518297"/>
            <a:ext cx="1324570" cy="327422"/>
          </a:xfrm>
          <a:custGeom>
            <a:avLst/>
            <a:gdLst/>
            <a:ahLst/>
            <a:cxnLst/>
            <a:rect l="l" t="t" r="r" b="b"/>
            <a:pathLst>
              <a:path w="1324570" h="327422">
                <a:moveTo>
                  <a:pt x="1324570" y="0"/>
                </a:moveTo>
                <a:lnTo>
                  <a:pt x="1324570" y="163711"/>
                </a:lnTo>
                <a:lnTo>
                  <a:pt x="0" y="163711"/>
                </a:lnTo>
                <a:lnTo>
                  <a:pt x="0" y="327422"/>
                </a:lnTo>
              </a:path>
            </a:pathLst>
          </a:custGeom>
          <a:solidFill>
            <a:srgbClr val="FFFFFF">
              <a:alpha val="0"/>
            </a:srgbClr>
          </a:solidFill>
          <a:ln w="17859">
            <a:solidFill>
              <a:srgbClr val="2473B6"/>
            </a:solidFill>
            <a:prstDash val="solid"/>
            <a:round/>
            <a:headEnd type="none"/>
            <a:tailEnd type="triangle" w="med" len="med"/>
          </a:ln>
        </p:spPr>
      </p:sp>
      <p:pic>
        <p:nvPicPr>
          <p:cNvPr id="14" name="art-1" descr="decorative_illustration">    </p:cNvPr>
          <p:cNvPicPr>
            <a:picLocks noChangeAspect="1"/>
          </p:cNvPicPr>
          <p:nvPr/>
        </p:nvPicPr>
        <p:blipFill>
          <a:blip r:embed="rId1"/>
          <a:stretch>
            <a:fillRect/>
          </a:stretch>
        </p:blipFill>
        <p:spPr>
          <a:xfrm>
            <a:off x="7917656" y="1672828"/>
            <a:ext cx="4274344" cy="3750469"/>
          </a:xfrm>
          <a:prstGeom prst="rect">
            <a:avLst/>
          </a:prstGeom>
        </p:spPr>
      </p:pic>
      <p:sp>
        <p:nvSpPr>
          <p:cNvPr id="15" name="cover-user-heading"/>
          <p:cNvSpPr txBox="1"/>
          <p:nvPr/>
        </p:nvSpPr>
        <p:spPr>
          <a:xfrm>
            <a:off x="458391" y="3917156"/>
            <a:ext cx="1107281"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02C55"/>
                </a:solidFill>
                <a:latin typeface="Microsoft YaHei" pitchFamily="34" charset="0"/>
                <a:ea typeface="Microsoft YaHei" pitchFamily="34" charset="-122"/>
                <a:cs typeface="Microsoft YaHei" pitchFamily="34" charset="-120"/>
              </a:rPr>
              <a:t>用户目标</a:t>
            </a:r>
            <a:endParaRPr lang="en-US" sz="1150" dirty="0" spc="0"/>
          </a:p>
        </p:txBody>
      </p:sp>
      <p:sp>
        <p:nvSpPr>
          <p:cNvPr id="16" name="cover-user-body"/>
          <p:cNvSpPr txBox="1"/>
          <p:nvPr/>
        </p:nvSpPr>
        <p:spPr>
          <a:xfrm>
            <a:off x="458391" y="4173141"/>
            <a:ext cx="1107281" cy="47029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自然语言需求</a:t>
            </a:r>
            <a:endParaRPr lang="en-US" sz="800" dirty="0" spc="0"/>
          </a:p>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多模态输入</a:t>
            </a:r>
            <a:endParaRPr lang="en-US" sz="800" dirty="0" spc="0"/>
          </a:p>
        </p:txBody>
      </p:sp>
      <p:sp>
        <p:nvSpPr>
          <p:cNvPr id="17" name="cover-knowledge-heading"/>
          <p:cNvSpPr txBox="1"/>
          <p:nvPr/>
        </p:nvSpPr>
        <p:spPr>
          <a:xfrm>
            <a:off x="1857375" y="2952750"/>
            <a:ext cx="958453"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02C55"/>
                </a:solidFill>
                <a:latin typeface="Microsoft YaHei" pitchFamily="34" charset="0"/>
                <a:ea typeface="Microsoft YaHei" pitchFamily="34" charset="-122"/>
                <a:cs typeface="Microsoft YaHei" pitchFamily="34" charset="-120"/>
              </a:rPr>
              <a:t>知识理解</a:t>
            </a:r>
            <a:endParaRPr lang="en-US" sz="1150" dirty="0" spc="0"/>
          </a:p>
        </p:txBody>
      </p:sp>
      <p:sp>
        <p:nvSpPr>
          <p:cNvPr id="18" name="cover-knowledge-body"/>
          <p:cNvSpPr txBox="1"/>
          <p:nvPr/>
        </p:nvSpPr>
        <p:spPr>
          <a:xfrm>
            <a:off x="1857375" y="3208734"/>
            <a:ext cx="958453" cy="26193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记忆与检索</a:t>
            </a:r>
            <a:endParaRPr lang="en-US" sz="800" dirty="0" spc="0"/>
          </a:p>
        </p:txBody>
      </p:sp>
      <p:sp>
        <p:nvSpPr>
          <p:cNvPr id="19" name="cover-task-heading"/>
          <p:cNvSpPr txBox="1"/>
          <p:nvPr/>
        </p:nvSpPr>
        <p:spPr>
          <a:xfrm>
            <a:off x="3167063" y="2786063"/>
            <a:ext cx="958453"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02C55"/>
                </a:solidFill>
                <a:latin typeface="Microsoft YaHei" pitchFamily="34" charset="0"/>
                <a:ea typeface="Microsoft YaHei" pitchFamily="34" charset="-122"/>
                <a:cs typeface="Microsoft YaHei" pitchFamily="34" charset="-120"/>
              </a:rPr>
              <a:t>任务规划</a:t>
            </a:r>
            <a:endParaRPr lang="en-US" sz="1150" dirty="0" spc="0"/>
          </a:p>
        </p:txBody>
      </p:sp>
      <p:sp>
        <p:nvSpPr>
          <p:cNvPr id="20" name="cover-task-body"/>
          <p:cNvSpPr txBox="1"/>
          <p:nvPr/>
        </p:nvSpPr>
        <p:spPr>
          <a:xfrm>
            <a:off x="3167063" y="3042047"/>
            <a:ext cx="958453" cy="26193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分解与推理</a:t>
            </a:r>
            <a:endParaRPr lang="en-US" sz="800" dirty="0" spc="0"/>
          </a:p>
        </p:txBody>
      </p:sp>
      <p:sp>
        <p:nvSpPr>
          <p:cNvPr id="21" name="cover-tool-heading"/>
          <p:cNvSpPr txBox="1"/>
          <p:nvPr/>
        </p:nvSpPr>
        <p:spPr>
          <a:xfrm>
            <a:off x="4476750" y="2952750"/>
            <a:ext cx="958453"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02C55"/>
                </a:solidFill>
                <a:latin typeface="Microsoft YaHei" pitchFamily="34" charset="0"/>
                <a:ea typeface="Microsoft YaHei" pitchFamily="34" charset="-122"/>
                <a:cs typeface="Microsoft YaHei" pitchFamily="34" charset="-120"/>
              </a:rPr>
              <a:t>工具调用</a:t>
            </a:r>
            <a:endParaRPr lang="en-US" sz="1150" dirty="0" spc="0"/>
          </a:p>
        </p:txBody>
      </p:sp>
      <p:sp>
        <p:nvSpPr>
          <p:cNvPr id="22" name="cover-tool-body"/>
          <p:cNvSpPr txBox="1"/>
          <p:nvPr/>
        </p:nvSpPr>
        <p:spPr>
          <a:xfrm>
            <a:off x="4476750" y="3208734"/>
            <a:ext cx="958453" cy="26193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应用 / 服务</a:t>
            </a:r>
            <a:endParaRPr lang="en-US" sz="800" dirty="0" spc="0"/>
          </a:p>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系统能力</a:t>
            </a:r>
            <a:endParaRPr lang="en-US" sz="800" dirty="0" spc="0"/>
          </a:p>
        </p:txBody>
      </p:sp>
      <p:sp>
        <p:nvSpPr>
          <p:cNvPr id="23" name="cover-result-heading"/>
          <p:cNvSpPr txBox="1"/>
          <p:nvPr/>
        </p:nvSpPr>
        <p:spPr>
          <a:xfrm>
            <a:off x="5459016" y="3917156"/>
            <a:ext cx="988219"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02C55"/>
                </a:solidFill>
                <a:latin typeface="Microsoft YaHei" pitchFamily="34" charset="0"/>
                <a:ea typeface="Microsoft YaHei" pitchFamily="34" charset="-122"/>
                <a:cs typeface="Microsoft YaHei" pitchFamily="34" charset="-120"/>
              </a:rPr>
              <a:t>结果验证</a:t>
            </a:r>
            <a:endParaRPr lang="en-US" sz="1150" dirty="0" spc="0"/>
          </a:p>
        </p:txBody>
      </p:sp>
      <p:sp>
        <p:nvSpPr>
          <p:cNvPr id="24" name="cover-result-body"/>
          <p:cNvSpPr txBox="1"/>
          <p:nvPr/>
        </p:nvSpPr>
        <p:spPr>
          <a:xfrm>
            <a:off x="5459016" y="4173141"/>
            <a:ext cx="988219" cy="47029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自我检查</a:t>
            </a:r>
            <a:endParaRPr lang="en-US" sz="800" dirty="0" spc="0"/>
          </a:p>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可修订状态</a:t>
            </a:r>
            <a:endParaRPr lang="en-US" sz="800" dirty="0" spc="0"/>
          </a:p>
        </p:txBody>
      </p:sp>
      <p:sp>
        <p:nvSpPr>
          <p:cNvPr id="25" name="cover-agent-heading"/>
          <p:cNvSpPr txBox="1"/>
          <p:nvPr/>
        </p:nvSpPr>
        <p:spPr>
          <a:xfrm>
            <a:off x="2661047" y="3935016"/>
            <a:ext cx="1940719"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450" b="1" dirty="0" spc="0">
                <a:solidFill>
                  <a:srgbClr val="102C55"/>
                </a:solidFill>
                <a:latin typeface="Microsoft YaHei" pitchFamily="34" charset="0"/>
                <a:ea typeface="Microsoft YaHei" pitchFamily="34" charset="-122"/>
                <a:cs typeface="Microsoft YaHei" pitchFamily="34" charset="-120"/>
              </a:rPr>
              <a:t>Agentic AI</a:t>
            </a:r>
            <a:endParaRPr lang="en-US" sz="1450" dirty="0" spc="0"/>
          </a:p>
        </p:txBody>
      </p:sp>
      <p:sp>
        <p:nvSpPr>
          <p:cNvPr id="26" name="cover-agent-body"/>
          <p:cNvSpPr txBox="1"/>
          <p:nvPr/>
        </p:nvSpPr>
        <p:spPr>
          <a:xfrm>
            <a:off x="2661047" y="4191000"/>
            <a:ext cx="1940719" cy="559594"/>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规划 · 推理 · 调用 · 验证</a:t>
            </a:r>
            <a:endParaRPr lang="en-US" sz="950" dirty="0" spc="0"/>
          </a:p>
        </p:txBody>
      </p:sp>
      <p:sp>
        <p:nvSpPr>
          <p:cNvPr id="27" name="cover-tagline"/>
          <p:cNvSpPr txBox="1"/>
          <p:nvPr/>
        </p:nvSpPr>
        <p:spPr>
          <a:xfrm>
            <a:off x="1666875" y="5691188"/>
            <a:ext cx="5953125" cy="26789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50" dirty="0" spc="0">
                <a:solidFill>
                  <a:srgbClr val="102C55"/>
                </a:solidFill>
                <a:latin typeface="Microsoft YaHei" pitchFamily="34" charset="0"/>
                <a:ea typeface="Microsoft YaHei" pitchFamily="34" charset="-122"/>
                <a:cs typeface="Microsoft YaHei" pitchFamily="34" charset="-120"/>
              </a:rPr>
              <a:t>从一次性推理，延伸到多阶段任务、可信工具执行与可修订状态。</a:t>
            </a:r>
            <a:endParaRPr lang="en-US" sz="1050" dirty="0" spc="0"/>
          </a:p>
        </p:txBody>
      </p:sp>
      <p:sp>
        <p:nvSpPr>
          <p:cNvPr id="28" name="ocr-001"/>
          <p:cNvSpPr txBox="1"/>
          <p:nvPr/>
        </p:nvSpPr>
        <p:spPr>
          <a:xfrm>
            <a:off x="565547" y="482203"/>
            <a:ext cx="6328172" cy="625078"/>
          </a:xfrm>
          <a:prstGeom prst="rect">
            <a:avLst/>
          </a:prstGeom>
          <a:noFill/>
          <a:ln/>
        </p:spPr>
        <p:txBody>
          <a:bodyPr wrap="square" lIns="0" tIns="0" rIns="0" bIns="0" rtlCol="0" anchor="ctr">
            <a:noAutofit/>
          </a:bodyPr>
          <a:lstStyle/>
          <a:p>
            <a:pPr algn="l" indent="0" marL="0">
              <a:lnSpc>
                <a:spcPct val="100000"/>
              </a:lnSpc>
              <a:buNone/>
              <a:defRPr spc="0"/>
            </a:pPr>
            <a:r>
              <a:rPr lang="en-US" sz="4100" b="1" dirty="0" spc="0">
                <a:solidFill>
                  <a:srgbClr val="102C55"/>
                </a:solidFill>
                <a:latin typeface="Microsoft YaHei" pitchFamily="34" charset="0"/>
                <a:ea typeface="Microsoft YaHei" pitchFamily="34" charset="-122"/>
                <a:cs typeface="Microsoft YaHei" pitchFamily="34" charset="-120"/>
              </a:rPr>
              <a:t>Agentic AI将改变</a:t>
            </a:r>
            <a:endParaRPr lang="en-US" sz="4100" dirty="0" spc="0"/>
          </a:p>
        </p:txBody>
      </p:sp>
      <p:sp>
        <p:nvSpPr>
          <p:cNvPr id="29" name="ocr-002"/>
          <p:cNvSpPr txBox="1"/>
          <p:nvPr/>
        </p:nvSpPr>
        <p:spPr>
          <a:xfrm>
            <a:off x="565547" y="1107281"/>
            <a:ext cx="10620375" cy="577453"/>
          </a:xfrm>
          <a:prstGeom prst="rect">
            <a:avLst/>
          </a:prstGeom>
          <a:noFill/>
          <a:ln/>
        </p:spPr>
        <p:txBody>
          <a:bodyPr wrap="square" lIns="0" tIns="0" rIns="0" bIns="0" rtlCol="0" anchor="ctr">
            <a:noAutofit/>
          </a:bodyPr>
          <a:lstStyle/>
          <a:p>
            <a:pPr algn="l" indent="0" marL="0">
              <a:lnSpc>
                <a:spcPct val="100000"/>
              </a:lnSpc>
              <a:buNone/>
              <a:defRPr spc="0"/>
            </a:pPr>
            <a:r>
              <a:rPr lang="en-US" sz="4100" b="1" dirty="0" spc="0">
                <a:solidFill>
                  <a:srgbClr val="102C55"/>
                </a:solidFill>
                <a:latin typeface="Microsoft YaHei" pitchFamily="34" charset="0"/>
                <a:ea typeface="Microsoft YaHei" pitchFamily="34" charset="-122"/>
                <a:cs typeface="Microsoft YaHei" pitchFamily="34" charset="-120"/>
              </a:rPr>
              <a:t>手机CPU与异构系统的协作方式</a:t>
            </a:r>
            <a:endParaRPr lang="en-US" sz="4100" dirty="0" spc="0"/>
          </a:p>
        </p:txBody>
      </p:sp>
      <p:sp>
        <p:nvSpPr>
          <p:cNvPr id="30" name="ocr-003"/>
          <p:cNvSpPr txBox="1"/>
          <p:nvPr/>
        </p:nvSpPr>
        <p:spPr>
          <a:xfrm>
            <a:off x="547688" y="1803797"/>
            <a:ext cx="10042922" cy="30956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173753"/>
                </a:solidFill>
                <a:latin typeface="Microsoft YaHei" pitchFamily="34" charset="0"/>
                <a:ea typeface="Microsoft YaHei" pitchFamily="34" charset="-122"/>
                <a:cs typeface="Microsoft YaHei" pitchFamily="34" charset="-120"/>
              </a:rPr>
              <a:t>2027-2029 手机 CPU/uArch、LLVM、Runtime/OS 技术洞察</a:t>
            </a:r>
            <a:endParaRPr lang="en-US" sz="1450" dirty="0" spc="0"/>
          </a:p>
        </p:txBody>
      </p:sp>
      <p:sp>
        <p:nvSpPr>
          <p:cNvPr id="31" name="ocr-005"/>
          <p:cNvSpPr txBox="1"/>
          <p:nvPr/>
        </p:nvSpPr>
        <p:spPr>
          <a:xfrm>
            <a:off x="1065609" y="2321719"/>
            <a:ext cx="497085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公开证据·技术路线建议·手机AArch64 优先</a:t>
            </a:r>
            <a:endParaRPr lang="en-US" sz="1100" dirty="0" spc="0"/>
          </a:p>
        </p:txBody>
      </p:sp>
      <p:sp>
        <p:nvSpPr>
          <p:cNvPr id="32"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416719" y="1464469"/>
            <a:ext cx="11310938" cy="875109"/>
          </a:xfrm>
          <a:prstGeom prst="roundRect">
            <a:avLst>
              <a:gd name="adj" fmla="val 8844"/>
            </a:avLst>
          </a:prstGeom>
          <a:solidFill>
            <a:srgbClr val="FFFFFF"/>
          </a:solidFill>
          <a:ln w="8930">
            <a:solidFill>
              <a:srgbClr val="BCD6EC"/>
            </a:solidFill>
            <a:prstDash val="solid"/>
          </a:ln>
        </p:spPr>
      </p:sp>
      <p:sp>
        <p:nvSpPr>
          <p:cNvPr id="3" name="panel-2"/>
          <p:cNvSpPr/>
          <p:nvPr/>
        </p:nvSpPr>
        <p:spPr>
          <a:xfrm>
            <a:off x="416719" y="2422922"/>
            <a:ext cx="11310938" cy="875109"/>
          </a:xfrm>
          <a:prstGeom prst="roundRect">
            <a:avLst>
              <a:gd name="adj" fmla="val 8844"/>
            </a:avLst>
          </a:prstGeom>
          <a:solidFill>
            <a:srgbClr val="F7F9FD"/>
          </a:solidFill>
          <a:ln w="8930">
            <a:solidFill>
              <a:srgbClr val="BCD6EC"/>
            </a:solidFill>
            <a:prstDash val="solid"/>
          </a:ln>
        </p:spPr>
      </p:sp>
      <p:sp>
        <p:nvSpPr>
          <p:cNvPr id="4" name="panel-3"/>
          <p:cNvSpPr/>
          <p:nvPr/>
        </p:nvSpPr>
        <p:spPr>
          <a:xfrm>
            <a:off x="416719" y="3381375"/>
            <a:ext cx="11310938" cy="875109"/>
          </a:xfrm>
          <a:prstGeom prst="roundRect">
            <a:avLst>
              <a:gd name="adj" fmla="val 8844"/>
            </a:avLst>
          </a:prstGeom>
          <a:solidFill>
            <a:srgbClr val="FFFFFF"/>
          </a:solidFill>
          <a:ln w="8930">
            <a:solidFill>
              <a:srgbClr val="BCD6EC"/>
            </a:solidFill>
            <a:prstDash val="solid"/>
          </a:ln>
        </p:spPr>
      </p:sp>
      <p:sp>
        <p:nvSpPr>
          <p:cNvPr id="5" name="panel-4"/>
          <p:cNvSpPr/>
          <p:nvPr/>
        </p:nvSpPr>
        <p:spPr>
          <a:xfrm>
            <a:off x="416719" y="4339828"/>
            <a:ext cx="11310938" cy="875109"/>
          </a:xfrm>
          <a:prstGeom prst="roundRect">
            <a:avLst>
              <a:gd name="adj" fmla="val 8844"/>
            </a:avLst>
          </a:prstGeom>
          <a:solidFill>
            <a:srgbClr val="F7F9FD"/>
          </a:solidFill>
          <a:ln w="8930">
            <a:solidFill>
              <a:srgbClr val="BCD6EC"/>
            </a:solidFill>
            <a:prstDash val="solid"/>
          </a:ln>
        </p:spPr>
      </p:sp>
      <p:sp>
        <p:nvSpPr>
          <p:cNvPr id="6" name="argument-stage-1"/>
          <p:cNvSpPr/>
          <p:nvPr/>
        </p:nvSpPr>
        <p:spPr>
          <a:xfrm>
            <a:off x="2143125" y="5643563"/>
            <a:ext cx="1488281" cy="452438"/>
          </a:xfrm>
          <a:prstGeom prst="roundRect">
            <a:avLst>
              <a:gd name="adj" fmla="val 21053"/>
            </a:avLst>
          </a:prstGeom>
          <a:solidFill>
            <a:srgbClr val="F2F9FE"/>
          </a:solidFill>
          <a:ln w="11906">
            <a:solidFill>
              <a:srgbClr val="8FC7ED"/>
            </a:solidFill>
            <a:prstDash val="solid"/>
          </a:ln>
        </p:spPr>
      </p:sp>
      <p:sp>
        <p:nvSpPr>
          <p:cNvPr id="7" name="argument-stage-2"/>
          <p:cNvSpPr/>
          <p:nvPr/>
        </p:nvSpPr>
        <p:spPr>
          <a:xfrm>
            <a:off x="4286250" y="5643563"/>
            <a:ext cx="1488281" cy="452438"/>
          </a:xfrm>
          <a:prstGeom prst="roundRect">
            <a:avLst>
              <a:gd name="adj" fmla="val 21053"/>
            </a:avLst>
          </a:prstGeom>
          <a:solidFill>
            <a:srgbClr val="F2F9FE"/>
          </a:solidFill>
          <a:ln w="11906">
            <a:solidFill>
              <a:srgbClr val="8FC7ED"/>
            </a:solidFill>
            <a:prstDash val="solid"/>
          </a:ln>
        </p:spPr>
      </p:sp>
      <p:sp>
        <p:nvSpPr>
          <p:cNvPr id="8" name="argument-stage-3"/>
          <p:cNvSpPr/>
          <p:nvPr/>
        </p:nvSpPr>
        <p:spPr>
          <a:xfrm>
            <a:off x="6667500" y="5643563"/>
            <a:ext cx="1785938" cy="452438"/>
          </a:xfrm>
          <a:prstGeom prst="roundRect">
            <a:avLst>
              <a:gd name="adj" fmla="val 21053"/>
            </a:avLst>
          </a:prstGeom>
          <a:solidFill>
            <a:srgbClr val="F2F9FE"/>
          </a:solidFill>
          <a:ln w="11906">
            <a:solidFill>
              <a:srgbClr val="8FC7ED"/>
            </a:solidFill>
            <a:prstDash val="solid"/>
          </a:ln>
        </p:spPr>
      </p:sp>
      <p:sp>
        <p:nvSpPr>
          <p:cNvPr id="9" name="argument-stage-4"/>
          <p:cNvSpPr/>
          <p:nvPr/>
        </p:nvSpPr>
        <p:spPr>
          <a:xfrm>
            <a:off x="9822656" y="5643563"/>
            <a:ext cx="1488281" cy="452438"/>
          </a:xfrm>
          <a:prstGeom prst="roundRect">
            <a:avLst>
              <a:gd name="adj" fmla="val 21053"/>
            </a:avLst>
          </a:prstGeom>
          <a:solidFill>
            <a:srgbClr val="F2F9FE"/>
          </a:solidFill>
          <a:ln w="11906">
            <a:solidFill>
              <a:srgbClr val="8FC7ED"/>
            </a:solidFill>
            <a:prstDash val="solid"/>
          </a:ln>
        </p:spPr>
      </p:sp>
      <p:sp>
        <p:nvSpPr>
          <p:cNvPr id="10"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11"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12" name="blue-bar-1"/>
          <p:cNvSpPr/>
          <p:nvPr/>
        </p:nvSpPr>
        <p:spPr>
          <a:xfrm>
            <a:off x="583406" y="1809750"/>
            <a:ext cx="500063" cy="488156"/>
          </a:xfrm>
          <a:prstGeom prst="roundRect">
            <a:avLst>
              <a:gd name="adj" fmla="val 9756"/>
            </a:avLst>
          </a:prstGeom>
          <a:solidFill>
            <a:srgbClr val="1769B1"/>
          </a:solidFill>
          <a:ln w="12700">
            <a:solidFill>
              <a:srgbClr val="FFFFFF">
                <a:alpha val="0"/>
              </a:srgbClr>
            </a:solidFill>
            <a:prstDash val="solid"/>
          </a:ln>
        </p:spPr>
      </p:sp>
      <p:sp>
        <p:nvSpPr>
          <p:cNvPr id="13" name="blue-bar-2"/>
          <p:cNvSpPr/>
          <p:nvPr/>
        </p:nvSpPr>
        <p:spPr>
          <a:xfrm>
            <a:off x="583406" y="2720578"/>
            <a:ext cx="500063" cy="488156"/>
          </a:xfrm>
          <a:prstGeom prst="roundRect">
            <a:avLst>
              <a:gd name="adj" fmla="val 9756"/>
            </a:avLst>
          </a:prstGeom>
          <a:solidFill>
            <a:srgbClr val="1769B1"/>
          </a:solidFill>
          <a:ln w="12700">
            <a:solidFill>
              <a:srgbClr val="FFFFFF">
                <a:alpha val="0"/>
              </a:srgbClr>
            </a:solidFill>
            <a:prstDash val="solid"/>
          </a:ln>
        </p:spPr>
      </p:sp>
      <p:sp>
        <p:nvSpPr>
          <p:cNvPr id="14" name="blue-bar-3"/>
          <p:cNvSpPr/>
          <p:nvPr/>
        </p:nvSpPr>
        <p:spPr>
          <a:xfrm>
            <a:off x="583406" y="3631406"/>
            <a:ext cx="500063" cy="488156"/>
          </a:xfrm>
          <a:prstGeom prst="roundRect">
            <a:avLst>
              <a:gd name="adj" fmla="val 9756"/>
            </a:avLst>
          </a:prstGeom>
          <a:solidFill>
            <a:srgbClr val="1769B1"/>
          </a:solidFill>
          <a:ln w="12700">
            <a:solidFill>
              <a:srgbClr val="FFFFFF">
                <a:alpha val="0"/>
              </a:srgbClr>
            </a:solidFill>
            <a:prstDash val="solid"/>
          </a:ln>
        </p:spPr>
      </p:sp>
      <p:sp>
        <p:nvSpPr>
          <p:cNvPr id="15" name="blue-bar-4"/>
          <p:cNvSpPr/>
          <p:nvPr/>
        </p:nvSpPr>
        <p:spPr>
          <a:xfrm>
            <a:off x="583406" y="4542234"/>
            <a:ext cx="500063" cy="488156"/>
          </a:xfrm>
          <a:prstGeom prst="roundRect">
            <a:avLst>
              <a:gd name="adj" fmla="val 9756"/>
            </a:avLst>
          </a:prstGeom>
          <a:solidFill>
            <a:srgbClr val="1769B1"/>
          </a:solidFill>
          <a:ln w="12700">
            <a:solidFill>
              <a:srgbClr val="FFFFFF">
                <a:alpha val="0"/>
              </a:srgbClr>
            </a:solidFill>
            <a:prstDash val="solid"/>
          </a:ln>
        </p:spPr>
      </p:sp>
      <p:cxnSp>
        <p:nvCxnSpPr>
          <p:cNvPr id="16" name="SC_CONNECTOR__stage-1-to-2__0"/>
          <p:cNvCxnSpPr/>
          <p:nvPr/>
        </p:nvCxnSpPr>
        <p:spPr>
          <a:xfrm>
            <a:off x="3631406" y="5869781"/>
            <a:ext cx="654844" cy="0"/>
          </a:xfrm>
          <a:prstGeom prst="line">
            <a:avLst/>
          </a:prstGeom>
          <a:noFill/>
          <a:ln w="17859">
            <a:solidFill>
              <a:srgbClr val="2473B6"/>
            </a:solidFill>
            <a:prstDash val="solid"/>
            <a:round/>
            <a:headEnd type="none"/>
            <a:tailEnd type="triangle" w="med" len="med"/>
          </a:ln>
        </p:spPr>
      </p:cxnSp>
      <p:cxnSp>
        <p:nvCxnSpPr>
          <p:cNvPr id="17" name="SC_CONNECTOR__stage-2-to-3__0"/>
          <p:cNvCxnSpPr/>
          <p:nvPr/>
        </p:nvCxnSpPr>
        <p:spPr>
          <a:xfrm>
            <a:off x="5774531" y="5869781"/>
            <a:ext cx="892969" cy="0"/>
          </a:xfrm>
          <a:prstGeom prst="line">
            <a:avLst/>
          </a:prstGeom>
          <a:noFill/>
          <a:ln w="17859">
            <a:solidFill>
              <a:srgbClr val="2473B6"/>
            </a:solidFill>
            <a:prstDash val="solid"/>
            <a:round/>
            <a:headEnd type="none"/>
            <a:tailEnd type="triangle" w="med" len="med"/>
          </a:ln>
        </p:spPr>
      </p:cxnSp>
      <p:cxnSp>
        <p:nvCxnSpPr>
          <p:cNvPr id="18" name="SC_CONNECTOR__stage-3-to-4__0"/>
          <p:cNvCxnSpPr/>
          <p:nvPr/>
        </p:nvCxnSpPr>
        <p:spPr>
          <a:xfrm>
            <a:off x="8453438" y="5869781"/>
            <a:ext cx="1369219" cy="0"/>
          </a:xfrm>
          <a:prstGeom prst="line">
            <a:avLst/>
          </a:prstGeom>
          <a:noFill/>
          <a:ln w="17859">
            <a:solidFill>
              <a:srgbClr val="2473B6"/>
            </a:solidFill>
            <a:prstDash val="solid"/>
            <a:round/>
            <a:headEnd type="none"/>
            <a:tailEnd type="triangle" w="med" len="med"/>
          </a:ln>
        </p:spPr>
      </p:cxnSp>
      <p:sp>
        <p:nvSpPr>
          <p:cNvPr id="19" name="ocr-001"/>
          <p:cNvSpPr txBox="1"/>
          <p:nvPr/>
        </p:nvSpPr>
        <p:spPr>
          <a:xfrm>
            <a:off x="571500" y="595313"/>
            <a:ext cx="9614297" cy="321469"/>
          </a:xfrm>
          <a:prstGeom prst="rect">
            <a:avLst/>
          </a:prstGeom>
          <a:noFill/>
          <a:ln/>
        </p:spPr>
        <p:txBody>
          <a:bodyPr wrap="square" lIns="0" tIns="0" rIns="0" bIns="0" rtlCol="0" anchor="ctr">
            <a:noAutofit/>
          </a:bodyPr>
          <a:lstStyle/>
          <a:p>
            <a:pPr algn="l" indent="0" marL="0">
              <a:lnSpc>
                <a:spcPct val="100000"/>
              </a:lnSpc>
              <a:buNone/>
              <a:defRPr spc="0"/>
            </a:pPr>
            <a:r>
              <a:rPr lang="en-US" sz="2250" b="1" dirty="0" spc="0">
                <a:solidFill>
                  <a:srgbClr val="102C55"/>
                </a:solidFill>
                <a:latin typeface="Microsoft YaHei" pitchFamily="34" charset="0"/>
                <a:ea typeface="Microsoft YaHei" pitchFamily="34" charset="-122"/>
                <a:cs typeface="Microsoft YaHei" pitchFamily="34" charset="-120"/>
              </a:rPr>
              <a:t>本报告从工作负载变化出发，用公开证据收敛技术路线</a:t>
            </a:r>
            <a:endParaRPr lang="en-US" sz="2250" dirty="0" spc="0"/>
          </a:p>
        </p:txBody>
      </p:sp>
      <p:sp>
        <p:nvSpPr>
          <p:cNvPr id="20" name="ocr-002"/>
          <p:cNvSpPr txBox="1"/>
          <p:nvPr/>
        </p:nvSpPr>
        <p:spPr>
          <a:xfrm>
            <a:off x="565547" y="1029891"/>
            <a:ext cx="5399484"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dirty="0" spc="0">
                <a:solidFill>
                  <a:srgbClr val="58738A"/>
                </a:solidFill>
                <a:latin typeface="Microsoft YaHei" pitchFamily="34" charset="0"/>
                <a:ea typeface="Microsoft YaHei" pitchFamily="34" charset="-122"/>
                <a:cs typeface="Microsoft YaHei" pitchFamily="34" charset="-120"/>
              </a:rPr>
              <a:t>先呈现判断，再审视现有机制，最后形成条件性技术路线建议。</a:t>
            </a:r>
            <a:endParaRPr lang="en-US" sz="1150" dirty="0" spc="0"/>
          </a:p>
        </p:txBody>
      </p:sp>
      <p:sp>
        <p:nvSpPr>
          <p:cNvPr id="21" name="ocr-003"/>
          <p:cNvSpPr txBox="1"/>
          <p:nvPr/>
        </p:nvSpPr>
        <p:spPr>
          <a:xfrm>
            <a:off x="1256109" y="1815703"/>
            <a:ext cx="2375297"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173753"/>
                </a:solidFill>
                <a:latin typeface="Microsoft YaHei" pitchFamily="34" charset="0"/>
                <a:ea typeface="Microsoft YaHei" pitchFamily="34" charset="-122"/>
                <a:cs typeface="Microsoft YaHei" pitchFamily="34" charset="-120"/>
              </a:rPr>
              <a:t>总体判断与负载变化</a:t>
            </a:r>
            <a:endParaRPr lang="en-US" sz="1350" dirty="0" spc="0"/>
          </a:p>
        </p:txBody>
      </p:sp>
      <p:sp>
        <p:nvSpPr>
          <p:cNvPr id="22" name="ocr-004"/>
          <p:cNvSpPr txBox="1"/>
          <p:nvPr/>
        </p:nvSpPr>
        <p:spPr>
          <a:xfrm>
            <a:off x="5393531" y="1869281"/>
            <a:ext cx="41076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S03</a:t>
            </a:r>
            <a:endParaRPr lang="en-US" sz="1000" dirty="0" spc="0"/>
          </a:p>
        </p:txBody>
      </p:sp>
      <p:sp>
        <p:nvSpPr>
          <p:cNvPr id="23" name="ocr-005"/>
          <p:cNvSpPr txBox="1"/>
          <p:nvPr/>
        </p:nvSpPr>
        <p:spPr>
          <a:xfrm>
            <a:off x="7834313" y="1863328"/>
            <a:ext cx="41671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S04</a:t>
            </a:r>
            <a:endParaRPr lang="en-US" sz="1100" dirty="0" spc="0"/>
          </a:p>
        </p:txBody>
      </p:sp>
      <p:sp>
        <p:nvSpPr>
          <p:cNvPr id="24" name="ocr-006"/>
          <p:cNvSpPr txBox="1"/>
          <p:nvPr/>
        </p:nvSpPr>
        <p:spPr>
          <a:xfrm>
            <a:off x="654844" y="1922859"/>
            <a:ext cx="470297"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FFFFFF"/>
                </a:solidFill>
                <a:latin typeface="Microsoft YaHei" pitchFamily="34" charset="0"/>
                <a:ea typeface="Microsoft YaHei" pitchFamily="34" charset="-122"/>
                <a:cs typeface="Microsoft YaHei" pitchFamily="34" charset="-120"/>
              </a:rPr>
              <a:t>01</a:t>
            </a:r>
            <a:endParaRPr lang="en-US" sz="1450" dirty="0" spc="0"/>
          </a:p>
        </p:txBody>
      </p:sp>
      <p:sp>
        <p:nvSpPr>
          <p:cNvPr id="25" name="ocr-007"/>
          <p:cNvSpPr txBox="1"/>
          <p:nvPr/>
        </p:nvSpPr>
        <p:spPr>
          <a:xfrm>
            <a:off x="10287000" y="1869281"/>
            <a:ext cx="398859"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S05</a:t>
            </a:r>
            <a:endParaRPr lang="en-US" sz="1000" dirty="0" spc="0"/>
          </a:p>
        </p:txBody>
      </p:sp>
      <p:sp>
        <p:nvSpPr>
          <p:cNvPr id="26" name="ocr-008"/>
          <p:cNvSpPr txBox="1"/>
          <p:nvPr/>
        </p:nvSpPr>
        <p:spPr>
          <a:xfrm>
            <a:off x="5197078" y="2059781"/>
            <a:ext cx="898922"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当前优先级</a:t>
            </a:r>
            <a:endParaRPr lang="en-US" sz="1000" dirty="0" spc="0"/>
          </a:p>
        </p:txBody>
      </p:sp>
      <p:sp>
        <p:nvSpPr>
          <p:cNvPr id="27" name="ocr-009"/>
          <p:cNvSpPr txBox="1"/>
          <p:nvPr/>
        </p:nvSpPr>
        <p:spPr>
          <a:xfrm>
            <a:off x="7578328" y="2047875"/>
            <a:ext cx="108346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Agent新负载</a:t>
            </a:r>
            <a:endParaRPr lang="en-US" sz="1100" dirty="0" spc="0"/>
          </a:p>
        </p:txBody>
      </p:sp>
      <p:sp>
        <p:nvSpPr>
          <p:cNvPr id="28" name="ocr-010"/>
          <p:cNvSpPr txBox="1"/>
          <p:nvPr/>
        </p:nvSpPr>
        <p:spPr>
          <a:xfrm>
            <a:off x="10132219" y="2059781"/>
            <a:ext cx="77985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动态DAG</a:t>
            </a:r>
            <a:endParaRPr lang="en-US" sz="1000" dirty="0" spc="0"/>
          </a:p>
        </p:txBody>
      </p:sp>
      <p:sp>
        <p:nvSpPr>
          <p:cNvPr id="29" name="ocr-011"/>
          <p:cNvSpPr txBox="1"/>
          <p:nvPr/>
        </p:nvSpPr>
        <p:spPr>
          <a:xfrm>
            <a:off x="1244203" y="2131219"/>
            <a:ext cx="103584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第03-05页</a:t>
            </a:r>
            <a:endParaRPr lang="en-US" sz="1000" dirty="0" spc="0"/>
          </a:p>
        </p:txBody>
      </p:sp>
      <p:sp>
        <p:nvSpPr>
          <p:cNvPr id="30" name="ocr-012"/>
          <p:cNvSpPr txBox="1"/>
          <p:nvPr/>
        </p:nvSpPr>
        <p:spPr>
          <a:xfrm>
            <a:off x="1262063" y="2744391"/>
            <a:ext cx="2351484"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手机实证与系统机制</a:t>
            </a:r>
            <a:endParaRPr lang="en-US" sz="1200" dirty="0" spc="0"/>
          </a:p>
        </p:txBody>
      </p:sp>
      <p:sp>
        <p:nvSpPr>
          <p:cNvPr id="31" name="ocr-013"/>
          <p:cNvSpPr txBox="1"/>
          <p:nvPr/>
        </p:nvSpPr>
        <p:spPr>
          <a:xfrm>
            <a:off x="642938" y="2839641"/>
            <a:ext cx="470297"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FFFFFF"/>
                </a:solidFill>
                <a:latin typeface="Microsoft YaHei" pitchFamily="34" charset="0"/>
                <a:ea typeface="Microsoft YaHei" pitchFamily="34" charset="-122"/>
                <a:cs typeface="Microsoft YaHei" pitchFamily="34" charset="-120"/>
              </a:rPr>
              <a:t>02</a:t>
            </a:r>
            <a:endParaRPr lang="en-US" sz="1450" dirty="0" spc="0"/>
          </a:p>
        </p:txBody>
      </p:sp>
      <p:sp>
        <p:nvSpPr>
          <p:cNvPr id="32" name="ocr-014"/>
          <p:cNvSpPr txBox="1"/>
          <p:nvPr/>
        </p:nvSpPr>
        <p:spPr>
          <a:xfrm>
            <a:off x="5095875" y="2786063"/>
            <a:ext cx="41076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S06</a:t>
            </a:r>
            <a:endParaRPr lang="en-US" sz="950" dirty="0" spc="0"/>
          </a:p>
        </p:txBody>
      </p:sp>
      <p:sp>
        <p:nvSpPr>
          <p:cNvPr id="33" name="ocr-015"/>
          <p:cNvSpPr txBox="1"/>
          <p:nvPr/>
        </p:nvSpPr>
        <p:spPr>
          <a:xfrm>
            <a:off x="6917531" y="2786063"/>
            <a:ext cx="41076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S07</a:t>
            </a:r>
            <a:endParaRPr lang="en-US" sz="950" dirty="0" spc="0"/>
          </a:p>
        </p:txBody>
      </p:sp>
      <p:sp>
        <p:nvSpPr>
          <p:cNvPr id="34" name="ocr-016"/>
          <p:cNvSpPr txBox="1"/>
          <p:nvPr/>
        </p:nvSpPr>
        <p:spPr>
          <a:xfrm>
            <a:off x="8757047" y="2786063"/>
            <a:ext cx="41076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S08</a:t>
            </a:r>
            <a:endParaRPr lang="en-US" sz="950" dirty="0" spc="0"/>
          </a:p>
        </p:txBody>
      </p:sp>
      <p:sp>
        <p:nvSpPr>
          <p:cNvPr id="35" name="ocr-017"/>
          <p:cNvSpPr txBox="1"/>
          <p:nvPr/>
        </p:nvSpPr>
        <p:spPr>
          <a:xfrm>
            <a:off x="10596563" y="2786063"/>
            <a:ext cx="39885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S09</a:t>
            </a:r>
            <a:endParaRPr lang="en-US" sz="950" dirty="0" spc="0"/>
          </a:p>
        </p:txBody>
      </p:sp>
      <p:sp>
        <p:nvSpPr>
          <p:cNvPr id="36" name="ocr-018"/>
          <p:cNvSpPr txBox="1"/>
          <p:nvPr/>
        </p:nvSpPr>
        <p:spPr>
          <a:xfrm>
            <a:off x="4708922" y="2970609"/>
            <a:ext cx="1422797"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CPU/NPU交叉点</a:t>
            </a:r>
            <a:endParaRPr lang="en-US" sz="1000" dirty="0" spc="0"/>
          </a:p>
        </p:txBody>
      </p:sp>
      <p:sp>
        <p:nvSpPr>
          <p:cNvPr id="37" name="ocr-019"/>
          <p:cNvSpPr txBox="1"/>
          <p:nvPr/>
        </p:nvSpPr>
        <p:spPr>
          <a:xfrm>
            <a:off x="6572250" y="2970609"/>
            <a:ext cx="130373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NPU软件强基线</a:t>
            </a:r>
            <a:endParaRPr lang="en-US" sz="1000" dirty="0" spc="0"/>
          </a:p>
        </p:txBody>
      </p:sp>
      <p:sp>
        <p:nvSpPr>
          <p:cNvPr id="38" name="ocr-020"/>
          <p:cNvSpPr txBox="1"/>
          <p:nvPr/>
        </p:nvSpPr>
        <p:spPr>
          <a:xfrm>
            <a:off x="8536781" y="2970609"/>
            <a:ext cx="976313"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CPU/SME2</a:t>
            </a:r>
            <a:endParaRPr lang="en-US" sz="1000" dirty="0" spc="0"/>
          </a:p>
        </p:txBody>
      </p:sp>
      <p:sp>
        <p:nvSpPr>
          <p:cNvPr id="39" name="ocr-021"/>
          <p:cNvSpPr txBox="1"/>
          <p:nvPr/>
        </p:nvSpPr>
        <p:spPr>
          <a:xfrm>
            <a:off x="10376297" y="2964656"/>
            <a:ext cx="9644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调度与QoE</a:t>
            </a:r>
            <a:endParaRPr lang="en-US" sz="1100" dirty="0" spc="0"/>
          </a:p>
        </p:txBody>
      </p:sp>
      <p:sp>
        <p:nvSpPr>
          <p:cNvPr id="40" name="ocr-022"/>
          <p:cNvSpPr txBox="1"/>
          <p:nvPr/>
        </p:nvSpPr>
        <p:spPr>
          <a:xfrm>
            <a:off x="1244203" y="3042047"/>
            <a:ext cx="103584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第06-09页</a:t>
            </a:r>
            <a:endParaRPr lang="en-US" sz="1000" dirty="0" spc="0"/>
          </a:p>
        </p:txBody>
      </p:sp>
      <p:sp>
        <p:nvSpPr>
          <p:cNvPr id="41" name="ocr-023"/>
          <p:cNvSpPr txBox="1"/>
          <p:nvPr/>
        </p:nvSpPr>
        <p:spPr>
          <a:xfrm>
            <a:off x="1256109" y="3637359"/>
            <a:ext cx="2363391"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173753"/>
                </a:solidFill>
                <a:latin typeface="Microsoft YaHei" pitchFamily="34" charset="0"/>
                <a:ea typeface="Microsoft YaHei" pitchFamily="34" charset="-122"/>
                <a:cs typeface="Microsoft YaHei" pitchFamily="34" charset="-120"/>
              </a:rPr>
              <a:t>可信执行与机会边界</a:t>
            </a:r>
            <a:endParaRPr lang="en-US" sz="1350" dirty="0" spc="0"/>
          </a:p>
        </p:txBody>
      </p:sp>
      <p:sp>
        <p:nvSpPr>
          <p:cNvPr id="42" name="ocr-024"/>
          <p:cNvSpPr txBox="1"/>
          <p:nvPr/>
        </p:nvSpPr>
        <p:spPr>
          <a:xfrm>
            <a:off x="4899422" y="3684984"/>
            <a:ext cx="428625"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S10</a:t>
            </a:r>
            <a:endParaRPr lang="en-US" sz="1100" dirty="0" spc="0"/>
          </a:p>
        </p:txBody>
      </p:sp>
      <p:sp>
        <p:nvSpPr>
          <p:cNvPr id="43" name="ocr-025"/>
          <p:cNvSpPr txBox="1"/>
          <p:nvPr/>
        </p:nvSpPr>
        <p:spPr>
          <a:xfrm>
            <a:off x="6375797" y="3696891"/>
            <a:ext cx="39885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S11</a:t>
            </a:r>
            <a:endParaRPr lang="en-US" sz="950" dirty="0" spc="0"/>
          </a:p>
        </p:txBody>
      </p:sp>
      <p:sp>
        <p:nvSpPr>
          <p:cNvPr id="44" name="ocr-026"/>
          <p:cNvSpPr txBox="1"/>
          <p:nvPr/>
        </p:nvSpPr>
        <p:spPr>
          <a:xfrm>
            <a:off x="7840266" y="3690937"/>
            <a:ext cx="404813"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S12</a:t>
            </a:r>
            <a:endParaRPr lang="en-US" sz="1000" dirty="0" spc="0"/>
          </a:p>
        </p:txBody>
      </p:sp>
      <p:sp>
        <p:nvSpPr>
          <p:cNvPr id="45" name="ocr-027"/>
          <p:cNvSpPr txBox="1"/>
          <p:nvPr/>
        </p:nvSpPr>
        <p:spPr>
          <a:xfrm>
            <a:off x="654844" y="3750469"/>
            <a:ext cx="470297" cy="27384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FFFFFF"/>
                </a:solidFill>
                <a:latin typeface="Microsoft YaHei" pitchFamily="34" charset="0"/>
                <a:ea typeface="Microsoft YaHei" pitchFamily="34" charset="-122"/>
                <a:cs typeface="Microsoft YaHei" pitchFamily="34" charset="-120"/>
              </a:rPr>
              <a:t>03</a:t>
            </a:r>
            <a:endParaRPr lang="en-US" sz="1450" dirty="0" spc="0"/>
          </a:p>
        </p:txBody>
      </p:sp>
      <p:sp>
        <p:nvSpPr>
          <p:cNvPr id="46" name="ocr-028"/>
          <p:cNvSpPr txBox="1"/>
          <p:nvPr/>
        </p:nvSpPr>
        <p:spPr>
          <a:xfrm>
            <a:off x="9304734" y="3696891"/>
            <a:ext cx="404813"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S13</a:t>
            </a:r>
            <a:endParaRPr lang="en-US" sz="1000" dirty="0" spc="0"/>
          </a:p>
        </p:txBody>
      </p:sp>
      <p:sp>
        <p:nvSpPr>
          <p:cNvPr id="47" name="ocr-029"/>
          <p:cNvSpPr txBox="1"/>
          <p:nvPr/>
        </p:nvSpPr>
        <p:spPr>
          <a:xfrm>
            <a:off x="10775156" y="3696891"/>
            <a:ext cx="40481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S14</a:t>
            </a:r>
            <a:endParaRPr lang="en-US" sz="950" dirty="0" spc="0"/>
          </a:p>
        </p:txBody>
      </p:sp>
      <p:sp>
        <p:nvSpPr>
          <p:cNvPr id="48" name="ocr-030"/>
          <p:cNvSpPr txBox="1"/>
          <p:nvPr/>
        </p:nvSpPr>
        <p:spPr>
          <a:xfrm>
            <a:off x="4655344" y="3881438"/>
            <a:ext cx="1071563"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可信工具动作</a:t>
            </a:r>
            <a:endParaRPr lang="en-US" sz="1000" dirty="0" spc="0"/>
          </a:p>
        </p:txBody>
      </p:sp>
      <p:sp>
        <p:nvSpPr>
          <p:cNvPr id="49" name="ocr-031"/>
          <p:cNvSpPr txBox="1"/>
          <p:nvPr/>
        </p:nvSpPr>
        <p:spPr>
          <a:xfrm>
            <a:off x="6113859" y="3881438"/>
            <a:ext cx="107751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软件进度基线</a:t>
            </a:r>
            <a:endParaRPr lang="en-US" sz="1000" dirty="0" spc="0"/>
          </a:p>
        </p:txBody>
      </p:sp>
      <p:sp>
        <p:nvSpPr>
          <p:cNvPr id="50" name="ocr-032"/>
          <p:cNvSpPr txBox="1"/>
          <p:nvPr/>
        </p:nvSpPr>
        <p:spPr>
          <a:xfrm>
            <a:off x="7703344" y="3881438"/>
            <a:ext cx="744141"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跨层协同</a:t>
            </a:r>
            <a:endParaRPr lang="en-US" sz="1000" dirty="0" spc="0"/>
          </a:p>
        </p:txBody>
      </p:sp>
      <p:sp>
        <p:nvSpPr>
          <p:cNvPr id="51" name="ocr-033"/>
          <p:cNvSpPr txBox="1"/>
          <p:nvPr/>
        </p:nvSpPr>
        <p:spPr>
          <a:xfrm>
            <a:off x="9167813" y="3881438"/>
            <a:ext cx="738188"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工程责任</a:t>
            </a:r>
            <a:endParaRPr lang="en-US" sz="1000" dirty="0" spc="0"/>
          </a:p>
        </p:txBody>
      </p:sp>
      <p:sp>
        <p:nvSpPr>
          <p:cNvPr id="52" name="ocr-034"/>
          <p:cNvSpPr txBox="1"/>
          <p:nvPr/>
        </p:nvSpPr>
        <p:spPr>
          <a:xfrm>
            <a:off x="10632281" y="3881438"/>
            <a:ext cx="744141"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条件研究</a:t>
            </a:r>
            <a:endParaRPr lang="en-US" sz="1000" dirty="0" spc="0"/>
          </a:p>
        </p:txBody>
      </p:sp>
      <p:sp>
        <p:nvSpPr>
          <p:cNvPr id="53" name="ocr-035"/>
          <p:cNvSpPr txBox="1"/>
          <p:nvPr/>
        </p:nvSpPr>
        <p:spPr>
          <a:xfrm>
            <a:off x="1244203" y="3952875"/>
            <a:ext cx="103584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第10-14页</a:t>
            </a:r>
            <a:endParaRPr lang="en-US" sz="1000" dirty="0" spc="0"/>
          </a:p>
        </p:txBody>
      </p:sp>
      <p:sp>
        <p:nvSpPr>
          <p:cNvPr id="54" name="ocr-036"/>
          <p:cNvSpPr txBox="1"/>
          <p:nvPr/>
        </p:nvSpPr>
        <p:spPr>
          <a:xfrm>
            <a:off x="1262063" y="4554141"/>
            <a:ext cx="2363391"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173753"/>
                </a:solidFill>
                <a:latin typeface="Microsoft YaHei" pitchFamily="34" charset="0"/>
                <a:ea typeface="Microsoft YaHei" pitchFamily="34" charset="-122"/>
                <a:cs typeface="Microsoft YaHei" pitchFamily="34" charset="-120"/>
              </a:rPr>
              <a:t>三年路线与管理决策</a:t>
            </a:r>
            <a:endParaRPr lang="en-US" sz="1350" dirty="0" spc="0"/>
          </a:p>
        </p:txBody>
      </p:sp>
      <p:sp>
        <p:nvSpPr>
          <p:cNvPr id="55" name="ocr-037"/>
          <p:cNvSpPr txBox="1"/>
          <p:nvPr/>
        </p:nvSpPr>
        <p:spPr>
          <a:xfrm>
            <a:off x="642938" y="4655344"/>
            <a:ext cx="482203"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FFFFFF"/>
                </a:solidFill>
                <a:latin typeface="Microsoft YaHei" pitchFamily="34" charset="0"/>
                <a:ea typeface="Microsoft YaHei" pitchFamily="34" charset="-122"/>
                <a:cs typeface="Microsoft YaHei" pitchFamily="34" charset="-120"/>
              </a:rPr>
              <a:t>04</a:t>
            </a:r>
            <a:endParaRPr lang="en-US" sz="1450" dirty="0" spc="0"/>
          </a:p>
        </p:txBody>
      </p:sp>
      <p:sp>
        <p:nvSpPr>
          <p:cNvPr id="56" name="ocr-038"/>
          <p:cNvSpPr txBox="1"/>
          <p:nvPr/>
        </p:nvSpPr>
        <p:spPr>
          <a:xfrm>
            <a:off x="5393531" y="4607719"/>
            <a:ext cx="40481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S15</a:t>
            </a:r>
            <a:endParaRPr lang="en-US" sz="950" dirty="0" spc="0"/>
          </a:p>
        </p:txBody>
      </p:sp>
      <p:sp>
        <p:nvSpPr>
          <p:cNvPr id="57" name="ocr-039"/>
          <p:cNvSpPr txBox="1"/>
          <p:nvPr/>
        </p:nvSpPr>
        <p:spPr>
          <a:xfrm>
            <a:off x="7846219" y="4607719"/>
            <a:ext cx="39885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S16</a:t>
            </a:r>
            <a:endParaRPr lang="en-US" sz="950" dirty="0" spc="0"/>
          </a:p>
        </p:txBody>
      </p:sp>
      <p:sp>
        <p:nvSpPr>
          <p:cNvPr id="58" name="ocr-040"/>
          <p:cNvSpPr txBox="1"/>
          <p:nvPr/>
        </p:nvSpPr>
        <p:spPr>
          <a:xfrm>
            <a:off x="10281047" y="4607719"/>
            <a:ext cx="404813"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S17</a:t>
            </a:r>
            <a:endParaRPr lang="en-US" sz="1000" dirty="0" spc="0"/>
          </a:p>
        </p:txBody>
      </p:sp>
      <p:sp>
        <p:nvSpPr>
          <p:cNvPr id="59" name="ocr-041"/>
          <p:cNvSpPr txBox="1"/>
          <p:nvPr/>
        </p:nvSpPr>
        <p:spPr>
          <a:xfrm>
            <a:off x="5244703" y="4774406"/>
            <a:ext cx="779859"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技术路线</a:t>
            </a:r>
            <a:endParaRPr lang="en-US" sz="1200" dirty="0" spc="0"/>
          </a:p>
        </p:txBody>
      </p:sp>
      <p:sp>
        <p:nvSpPr>
          <p:cNvPr id="60" name="ocr-042"/>
          <p:cNvSpPr txBox="1"/>
          <p:nvPr/>
        </p:nvSpPr>
        <p:spPr>
          <a:xfrm>
            <a:off x="7703344" y="4792266"/>
            <a:ext cx="738188"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证据边界</a:t>
            </a:r>
            <a:endParaRPr lang="en-US" sz="1000" dirty="0" spc="0"/>
          </a:p>
        </p:txBody>
      </p:sp>
      <p:sp>
        <p:nvSpPr>
          <p:cNvPr id="61" name="ocr-043"/>
          <p:cNvSpPr txBox="1"/>
          <p:nvPr/>
        </p:nvSpPr>
        <p:spPr>
          <a:xfrm>
            <a:off x="10090547" y="4792266"/>
            <a:ext cx="898922"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决策与重审</a:t>
            </a:r>
            <a:endParaRPr lang="en-US" sz="1000" dirty="0" spc="0"/>
          </a:p>
        </p:txBody>
      </p:sp>
      <p:sp>
        <p:nvSpPr>
          <p:cNvPr id="62" name="ocr-044"/>
          <p:cNvSpPr txBox="1"/>
          <p:nvPr/>
        </p:nvSpPr>
        <p:spPr>
          <a:xfrm>
            <a:off x="1238250" y="4863703"/>
            <a:ext cx="1041797"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第15-17页</a:t>
            </a:r>
            <a:endParaRPr lang="en-US" sz="1000" dirty="0" spc="0"/>
          </a:p>
        </p:txBody>
      </p:sp>
      <p:sp>
        <p:nvSpPr>
          <p:cNvPr id="63" name="ocr-045"/>
          <p:cNvSpPr txBox="1"/>
          <p:nvPr/>
        </p:nvSpPr>
        <p:spPr>
          <a:xfrm>
            <a:off x="416719" y="5423297"/>
            <a:ext cx="1143000"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173753"/>
                </a:solidFill>
                <a:latin typeface="Microsoft YaHei" pitchFamily="34" charset="0"/>
                <a:ea typeface="Microsoft YaHei" pitchFamily="34" charset="-122"/>
                <a:cs typeface="Microsoft YaHei" pitchFamily="34" charset="-120"/>
              </a:rPr>
              <a:t>整套论证链</a:t>
            </a:r>
            <a:endParaRPr lang="en-US" sz="1150" dirty="0" spc="0"/>
          </a:p>
        </p:txBody>
      </p:sp>
      <p:sp>
        <p:nvSpPr>
          <p:cNvPr id="64" name="ocr-046"/>
          <p:cNvSpPr txBox="1"/>
          <p:nvPr/>
        </p:nvSpPr>
        <p:spPr>
          <a:xfrm>
            <a:off x="2434828" y="5780484"/>
            <a:ext cx="952500"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观察变化</a:t>
            </a:r>
            <a:endParaRPr lang="en-US" sz="1250" dirty="0" spc="0"/>
          </a:p>
        </p:txBody>
      </p:sp>
      <p:sp>
        <p:nvSpPr>
          <p:cNvPr id="65" name="ocr-047"/>
          <p:cNvSpPr txBox="1"/>
          <p:nvPr/>
        </p:nvSpPr>
        <p:spPr>
          <a:xfrm>
            <a:off x="4601766" y="5774531"/>
            <a:ext cx="1375172"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173753"/>
                </a:solidFill>
                <a:latin typeface="Microsoft YaHei" pitchFamily="34" charset="0"/>
                <a:ea typeface="Microsoft YaHei" pitchFamily="34" charset="-122"/>
                <a:cs typeface="Microsoft YaHei" pitchFamily="34" charset="-120"/>
              </a:rPr>
              <a:t>核验现有机制</a:t>
            </a:r>
            <a:endParaRPr lang="en-US" sz="1350" dirty="0" spc="0"/>
          </a:p>
        </p:txBody>
      </p:sp>
      <p:sp>
        <p:nvSpPr>
          <p:cNvPr id="66" name="ocr-048"/>
          <p:cNvSpPr txBox="1"/>
          <p:nvPr/>
        </p:nvSpPr>
        <p:spPr>
          <a:xfrm>
            <a:off x="7179469" y="5786438"/>
            <a:ext cx="1571625"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区分工程与储备</a:t>
            </a:r>
            <a:endParaRPr lang="en-US" sz="1200" dirty="0" spc="0"/>
          </a:p>
        </p:txBody>
      </p:sp>
      <p:sp>
        <p:nvSpPr>
          <p:cNvPr id="67" name="ocr-049"/>
          <p:cNvSpPr txBox="1"/>
          <p:nvPr/>
        </p:nvSpPr>
        <p:spPr>
          <a:xfrm>
            <a:off x="10263188" y="5780484"/>
            <a:ext cx="94059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规划路线</a:t>
            </a:r>
            <a:endParaRPr lang="en-US" sz="1250" dirty="0" spc="0"/>
          </a:p>
        </p:txBody>
      </p:sp>
      <p:sp>
        <p:nvSpPr>
          <p:cNvPr id="68" name="ocr-050"/>
          <p:cNvSpPr txBox="1"/>
          <p:nvPr/>
        </p:nvSpPr>
        <p:spPr>
          <a:xfrm>
            <a:off x="470297" y="6363891"/>
            <a:ext cx="641151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编辑结构：S01为封面、S02为目录；末页S17已计入。各章节页码以冻结的17页大纲为准。</a:t>
            </a:r>
            <a:endParaRPr lang="en-US" sz="800" dirty="0" spc="0"/>
          </a:p>
        </p:txBody>
      </p:sp>
      <p:sp>
        <p:nvSpPr>
          <p:cNvPr id="69"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accent"/>
          <p:cNvSpPr/>
          <p:nvPr/>
        </p:nvSpPr>
        <p:spPr>
          <a:xfrm>
            <a:off x="381000" y="464344"/>
            <a:ext cx="53578" cy="642938"/>
          </a:xfrm>
          <a:prstGeom prst="rect">
            <a:avLst/>
          </a:prstGeom>
          <a:solidFill>
            <a:srgbClr val="2473B6"/>
          </a:solidFill>
          <a:ln w="12700">
            <a:solidFill>
              <a:srgbClr val="FFFFFF">
                <a:alpha val="0"/>
              </a:srgbClr>
            </a:solidFill>
            <a:prstDash val="solid"/>
          </a:ln>
        </p:spPr>
      </p:sp>
      <p:sp>
        <p:nvSpPr>
          <p:cNvPr id="3" name="title-rule"/>
          <p:cNvSpPr/>
          <p:nvPr/>
        </p:nvSpPr>
        <p:spPr>
          <a:xfrm>
            <a:off x="392906" y="1196578"/>
            <a:ext cx="11406188" cy="11906"/>
          </a:xfrm>
          <a:prstGeom prst="rect">
            <a:avLst/>
          </a:prstGeom>
          <a:solidFill>
            <a:srgbClr val="C9DBEA"/>
          </a:solidFill>
          <a:ln w="12700">
            <a:solidFill>
              <a:srgbClr val="FFFFFF">
                <a:alpha val="0"/>
              </a:srgbClr>
            </a:solidFill>
            <a:prstDash val="solid"/>
          </a:ln>
        </p:spPr>
      </p:sp>
      <p:sp>
        <p:nvSpPr>
          <p:cNvPr id="4" name="tier-1-band"/>
          <p:cNvSpPr/>
          <p:nvPr/>
        </p:nvSpPr>
        <p:spPr>
          <a:xfrm>
            <a:off x="386953" y="1315641"/>
            <a:ext cx="11418094" cy="255984"/>
          </a:xfrm>
          <a:prstGeom prst="roundRect">
            <a:avLst>
              <a:gd name="adj" fmla="val 23256"/>
            </a:avLst>
          </a:prstGeom>
          <a:solidFill>
            <a:srgbClr val="174478"/>
          </a:solidFill>
          <a:ln w="12700">
            <a:solidFill>
              <a:srgbClr val="FFFFFF">
                <a:alpha val="0"/>
              </a:srgbClr>
            </a:solidFill>
            <a:prstDash val="solid"/>
          </a:ln>
        </p:spPr>
      </p:sp>
      <p:sp>
        <p:nvSpPr>
          <p:cNvPr id="5" name="tier-1-badge"/>
          <p:cNvSpPr/>
          <p:nvPr/>
        </p:nvSpPr>
        <p:spPr>
          <a:xfrm>
            <a:off x="476250" y="1351359"/>
            <a:ext cx="184547" cy="184547"/>
          </a:xfrm>
          <a:prstGeom prst="roundRect">
            <a:avLst>
              <a:gd name="adj" fmla="val 48387"/>
            </a:avLst>
          </a:prstGeom>
          <a:solidFill>
            <a:srgbClr val="FFFFFF"/>
          </a:solidFill>
          <a:ln w="12700">
            <a:solidFill>
              <a:srgbClr val="FFFFFF">
                <a:alpha val="0"/>
              </a:srgbClr>
            </a:solidFill>
            <a:prstDash val="solid"/>
          </a:ln>
        </p:spPr>
      </p:sp>
      <p:sp>
        <p:nvSpPr>
          <p:cNvPr id="6" name="tier-2-band"/>
          <p:cNvSpPr/>
          <p:nvPr/>
        </p:nvSpPr>
        <p:spPr>
          <a:xfrm>
            <a:off x="386953" y="2595563"/>
            <a:ext cx="11418094" cy="255984"/>
          </a:xfrm>
          <a:prstGeom prst="roundRect">
            <a:avLst>
              <a:gd name="adj" fmla="val 23256"/>
            </a:avLst>
          </a:prstGeom>
          <a:solidFill>
            <a:srgbClr val="4B82B1"/>
          </a:solidFill>
          <a:ln w="12700">
            <a:solidFill>
              <a:srgbClr val="FFFFFF">
                <a:alpha val="0"/>
              </a:srgbClr>
            </a:solidFill>
            <a:prstDash val="solid"/>
          </a:ln>
        </p:spPr>
      </p:sp>
      <p:sp>
        <p:nvSpPr>
          <p:cNvPr id="7" name="tier-2-badge"/>
          <p:cNvSpPr/>
          <p:nvPr/>
        </p:nvSpPr>
        <p:spPr>
          <a:xfrm>
            <a:off x="476250" y="2631281"/>
            <a:ext cx="184547" cy="184547"/>
          </a:xfrm>
          <a:prstGeom prst="roundRect">
            <a:avLst>
              <a:gd name="adj" fmla="val 48387"/>
            </a:avLst>
          </a:prstGeom>
          <a:solidFill>
            <a:srgbClr val="FFFFFF"/>
          </a:solidFill>
          <a:ln w="12700">
            <a:solidFill>
              <a:srgbClr val="FFFFFF">
                <a:alpha val="0"/>
              </a:srgbClr>
            </a:solidFill>
            <a:prstDash val="solid"/>
          </a:ln>
        </p:spPr>
      </p:sp>
      <p:sp>
        <p:nvSpPr>
          <p:cNvPr id="8" name="priority-1"/>
          <p:cNvSpPr/>
          <p:nvPr/>
        </p:nvSpPr>
        <p:spPr>
          <a:xfrm>
            <a:off x="392906" y="1625203"/>
            <a:ext cx="3690938" cy="863203"/>
          </a:xfrm>
          <a:prstGeom prst="roundRect">
            <a:avLst>
              <a:gd name="adj" fmla="val 8966"/>
            </a:avLst>
          </a:prstGeom>
          <a:solidFill>
            <a:srgbClr val="FFFFFF"/>
          </a:solidFill>
          <a:ln w="8930">
            <a:solidFill>
              <a:srgbClr val="C9DBEA"/>
            </a:solidFill>
            <a:prstDash val="solid"/>
          </a:ln>
        </p:spPr>
      </p:sp>
      <p:sp>
        <p:nvSpPr>
          <p:cNvPr id="9" name="priority-1-stripe"/>
          <p:cNvSpPr/>
          <p:nvPr/>
        </p:nvSpPr>
        <p:spPr>
          <a:xfrm>
            <a:off x="398859" y="1631156"/>
            <a:ext cx="47625" cy="851297"/>
          </a:xfrm>
          <a:prstGeom prst="roundRect">
            <a:avLst>
              <a:gd name="adj" fmla="val 50000"/>
            </a:avLst>
          </a:prstGeom>
          <a:solidFill>
            <a:srgbClr val="D4EBFA"/>
          </a:solidFill>
          <a:ln w="12700">
            <a:solidFill>
              <a:srgbClr val="FFFFFF">
                <a:alpha val="0"/>
              </a:srgbClr>
            </a:solidFill>
            <a:prstDash val="solid"/>
          </a:ln>
        </p:spPr>
      </p:sp>
      <p:sp>
        <p:nvSpPr>
          <p:cNvPr id="10" name="priority-1-tag-bg"/>
          <p:cNvSpPr/>
          <p:nvPr/>
        </p:nvSpPr>
        <p:spPr>
          <a:xfrm>
            <a:off x="988219" y="1910953"/>
            <a:ext cx="1369219" cy="160734"/>
          </a:xfrm>
          <a:prstGeom prst="roundRect">
            <a:avLst>
              <a:gd name="adj" fmla="val 25926"/>
            </a:avLst>
          </a:prstGeom>
          <a:solidFill>
            <a:srgbClr val="E7F2FD"/>
          </a:solidFill>
          <a:ln w="12700">
            <a:solidFill>
              <a:srgbClr val="FFFFFF">
                <a:alpha val="0"/>
              </a:srgbClr>
            </a:solidFill>
            <a:prstDash val="solid"/>
          </a:ln>
        </p:spPr>
      </p:sp>
      <p:sp>
        <p:nvSpPr>
          <p:cNvPr id="11" name="priority-1-rule"/>
          <p:cNvSpPr/>
          <p:nvPr/>
        </p:nvSpPr>
        <p:spPr>
          <a:xfrm>
            <a:off x="988219" y="2339578"/>
            <a:ext cx="2988469" cy="5953"/>
          </a:xfrm>
          <a:prstGeom prst="rect">
            <a:avLst/>
          </a:prstGeom>
          <a:solidFill>
            <a:srgbClr val="E2EDF6"/>
          </a:solidFill>
          <a:ln w="12700">
            <a:solidFill>
              <a:srgbClr val="FFFFFF">
                <a:alpha val="0"/>
              </a:srgbClr>
            </a:solidFill>
            <a:prstDash val="solid"/>
          </a:ln>
        </p:spPr>
      </p:sp>
      <p:sp>
        <p:nvSpPr>
          <p:cNvPr id="12" name="priority-2"/>
          <p:cNvSpPr/>
          <p:nvPr/>
        </p:nvSpPr>
        <p:spPr>
          <a:xfrm>
            <a:off x="4250531" y="1625203"/>
            <a:ext cx="3690938" cy="863203"/>
          </a:xfrm>
          <a:prstGeom prst="roundRect">
            <a:avLst>
              <a:gd name="adj" fmla="val 8966"/>
            </a:avLst>
          </a:prstGeom>
          <a:solidFill>
            <a:srgbClr val="FFFFFF"/>
          </a:solidFill>
          <a:ln w="8930">
            <a:solidFill>
              <a:srgbClr val="C9DBEA"/>
            </a:solidFill>
            <a:prstDash val="solid"/>
          </a:ln>
        </p:spPr>
      </p:sp>
      <p:sp>
        <p:nvSpPr>
          <p:cNvPr id="13" name="priority-2-stripe"/>
          <p:cNvSpPr/>
          <p:nvPr/>
        </p:nvSpPr>
        <p:spPr>
          <a:xfrm>
            <a:off x="4256484" y="1631156"/>
            <a:ext cx="47625" cy="851297"/>
          </a:xfrm>
          <a:prstGeom prst="roundRect">
            <a:avLst>
              <a:gd name="adj" fmla="val 50000"/>
            </a:avLst>
          </a:prstGeom>
          <a:solidFill>
            <a:srgbClr val="D4EBFA"/>
          </a:solidFill>
          <a:ln w="12700">
            <a:solidFill>
              <a:srgbClr val="FFFFFF">
                <a:alpha val="0"/>
              </a:srgbClr>
            </a:solidFill>
            <a:prstDash val="solid"/>
          </a:ln>
        </p:spPr>
      </p:sp>
      <p:sp>
        <p:nvSpPr>
          <p:cNvPr id="14" name="priority-2-tag-bg"/>
          <p:cNvSpPr/>
          <p:nvPr/>
        </p:nvSpPr>
        <p:spPr>
          <a:xfrm>
            <a:off x="4845844" y="1910953"/>
            <a:ext cx="1369219" cy="160734"/>
          </a:xfrm>
          <a:prstGeom prst="roundRect">
            <a:avLst>
              <a:gd name="adj" fmla="val 25926"/>
            </a:avLst>
          </a:prstGeom>
          <a:solidFill>
            <a:srgbClr val="E7F2FD"/>
          </a:solidFill>
          <a:ln w="12700">
            <a:solidFill>
              <a:srgbClr val="FFFFFF">
                <a:alpha val="0"/>
              </a:srgbClr>
            </a:solidFill>
            <a:prstDash val="solid"/>
          </a:ln>
        </p:spPr>
      </p:sp>
      <p:sp>
        <p:nvSpPr>
          <p:cNvPr id="15" name="priority-2-rule"/>
          <p:cNvSpPr/>
          <p:nvPr/>
        </p:nvSpPr>
        <p:spPr>
          <a:xfrm>
            <a:off x="4845844" y="2339578"/>
            <a:ext cx="2988469" cy="5953"/>
          </a:xfrm>
          <a:prstGeom prst="rect">
            <a:avLst/>
          </a:prstGeom>
          <a:solidFill>
            <a:srgbClr val="E2EDF6"/>
          </a:solidFill>
          <a:ln w="12700">
            <a:solidFill>
              <a:srgbClr val="FFFFFF">
                <a:alpha val="0"/>
              </a:srgbClr>
            </a:solidFill>
            <a:prstDash val="solid"/>
          </a:ln>
        </p:spPr>
      </p:sp>
      <p:sp>
        <p:nvSpPr>
          <p:cNvPr id="16" name="priority-3"/>
          <p:cNvSpPr/>
          <p:nvPr/>
        </p:nvSpPr>
        <p:spPr>
          <a:xfrm>
            <a:off x="8108156" y="1625203"/>
            <a:ext cx="3690938" cy="863203"/>
          </a:xfrm>
          <a:prstGeom prst="roundRect">
            <a:avLst>
              <a:gd name="adj" fmla="val 8966"/>
            </a:avLst>
          </a:prstGeom>
          <a:solidFill>
            <a:srgbClr val="FFFFFF"/>
          </a:solidFill>
          <a:ln w="8930">
            <a:solidFill>
              <a:srgbClr val="C9DBEA"/>
            </a:solidFill>
            <a:prstDash val="solid"/>
          </a:ln>
        </p:spPr>
      </p:sp>
      <p:sp>
        <p:nvSpPr>
          <p:cNvPr id="17" name="priority-3-stripe"/>
          <p:cNvSpPr/>
          <p:nvPr/>
        </p:nvSpPr>
        <p:spPr>
          <a:xfrm>
            <a:off x="8114109" y="1631156"/>
            <a:ext cx="47625" cy="851297"/>
          </a:xfrm>
          <a:prstGeom prst="roundRect">
            <a:avLst>
              <a:gd name="adj" fmla="val 50000"/>
            </a:avLst>
          </a:prstGeom>
          <a:solidFill>
            <a:srgbClr val="D4EBFA"/>
          </a:solidFill>
          <a:ln w="12700">
            <a:solidFill>
              <a:srgbClr val="FFFFFF">
                <a:alpha val="0"/>
              </a:srgbClr>
            </a:solidFill>
            <a:prstDash val="solid"/>
          </a:ln>
        </p:spPr>
      </p:sp>
      <p:sp>
        <p:nvSpPr>
          <p:cNvPr id="18" name="priority-3-tag-bg"/>
          <p:cNvSpPr/>
          <p:nvPr/>
        </p:nvSpPr>
        <p:spPr>
          <a:xfrm>
            <a:off x="8703469" y="1910953"/>
            <a:ext cx="1369219" cy="160734"/>
          </a:xfrm>
          <a:prstGeom prst="roundRect">
            <a:avLst>
              <a:gd name="adj" fmla="val 25926"/>
            </a:avLst>
          </a:prstGeom>
          <a:solidFill>
            <a:srgbClr val="E7F2FD"/>
          </a:solidFill>
          <a:ln w="12700">
            <a:solidFill>
              <a:srgbClr val="FFFFFF">
                <a:alpha val="0"/>
              </a:srgbClr>
            </a:solidFill>
            <a:prstDash val="solid"/>
          </a:ln>
        </p:spPr>
      </p:sp>
      <p:sp>
        <p:nvSpPr>
          <p:cNvPr id="19" name="priority-3-rule"/>
          <p:cNvSpPr/>
          <p:nvPr/>
        </p:nvSpPr>
        <p:spPr>
          <a:xfrm>
            <a:off x="8703469" y="2339578"/>
            <a:ext cx="2988469" cy="5953"/>
          </a:xfrm>
          <a:prstGeom prst="rect">
            <a:avLst/>
          </a:prstGeom>
          <a:solidFill>
            <a:srgbClr val="E2EDF6"/>
          </a:solidFill>
          <a:ln w="12700">
            <a:solidFill>
              <a:srgbClr val="FFFFFF">
                <a:alpha val="0"/>
              </a:srgbClr>
            </a:solidFill>
            <a:prstDash val="solid"/>
          </a:ln>
        </p:spPr>
      </p:sp>
      <p:sp>
        <p:nvSpPr>
          <p:cNvPr id="20" name="reserve-1"/>
          <p:cNvSpPr/>
          <p:nvPr/>
        </p:nvSpPr>
        <p:spPr>
          <a:xfrm>
            <a:off x="392906" y="2905125"/>
            <a:ext cx="3690938" cy="845344"/>
          </a:xfrm>
          <a:prstGeom prst="roundRect">
            <a:avLst>
              <a:gd name="adj" fmla="val 9155"/>
            </a:avLst>
          </a:prstGeom>
          <a:solidFill>
            <a:srgbClr val="E7F2FD"/>
          </a:solidFill>
          <a:ln w="12700">
            <a:solidFill>
              <a:srgbClr val="FFFFFF">
                <a:alpha val="0"/>
              </a:srgbClr>
            </a:solidFill>
            <a:prstDash val="solid"/>
          </a:ln>
        </p:spPr>
      </p:sp>
      <p:sp>
        <p:nvSpPr>
          <p:cNvPr id="21" name="reserve-1-gate-bg"/>
          <p:cNvSpPr/>
          <p:nvPr/>
        </p:nvSpPr>
        <p:spPr>
          <a:xfrm>
            <a:off x="964406" y="3423047"/>
            <a:ext cx="3000375" cy="208359"/>
          </a:xfrm>
          <a:prstGeom prst="roundRect">
            <a:avLst>
              <a:gd name="adj" fmla="val 20000"/>
            </a:avLst>
          </a:prstGeom>
          <a:solidFill>
            <a:srgbClr val="FFF1D9"/>
          </a:solidFill>
          <a:ln w="8930">
            <a:solidFill>
              <a:srgbClr val="F0D9A8"/>
            </a:solidFill>
            <a:prstDash val="solid"/>
          </a:ln>
        </p:spPr>
      </p:sp>
      <p:sp>
        <p:nvSpPr>
          <p:cNvPr id="22" name="reserve-2"/>
          <p:cNvSpPr/>
          <p:nvPr/>
        </p:nvSpPr>
        <p:spPr>
          <a:xfrm>
            <a:off x="4250531" y="2905125"/>
            <a:ext cx="3690938" cy="845344"/>
          </a:xfrm>
          <a:prstGeom prst="roundRect">
            <a:avLst>
              <a:gd name="adj" fmla="val 9155"/>
            </a:avLst>
          </a:prstGeom>
          <a:solidFill>
            <a:srgbClr val="E7F2FD"/>
          </a:solidFill>
          <a:ln w="12700">
            <a:solidFill>
              <a:srgbClr val="FFFFFF">
                <a:alpha val="0"/>
              </a:srgbClr>
            </a:solidFill>
            <a:prstDash val="solid"/>
          </a:ln>
        </p:spPr>
      </p:sp>
      <p:sp>
        <p:nvSpPr>
          <p:cNvPr id="23" name="reserve-2-gate-bg"/>
          <p:cNvSpPr/>
          <p:nvPr/>
        </p:nvSpPr>
        <p:spPr>
          <a:xfrm>
            <a:off x="4822031" y="3423047"/>
            <a:ext cx="3000375" cy="208359"/>
          </a:xfrm>
          <a:prstGeom prst="roundRect">
            <a:avLst>
              <a:gd name="adj" fmla="val 20000"/>
            </a:avLst>
          </a:prstGeom>
          <a:solidFill>
            <a:srgbClr val="FFF1D9"/>
          </a:solidFill>
          <a:ln w="8930">
            <a:solidFill>
              <a:srgbClr val="F0D9A8"/>
            </a:solidFill>
            <a:prstDash val="solid"/>
          </a:ln>
        </p:spPr>
      </p:sp>
      <p:sp>
        <p:nvSpPr>
          <p:cNvPr id="24" name="reserve-3"/>
          <p:cNvSpPr/>
          <p:nvPr/>
        </p:nvSpPr>
        <p:spPr>
          <a:xfrm>
            <a:off x="8108156" y="2905125"/>
            <a:ext cx="3690938" cy="845344"/>
          </a:xfrm>
          <a:prstGeom prst="roundRect">
            <a:avLst>
              <a:gd name="adj" fmla="val 9155"/>
            </a:avLst>
          </a:prstGeom>
          <a:solidFill>
            <a:srgbClr val="E7F2FD"/>
          </a:solidFill>
          <a:ln w="12700">
            <a:solidFill>
              <a:srgbClr val="FFFFFF">
                <a:alpha val="0"/>
              </a:srgbClr>
            </a:solidFill>
            <a:prstDash val="solid"/>
          </a:ln>
        </p:spPr>
      </p:sp>
      <p:sp>
        <p:nvSpPr>
          <p:cNvPr id="25" name="reserve-3-gate-bg"/>
          <p:cNvSpPr/>
          <p:nvPr/>
        </p:nvSpPr>
        <p:spPr>
          <a:xfrm>
            <a:off x="8679656" y="3423047"/>
            <a:ext cx="3000375" cy="208359"/>
          </a:xfrm>
          <a:prstGeom prst="roundRect">
            <a:avLst>
              <a:gd name="adj" fmla="val 20000"/>
            </a:avLst>
          </a:prstGeom>
          <a:solidFill>
            <a:srgbClr val="FFF1D9"/>
          </a:solidFill>
          <a:ln w="8930">
            <a:solidFill>
              <a:srgbClr val="F0D9A8"/>
            </a:solidFill>
            <a:prstDash val="solid"/>
          </a:ln>
        </p:spPr>
      </p:sp>
      <p:sp>
        <p:nvSpPr>
          <p:cNvPr id="26" name="zero-panel"/>
          <p:cNvSpPr/>
          <p:nvPr/>
        </p:nvSpPr>
        <p:spPr>
          <a:xfrm>
            <a:off x="392906" y="3863578"/>
            <a:ext cx="11406188" cy="928688"/>
          </a:xfrm>
          <a:prstGeom prst="roundRect">
            <a:avLst>
              <a:gd name="adj" fmla="val 8974"/>
            </a:avLst>
          </a:prstGeom>
          <a:solidFill>
            <a:srgbClr val="F3F8FD"/>
          </a:solidFill>
          <a:ln w="8930">
            <a:solidFill>
              <a:srgbClr val="B7D4E9"/>
            </a:solidFill>
            <a:prstDash val="solid"/>
          </a:ln>
        </p:spPr>
      </p:sp>
      <p:sp>
        <p:nvSpPr>
          <p:cNvPr id="27" name="zero-badge"/>
          <p:cNvSpPr/>
          <p:nvPr/>
        </p:nvSpPr>
        <p:spPr>
          <a:xfrm>
            <a:off x="500063" y="3964781"/>
            <a:ext cx="1321594" cy="714375"/>
          </a:xfrm>
          <a:prstGeom prst="roundRect">
            <a:avLst>
              <a:gd name="adj" fmla="val 10833"/>
            </a:avLst>
          </a:prstGeom>
          <a:solidFill>
            <a:srgbClr val="173F72"/>
          </a:solidFill>
          <a:ln w="12700">
            <a:solidFill>
              <a:srgbClr val="FFFFFF">
                <a:alpha val="0"/>
              </a:srgbClr>
            </a:solidFill>
            <a:prstDash val="solid"/>
          </a:ln>
        </p:spPr>
      </p:sp>
      <p:sp>
        <p:nvSpPr>
          <p:cNvPr id="28" name="zero-rule"/>
          <p:cNvSpPr/>
          <p:nvPr/>
        </p:nvSpPr>
        <p:spPr>
          <a:xfrm>
            <a:off x="2012156" y="4417219"/>
            <a:ext cx="9584531" cy="5953"/>
          </a:xfrm>
          <a:prstGeom prst="rect">
            <a:avLst/>
          </a:prstGeom>
          <a:solidFill>
            <a:srgbClr val="C9DBEA"/>
          </a:solidFill>
          <a:ln w="12700">
            <a:solidFill>
              <a:srgbClr val="FFFFFF">
                <a:alpha val="0"/>
              </a:srgbClr>
            </a:solidFill>
            <a:prstDash val="solid"/>
          </a:ln>
        </p:spPr>
      </p:sp>
      <p:sp>
        <p:nvSpPr>
          <p:cNvPr id="29" name="gate-panel"/>
          <p:cNvSpPr/>
          <p:nvPr/>
        </p:nvSpPr>
        <p:spPr>
          <a:xfrm>
            <a:off x="392906" y="4911328"/>
            <a:ext cx="11406188" cy="714375"/>
          </a:xfrm>
          <a:prstGeom prst="roundRect">
            <a:avLst>
              <a:gd name="adj" fmla="val 10833"/>
            </a:avLst>
          </a:prstGeom>
          <a:solidFill>
            <a:srgbClr val="E7F2FD"/>
          </a:solidFill>
          <a:ln w="8930">
            <a:solidFill>
              <a:srgbClr val="A9CDE7"/>
            </a:solidFill>
            <a:prstDash val="solid"/>
          </a:ln>
        </p:spPr>
      </p:sp>
      <p:sp>
        <p:nvSpPr>
          <p:cNvPr id="30" name="gate-label-bg"/>
          <p:cNvSpPr/>
          <p:nvPr/>
        </p:nvSpPr>
        <p:spPr>
          <a:xfrm>
            <a:off x="500063" y="5024438"/>
            <a:ext cx="1131094" cy="238125"/>
          </a:xfrm>
          <a:prstGeom prst="roundRect">
            <a:avLst>
              <a:gd name="adj" fmla="val 22500"/>
            </a:avLst>
          </a:prstGeom>
          <a:solidFill>
            <a:srgbClr val="2473B6"/>
          </a:solidFill>
          <a:ln w="12700">
            <a:solidFill>
              <a:srgbClr val="FFFFFF">
                <a:alpha val="0"/>
              </a:srgbClr>
            </a:solidFill>
            <a:prstDash val="solid"/>
          </a:ln>
        </p:spPr>
      </p:sp>
      <p:sp>
        <p:nvSpPr>
          <p:cNvPr id="31" name="source-rule"/>
          <p:cNvSpPr/>
          <p:nvPr/>
        </p:nvSpPr>
        <p:spPr>
          <a:xfrm>
            <a:off x="398859" y="5750719"/>
            <a:ext cx="11400234" cy="11906"/>
          </a:xfrm>
          <a:prstGeom prst="rect">
            <a:avLst/>
          </a:prstGeom>
          <a:solidFill>
            <a:srgbClr val="C9DBEA"/>
          </a:solidFill>
          <a:ln w="12700">
            <a:solidFill>
              <a:srgbClr val="FFFFFF">
                <a:alpha val="0"/>
              </a:srgbClr>
            </a:solidFill>
            <a:prstDash val="solid"/>
          </a:ln>
        </p:spPr>
      </p:sp>
      <p:sp>
        <p:nvSpPr>
          <p:cNvPr id="32" name="reserve-1-boundary-top-0"/>
          <p:cNvSpPr/>
          <p:nvPr/>
        </p:nvSpPr>
        <p:spPr>
          <a:xfrm>
            <a:off x="428625" y="2905125"/>
            <a:ext cx="71438" cy="11906"/>
          </a:xfrm>
          <a:prstGeom prst="rect">
            <a:avLst/>
          </a:prstGeom>
          <a:solidFill>
            <a:srgbClr val="85ADD0"/>
          </a:solidFill>
          <a:ln w="12700">
            <a:solidFill>
              <a:srgbClr val="FFFFFF">
                <a:alpha val="0"/>
              </a:srgbClr>
            </a:solidFill>
            <a:prstDash val="solid"/>
          </a:ln>
        </p:spPr>
      </p:sp>
      <p:sp>
        <p:nvSpPr>
          <p:cNvPr id="33" name="reserve-1-boundary-top-1"/>
          <p:cNvSpPr/>
          <p:nvPr/>
        </p:nvSpPr>
        <p:spPr>
          <a:xfrm>
            <a:off x="547688" y="2905125"/>
            <a:ext cx="71438" cy="11906"/>
          </a:xfrm>
          <a:prstGeom prst="rect">
            <a:avLst/>
          </a:prstGeom>
          <a:solidFill>
            <a:srgbClr val="85ADD0"/>
          </a:solidFill>
          <a:ln w="12700">
            <a:solidFill>
              <a:srgbClr val="FFFFFF">
                <a:alpha val="0"/>
              </a:srgbClr>
            </a:solidFill>
            <a:prstDash val="solid"/>
          </a:ln>
        </p:spPr>
      </p:sp>
      <p:sp>
        <p:nvSpPr>
          <p:cNvPr id="34" name="reserve-1-boundary-top-2"/>
          <p:cNvSpPr/>
          <p:nvPr/>
        </p:nvSpPr>
        <p:spPr>
          <a:xfrm>
            <a:off x="666750" y="2905125"/>
            <a:ext cx="71438" cy="11906"/>
          </a:xfrm>
          <a:prstGeom prst="rect">
            <a:avLst/>
          </a:prstGeom>
          <a:solidFill>
            <a:srgbClr val="85ADD0"/>
          </a:solidFill>
          <a:ln w="12700">
            <a:solidFill>
              <a:srgbClr val="FFFFFF">
                <a:alpha val="0"/>
              </a:srgbClr>
            </a:solidFill>
            <a:prstDash val="solid"/>
          </a:ln>
        </p:spPr>
      </p:sp>
      <p:sp>
        <p:nvSpPr>
          <p:cNvPr id="35" name="reserve-1-boundary-top-3"/>
          <p:cNvSpPr/>
          <p:nvPr/>
        </p:nvSpPr>
        <p:spPr>
          <a:xfrm>
            <a:off x="785813" y="2905125"/>
            <a:ext cx="71438" cy="11906"/>
          </a:xfrm>
          <a:prstGeom prst="rect">
            <a:avLst/>
          </a:prstGeom>
          <a:solidFill>
            <a:srgbClr val="85ADD0"/>
          </a:solidFill>
          <a:ln w="12700">
            <a:solidFill>
              <a:srgbClr val="FFFFFF">
                <a:alpha val="0"/>
              </a:srgbClr>
            </a:solidFill>
            <a:prstDash val="solid"/>
          </a:ln>
        </p:spPr>
      </p:sp>
      <p:sp>
        <p:nvSpPr>
          <p:cNvPr id="36" name="reserve-1-boundary-top-4"/>
          <p:cNvSpPr/>
          <p:nvPr/>
        </p:nvSpPr>
        <p:spPr>
          <a:xfrm>
            <a:off x="904875" y="2905125"/>
            <a:ext cx="71438" cy="11906"/>
          </a:xfrm>
          <a:prstGeom prst="rect">
            <a:avLst/>
          </a:prstGeom>
          <a:solidFill>
            <a:srgbClr val="85ADD0"/>
          </a:solidFill>
          <a:ln w="12700">
            <a:solidFill>
              <a:srgbClr val="FFFFFF">
                <a:alpha val="0"/>
              </a:srgbClr>
            </a:solidFill>
            <a:prstDash val="solid"/>
          </a:ln>
        </p:spPr>
      </p:sp>
      <p:sp>
        <p:nvSpPr>
          <p:cNvPr id="37" name="reserve-1-boundary-top-5"/>
          <p:cNvSpPr/>
          <p:nvPr/>
        </p:nvSpPr>
        <p:spPr>
          <a:xfrm>
            <a:off x="1023938" y="2905125"/>
            <a:ext cx="71438" cy="11906"/>
          </a:xfrm>
          <a:prstGeom prst="rect">
            <a:avLst/>
          </a:prstGeom>
          <a:solidFill>
            <a:srgbClr val="85ADD0"/>
          </a:solidFill>
          <a:ln w="12700">
            <a:solidFill>
              <a:srgbClr val="FFFFFF">
                <a:alpha val="0"/>
              </a:srgbClr>
            </a:solidFill>
            <a:prstDash val="solid"/>
          </a:ln>
        </p:spPr>
      </p:sp>
      <p:sp>
        <p:nvSpPr>
          <p:cNvPr id="38" name="reserve-1-boundary-top-6"/>
          <p:cNvSpPr/>
          <p:nvPr/>
        </p:nvSpPr>
        <p:spPr>
          <a:xfrm>
            <a:off x="1143000" y="2905125"/>
            <a:ext cx="71438" cy="11906"/>
          </a:xfrm>
          <a:prstGeom prst="rect">
            <a:avLst/>
          </a:prstGeom>
          <a:solidFill>
            <a:srgbClr val="85ADD0"/>
          </a:solidFill>
          <a:ln w="12700">
            <a:solidFill>
              <a:srgbClr val="FFFFFF">
                <a:alpha val="0"/>
              </a:srgbClr>
            </a:solidFill>
            <a:prstDash val="solid"/>
          </a:ln>
        </p:spPr>
      </p:sp>
      <p:sp>
        <p:nvSpPr>
          <p:cNvPr id="39" name="reserve-1-boundary-top-7"/>
          <p:cNvSpPr/>
          <p:nvPr/>
        </p:nvSpPr>
        <p:spPr>
          <a:xfrm>
            <a:off x="1262063" y="2905125"/>
            <a:ext cx="71438" cy="11906"/>
          </a:xfrm>
          <a:prstGeom prst="rect">
            <a:avLst/>
          </a:prstGeom>
          <a:solidFill>
            <a:srgbClr val="85ADD0"/>
          </a:solidFill>
          <a:ln w="12700">
            <a:solidFill>
              <a:srgbClr val="FFFFFF">
                <a:alpha val="0"/>
              </a:srgbClr>
            </a:solidFill>
            <a:prstDash val="solid"/>
          </a:ln>
        </p:spPr>
      </p:sp>
      <p:sp>
        <p:nvSpPr>
          <p:cNvPr id="40" name="reserve-1-boundary-top-8"/>
          <p:cNvSpPr/>
          <p:nvPr/>
        </p:nvSpPr>
        <p:spPr>
          <a:xfrm>
            <a:off x="1381125" y="2905125"/>
            <a:ext cx="71438" cy="11906"/>
          </a:xfrm>
          <a:prstGeom prst="rect">
            <a:avLst/>
          </a:prstGeom>
          <a:solidFill>
            <a:srgbClr val="85ADD0"/>
          </a:solidFill>
          <a:ln w="12700">
            <a:solidFill>
              <a:srgbClr val="FFFFFF">
                <a:alpha val="0"/>
              </a:srgbClr>
            </a:solidFill>
            <a:prstDash val="solid"/>
          </a:ln>
        </p:spPr>
      </p:sp>
      <p:sp>
        <p:nvSpPr>
          <p:cNvPr id="41" name="reserve-1-boundary-top-9"/>
          <p:cNvSpPr/>
          <p:nvPr/>
        </p:nvSpPr>
        <p:spPr>
          <a:xfrm>
            <a:off x="1500188" y="2905125"/>
            <a:ext cx="71438" cy="11906"/>
          </a:xfrm>
          <a:prstGeom prst="rect">
            <a:avLst/>
          </a:prstGeom>
          <a:solidFill>
            <a:srgbClr val="85ADD0"/>
          </a:solidFill>
          <a:ln w="12700">
            <a:solidFill>
              <a:srgbClr val="FFFFFF">
                <a:alpha val="0"/>
              </a:srgbClr>
            </a:solidFill>
            <a:prstDash val="solid"/>
          </a:ln>
        </p:spPr>
      </p:sp>
      <p:sp>
        <p:nvSpPr>
          <p:cNvPr id="42" name="reserve-1-boundary-top-10"/>
          <p:cNvSpPr/>
          <p:nvPr/>
        </p:nvSpPr>
        <p:spPr>
          <a:xfrm>
            <a:off x="1619250" y="2905125"/>
            <a:ext cx="71438" cy="11906"/>
          </a:xfrm>
          <a:prstGeom prst="rect">
            <a:avLst/>
          </a:prstGeom>
          <a:solidFill>
            <a:srgbClr val="85ADD0"/>
          </a:solidFill>
          <a:ln w="12700">
            <a:solidFill>
              <a:srgbClr val="FFFFFF">
                <a:alpha val="0"/>
              </a:srgbClr>
            </a:solidFill>
            <a:prstDash val="solid"/>
          </a:ln>
        </p:spPr>
      </p:sp>
      <p:sp>
        <p:nvSpPr>
          <p:cNvPr id="43" name="reserve-1-boundary-top-11"/>
          <p:cNvSpPr/>
          <p:nvPr/>
        </p:nvSpPr>
        <p:spPr>
          <a:xfrm>
            <a:off x="1738313" y="2905125"/>
            <a:ext cx="71438" cy="11906"/>
          </a:xfrm>
          <a:prstGeom prst="rect">
            <a:avLst/>
          </a:prstGeom>
          <a:solidFill>
            <a:srgbClr val="85ADD0"/>
          </a:solidFill>
          <a:ln w="12700">
            <a:solidFill>
              <a:srgbClr val="FFFFFF">
                <a:alpha val="0"/>
              </a:srgbClr>
            </a:solidFill>
            <a:prstDash val="solid"/>
          </a:ln>
        </p:spPr>
      </p:sp>
      <p:sp>
        <p:nvSpPr>
          <p:cNvPr id="44" name="reserve-1-boundary-top-12"/>
          <p:cNvSpPr/>
          <p:nvPr/>
        </p:nvSpPr>
        <p:spPr>
          <a:xfrm>
            <a:off x="1857375" y="2905125"/>
            <a:ext cx="71438" cy="11906"/>
          </a:xfrm>
          <a:prstGeom prst="rect">
            <a:avLst/>
          </a:prstGeom>
          <a:solidFill>
            <a:srgbClr val="85ADD0"/>
          </a:solidFill>
          <a:ln w="12700">
            <a:solidFill>
              <a:srgbClr val="FFFFFF">
                <a:alpha val="0"/>
              </a:srgbClr>
            </a:solidFill>
            <a:prstDash val="solid"/>
          </a:ln>
        </p:spPr>
      </p:sp>
      <p:sp>
        <p:nvSpPr>
          <p:cNvPr id="45" name="reserve-1-boundary-top-13"/>
          <p:cNvSpPr/>
          <p:nvPr/>
        </p:nvSpPr>
        <p:spPr>
          <a:xfrm>
            <a:off x="1976438" y="2905125"/>
            <a:ext cx="71438" cy="11906"/>
          </a:xfrm>
          <a:prstGeom prst="rect">
            <a:avLst/>
          </a:prstGeom>
          <a:solidFill>
            <a:srgbClr val="85ADD0"/>
          </a:solidFill>
          <a:ln w="12700">
            <a:solidFill>
              <a:srgbClr val="FFFFFF">
                <a:alpha val="0"/>
              </a:srgbClr>
            </a:solidFill>
            <a:prstDash val="solid"/>
          </a:ln>
        </p:spPr>
      </p:sp>
      <p:sp>
        <p:nvSpPr>
          <p:cNvPr id="46" name="reserve-1-boundary-top-14"/>
          <p:cNvSpPr/>
          <p:nvPr/>
        </p:nvSpPr>
        <p:spPr>
          <a:xfrm>
            <a:off x="2095500" y="2905125"/>
            <a:ext cx="71438" cy="11906"/>
          </a:xfrm>
          <a:prstGeom prst="rect">
            <a:avLst/>
          </a:prstGeom>
          <a:solidFill>
            <a:srgbClr val="85ADD0"/>
          </a:solidFill>
          <a:ln w="12700">
            <a:solidFill>
              <a:srgbClr val="FFFFFF">
                <a:alpha val="0"/>
              </a:srgbClr>
            </a:solidFill>
            <a:prstDash val="solid"/>
          </a:ln>
        </p:spPr>
      </p:sp>
      <p:sp>
        <p:nvSpPr>
          <p:cNvPr id="47" name="reserve-1-boundary-top-15"/>
          <p:cNvSpPr/>
          <p:nvPr/>
        </p:nvSpPr>
        <p:spPr>
          <a:xfrm>
            <a:off x="2214563" y="2905125"/>
            <a:ext cx="71438" cy="11906"/>
          </a:xfrm>
          <a:prstGeom prst="rect">
            <a:avLst/>
          </a:prstGeom>
          <a:solidFill>
            <a:srgbClr val="85ADD0"/>
          </a:solidFill>
          <a:ln w="12700">
            <a:solidFill>
              <a:srgbClr val="FFFFFF">
                <a:alpha val="0"/>
              </a:srgbClr>
            </a:solidFill>
            <a:prstDash val="solid"/>
          </a:ln>
        </p:spPr>
      </p:sp>
      <p:sp>
        <p:nvSpPr>
          <p:cNvPr id="48" name="reserve-1-boundary-top-16"/>
          <p:cNvSpPr/>
          <p:nvPr/>
        </p:nvSpPr>
        <p:spPr>
          <a:xfrm>
            <a:off x="2333625" y="2905125"/>
            <a:ext cx="71438" cy="11906"/>
          </a:xfrm>
          <a:prstGeom prst="rect">
            <a:avLst/>
          </a:prstGeom>
          <a:solidFill>
            <a:srgbClr val="85ADD0"/>
          </a:solidFill>
          <a:ln w="12700">
            <a:solidFill>
              <a:srgbClr val="FFFFFF">
                <a:alpha val="0"/>
              </a:srgbClr>
            </a:solidFill>
            <a:prstDash val="solid"/>
          </a:ln>
        </p:spPr>
      </p:sp>
      <p:sp>
        <p:nvSpPr>
          <p:cNvPr id="49" name="reserve-1-boundary-top-17"/>
          <p:cNvSpPr/>
          <p:nvPr/>
        </p:nvSpPr>
        <p:spPr>
          <a:xfrm>
            <a:off x="2452688" y="2905125"/>
            <a:ext cx="71438" cy="11906"/>
          </a:xfrm>
          <a:prstGeom prst="rect">
            <a:avLst/>
          </a:prstGeom>
          <a:solidFill>
            <a:srgbClr val="85ADD0"/>
          </a:solidFill>
          <a:ln w="12700">
            <a:solidFill>
              <a:srgbClr val="FFFFFF">
                <a:alpha val="0"/>
              </a:srgbClr>
            </a:solidFill>
            <a:prstDash val="solid"/>
          </a:ln>
        </p:spPr>
      </p:sp>
      <p:sp>
        <p:nvSpPr>
          <p:cNvPr id="50" name="reserve-1-boundary-top-18"/>
          <p:cNvSpPr/>
          <p:nvPr/>
        </p:nvSpPr>
        <p:spPr>
          <a:xfrm>
            <a:off x="2571750" y="2905125"/>
            <a:ext cx="71438" cy="11906"/>
          </a:xfrm>
          <a:prstGeom prst="rect">
            <a:avLst/>
          </a:prstGeom>
          <a:solidFill>
            <a:srgbClr val="85ADD0"/>
          </a:solidFill>
          <a:ln w="12700">
            <a:solidFill>
              <a:srgbClr val="FFFFFF">
                <a:alpha val="0"/>
              </a:srgbClr>
            </a:solidFill>
            <a:prstDash val="solid"/>
          </a:ln>
        </p:spPr>
      </p:sp>
      <p:sp>
        <p:nvSpPr>
          <p:cNvPr id="51" name="reserve-1-boundary-top-19"/>
          <p:cNvSpPr/>
          <p:nvPr/>
        </p:nvSpPr>
        <p:spPr>
          <a:xfrm>
            <a:off x="2690813" y="2905125"/>
            <a:ext cx="71438" cy="11906"/>
          </a:xfrm>
          <a:prstGeom prst="rect">
            <a:avLst/>
          </a:prstGeom>
          <a:solidFill>
            <a:srgbClr val="85ADD0"/>
          </a:solidFill>
          <a:ln w="12700">
            <a:solidFill>
              <a:srgbClr val="FFFFFF">
                <a:alpha val="0"/>
              </a:srgbClr>
            </a:solidFill>
            <a:prstDash val="solid"/>
          </a:ln>
        </p:spPr>
      </p:sp>
      <p:sp>
        <p:nvSpPr>
          <p:cNvPr id="52" name="reserve-1-boundary-top-20"/>
          <p:cNvSpPr/>
          <p:nvPr/>
        </p:nvSpPr>
        <p:spPr>
          <a:xfrm>
            <a:off x="2809875" y="2905125"/>
            <a:ext cx="71438" cy="11906"/>
          </a:xfrm>
          <a:prstGeom prst="rect">
            <a:avLst/>
          </a:prstGeom>
          <a:solidFill>
            <a:srgbClr val="85ADD0"/>
          </a:solidFill>
          <a:ln w="12700">
            <a:solidFill>
              <a:srgbClr val="FFFFFF">
                <a:alpha val="0"/>
              </a:srgbClr>
            </a:solidFill>
            <a:prstDash val="solid"/>
          </a:ln>
        </p:spPr>
      </p:sp>
      <p:sp>
        <p:nvSpPr>
          <p:cNvPr id="53" name="reserve-1-boundary-top-21"/>
          <p:cNvSpPr/>
          <p:nvPr/>
        </p:nvSpPr>
        <p:spPr>
          <a:xfrm>
            <a:off x="2928938" y="2905125"/>
            <a:ext cx="71438" cy="11906"/>
          </a:xfrm>
          <a:prstGeom prst="rect">
            <a:avLst/>
          </a:prstGeom>
          <a:solidFill>
            <a:srgbClr val="85ADD0"/>
          </a:solidFill>
          <a:ln w="12700">
            <a:solidFill>
              <a:srgbClr val="FFFFFF">
                <a:alpha val="0"/>
              </a:srgbClr>
            </a:solidFill>
            <a:prstDash val="solid"/>
          </a:ln>
        </p:spPr>
      </p:sp>
      <p:sp>
        <p:nvSpPr>
          <p:cNvPr id="54" name="reserve-1-boundary-top-22"/>
          <p:cNvSpPr/>
          <p:nvPr/>
        </p:nvSpPr>
        <p:spPr>
          <a:xfrm>
            <a:off x="3048000" y="2905125"/>
            <a:ext cx="71438" cy="11906"/>
          </a:xfrm>
          <a:prstGeom prst="rect">
            <a:avLst/>
          </a:prstGeom>
          <a:solidFill>
            <a:srgbClr val="85ADD0"/>
          </a:solidFill>
          <a:ln w="12700">
            <a:solidFill>
              <a:srgbClr val="FFFFFF">
                <a:alpha val="0"/>
              </a:srgbClr>
            </a:solidFill>
            <a:prstDash val="solid"/>
          </a:ln>
        </p:spPr>
      </p:sp>
      <p:sp>
        <p:nvSpPr>
          <p:cNvPr id="55" name="reserve-1-boundary-top-23"/>
          <p:cNvSpPr/>
          <p:nvPr/>
        </p:nvSpPr>
        <p:spPr>
          <a:xfrm>
            <a:off x="3167063" y="2905125"/>
            <a:ext cx="71438" cy="11906"/>
          </a:xfrm>
          <a:prstGeom prst="rect">
            <a:avLst/>
          </a:prstGeom>
          <a:solidFill>
            <a:srgbClr val="85ADD0"/>
          </a:solidFill>
          <a:ln w="12700">
            <a:solidFill>
              <a:srgbClr val="FFFFFF">
                <a:alpha val="0"/>
              </a:srgbClr>
            </a:solidFill>
            <a:prstDash val="solid"/>
          </a:ln>
        </p:spPr>
      </p:sp>
      <p:sp>
        <p:nvSpPr>
          <p:cNvPr id="56" name="reserve-1-boundary-top-24"/>
          <p:cNvSpPr/>
          <p:nvPr/>
        </p:nvSpPr>
        <p:spPr>
          <a:xfrm>
            <a:off x="3286125" y="2905125"/>
            <a:ext cx="71438" cy="11906"/>
          </a:xfrm>
          <a:prstGeom prst="rect">
            <a:avLst/>
          </a:prstGeom>
          <a:solidFill>
            <a:srgbClr val="85ADD0"/>
          </a:solidFill>
          <a:ln w="12700">
            <a:solidFill>
              <a:srgbClr val="FFFFFF">
                <a:alpha val="0"/>
              </a:srgbClr>
            </a:solidFill>
            <a:prstDash val="solid"/>
          </a:ln>
        </p:spPr>
      </p:sp>
      <p:sp>
        <p:nvSpPr>
          <p:cNvPr id="57" name="reserve-1-boundary-top-25"/>
          <p:cNvSpPr/>
          <p:nvPr/>
        </p:nvSpPr>
        <p:spPr>
          <a:xfrm>
            <a:off x="3405188" y="2905125"/>
            <a:ext cx="71438" cy="11906"/>
          </a:xfrm>
          <a:prstGeom prst="rect">
            <a:avLst/>
          </a:prstGeom>
          <a:solidFill>
            <a:srgbClr val="85ADD0"/>
          </a:solidFill>
          <a:ln w="12700">
            <a:solidFill>
              <a:srgbClr val="FFFFFF">
                <a:alpha val="0"/>
              </a:srgbClr>
            </a:solidFill>
            <a:prstDash val="solid"/>
          </a:ln>
        </p:spPr>
      </p:sp>
      <p:sp>
        <p:nvSpPr>
          <p:cNvPr id="58" name="reserve-1-boundary-top-26"/>
          <p:cNvSpPr/>
          <p:nvPr/>
        </p:nvSpPr>
        <p:spPr>
          <a:xfrm>
            <a:off x="3524250" y="2905125"/>
            <a:ext cx="71438" cy="11906"/>
          </a:xfrm>
          <a:prstGeom prst="rect">
            <a:avLst/>
          </a:prstGeom>
          <a:solidFill>
            <a:srgbClr val="85ADD0"/>
          </a:solidFill>
          <a:ln w="12700">
            <a:solidFill>
              <a:srgbClr val="FFFFFF">
                <a:alpha val="0"/>
              </a:srgbClr>
            </a:solidFill>
            <a:prstDash val="solid"/>
          </a:ln>
        </p:spPr>
      </p:sp>
      <p:sp>
        <p:nvSpPr>
          <p:cNvPr id="59" name="reserve-1-boundary-top-27"/>
          <p:cNvSpPr/>
          <p:nvPr/>
        </p:nvSpPr>
        <p:spPr>
          <a:xfrm>
            <a:off x="3643313" y="2905125"/>
            <a:ext cx="71438" cy="11906"/>
          </a:xfrm>
          <a:prstGeom prst="rect">
            <a:avLst/>
          </a:prstGeom>
          <a:solidFill>
            <a:srgbClr val="85ADD0"/>
          </a:solidFill>
          <a:ln w="12700">
            <a:solidFill>
              <a:srgbClr val="FFFFFF">
                <a:alpha val="0"/>
              </a:srgbClr>
            </a:solidFill>
            <a:prstDash val="solid"/>
          </a:ln>
        </p:spPr>
      </p:sp>
      <p:sp>
        <p:nvSpPr>
          <p:cNvPr id="60" name="reserve-1-boundary-top-28"/>
          <p:cNvSpPr/>
          <p:nvPr/>
        </p:nvSpPr>
        <p:spPr>
          <a:xfrm>
            <a:off x="3762375" y="2905125"/>
            <a:ext cx="71438" cy="11906"/>
          </a:xfrm>
          <a:prstGeom prst="rect">
            <a:avLst/>
          </a:prstGeom>
          <a:solidFill>
            <a:srgbClr val="85ADD0"/>
          </a:solidFill>
          <a:ln w="12700">
            <a:solidFill>
              <a:srgbClr val="FFFFFF">
                <a:alpha val="0"/>
              </a:srgbClr>
            </a:solidFill>
            <a:prstDash val="solid"/>
          </a:ln>
        </p:spPr>
      </p:sp>
      <p:sp>
        <p:nvSpPr>
          <p:cNvPr id="61" name="reserve-1-boundary-top-29"/>
          <p:cNvSpPr/>
          <p:nvPr/>
        </p:nvSpPr>
        <p:spPr>
          <a:xfrm>
            <a:off x="3881438" y="2905125"/>
            <a:ext cx="71438" cy="11906"/>
          </a:xfrm>
          <a:prstGeom prst="rect">
            <a:avLst/>
          </a:prstGeom>
          <a:solidFill>
            <a:srgbClr val="85ADD0"/>
          </a:solidFill>
          <a:ln w="12700">
            <a:solidFill>
              <a:srgbClr val="FFFFFF">
                <a:alpha val="0"/>
              </a:srgbClr>
            </a:solidFill>
            <a:prstDash val="solid"/>
          </a:ln>
        </p:spPr>
      </p:sp>
      <p:sp>
        <p:nvSpPr>
          <p:cNvPr id="62" name="reserve-1-boundary-top-30"/>
          <p:cNvSpPr/>
          <p:nvPr/>
        </p:nvSpPr>
        <p:spPr>
          <a:xfrm>
            <a:off x="4000500" y="2905125"/>
            <a:ext cx="47625" cy="11906"/>
          </a:xfrm>
          <a:prstGeom prst="rect">
            <a:avLst/>
          </a:prstGeom>
          <a:solidFill>
            <a:srgbClr val="85ADD0"/>
          </a:solidFill>
          <a:ln w="12700">
            <a:solidFill>
              <a:srgbClr val="FFFFFF">
                <a:alpha val="0"/>
              </a:srgbClr>
            </a:solidFill>
            <a:prstDash val="solid"/>
          </a:ln>
        </p:spPr>
      </p:sp>
      <p:sp>
        <p:nvSpPr>
          <p:cNvPr id="63" name="reserve-1-boundary-bottom-0"/>
          <p:cNvSpPr/>
          <p:nvPr/>
        </p:nvSpPr>
        <p:spPr>
          <a:xfrm>
            <a:off x="428625" y="3738563"/>
            <a:ext cx="71438" cy="11906"/>
          </a:xfrm>
          <a:prstGeom prst="rect">
            <a:avLst/>
          </a:prstGeom>
          <a:solidFill>
            <a:srgbClr val="85ADD0"/>
          </a:solidFill>
          <a:ln w="12700">
            <a:solidFill>
              <a:srgbClr val="FFFFFF">
                <a:alpha val="0"/>
              </a:srgbClr>
            </a:solidFill>
            <a:prstDash val="solid"/>
          </a:ln>
        </p:spPr>
      </p:sp>
      <p:sp>
        <p:nvSpPr>
          <p:cNvPr id="64" name="reserve-1-boundary-bottom-1"/>
          <p:cNvSpPr/>
          <p:nvPr/>
        </p:nvSpPr>
        <p:spPr>
          <a:xfrm>
            <a:off x="547688" y="3738563"/>
            <a:ext cx="71438" cy="11906"/>
          </a:xfrm>
          <a:prstGeom prst="rect">
            <a:avLst/>
          </a:prstGeom>
          <a:solidFill>
            <a:srgbClr val="85ADD0"/>
          </a:solidFill>
          <a:ln w="12700">
            <a:solidFill>
              <a:srgbClr val="FFFFFF">
                <a:alpha val="0"/>
              </a:srgbClr>
            </a:solidFill>
            <a:prstDash val="solid"/>
          </a:ln>
        </p:spPr>
      </p:sp>
      <p:sp>
        <p:nvSpPr>
          <p:cNvPr id="65" name="reserve-1-boundary-bottom-2"/>
          <p:cNvSpPr/>
          <p:nvPr/>
        </p:nvSpPr>
        <p:spPr>
          <a:xfrm>
            <a:off x="666750" y="3738563"/>
            <a:ext cx="71438" cy="11906"/>
          </a:xfrm>
          <a:prstGeom prst="rect">
            <a:avLst/>
          </a:prstGeom>
          <a:solidFill>
            <a:srgbClr val="85ADD0"/>
          </a:solidFill>
          <a:ln w="12700">
            <a:solidFill>
              <a:srgbClr val="FFFFFF">
                <a:alpha val="0"/>
              </a:srgbClr>
            </a:solidFill>
            <a:prstDash val="solid"/>
          </a:ln>
        </p:spPr>
      </p:sp>
      <p:sp>
        <p:nvSpPr>
          <p:cNvPr id="66" name="reserve-1-boundary-bottom-3"/>
          <p:cNvSpPr/>
          <p:nvPr/>
        </p:nvSpPr>
        <p:spPr>
          <a:xfrm>
            <a:off x="785813" y="3738563"/>
            <a:ext cx="71438" cy="11906"/>
          </a:xfrm>
          <a:prstGeom prst="rect">
            <a:avLst/>
          </a:prstGeom>
          <a:solidFill>
            <a:srgbClr val="85ADD0"/>
          </a:solidFill>
          <a:ln w="12700">
            <a:solidFill>
              <a:srgbClr val="FFFFFF">
                <a:alpha val="0"/>
              </a:srgbClr>
            </a:solidFill>
            <a:prstDash val="solid"/>
          </a:ln>
        </p:spPr>
      </p:sp>
      <p:sp>
        <p:nvSpPr>
          <p:cNvPr id="67" name="reserve-1-boundary-bottom-4"/>
          <p:cNvSpPr/>
          <p:nvPr/>
        </p:nvSpPr>
        <p:spPr>
          <a:xfrm>
            <a:off x="904875" y="3738563"/>
            <a:ext cx="71438" cy="11906"/>
          </a:xfrm>
          <a:prstGeom prst="rect">
            <a:avLst/>
          </a:prstGeom>
          <a:solidFill>
            <a:srgbClr val="85ADD0"/>
          </a:solidFill>
          <a:ln w="12700">
            <a:solidFill>
              <a:srgbClr val="FFFFFF">
                <a:alpha val="0"/>
              </a:srgbClr>
            </a:solidFill>
            <a:prstDash val="solid"/>
          </a:ln>
        </p:spPr>
      </p:sp>
      <p:sp>
        <p:nvSpPr>
          <p:cNvPr id="68" name="reserve-1-boundary-bottom-5"/>
          <p:cNvSpPr/>
          <p:nvPr/>
        </p:nvSpPr>
        <p:spPr>
          <a:xfrm>
            <a:off x="1023938" y="3738563"/>
            <a:ext cx="71438" cy="11906"/>
          </a:xfrm>
          <a:prstGeom prst="rect">
            <a:avLst/>
          </a:prstGeom>
          <a:solidFill>
            <a:srgbClr val="85ADD0"/>
          </a:solidFill>
          <a:ln w="12700">
            <a:solidFill>
              <a:srgbClr val="FFFFFF">
                <a:alpha val="0"/>
              </a:srgbClr>
            </a:solidFill>
            <a:prstDash val="solid"/>
          </a:ln>
        </p:spPr>
      </p:sp>
      <p:sp>
        <p:nvSpPr>
          <p:cNvPr id="69" name="reserve-1-boundary-bottom-6"/>
          <p:cNvSpPr/>
          <p:nvPr/>
        </p:nvSpPr>
        <p:spPr>
          <a:xfrm>
            <a:off x="1143000" y="3738563"/>
            <a:ext cx="71438" cy="11906"/>
          </a:xfrm>
          <a:prstGeom prst="rect">
            <a:avLst/>
          </a:prstGeom>
          <a:solidFill>
            <a:srgbClr val="85ADD0"/>
          </a:solidFill>
          <a:ln w="12700">
            <a:solidFill>
              <a:srgbClr val="FFFFFF">
                <a:alpha val="0"/>
              </a:srgbClr>
            </a:solidFill>
            <a:prstDash val="solid"/>
          </a:ln>
        </p:spPr>
      </p:sp>
      <p:sp>
        <p:nvSpPr>
          <p:cNvPr id="70" name="reserve-1-boundary-bottom-7"/>
          <p:cNvSpPr/>
          <p:nvPr/>
        </p:nvSpPr>
        <p:spPr>
          <a:xfrm>
            <a:off x="1262063" y="3738563"/>
            <a:ext cx="71438" cy="11906"/>
          </a:xfrm>
          <a:prstGeom prst="rect">
            <a:avLst/>
          </a:prstGeom>
          <a:solidFill>
            <a:srgbClr val="85ADD0"/>
          </a:solidFill>
          <a:ln w="12700">
            <a:solidFill>
              <a:srgbClr val="FFFFFF">
                <a:alpha val="0"/>
              </a:srgbClr>
            </a:solidFill>
            <a:prstDash val="solid"/>
          </a:ln>
        </p:spPr>
      </p:sp>
      <p:sp>
        <p:nvSpPr>
          <p:cNvPr id="71" name="reserve-1-boundary-bottom-8"/>
          <p:cNvSpPr/>
          <p:nvPr/>
        </p:nvSpPr>
        <p:spPr>
          <a:xfrm>
            <a:off x="1381125" y="3738563"/>
            <a:ext cx="71438" cy="11906"/>
          </a:xfrm>
          <a:prstGeom prst="rect">
            <a:avLst/>
          </a:prstGeom>
          <a:solidFill>
            <a:srgbClr val="85ADD0"/>
          </a:solidFill>
          <a:ln w="12700">
            <a:solidFill>
              <a:srgbClr val="FFFFFF">
                <a:alpha val="0"/>
              </a:srgbClr>
            </a:solidFill>
            <a:prstDash val="solid"/>
          </a:ln>
        </p:spPr>
      </p:sp>
      <p:sp>
        <p:nvSpPr>
          <p:cNvPr id="72" name="reserve-1-boundary-bottom-9"/>
          <p:cNvSpPr/>
          <p:nvPr/>
        </p:nvSpPr>
        <p:spPr>
          <a:xfrm>
            <a:off x="1500188" y="3738563"/>
            <a:ext cx="71438" cy="11906"/>
          </a:xfrm>
          <a:prstGeom prst="rect">
            <a:avLst/>
          </a:prstGeom>
          <a:solidFill>
            <a:srgbClr val="85ADD0"/>
          </a:solidFill>
          <a:ln w="12700">
            <a:solidFill>
              <a:srgbClr val="FFFFFF">
                <a:alpha val="0"/>
              </a:srgbClr>
            </a:solidFill>
            <a:prstDash val="solid"/>
          </a:ln>
        </p:spPr>
      </p:sp>
      <p:sp>
        <p:nvSpPr>
          <p:cNvPr id="73" name="reserve-1-boundary-bottom-10"/>
          <p:cNvSpPr/>
          <p:nvPr/>
        </p:nvSpPr>
        <p:spPr>
          <a:xfrm>
            <a:off x="1619250" y="3738563"/>
            <a:ext cx="71438" cy="11906"/>
          </a:xfrm>
          <a:prstGeom prst="rect">
            <a:avLst/>
          </a:prstGeom>
          <a:solidFill>
            <a:srgbClr val="85ADD0"/>
          </a:solidFill>
          <a:ln w="12700">
            <a:solidFill>
              <a:srgbClr val="FFFFFF">
                <a:alpha val="0"/>
              </a:srgbClr>
            </a:solidFill>
            <a:prstDash val="solid"/>
          </a:ln>
        </p:spPr>
      </p:sp>
      <p:sp>
        <p:nvSpPr>
          <p:cNvPr id="74" name="reserve-1-boundary-bottom-11"/>
          <p:cNvSpPr/>
          <p:nvPr/>
        </p:nvSpPr>
        <p:spPr>
          <a:xfrm>
            <a:off x="1738313" y="3738563"/>
            <a:ext cx="71438" cy="11906"/>
          </a:xfrm>
          <a:prstGeom prst="rect">
            <a:avLst/>
          </a:prstGeom>
          <a:solidFill>
            <a:srgbClr val="85ADD0"/>
          </a:solidFill>
          <a:ln w="12700">
            <a:solidFill>
              <a:srgbClr val="FFFFFF">
                <a:alpha val="0"/>
              </a:srgbClr>
            </a:solidFill>
            <a:prstDash val="solid"/>
          </a:ln>
        </p:spPr>
      </p:sp>
      <p:sp>
        <p:nvSpPr>
          <p:cNvPr id="75" name="reserve-1-boundary-bottom-12"/>
          <p:cNvSpPr/>
          <p:nvPr/>
        </p:nvSpPr>
        <p:spPr>
          <a:xfrm>
            <a:off x="1857375" y="3738563"/>
            <a:ext cx="71438" cy="11906"/>
          </a:xfrm>
          <a:prstGeom prst="rect">
            <a:avLst/>
          </a:prstGeom>
          <a:solidFill>
            <a:srgbClr val="85ADD0"/>
          </a:solidFill>
          <a:ln w="12700">
            <a:solidFill>
              <a:srgbClr val="FFFFFF">
                <a:alpha val="0"/>
              </a:srgbClr>
            </a:solidFill>
            <a:prstDash val="solid"/>
          </a:ln>
        </p:spPr>
      </p:sp>
      <p:sp>
        <p:nvSpPr>
          <p:cNvPr id="76" name="reserve-1-boundary-bottom-13"/>
          <p:cNvSpPr/>
          <p:nvPr/>
        </p:nvSpPr>
        <p:spPr>
          <a:xfrm>
            <a:off x="1976438" y="3738563"/>
            <a:ext cx="71438" cy="11906"/>
          </a:xfrm>
          <a:prstGeom prst="rect">
            <a:avLst/>
          </a:prstGeom>
          <a:solidFill>
            <a:srgbClr val="85ADD0"/>
          </a:solidFill>
          <a:ln w="12700">
            <a:solidFill>
              <a:srgbClr val="FFFFFF">
                <a:alpha val="0"/>
              </a:srgbClr>
            </a:solidFill>
            <a:prstDash val="solid"/>
          </a:ln>
        </p:spPr>
      </p:sp>
      <p:sp>
        <p:nvSpPr>
          <p:cNvPr id="77" name="reserve-1-boundary-bottom-14"/>
          <p:cNvSpPr/>
          <p:nvPr/>
        </p:nvSpPr>
        <p:spPr>
          <a:xfrm>
            <a:off x="2095500" y="3738563"/>
            <a:ext cx="71438" cy="11906"/>
          </a:xfrm>
          <a:prstGeom prst="rect">
            <a:avLst/>
          </a:prstGeom>
          <a:solidFill>
            <a:srgbClr val="85ADD0"/>
          </a:solidFill>
          <a:ln w="12700">
            <a:solidFill>
              <a:srgbClr val="FFFFFF">
                <a:alpha val="0"/>
              </a:srgbClr>
            </a:solidFill>
            <a:prstDash val="solid"/>
          </a:ln>
        </p:spPr>
      </p:sp>
      <p:sp>
        <p:nvSpPr>
          <p:cNvPr id="78" name="reserve-1-boundary-bottom-15"/>
          <p:cNvSpPr/>
          <p:nvPr/>
        </p:nvSpPr>
        <p:spPr>
          <a:xfrm>
            <a:off x="2214563" y="3738563"/>
            <a:ext cx="71438" cy="11906"/>
          </a:xfrm>
          <a:prstGeom prst="rect">
            <a:avLst/>
          </a:prstGeom>
          <a:solidFill>
            <a:srgbClr val="85ADD0"/>
          </a:solidFill>
          <a:ln w="12700">
            <a:solidFill>
              <a:srgbClr val="FFFFFF">
                <a:alpha val="0"/>
              </a:srgbClr>
            </a:solidFill>
            <a:prstDash val="solid"/>
          </a:ln>
        </p:spPr>
      </p:sp>
      <p:sp>
        <p:nvSpPr>
          <p:cNvPr id="79" name="reserve-1-boundary-bottom-16"/>
          <p:cNvSpPr/>
          <p:nvPr/>
        </p:nvSpPr>
        <p:spPr>
          <a:xfrm>
            <a:off x="2333625" y="3738563"/>
            <a:ext cx="71438" cy="11906"/>
          </a:xfrm>
          <a:prstGeom prst="rect">
            <a:avLst/>
          </a:prstGeom>
          <a:solidFill>
            <a:srgbClr val="85ADD0"/>
          </a:solidFill>
          <a:ln w="12700">
            <a:solidFill>
              <a:srgbClr val="FFFFFF">
                <a:alpha val="0"/>
              </a:srgbClr>
            </a:solidFill>
            <a:prstDash val="solid"/>
          </a:ln>
        </p:spPr>
      </p:sp>
      <p:sp>
        <p:nvSpPr>
          <p:cNvPr id="80" name="reserve-1-boundary-bottom-17"/>
          <p:cNvSpPr/>
          <p:nvPr/>
        </p:nvSpPr>
        <p:spPr>
          <a:xfrm>
            <a:off x="2452688" y="3738563"/>
            <a:ext cx="71438" cy="11906"/>
          </a:xfrm>
          <a:prstGeom prst="rect">
            <a:avLst/>
          </a:prstGeom>
          <a:solidFill>
            <a:srgbClr val="85ADD0"/>
          </a:solidFill>
          <a:ln w="12700">
            <a:solidFill>
              <a:srgbClr val="FFFFFF">
                <a:alpha val="0"/>
              </a:srgbClr>
            </a:solidFill>
            <a:prstDash val="solid"/>
          </a:ln>
        </p:spPr>
      </p:sp>
      <p:sp>
        <p:nvSpPr>
          <p:cNvPr id="81" name="reserve-1-boundary-bottom-18"/>
          <p:cNvSpPr/>
          <p:nvPr/>
        </p:nvSpPr>
        <p:spPr>
          <a:xfrm>
            <a:off x="2571750" y="3738563"/>
            <a:ext cx="71438" cy="11906"/>
          </a:xfrm>
          <a:prstGeom prst="rect">
            <a:avLst/>
          </a:prstGeom>
          <a:solidFill>
            <a:srgbClr val="85ADD0"/>
          </a:solidFill>
          <a:ln w="12700">
            <a:solidFill>
              <a:srgbClr val="FFFFFF">
                <a:alpha val="0"/>
              </a:srgbClr>
            </a:solidFill>
            <a:prstDash val="solid"/>
          </a:ln>
        </p:spPr>
      </p:sp>
      <p:sp>
        <p:nvSpPr>
          <p:cNvPr id="82" name="reserve-1-boundary-bottom-19"/>
          <p:cNvSpPr/>
          <p:nvPr/>
        </p:nvSpPr>
        <p:spPr>
          <a:xfrm>
            <a:off x="2690813" y="3738563"/>
            <a:ext cx="71438" cy="11906"/>
          </a:xfrm>
          <a:prstGeom prst="rect">
            <a:avLst/>
          </a:prstGeom>
          <a:solidFill>
            <a:srgbClr val="85ADD0"/>
          </a:solidFill>
          <a:ln w="12700">
            <a:solidFill>
              <a:srgbClr val="FFFFFF">
                <a:alpha val="0"/>
              </a:srgbClr>
            </a:solidFill>
            <a:prstDash val="solid"/>
          </a:ln>
        </p:spPr>
      </p:sp>
      <p:sp>
        <p:nvSpPr>
          <p:cNvPr id="83" name="reserve-1-boundary-bottom-20"/>
          <p:cNvSpPr/>
          <p:nvPr/>
        </p:nvSpPr>
        <p:spPr>
          <a:xfrm>
            <a:off x="2809875" y="3738563"/>
            <a:ext cx="71438" cy="11906"/>
          </a:xfrm>
          <a:prstGeom prst="rect">
            <a:avLst/>
          </a:prstGeom>
          <a:solidFill>
            <a:srgbClr val="85ADD0"/>
          </a:solidFill>
          <a:ln w="12700">
            <a:solidFill>
              <a:srgbClr val="FFFFFF">
                <a:alpha val="0"/>
              </a:srgbClr>
            </a:solidFill>
            <a:prstDash val="solid"/>
          </a:ln>
        </p:spPr>
      </p:sp>
      <p:sp>
        <p:nvSpPr>
          <p:cNvPr id="84" name="reserve-1-boundary-bottom-21"/>
          <p:cNvSpPr/>
          <p:nvPr/>
        </p:nvSpPr>
        <p:spPr>
          <a:xfrm>
            <a:off x="2928938" y="3738563"/>
            <a:ext cx="71438" cy="11906"/>
          </a:xfrm>
          <a:prstGeom prst="rect">
            <a:avLst/>
          </a:prstGeom>
          <a:solidFill>
            <a:srgbClr val="85ADD0"/>
          </a:solidFill>
          <a:ln w="12700">
            <a:solidFill>
              <a:srgbClr val="FFFFFF">
                <a:alpha val="0"/>
              </a:srgbClr>
            </a:solidFill>
            <a:prstDash val="solid"/>
          </a:ln>
        </p:spPr>
      </p:sp>
      <p:sp>
        <p:nvSpPr>
          <p:cNvPr id="85" name="reserve-1-boundary-bottom-22"/>
          <p:cNvSpPr/>
          <p:nvPr/>
        </p:nvSpPr>
        <p:spPr>
          <a:xfrm>
            <a:off x="3048000" y="3738563"/>
            <a:ext cx="71438" cy="11906"/>
          </a:xfrm>
          <a:prstGeom prst="rect">
            <a:avLst/>
          </a:prstGeom>
          <a:solidFill>
            <a:srgbClr val="85ADD0"/>
          </a:solidFill>
          <a:ln w="12700">
            <a:solidFill>
              <a:srgbClr val="FFFFFF">
                <a:alpha val="0"/>
              </a:srgbClr>
            </a:solidFill>
            <a:prstDash val="solid"/>
          </a:ln>
        </p:spPr>
      </p:sp>
      <p:sp>
        <p:nvSpPr>
          <p:cNvPr id="86" name="reserve-1-boundary-bottom-23"/>
          <p:cNvSpPr/>
          <p:nvPr/>
        </p:nvSpPr>
        <p:spPr>
          <a:xfrm>
            <a:off x="3167063" y="3738563"/>
            <a:ext cx="71438" cy="11906"/>
          </a:xfrm>
          <a:prstGeom prst="rect">
            <a:avLst/>
          </a:prstGeom>
          <a:solidFill>
            <a:srgbClr val="85ADD0"/>
          </a:solidFill>
          <a:ln w="12700">
            <a:solidFill>
              <a:srgbClr val="FFFFFF">
                <a:alpha val="0"/>
              </a:srgbClr>
            </a:solidFill>
            <a:prstDash val="solid"/>
          </a:ln>
        </p:spPr>
      </p:sp>
      <p:sp>
        <p:nvSpPr>
          <p:cNvPr id="87" name="reserve-1-boundary-bottom-24"/>
          <p:cNvSpPr/>
          <p:nvPr/>
        </p:nvSpPr>
        <p:spPr>
          <a:xfrm>
            <a:off x="3286125" y="3738563"/>
            <a:ext cx="71438" cy="11906"/>
          </a:xfrm>
          <a:prstGeom prst="rect">
            <a:avLst/>
          </a:prstGeom>
          <a:solidFill>
            <a:srgbClr val="85ADD0"/>
          </a:solidFill>
          <a:ln w="12700">
            <a:solidFill>
              <a:srgbClr val="FFFFFF">
                <a:alpha val="0"/>
              </a:srgbClr>
            </a:solidFill>
            <a:prstDash val="solid"/>
          </a:ln>
        </p:spPr>
      </p:sp>
      <p:sp>
        <p:nvSpPr>
          <p:cNvPr id="88" name="reserve-1-boundary-bottom-25"/>
          <p:cNvSpPr/>
          <p:nvPr/>
        </p:nvSpPr>
        <p:spPr>
          <a:xfrm>
            <a:off x="3405188" y="3738563"/>
            <a:ext cx="71438" cy="11906"/>
          </a:xfrm>
          <a:prstGeom prst="rect">
            <a:avLst/>
          </a:prstGeom>
          <a:solidFill>
            <a:srgbClr val="85ADD0"/>
          </a:solidFill>
          <a:ln w="12700">
            <a:solidFill>
              <a:srgbClr val="FFFFFF">
                <a:alpha val="0"/>
              </a:srgbClr>
            </a:solidFill>
            <a:prstDash val="solid"/>
          </a:ln>
        </p:spPr>
      </p:sp>
      <p:sp>
        <p:nvSpPr>
          <p:cNvPr id="89" name="reserve-1-boundary-bottom-26"/>
          <p:cNvSpPr/>
          <p:nvPr/>
        </p:nvSpPr>
        <p:spPr>
          <a:xfrm>
            <a:off x="3524250" y="3738563"/>
            <a:ext cx="71438" cy="11906"/>
          </a:xfrm>
          <a:prstGeom prst="rect">
            <a:avLst/>
          </a:prstGeom>
          <a:solidFill>
            <a:srgbClr val="85ADD0"/>
          </a:solidFill>
          <a:ln w="12700">
            <a:solidFill>
              <a:srgbClr val="FFFFFF">
                <a:alpha val="0"/>
              </a:srgbClr>
            </a:solidFill>
            <a:prstDash val="solid"/>
          </a:ln>
        </p:spPr>
      </p:sp>
      <p:sp>
        <p:nvSpPr>
          <p:cNvPr id="90" name="reserve-1-boundary-bottom-27"/>
          <p:cNvSpPr/>
          <p:nvPr/>
        </p:nvSpPr>
        <p:spPr>
          <a:xfrm>
            <a:off x="3643313" y="3738563"/>
            <a:ext cx="71438" cy="11906"/>
          </a:xfrm>
          <a:prstGeom prst="rect">
            <a:avLst/>
          </a:prstGeom>
          <a:solidFill>
            <a:srgbClr val="85ADD0"/>
          </a:solidFill>
          <a:ln w="12700">
            <a:solidFill>
              <a:srgbClr val="FFFFFF">
                <a:alpha val="0"/>
              </a:srgbClr>
            </a:solidFill>
            <a:prstDash val="solid"/>
          </a:ln>
        </p:spPr>
      </p:sp>
      <p:sp>
        <p:nvSpPr>
          <p:cNvPr id="91" name="reserve-1-boundary-bottom-28"/>
          <p:cNvSpPr/>
          <p:nvPr/>
        </p:nvSpPr>
        <p:spPr>
          <a:xfrm>
            <a:off x="3762375" y="3738563"/>
            <a:ext cx="71438" cy="11906"/>
          </a:xfrm>
          <a:prstGeom prst="rect">
            <a:avLst/>
          </a:prstGeom>
          <a:solidFill>
            <a:srgbClr val="85ADD0"/>
          </a:solidFill>
          <a:ln w="12700">
            <a:solidFill>
              <a:srgbClr val="FFFFFF">
                <a:alpha val="0"/>
              </a:srgbClr>
            </a:solidFill>
            <a:prstDash val="solid"/>
          </a:ln>
        </p:spPr>
      </p:sp>
      <p:sp>
        <p:nvSpPr>
          <p:cNvPr id="92" name="reserve-1-boundary-bottom-29"/>
          <p:cNvSpPr/>
          <p:nvPr/>
        </p:nvSpPr>
        <p:spPr>
          <a:xfrm>
            <a:off x="3881438" y="3738563"/>
            <a:ext cx="71438" cy="11906"/>
          </a:xfrm>
          <a:prstGeom prst="rect">
            <a:avLst/>
          </a:prstGeom>
          <a:solidFill>
            <a:srgbClr val="85ADD0"/>
          </a:solidFill>
          <a:ln w="12700">
            <a:solidFill>
              <a:srgbClr val="FFFFFF">
                <a:alpha val="0"/>
              </a:srgbClr>
            </a:solidFill>
            <a:prstDash val="solid"/>
          </a:ln>
        </p:spPr>
      </p:sp>
      <p:sp>
        <p:nvSpPr>
          <p:cNvPr id="93" name="reserve-1-boundary-bottom-30"/>
          <p:cNvSpPr/>
          <p:nvPr/>
        </p:nvSpPr>
        <p:spPr>
          <a:xfrm>
            <a:off x="4000500" y="3738563"/>
            <a:ext cx="47625" cy="11906"/>
          </a:xfrm>
          <a:prstGeom prst="rect">
            <a:avLst/>
          </a:prstGeom>
          <a:solidFill>
            <a:srgbClr val="85ADD0"/>
          </a:solidFill>
          <a:ln w="12700">
            <a:solidFill>
              <a:srgbClr val="FFFFFF">
                <a:alpha val="0"/>
              </a:srgbClr>
            </a:solidFill>
            <a:prstDash val="solid"/>
          </a:ln>
        </p:spPr>
      </p:sp>
      <p:sp>
        <p:nvSpPr>
          <p:cNvPr id="94" name="reserve-1-boundary-left-0"/>
          <p:cNvSpPr/>
          <p:nvPr/>
        </p:nvSpPr>
        <p:spPr>
          <a:xfrm>
            <a:off x="392906" y="2946797"/>
            <a:ext cx="11906" cy="71438"/>
          </a:xfrm>
          <a:prstGeom prst="rect">
            <a:avLst/>
          </a:prstGeom>
          <a:solidFill>
            <a:srgbClr val="85ADD0"/>
          </a:solidFill>
          <a:ln w="12700">
            <a:solidFill>
              <a:srgbClr val="FFFFFF">
                <a:alpha val="0"/>
              </a:srgbClr>
            </a:solidFill>
            <a:prstDash val="solid"/>
          </a:ln>
        </p:spPr>
      </p:sp>
      <p:sp>
        <p:nvSpPr>
          <p:cNvPr id="95" name="reserve-1-boundary-left-1"/>
          <p:cNvSpPr/>
          <p:nvPr/>
        </p:nvSpPr>
        <p:spPr>
          <a:xfrm>
            <a:off x="392906" y="3065859"/>
            <a:ext cx="11906" cy="71438"/>
          </a:xfrm>
          <a:prstGeom prst="rect">
            <a:avLst/>
          </a:prstGeom>
          <a:solidFill>
            <a:srgbClr val="85ADD0"/>
          </a:solidFill>
          <a:ln w="12700">
            <a:solidFill>
              <a:srgbClr val="FFFFFF">
                <a:alpha val="0"/>
              </a:srgbClr>
            </a:solidFill>
            <a:prstDash val="solid"/>
          </a:ln>
        </p:spPr>
      </p:sp>
      <p:sp>
        <p:nvSpPr>
          <p:cNvPr id="96" name="reserve-1-boundary-left-2"/>
          <p:cNvSpPr/>
          <p:nvPr/>
        </p:nvSpPr>
        <p:spPr>
          <a:xfrm>
            <a:off x="392906" y="3184922"/>
            <a:ext cx="11906" cy="71438"/>
          </a:xfrm>
          <a:prstGeom prst="rect">
            <a:avLst/>
          </a:prstGeom>
          <a:solidFill>
            <a:srgbClr val="85ADD0"/>
          </a:solidFill>
          <a:ln w="12700">
            <a:solidFill>
              <a:srgbClr val="FFFFFF">
                <a:alpha val="0"/>
              </a:srgbClr>
            </a:solidFill>
            <a:prstDash val="solid"/>
          </a:ln>
        </p:spPr>
      </p:sp>
      <p:sp>
        <p:nvSpPr>
          <p:cNvPr id="97" name="reserve-1-boundary-left-3"/>
          <p:cNvSpPr/>
          <p:nvPr/>
        </p:nvSpPr>
        <p:spPr>
          <a:xfrm>
            <a:off x="392906" y="3303984"/>
            <a:ext cx="11906" cy="71438"/>
          </a:xfrm>
          <a:prstGeom prst="rect">
            <a:avLst/>
          </a:prstGeom>
          <a:solidFill>
            <a:srgbClr val="85ADD0"/>
          </a:solidFill>
          <a:ln w="12700">
            <a:solidFill>
              <a:srgbClr val="FFFFFF">
                <a:alpha val="0"/>
              </a:srgbClr>
            </a:solidFill>
            <a:prstDash val="solid"/>
          </a:ln>
        </p:spPr>
      </p:sp>
      <p:sp>
        <p:nvSpPr>
          <p:cNvPr id="98" name="reserve-1-boundary-left-4"/>
          <p:cNvSpPr/>
          <p:nvPr/>
        </p:nvSpPr>
        <p:spPr>
          <a:xfrm>
            <a:off x="392906" y="3423047"/>
            <a:ext cx="11906" cy="71438"/>
          </a:xfrm>
          <a:prstGeom prst="rect">
            <a:avLst/>
          </a:prstGeom>
          <a:solidFill>
            <a:srgbClr val="85ADD0"/>
          </a:solidFill>
          <a:ln w="12700">
            <a:solidFill>
              <a:srgbClr val="FFFFFF">
                <a:alpha val="0"/>
              </a:srgbClr>
            </a:solidFill>
            <a:prstDash val="solid"/>
          </a:ln>
        </p:spPr>
      </p:sp>
      <p:sp>
        <p:nvSpPr>
          <p:cNvPr id="99" name="reserve-1-boundary-left-5"/>
          <p:cNvSpPr/>
          <p:nvPr/>
        </p:nvSpPr>
        <p:spPr>
          <a:xfrm>
            <a:off x="392906" y="3542109"/>
            <a:ext cx="11906" cy="71438"/>
          </a:xfrm>
          <a:prstGeom prst="rect">
            <a:avLst/>
          </a:prstGeom>
          <a:solidFill>
            <a:srgbClr val="85ADD0"/>
          </a:solidFill>
          <a:ln w="12700">
            <a:solidFill>
              <a:srgbClr val="FFFFFF">
                <a:alpha val="0"/>
              </a:srgbClr>
            </a:solidFill>
            <a:prstDash val="solid"/>
          </a:ln>
        </p:spPr>
      </p:sp>
      <p:sp>
        <p:nvSpPr>
          <p:cNvPr id="100" name="reserve-1-boundary-left-6"/>
          <p:cNvSpPr/>
          <p:nvPr/>
        </p:nvSpPr>
        <p:spPr>
          <a:xfrm>
            <a:off x="392906" y="3661172"/>
            <a:ext cx="11906" cy="47625"/>
          </a:xfrm>
          <a:prstGeom prst="rect">
            <a:avLst/>
          </a:prstGeom>
          <a:solidFill>
            <a:srgbClr val="85ADD0"/>
          </a:solidFill>
          <a:ln w="12700">
            <a:solidFill>
              <a:srgbClr val="FFFFFF">
                <a:alpha val="0"/>
              </a:srgbClr>
            </a:solidFill>
            <a:prstDash val="solid"/>
          </a:ln>
        </p:spPr>
      </p:sp>
      <p:sp>
        <p:nvSpPr>
          <p:cNvPr id="101" name="reserve-1-boundary-right-0"/>
          <p:cNvSpPr/>
          <p:nvPr/>
        </p:nvSpPr>
        <p:spPr>
          <a:xfrm>
            <a:off x="4071938" y="2946797"/>
            <a:ext cx="11906" cy="71438"/>
          </a:xfrm>
          <a:prstGeom prst="rect">
            <a:avLst/>
          </a:prstGeom>
          <a:solidFill>
            <a:srgbClr val="85ADD0"/>
          </a:solidFill>
          <a:ln w="12700">
            <a:solidFill>
              <a:srgbClr val="FFFFFF">
                <a:alpha val="0"/>
              </a:srgbClr>
            </a:solidFill>
            <a:prstDash val="solid"/>
          </a:ln>
        </p:spPr>
      </p:sp>
      <p:sp>
        <p:nvSpPr>
          <p:cNvPr id="102" name="reserve-1-boundary-right-1"/>
          <p:cNvSpPr/>
          <p:nvPr/>
        </p:nvSpPr>
        <p:spPr>
          <a:xfrm>
            <a:off x="4071938" y="3065859"/>
            <a:ext cx="11906" cy="71438"/>
          </a:xfrm>
          <a:prstGeom prst="rect">
            <a:avLst/>
          </a:prstGeom>
          <a:solidFill>
            <a:srgbClr val="85ADD0"/>
          </a:solidFill>
          <a:ln w="12700">
            <a:solidFill>
              <a:srgbClr val="FFFFFF">
                <a:alpha val="0"/>
              </a:srgbClr>
            </a:solidFill>
            <a:prstDash val="solid"/>
          </a:ln>
        </p:spPr>
      </p:sp>
      <p:sp>
        <p:nvSpPr>
          <p:cNvPr id="103" name="reserve-1-boundary-right-2"/>
          <p:cNvSpPr/>
          <p:nvPr/>
        </p:nvSpPr>
        <p:spPr>
          <a:xfrm>
            <a:off x="4071938" y="3184922"/>
            <a:ext cx="11906" cy="71438"/>
          </a:xfrm>
          <a:prstGeom prst="rect">
            <a:avLst/>
          </a:prstGeom>
          <a:solidFill>
            <a:srgbClr val="85ADD0"/>
          </a:solidFill>
          <a:ln w="12700">
            <a:solidFill>
              <a:srgbClr val="FFFFFF">
                <a:alpha val="0"/>
              </a:srgbClr>
            </a:solidFill>
            <a:prstDash val="solid"/>
          </a:ln>
        </p:spPr>
      </p:sp>
      <p:sp>
        <p:nvSpPr>
          <p:cNvPr id="104" name="reserve-1-boundary-right-3"/>
          <p:cNvSpPr/>
          <p:nvPr/>
        </p:nvSpPr>
        <p:spPr>
          <a:xfrm>
            <a:off x="4071938" y="3303984"/>
            <a:ext cx="11906" cy="71438"/>
          </a:xfrm>
          <a:prstGeom prst="rect">
            <a:avLst/>
          </a:prstGeom>
          <a:solidFill>
            <a:srgbClr val="85ADD0"/>
          </a:solidFill>
          <a:ln w="12700">
            <a:solidFill>
              <a:srgbClr val="FFFFFF">
                <a:alpha val="0"/>
              </a:srgbClr>
            </a:solidFill>
            <a:prstDash val="solid"/>
          </a:ln>
        </p:spPr>
      </p:sp>
      <p:sp>
        <p:nvSpPr>
          <p:cNvPr id="105" name="reserve-1-boundary-right-4"/>
          <p:cNvSpPr/>
          <p:nvPr/>
        </p:nvSpPr>
        <p:spPr>
          <a:xfrm>
            <a:off x="4071938" y="3423047"/>
            <a:ext cx="11906" cy="71438"/>
          </a:xfrm>
          <a:prstGeom prst="rect">
            <a:avLst/>
          </a:prstGeom>
          <a:solidFill>
            <a:srgbClr val="85ADD0"/>
          </a:solidFill>
          <a:ln w="12700">
            <a:solidFill>
              <a:srgbClr val="FFFFFF">
                <a:alpha val="0"/>
              </a:srgbClr>
            </a:solidFill>
            <a:prstDash val="solid"/>
          </a:ln>
        </p:spPr>
      </p:sp>
      <p:sp>
        <p:nvSpPr>
          <p:cNvPr id="106" name="reserve-1-boundary-right-5"/>
          <p:cNvSpPr/>
          <p:nvPr/>
        </p:nvSpPr>
        <p:spPr>
          <a:xfrm>
            <a:off x="4071938" y="3542109"/>
            <a:ext cx="11906" cy="71438"/>
          </a:xfrm>
          <a:prstGeom prst="rect">
            <a:avLst/>
          </a:prstGeom>
          <a:solidFill>
            <a:srgbClr val="85ADD0"/>
          </a:solidFill>
          <a:ln w="12700">
            <a:solidFill>
              <a:srgbClr val="FFFFFF">
                <a:alpha val="0"/>
              </a:srgbClr>
            </a:solidFill>
            <a:prstDash val="solid"/>
          </a:ln>
        </p:spPr>
      </p:sp>
      <p:sp>
        <p:nvSpPr>
          <p:cNvPr id="107" name="reserve-1-boundary-right-6"/>
          <p:cNvSpPr/>
          <p:nvPr/>
        </p:nvSpPr>
        <p:spPr>
          <a:xfrm>
            <a:off x="4071938" y="3661172"/>
            <a:ext cx="11906" cy="47625"/>
          </a:xfrm>
          <a:prstGeom prst="rect">
            <a:avLst/>
          </a:prstGeom>
          <a:solidFill>
            <a:srgbClr val="85ADD0"/>
          </a:solidFill>
          <a:ln w="12700">
            <a:solidFill>
              <a:srgbClr val="FFFFFF">
                <a:alpha val="0"/>
              </a:srgbClr>
            </a:solidFill>
            <a:prstDash val="solid"/>
          </a:ln>
        </p:spPr>
      </p:sp>
      <p:sp>
        <p:nvSpPr>
          <p:cNvPr id="108" name="reserve-2-boundary-top-0"/>
          <p:cNvSpPr/>
          <p:nvPr/>
        </p:nvSpPr>
        <p:spPr>
          <a:xfrm>
            <a:off x="4286250" y="2905125"/>
            <a:ext cx="71438" cy="11906"/>
          </a:xfrm>
          <a:prstGeom prst="rect">
            <a:avLst/>
          </a:prstGeom>
          <a:solidFill>
            <a:srgbClr val="85ADD0"/>
          </a:solidFill>
          <a:ln w="12700">
            <a:solidFill>
              <a:srgbClr val="FFFFFF">
                <a:alpha val="0"/>
              </a:srgbClr>
            </a:solidFill>
            <a:prstDash val="solid"/>
          </a:ln>
        </p:spPr>
      </p:sp>
      <p:sp>
        <p:nvSpPr>
          <p:cNvPr id="109" name="reserve-2-boundary-top-1"/>
          <p:cNvSpPr/>
          <p:nvPr/>
        </p:nvSpPr>
        <p:spPr>
          <a:xfrm>
            <a:off x="4405313" y="2905125"/>
            <a:ext cx="71438" cy="11906"/>
          </a:xfrm>
          <a:prstGeom prst="rect">
            <a:avLst/>
          </a:prstGeom>
          <a:solidFill>
            <a:srgbClr val="85ADD0"/>
          </a:solidFill>
          <a:ln w="12700">
            <a:solidFill>
              <a:srgbClr val="FFFFFF">
                <a:alpha val="0"/>
              </a:srgbClr>
            </a:solidFill>
            <a:prstDash val="solid"/>
          </a:ln>
        </p:spPr>
      </p:sp>
      <p:sp>
        <p:nvSpPr>
          <p:cNvPr id="110" name="reserve-2-boundary-top-2"/>
          <p:cNvSpPr/>
          <p:nvPr/>
        </p:nvSpPr>
        <p:spPr>
          <a:xfrm>
            <a:off x="4524375" y="2905125"/>
            <a:ext cx="71438" cy="11906"/>
          </a:xfrm>
          <a:prstGeom prst="rect">
            <a:avLst/>
          </a:prstGeom>
          <a:solidFill>
            <a:srgbClr val="85ADD0"/>
          </a:solidFill>
          <a:ln w="12700">
            <a:solidFill>
              <a:srgbClr val="FFFFFF">
                <a:alpha val="0"/>
              </a:srgbClr>
            </a:solidFill>
            <a:prstDash val="solid"/>
          </a:ln>
        </p:spPr>
      </p:sp>
      <p:sp>
        <p:nvSpPr>
          <p:cNvPr id="111" name="reserve-2-boundary-top-3"/>
          <p:cNvSpPr/>
          <p:nvPr/>
        </p:nvSpPr>
        <p:spPr>
          <a:xfrm>
            <a:off x="4643438" y="2905125"/>
            <a:ext cx="71438" cy="11906"/>
          </a:xfrm>
          <a:prstGeom prst="rect">
            <a:avLst/>
          </a:prstGeom>
          <a:solidFill>
            <a:srgbClr val="85ADD0"/>
          </a:solidFill>
          <a:ln w="12700">
            <a:solidFill>
              <a:srgbClr val="FFFFFF">
                <a:alpha val="0"/>
              </a:srgbClr>
            </a:solidFill>
            <a:prstDash val="solid"/>
          </a:ln>
        </p:spPr>
      </p:sp>
      <p:sp>
        <p:nvSpPr>
          <p:cNvPr id="112" name="reserve-2-boundary-top-4"/>
          <p:cNvSpPr/>
          <p:nvPr/>
        </p:nvSpPr>
        <p:spPr>
          <a:xfrm>
            <a:off x="4762500" y="2905125"/>
            <a:ext cx="71438" cy="11906"/>
          </a:xfrm>
          <a:prstGeom prst="rect">
            <a:avLst/>
          </a:prstGeom>
          <a:solidFill>
            <a:srgbClr val="85ADD0"/>
          </a:solidFill>
          <a:ln w="12700">
            <a:solidFill>
              <a:srgbClr val="FFFFFF">
                <a:alpha val="0"/>
              </a:srgbClr>
            </a:solidFill>
            <a:prstDash val="solid"/>
          </a:ln>
        </p:spPr>
      </p:sp>
      <p:sp>
        <p:nvSpPr>
          <p:cNvPr id="113" name="reserve-2-boundary-top-5"/>
          <p:cNvSpPr/>
          <p:nvPr/>
        </p:nvSpPr>
        <p:spPr>
          <a:xfrm>
            <a:off x="4881563" y="2905125"/>
            <a:ext cx="71438" cy="11906"/>
          </a:xfrm>
          <a:prstGeom prst="rect">
            <a:avLst/>
          </a:prstGeom>
          <a:solidFill>
            <a:srgbClr val="85ADD0"/>
          </a:solidFill>
          <a:ln w="12700">
            <a:solidFill>
              <a:srgbClr val="FFFFFF">
                <a:alpha val="0"/>
              </a:srgbClr>
            </a:solidFill>
            <a:prstDash val="solid"/>
          </a:ln>
        </p:spPr>
      </p:sp>
      <p:sp>
        <p:nvSpPr>
          <p:cNvPr id="114" name="reserve-2-boundary-top-6"/>
          <p:cNvSpPr/>
          <p:nvPr/>
        </p:nvSpPr>
        <p:spPr>
          <a:xfrm>
            <a:off x="5000625" y="2905125"/>
            <a:ext cx="71438" cy="11906"/>
          </a:xfrm>
          <a:prstGeom prst="rect">
            <a:avLst/>
          </a:prstGeom>
          <a:solidFill>
            <a:srgbClr val="85ADD0"/>
          </a:solidFill>
          <a:ln w="12700">
            <a:solidFill>
              <a:srgbClr val="FFFFFF">
                <a:alpha val="0"/>
              </a:srgbClr>
            </a:solidFill>
            <a:prstDash val="solid"/>
          </a:ln>
        </p:spPr>
      </p:sp>
      <p:sp>
        <p:nvSpPr>
          <p:cNvPr id="115" name="reserve-2-boundary-top-7"/>
          <p:cNvSpPr/>
          <p:nvPr/>
        </p:nvSpPr>
        <p:spPr>
          <a:xfrm>
            <a:off x="5119688" y="2905125"/>
            <a:ext cx="71438" cy="11906"/>
          </a:xfrm>
          <a:prstGeom prst="rect">
            <a:avLst/>
          </a:prstGeom>
          <a:solidFill>
            <a:srgbClr val="85ADD0"/>
          </a:solidFill>
          <a:ln w="12700">
            <a:solidFill>
              <a:srgbClr val="FFFFFF">
                <a:alpha val="0"/>
              </a:srgbClr>
            </a:solidFill>
            <a:prstDash val="solid"/>
          </a:ln>
        </p:spPr>
      </p:sp>
      <p:sp>
        <p:nvSpPr>
          <p:cNvPr id="116" name="reserve-2-boundary-top-8"/>
          <p:cNvSpPr/>
          <p:nvPr/>
        </p:nvSpPr>
        <p:spPr>
          <a:xfrm>
            <a:off x="5238750" y="2905125"/>
            <a:ext cx="71438" cy="11906"/>
          </a:xfrm>
          <a:prstGeom prst="rect">
            <a:avLst/>
          </a:prstGeom>
          <a:solidFill>
            <a:srgbClr val="85ADD0"/>
          </a:solidFill>
          <a:ln w="12700">
            <a:solidFill>
              <a:srgbClr val="FFFFFF">
                <a:alpha val="0"/>
              </a:srgbClr>
            </a:solidFill>
            <a:prstDash val="solid"/>
          </a:ln>
        </p:spPr>
      </p:sp>
      <p:sp>
        <p:nvSpPr>
          <p:cNvPr id="117" name="reserve-2-boundary-top-9"/>
          <p:cNvSpPr/>
          <p:nvPr/>
        </p:nvSpPr>
        <p:spPr>
          <a:xfrm>
            <a:off x="5357813" y="2905125"/>
            <a:ext cx="71438" cy="11906"/>
          </a:xfrm>
          <a:prstGeom prst="rect">
            <a:avLst/>
          </a:prstGeom>
          <a:solidFill>
            <a:srgbClr val="85ADD0"/>
          </a:solidFill>
          <a:ln w="12700">
            <a:solidFill>
              <a:srgbClr val="FFFFFF">
                <a:alpha val="0"/>
              </a:srgbClr>
            </a:solidFill>
            <a:prstDash val="solid"/>
          </a:ln>
        </p:spPr>
      </p:sp>
      <p:sp>
        <p:nvSpPr>
          <p:cNvPr id="118" name="reserve-2-boundary-top-10"/>
          <p:cNvSpPr/>
          <p:nvPr/>
        </p:nvSpPr>
        <p:spPr>
          <a:xfrm>
            <a:off x="5476875" y="2905125"/>
            <a:ext cx="71438" cy="11906"/>
          </a:xfrm>
          <a:prstGeom prst="rect">
            <a:avLst/>
          </a:prstGeom>
          <a:solidFill>
            <a:srgbClr val="85ADD0"/>
          </a:solidFill>
          <a:ln w="12700">
            <a:solidFill>
              <a:srgbClr val="FFFFFF">
                <a:alpha val="0"/>
              </a:srgbClr>
            </a:solidFill>
            <a:prstDash val="solid"/>
          </a:ln>
        </p:spPr>
      </p:sp>
      <p:sp>
        <p:nvSpPr>
          <p:cNvPr id="119" name="reserve-2-boundary-top-11"/>
          <p:cNvSpPr/>
          <p:nvPr/>
        </p:nvSpPr>
        <p:spPr>
          <a:xfrm>
            <a:off x="5595938" y="2905125"/>
            <a:ext cx="71438" cy="11906"/>
          </a:xfrm>
          <a:prstGeom prst="rect">
            <a:avLst/>
          </a:prstGeom>
          <a:solidFill>
            <a:srgbClr val="85ADD0"/>
          </a:solidFill>
          <a:ln w="12700">
            <a:solidFill>
              <a:srgbClr val="FFFFFF">
                <a:alpha val="0"/>
              </a:srgbClr>
            </a:solidFill>
            <a:prstDash val="solid"/>
          </a:ln>
        </p:spPr>
      </p:sp>
      <p:sp>
        <p:nvSpPr>
          <p:cNvPr id="120" name="reserve-2-boundary-top-12"/>
          <p:cNvSpPr/>
          <p:nvPr/>
        </p:nvSpPr>
        <p:spPr>
          <a:xfrm>
            <a:off x="5715000" y="2905125"/>
            <a:ext cx="71438" cy="11906"/>
          </a:xfrm>
          <a:prstGeom prst="rect">
            <a:avLst/>
          </a:prstGeom>
          <a:solidFill>
            <a:srgbClr val="85ADD0"/>
          </a:solidFill>
          <a:ln w="12700">
            <a:solidFill>
              <a:srgbClr val="FFFFFF">
                <a:alpha val="0"/>
              </a:srgbClr>
            </a:solidFill>
            <a:prstDash val="solid"/>
          </a:ln>
        </p:spPr>
      </p:sp>
      <p:sp>
        <p:nvSpPr>
          <p:cNvPr id="121" name="reserve-2-boundary-top-13"/>
          <p:cNvSpPr/>
          <p:nvPr/>
        </p:nvSpPr>
        <p:spPr>
          <a:xfrm>
            <a:off x="5834063" y="2905125"/>
            <a:ext cx="71438" cy="11906"/>
          </a:xfrm>
          <a:prstGeom prst="rect">
            <a:avLst/>
          </a:prstGeom>
          <a:solidFill>
            <a:srgbClr val="85ADD0"/>
          </a:solidFill>
          <a:ln w="12700">
            <a:solidFill>
              <a:srgbClr val="FFFFFF">
                <a:alpha val="0"/>
              </a:srgbClr>
            </a:solidFill>
            <a:prstDash val="solid"/>
          </a:ln>
        </p:spPr>
      </p:sp>
      <p:sp>
        <p:nvSpPr>
          <p:cNvPr id="122" name="reserve-2-boundary-top-14"/>
          <p:cNvSpPr/>
          <p:nvPr/>
        </p:nvSpPr>
        <p:spPr>
          <a:xfrm>
            <a:off x="5953125" y="2905125"/>
            <a:ext cx="71438" cy="11906"/>
          </a:xfrm>
          <a:prstGeom prst="rect">
            <a:avLst/>
          </a:prstGeom>
          <a:solidFill>
            <a:srgbClr val="85ADD0"/>
          </a:solidFill>
          <a:ln w="12700">
            <a:solidFill>
              <a:srgbClr val="FFFFFF">
                <a:alpha val="0"/>
              </a:srgbClr>
            </a:solidFill>
            <a:prstDash val="solid"/>
          </a:ln>
        </p:spPr>
      </p:sp>
      <p:sp>
        <p:nvSpPr>
          <p:cNvPr id="123" name="reserve-2-boundary-top-15"/>
          <p:cNvSpPr/>
          <p:nvPr/>
        </p:nvSpPr>
        <p:spPr>
          <a:xfrm>
            <a:off x="6072188" y="2905125"/>
            <a:ext cx="71438" cy="11906"/>
          </a:xfrm>
          <a:prstGeom prst="rect">
            <a:avLst/>
          </a:prstGeom>
          <a:solidFill>
            <a:srgbClr val="85ADD0"/>
          </a:solidFill>
          <a:ln w="12700">
            <a:solidFill>
              <a:srgbClr val="FFFFFF">
                <a:alpha val="0"/>
              </a:srgbClr>
            </a:solidFill>
            <a:prstDash val="solid"/>
          </a:ln>
        </p:spPr>
      </p:sp>
      <p:sp>
        <p:nvSpPr>
          <p:cNvPr id="124" name="reserve-2-boundary-top-16"/>
          <p:cNvSpPr/>
          <p:nvPr/>
        </p:nvSpPr>
        <p:spPr>
          <a:xfrm>
            <a:off x="6191250" y="2905125"/>
            <a:ext cx="71438" cy="11906"/>
          </a:xfrm>
          <a:prstGeom prst="rect">
            <a:avLst/>
          </a:prstGeom>
          <a:solidFill>
            <a:srgbClr val="85ADD0"/>
          </a:solidFill>
          <a:ln w="12700">
            <a:solidFill>
              <a:srgbClr val="FFFFFF">
                <a:alpha val="0"/>
              </a:srgbClr>
            </a:solidFill>
            <a:prstDash val="solid"/>
          </a:ln>
        </p:spPr>
      </p:sp>
      <p:sp>
        <p:nvSpPr>
          <p:cNvPr id="125" name="reserve-2-boundary-top-17"/>
          <p:cNvSpPr/>
          <p:nvPr/>
        </p:nvSpPr>
        <p:spPr>
          <a:xfrm>
            <a:off x="6310313" y="2905125"/>
            <a:ext cx="71438" cy="11906"/>
          </a:xfrm>
          <a:prstGeom prst="rect">
            <a:avLst/>
          </a:prstGeom>
          <a:solidFill>
            <a:srgbClr val="85ADD0"/>
          </a:solidFill>
          <a:ln w="12700">
            <a:solidFill>
              <a:srgbClr val="FFFFFF">
                <a:alpha val="0"/>
              </a:srgbClr>
            </a:solidFill>
            <a:prstDash val="solid"/>
          </a:ln>
        </p:spPr>
      </p:sp>
      <p:sp>
        <p:nvSpPr>
          <p:cNvPr id="126" name="reserve-2-boundary-top-18"/>
          <p:cNvSpPr/>
          <p:nvPr/>
        </p:nvSpPr>
        <p:spPr>
          <a:xfrm>
            <a:off x="6429375" y="2905125"/>
            <a:ext cx="71438" cy="11906"/>
          </a:xfrm>
          <a:prstGeom prst="rect">
            <a:avLst/>
          </a:prstGeom>
          <a:solidFill>
            <a:srgbClr val="85ADD0"/>
          </a:solidFill>
          <a:ln w="12700">
            <a:solidFill>
              <a:srgbClr val="FFFFFF">
                <a:alpha val="0"/>
              </a:srgbClr>
            </a:solidFill>
            <a:prstDash val="solid"/>
          </a:ln>
        </p:spPr>
      </p:sp>
      <p:sp>
        <p:nvSpPr>
          <p:cNvPr id="127" name="reserve-2-boundary-top-19"/>
          <p:cNvSpPr/>
          <p:nvPr/>
        </p:nvSpPr>
        <p:spPr>
          <a:xfrm>
            <a:off x="6548438" y="2905125"/>
            <a:ext cx="71438" cy="11906"/>
          </a:xfrm>
          <a:prstGeom prst="rect">
            <a:avLst/>
          </a:prstGeom>
          <a:solidFill>
            <a:srgbClr val="85ADD0"/>
          </a:solidFill>
          <a:ln w="12700">
            <a:solidFill>
              <a:srgbClr val="FFFFFF">
                <a:alpha val="0"/>
              </a:srgbClr>
            </a:solidFill>
            <a:prstDash val="solid"/>
          </a:ln>
        </p:spPr>
      </p:sp>
      <p:sp>
        <p:nvSpPr>
          <p:cNvPr id="128" name="reserve-2-boundary-top-20"/>
          <p:cNvSpPr/>
          <p:nvPr/>
        </p:nvSpPr>
        <p:spPr>
          <a:xfrm>
            <a:off x="6667500" y="2905125"/>
            <a:ext cx="71438" cy="11906"/>
          </a:xfrm>
          <a:prstGeom prst="rect">
            <a:avLst/>
          </a:prstGeom>
          <a:solidFill>
            <a:srgbClr val="85ADD0"/>
          </a:solidFill>
          <a:ln w="12700">
            <a:solidFill>
              <a:srgbClr val="FFFFFF">
                <a:alpha val="0"/>
              </a:srgbClr>
            </a:solidFill>
            <a:prstDash val="solid"/>
          </a:ln>
        </p:spPr>
      </p:sp>
      <p:sp>
        <p:nvSpPr>
          <p:cNvPr id="129" name="reserve-2-boundary-top-21"/>
          <p:cNvSpPr/>
          <p:nvPr/>
        </p:nvSpPr>
        <p:spPr>
          <a:xfrm>
            <a:off x="6786563" y="2905125"/>
            <a:ext cx="71438" cy="11906"/>
          </a:xfrm>
          <a:prstGeom prst="rect">
            <a:avLst/>
          </a:prstGeom>
          <a:solidFill>
            <a:srgbClr val="85ADD0"/>
          </a:solidFill>
          <a:ln w="12700">
            <a:solidFill>
              <a:srgbClr val="FFFFFF">
                <a:alpha val="0"/>
              </a:srgbClr>
            </a:solidFill>
            <a:prstDash val="solid"/>
          </a:ln>
        </p:spPr>
      </p:sp>
      <p:sp>
        <p:nvSpPr>
          <p:cNvPr id="130" name="reserve-2-boundary-top-22"/>
          <p:cNvSpPr/>
          <p:nvPr/>
        </p:nvSpPr>
        <p:spPr>
          <a:xfrm>
            <a:off x="6905625" y="2905125"/>
            <a:ext cx="71438" cy="11906"/>
          </a:xfrm>
          <a:prstGeom prst="rect">
            <a:avLst/>
          </a:prstGeom>
          <a:solidFill>
            <a:srgbClr val="85ADD0"/>
          </a:solidFill>
          <a:ln w="12700">
            <a:solidFill>
              <a:srgbClr val="FFFFFF">
                <a:alpha val="0"/>
              </a:srgbClr>
            </a:solidFill>
            <a:prstDash val="solid"/>
          </a:ln>
        </p:spPr>
      </p:sp>
      <p:sp>
        <p:nvSpPr>
          <p:cNvPr id="131" name="reserve-2-boundary-top-23"/>
          <p:cNvSpPr/>
          <p:nvPr/>
        </p:nvSpPr>
        <p:spPr>
          <a:xfrm>
            <a:off x="7024688" y="2905125"/>
            <a:ext cx="71438" cy="11906"/>
          </a:xfrm>
          <a:prstGeom prst="rect">
            <a:avLst/>
          </a:prstGeom>
          <a:solidFill>
            <a:srgbClr val="85ADD0"/>
          </a:solidFill>
          <a:ln w="12700">
            <a:solidFill>
              <a:srgbClr val="FFFFFF">
                <a:alpha val="0"/>
              </a:srgbClr>
            </a:solidFill>
            <a:prstDash val="solid"/>
          </a:ln>
        </p:spPr>
      </p:sp>
      <p:sp>
        <p:nvSpPr>
          <p:cNvPr id="132" name="reserve-2-boundary-top-24"/>
          <p:cNvSpPr/>
          <p:nvPr/>
        </p:nvSpPr>
        <p:spPr>
          <a:xfrm>
            <a:off x="7143750" y="2905125"/>
            <a:ext cx="71438" cy="11906"/>
          </a:xfrm>
          <a:prstGeom prst="rect">
            <a:avLst/>
          </a:prstGeom>
          <a:solidFill>
            <a:srgbClr val="85ADD0"/>
          </a:solidFill>
          <a:ln w="12700">
            <a:solidFill>
              <a:srgbClr val="FFFFFF">
                <a:alpha val="0"/>
              </a:srgbClr>
            </a:solidFill>
            <a:prstDash val="solid"/>
          </a:ln>
        </p:spPr>
      </p:sp>
      <p:sp>
        <p:nvSpPr>
          <p:cNvPr id="133" name="reserve-2-boundary-top-25"/>
          <p:cNvSpPr/>
          <p:nvPr/>
        </p:nvSpPr>
        <p:spPr>
          <a:xfrm>
            <a:off x="7262813" y="2905125"/>
            <a:ext cx="71438" cy="11906"/>
          </a:xfrm>
          <a:prstGeom prst="rect">
            <a:avLst/>
          </a:prstGeom>
          <a:solidFill>
            <a:srgbClr val="85ADD0"/>
          </a:solidFill>
          <a:ln w="12700">
            <a:solidFill>
              <a:srgbClr val="FFFFFF">
                <a:alpha val="0"/>
              </a:srgbClr>
            </a:solidFill>
            <a:prstDash val="solid"/>
          </a:ln>
        </p:spPr>
      </p:sp>
      <p:sp>
        <p:nvSpPr>
          <p:cNvPr id="134" name="reserve-2-boundary-top-26"/>
          <p:cNvSpPr/>
          <p:nvPr/>
        </p:nvSpPr>
        <p:spPr>
          <a:xfrm>
            <a:off x="7381875" y="2905125"/>
            <a:ext cx="71438" cy="11906"/>
          </a:xfrm>
          <a:prstGeom prst="rect">
            <a:avLst/>
          </a:prstGeom>
          <a:solidFill>
            <a:srgbClr val="85ADD0"/>
          </a:solidFill>
          <a:ln w="12700">
            <a:solidFill>
              <a:srgbClr val="FFFFFF">
                <a:alpha val="0"/>
              </a:srgbClr>
            </a:solidFill>
            <a:prstDash val="solid"/>
          </a:ln>
        </p:spPr>
      </p:sp>
      <p:sp>
        <p:nvSpPr>
          <p:cNvPr id="135" name="reserve-2-boundary-top-27"/>
          <p:cNvSpPr/>
          <p:nvPr/>
        </p:nvSpPr>
        <p:spPr>
          <a:xfrm>
            <a:off x="7500938" y="2905125"/>
            <a:ext cx="71438" cy="11906"/>
          </a:xfrm>
          <a:prstGeom prst="rect">
            <a:avLst/>
          </a:prstGeom>
          <a:solidFill>
            <a:srgbClr val="85ADD0"/>
          </a:solidFill>
          <a:ln w="12700">
            <a:solidFill>
              <a:srgbClr val="FFFFFF">
                <a:alpha val="0"/>
              </a:srgbClr>
            </a:solidFill>
            <a:prstDash val="solid"/>
          </a:ln>
        </p:spPr>
      </p:sp>
      <p:sp>
        <p:nvSpPr>
          <p:cNvPr id="136" name="reserve-2-boundary-top-28"/>
          <p:cNvSpPr/>
          <p:nvPr/>
        </p:nvSpPr>
        <p:spPr>
          <a:xfrm>
            <a:off x="7620000" y="2905125"/>
            <a:ext cx="71438" cy="11906"/>
          </a:xfrm>
          <a:prstGeom prst="rect">
            <a:avLst/>
          </a:prstGeom>
          <a:solidFill>
            <a:srgbClr val="85ADD0"/>
          </a:solidFill>
          <a:ln w="12700">
            <a:solidFill>
              <a:srgbClr val="FFFFFF">
                <a:alpha val="0"/>
              </a:srgbClr>
            </a:solidFill>
            <a:prstDash val="solid"/>
          </a:ln>
        </p:spPr>
      </p:sp>
      <p:sp>
        <p:nvSpPr>
          <p:cNvPr id="137" name="reserve-2-boundary-top-29"/>
          <p:cNvSpPr/>
          <p:nvPr/>
        </p:nvSpPr>
        <p:spPr>
          <a:xfrm>
            <a:off x="7739063" y="2905125"/>
            <a:ext cx="71438" cy="11906"/>
          </a:xfrm>
          <a:prstGeom prst="rect">
            <a:avLst/>
          </a:prstGeom>
          <a:solidFill>
            <a:srgbClr val="85ADD0"/>
          </a:solidFill>
          <a:ln w="12700">
            <a:solidFill>
              <a:srgbClr val="FFFFFF">
                <a:alpha val="0"/>
              </a:srgbClr>
            </a:solidFill>
            <a:prstDash val="solid"/>
          </a:ln>
        </p:spPr>
      </p:sp>
      <p:sp>
        <p:nvSpPr>
          <p:cNvPr id="138" name="reserve-2-boundary-top-30"/>
          <p:cNvSpPr/>
          <p:nvPr/>
        </p:nvSpPr>
        <p:spPr>
          <a:xfrm>
            <a:off x="7858125" y="2905125"/>
            <a:ext cx="47625" cy="11906"/>
          </a:xfrm>
          <a:prstGeom prst="rect">
            <a:avLst/>
          </a:prstGeom>
          <a:solidFill>
            <a:srgbClr val="85ADD0"/>
          </a:solidFill>
          <a:ln w="12700">
            <a:solidFill>
              <a:srgbClr val="FFFFFF">
                <a:alpha val="0"/>
              </a:srgbClr>
            </a:solidFill>
            <a:prstDash val="solid"/>
          </a:ln>
        </p:spPr>
      </p:sp>
      <p:sp>
        <p:nvSpPr>
          <p:cNvPr id="139" name="reserve-2-boundary-bottom-0"/>
          <p:cNvSpPr/>
          <p:nvPr/>
        </p:nvSpPr>
        <p:spPr>
          <a:xfrm>
            <a:off x="4286250" y="3738563"/>
            <a:ext cx="71438" cy="11906"/>
          </a:xfrm>
          <a:prstGeom prst="rect">
            <a:avLst/>
          </a:prstGeom>
          <a:solidFill>
            <a:srgbClr val="85ADD0"/>
          </a:solidFill>
          <a:ln w="12700">
            <a:solidFill>
              <a:srgbClr val="FFFFFF">
                <a:alpha val="0"/>
              </a:srgbClr>
            </a:solidFill>
            <a:prstDash val="solid"/>
          </a:ln>
        </p:spPr>
      </p:sp>
      <p:sp>
        <p:nvSpPr>
          <p:cNvPr id="140" name="reserve-2-boundary-bottom-1"/>
          <p:cNvSpPr/>
          <p:nvPr/>
        </p:nvSpPr>
        <p:spPr>
          <a:xfrm>
            <a:off x="4405313" y="3738563"/>
            <a:ext cx="71438" cy="11906"/>
          </a:xfrm>
          <a:prstGeom prst="rect">
            <a:avLst/>
          </a:prstGeom>
          <a:solidFill>
            <a:srgbClr val="85ADD0"/>
          </a:solidFill>
          <a:ln w="12700">
            <a:solidFill>
              <a:srgbClr val="FFFFFF">
                <a:alpha val="0"/>
              </a:srgbClr>
            </a:solidFill>
            <a:prstDash val="solid"/>
          </a:ln>
        </p:spPr>
      </p:sp>
      <p:sp>
        <p:nvSpPr>
          <p:cNvPr id="141" name="reserve-2-boundary-bottom-2"/>
          <p:cNvSpPr/>
          <p:nvPr/>
        </p:nvSpPr>
        <p:spPr>
          <a:xfrm>
            <a:off x="4524375" y="3738563"/>
            <a:ext cx="71438" cy="11906"/>
          </a:xfrm>
          <a:prstGeom prst="rect">
            <a:avLst/>
          </a:prstGeom>
          <a:solidFill>
            <a:srgbClr val="85ADD0"/>
          </a:solidFill>
          <a:ln w="12700">
            <a:solidFill>
              <a:srgbClr val="FFFFFF">
                <a:alpha val="0"/>
              </a:srgbClr>
            </a:solidFill>
            <a:prstDash val="solid"/>
          </a:ln>
        </p:spPr>
      </p:sp>
      <p:sp>
        <p:nvSpPr>
          <p:cNvPr id="142" name="reserve-2-boundary-bottom-3"/>
          <p:cNvSpPr/>
          <p:nvPr/>
        </p:nvSpPr>
        <p:spPr>
          <a:xfrm>
            <a:off x="4643438" y="3738563"/>
            <a:ext cx="71438" cy="11906"/>
          </a:xfrm>
          <a:prstGeom prst="rect">
            <a:avLst/>
          </a:prstGeom>
          <a:solidFill>
            <a:srgbClr val="85ADD0"/>
          </a:solidFill>
          <a:ln w="12700">
            <a:solidFill>
              <a:srgbClr val="FFFFFF">
                <a:alpha val="0"/>
              </a:srgbClr>
            </a:solidFill>
            <a:prstDash val="solid"/>
          </a:ln>
        </p:spPr>
      </p:sp>
      <p:sp>
        <p:nvSpPr>
          <p:cNvPr id="143" name="reserve-2-boundary-bottom-4"/>
          <p:cNvSpPr/>
          <p:nvPr/>
        </p:nvSpPr>
        <p:spPr>
          <a:xfrm>
            <a:off x="4762500" y="3738563"/>
            <a:ext cx="71438" cy="11906"/>
          </a:xfrm>
          <a:prstGeom prst="rect">
            <a:avLst/>
          </a:prstGeom>
          <a:solidFill>
            <a:srgbClr val="85ADD0"/>
          </a:solidFill>
          <a:ln w="12700">
            <a:solidFill>
              <a:srgbClr val="FFFFFF">
                <a:alpha val="0"/>
              </a:srgbClr>
            </a:solidFill>
            <a:prstDash val="solid"/>
          </a:ln>
        </p:spPr>
      </p:sp>
      <p:sp>
        <p:nvSpPr>
          <p:cNvPr id="144" name="reserve-2-boundary-bottom-5"/>
          <p:cNvSpPr/>
          <p:nvPr/>
        </p:nvSpPr>
        <p:spPr>
          <a:xfrm>
            <a:off x="4881563" y="3738563"/>
            <a:ext cx="71438" cy="11906"/>
          </a:xfrm>
          <a:prstGeom prst="rect">
            <a:avLst/>
          </a:prstGeom>
          <a:solidFill>
            <a:srgbClr val="85ADD0"/>
          </a:solidFill>
          <a:ln w="12700">
            <a:solidFill>
              <a:srgbClr val="FFFFFF">
                <a:alpha val="0"/>
              </a:srgbClr>
            </a:solidFill>
            <a:prstDash val="solid"/>
          </a:ln>
        </p:spPr>
      </p:sp>
      <p:sp>
        <p:nvSpPr>
          <p:cNvPr id="145" name="reserve-2-boundary-bottom-6"/>
          <p:cNvSpPr/>
          <p:nvPr/>
        </p:nvSpPr>
        <p:spPr>
          <a:xfrm>
            <a:off x="5000625" y="3738563"/>
            <a:ext cx="71438" cy="11906"/>
          </a:xfrm>
          <a:prstGeom prst="rect">
            <a:avLst/>
          </a:prstGeom>
          <a:solidFill>
            <a:srgbClr val="85ADD0"/>
          </a:solidFill>
          <a:ln w="12700">
            <a:solidFill>
              <a:srgbClr val="FFFFFF">
                <a:alpha val="0"/>
              </a:srgbClr>
            </a:solidFill>
            <a:prstDash val="solid"/>
          </a:ln>
        </p:spPr>
      </p:sp>
      <p:sp>
        <p:nvSpPr>
          <p:cNvPr id="146" name="reserve-2-boundary-bottom-7"/>
          <p:cNvSpPr/>
          <p:nvPr/>
        </p:nvSpPr>
        <p:spPr>
          <a:xfrm>
            <a:off x="5119688" y="3738563"/>
            <a:ext cx="71438" cy="11906"/>
          </a:xfrm>
          <a:prstGeom prst="rect">
            <a:avLst/>
          </a:prstGeom>
          <a:solidFill>
            <a:srgbClr val="85ADD0"/>
          </a:solidFill>
          <a:ln w="12700">
            <a:solidFill>
              <a:srgbClr val="FFFFFF">
                <a:alpha val="0"/>
              </a:srgbClr>
            </a:solidFill>
            <a:prstDash val="solid"/>
          </a:ln>
        </p:spPr>
      </p:sp>
      <p:sp>
        <p:nvSpPr>
          <p:cNvPr id="147" name="reserve-2-boundary-bottom-8"/>
          <p:cNvSpPr/>
          <p:nvPr/>
        </p:nvSpPr>
        <p:spPr>
          <a:xfrm>
            <a:off x="5238750" y="3738563"/>
            <a:ext cx="71438" cy="11906"/>
          </a:xfrm>
          <a:prstGeom prst="rect">
            <a:avLst/>
          </a:prstGeom>
          <a:solidFill>
            <a:srgbClr val="85ADD0"/>
          </a:solidFill>
          <a:ln w="12700">
            <a:solidFill>
              <a:srgbClr val="FFFFFF">
                <a:alpha val="0"/>
              </a:srgbClr>
            </a:solidFill>
            <a:prstDash val="solid"/>
          </a:ln>
        </p:spPr>
      </p:sp>
      <p:sp>
        <p:nvSpPr>
          <p:cNvPr id="148" name="reserve-2-boundary-bottom-9"/>
          <p:cNvSpPr/>
          <p:nvPr/>
        </p:nvSpPr>
        <p:spPr>
          <a:xfrm>
            <a:off x="5357813" y="3738563"/>
            <a:ext cx="71438" cy="11906"/>
          </a:xfrm>
          <a:prstGeom prst="rect">
            <a:avLst/>
          </a:prstGeom>
          <a:solidFill>
            <a:srgbClr val="85ADD0"/>
          </a:solidFill>
          <a:ln w="12700">
            <a:solidFill>
              <a:srgbClr val="FFFFFF">
                <a:alpha val="0"/>
              </a:srgbClr>
            </a:solidFill>
            <a:prstDash val="solid"/>
          </a:ln>
        </p:spPr>
      </p:sp>
      <p:sp>
        <p:nvSpPr>
          <p:cNvPr id="149" name="reserve-2-boundary-bottom-10"/>
          <p:cNvSpPr/>
          <p:nvPr/>
        </p:nvSpPr>
        <p:spPr>
          <a:xfrm>
            <a:off x="5476875" y="3738563"/>
            <a:ext cx="71438" cy="11906"/>
          </a:xfrm>
          <a:prstGeom prst="rect">
            <a:avLst/>
          </a:prstGeom>
          <a:solidFill>
            <a:srgbClr val="85ADD0"/>
          </a:solidFill>
          <a:ln w="12700">
            <a:solidFill>
              <a:srgbClr val="FFFFFF">
                <a:alpha val="0"/>
              </a:srgbClr>
            </a:solidFill>
            <a:prstDash val="solid"/>
          </a:ln>
        </p:spPr>
      </p:sp>
      <p:sp>
        <p:nvSpPr>
          <p:cNvPr id="150" name="reserve-2-boundary-bottom-11"/>
          <p:cNvSpPr/>
          <p:nvPr/>
        </p:nvSpPr>
        <p:spPr>
          <a:xfrm>
            <a:off x="5595938" y="3738563"/>
            <a:ext cx="71438" cy="11906"/>
          </a:xfrm>
          <a:prstGeom prst="rect">
            <a:avLst/>
          </a:prstGeom>
          <a:solidFill>
            <a:srgbClr val="85ADD0"/>
          </a:solidFill>
          <a:ln w="12700">
            <a:solidFill>
              <a:srgbClr val="FFFFFF">
                <a:alpha val="0"/>
              </a:srgbClr>
            </a:solidFill>
            <a:prstDash val="solid"/>
          </a:ln>
        </p:spPr>
      </p:sp>
      <p:sp>
        <p:nvSpPr>
          <p:cNvPr id="151" name="reserve-2-boundary-bottom-12"/>
          <p:cNvSpPr/>
          <p:nvPr/>
        </p:nvSpPr>
        <p:spPr>
          <a:xfrm>
            <a:off x="5715000" y="3738563"/>
            <a:ext cx="71438" cy="11906"/>
          </a:xfrm>
          <a:prstGeom prst="rect">
            <a:avLst/>
          </a:prstGeom>
          <a:solidFill>
            <a:srgbClr val="85ADD0"/>
          </a:solidFill>
          <a:ln w="12700">
            <a:solidFill>
              <a:srgbClr val="FFFFFF">
                <a:alpha val="0"/>
              </a:srgbClr>
            </a:solidFill>
            <a:prstDash val="solid"/>
          </a:ln>
        </p:spPr>
      </p:sp>
      <p:sp>
        <p:nvSpPr>
          <p:cNvPr id="152" name="reserve-2-boundary-bottom-13"/>
          <p:cNvSpPr/>
          <p:nvPr/>
        </p:nvSpPr>
        <p:spPr>
          <a:xfrm>
            <a:off x="5834063" y="3738563"/>
            <a:ext cx="71438" cy="11906"/>
          </a:xfrm>
          <a:prstGeom prst="rect">
            <a:avLst/>
          </a:prstGeom>
          <a:solidFill>
            <a:srgbClr val="85ADD0"/>
          </a:solidFill>
          <a:ln w="12700">
            <a:solidFill>
              <a:srgbClr val="FFFFFF">
                <a:alpha val="0"/>
              </a:srgbClr>
            </a:solidFill>
            <a:prstDash val="solid"/>
          </a:ln>
        </p:spPr>
      </p:sp>
      <p:sp>
        <p:nvSpPr>
          <p:cNvPr id="153" name="reserve-2-boundary-bottom-14"/>
          <p:cNvSpPr/>
          <p:nvPr/>
        </p:nvSpPr>
        <p:spPr>
          <a:xfrm>
            <a:off x="5953125" y="3738563"/>
            <a:ext cx="71438" cy="11906"/>
          </a:xfrm>
          <a:prstGeom prst="rect">
            <a:avLst/>
          </a:prstGeom>
          <a:solidFill>
            <a:srgbClr val="85ADD0"/>
          </a:solidFill>
          <a:ln w="12700">
            <a:solidFill>
              <a:srgbClr val="FFFFFF">
                <a:alpha val="0"/>
              </a:srgbClr>
            </a:solidFill>
            <a:prstDash val="solid"/>
          </a:ln>
        </p:spPr>
      </p:sp>
      <p:sp>
        <p:nvSpPr>
          <p:cNvPr id="154" name="reserve-2-boundary-bottom-15"/>
          <p:cNvSpPr/>
          <p:nvPr/>
        </p:nvSpPr>
        <p:spPr>
          <a:xfrm>
            <a:off x="6072188" y="3738563"/>
            <a:ext cx="71438" cy="11906"/>
          </a:xfrm>
          <a:prstGeom prst="rect">
            <a:avLst/>
          </a:prstGeom>
          <a:solidFill>
            <a:srgbClr val="85ADD0"/>
          </a:solidFill>
          <a:ln w="12700">
            <a:solidFill>
              <a:srgbClr val="FFFFFF">
                <a:alpha val="0"/>
              </a:srgbClr>
            </a:solidFill>
            <a:prstDash val="solid"/>
          </a:ln>
        </p:spPr>
      </p:sp>
      <p:sp>
        <p:nvSpPr>
          <p:cNvPr id="155" name="reserve-2-boundary-bottom-16"/>
          <p:cNvSpPr/>
          <p:nvPr/>
        </p:nvSpPr>
        <p:spPr>
          <a:xfrm>
            <a:off x="6191250" y="3738563"/>
            <a:ext cx="71438" cy="11906"/>
          </a:xfrm>
          <a:prstGeom prst="rect">
            <a:avLst/>
          </a:prstGeom>
          <a:solidFill>
            <a:srgbClr val="85ADD0"/>
          </a:solidFill>
          <a:ln w="12700">
            <a:solidFill>
              <a:srgbClr val="FFFFFF">
                <a:alpha val="0"/>
              </a:srgbClr>
            </a:solidFill>
            <a:prstDash val="solid"/>
          </a:ln>
        </p:spPr>
      </p:sp>
      <p:sp>
        <p:nvSpPr>
          <p:cNvPr id="156" name="reserve-2-boundary-bottom-17"/>
          <p:cNvSpPr/>
          <p:nvPr/>
        </p:nvSpPr>
        <p:spPr>
          <a:xfrm>
            <a:off x="6310313" y="3738563"/>
            <a:ext cx="71438" cy="11906"/>
          </a:xfrm>
          <a:prstGeom prst="rect">
            <a:avLst/>
          </a:prstGeom>
          <a:solidFill>
            <a:srgbClr val="85ADD0"/>
          </a:solidFill>
          <a:ln w="12700">
            <a:solidFill>
              <a:srgbClr val="FFFFFF">
                <a:alpha val="0"/>
              </a:srgbClr>
            </a:solidFill>
            <a:prstDash val="solid"/>
          </a:ln>
        </p:spPr>
      </p:sp>
      <p:sp>
        <p:nvSpPr>
          <p:cNvPr id="157" name="reserve-2-boundary-bottom-18"/>
          <p:cNvSpPr/>
          <p:nvPr/>
        </p:nvSpPr>
        <p:spPr>
          <a:xfrm>
            <a:off x="6429375" y="3738563"/>
            <a:ext cx="71438" cy="11906"/>
          </a:xfrm>
          <a:prstGeom prst="rect">
            <a:avLst/>
          </a:prstGeom>
          <a:solidFill>
            <a:srgbClr val="85ADD0"/>
          </a:solidFill>
          <a:ln w="12700">
            <a:solidFill>
              <a:srgbClr val="FFFFFF">
                <a:alpha val="0"/>
              </a:srgbClr>
            </a:solidFill>
            <a:prstDash val="solid"/>
          </a:ln>
        </p:spPr>
      </p:sp>
      <p:sp>
        <p:nvSpPr>
          <p:cNvPr id="158" name="reserve-2-boundary-bottom-19"/>
          <p:cNvSpPr/>
          <p:nvPr/>
        </p:nvSpPr>
        <p:spPr>
          <a:xfrm>
            <a:off x="6548438" y="3738563"/>
            <a:ext cx="71438" cy="11906"/>
          </a:xfrm>
          <a:prstGeom prst="rect">
            <a:avLst/>
          </a:prstGeom>
          <a:solidFill>
            <a:srgbClr val="85ADD0"/>
          </a:solidFill>
          <a:ln w="12700">
            <a:solidFill>
              <a:srgbClr val="FFFFFF">
                <a:alpha val="0"/>
              </a:srgbClr>
            </a:solidFill>
            <a:prstDash val="solid"/>
          </a:ln>
        </p:spPr>
      </p:sp>
      <p:sp>
        <p:nvSpPr>
          <p:cNvPr id="159" name="reserve-2-boundary-bottom-20"/>
          <p:cNvSpPr/>
          <p:nvPr/>
        </p:nvSpPr>
        <p:spPr>
          <a:xfrm>
            <a:off x="6667500" y="3738563"/>
            <a:ext cx="71438" cy="11906"/>
          </a:xfrm>
          <a:prstGeom prst="rect">
            <a:avLst/>
          </a:prstGeom>
          <a:solidFill>
            <a:srgbClr val="85ADD0"/>
          </a:solidFill>
          <a:ln w="12700">
            <a:solidFill>
              <a:srgbClr val="FFFFFF">
                <a:alpha val="0"/>
              </a:srgbClr>
            </a:solidFill>
            <a:prstDash val="solid"/>
          </a:ln>
        </p:spPr>
      </p:sp>
      <p:sp>
        <p:nvSpPr>
          <p:cNvPr id="160" name="reserve-2-boundary-bottom-21"/>
          <p:cNvSpPr/>
          <p:nvPr/>
        </p:nvSpPr>
        <p:spPr>
          <a:xfrm>
            <a:off x="6786563" y="3738563"/>
            <a:ext cx="71438" cy="11906"/>
          </a:xfrm>
          <a:prstGeom prst="rect">
            <a:avLst/>
          </a:prstGeom>
          <a:solidFill>
            <a:srgbClr val="85ADD0"/>
          </a:solidFill>
          <a:ln w="12700">
            <a:solidFill>
              <a:srgbClr val="FFFFFF">
                <a:alpha val="0"/>
              </a:srgbClr>
            </a:solidFill>
            <a:prstDash val="solid"/>
          </a:ln>
        </p:spPr>
      </p:sp>
      <p:sp>
        <p:nvSpPr>
          <p:cNvPr id="161" name="reserve-2-boundary-bottom-22"/>
          <p:cNvSpPr/>
          <p:nvPr/>
        </p:nvSpPr>
        <p:spPr>
          <a:xfrm>
            <a:off x="6905625" y="3738563"/>
            <a:ext cx="71438" cy="11906"/>
          </a:xfrm>
          <a:prstGeom prst="rect">
            <a:avLst/>
          </a:prstGeom>
          <a:solidFill>
            <a:srgbClr val="85ADD0"/>
          </a:solidFill>
          <a:ln w="12700">
            <a:solidFill>
              <a:srgbClr val="FFFFFF">
                <a:alpha val="0"/>
              </a:srgbClr>
            </a:solidFill>
            <a:prstDash val="solid"/>
          </a:ln>
        </p:spPr>
      </p:sp>
      <p:sp>
        <p:nvSpPr>
          <p:cNvPr id="162" name="reserve-2-boundary-bottom-23"/>
          <p:cNvSpPr/>
          <p:nvPr/>
        </p:nvSpPr>
        <p:spPr>
          <a:xfrm>
            <a:off x="7024688" y="3738563"/>
            <a:ext cx="71438" cy="11906"/>
          </a:xfrm>
          <a:prstGeom prst="rect">
            <a:avLst/>
          </a:prstGeom>
          <a:solidFill>
            <a:srgbClr val="85ADD0"/>
          </a:solidFill>
          <a:ln w="12700">
            <a:solidFill>
              <a:srgbClr val="FFFFFF">
                <a:alpha val="0"/>
              </a:srgbClr>
            </a:solidFill>
            <a:prstDash val="solid"/>
          </a:ln>
        </p:spPr>
      </p:sp>
      <p:sp>
        <p:nvSpPr>
          <p:cNvPr id="163" name="reserve-2-boundary-bottom-24"/>
          <p:cNvSpPr/>
          <p:nvPr/>
        </p:nvSpPr>
        <p:spPr>
          <a:xfrm>
            <a:off x="7143750" y="3738563"/>
            <a:ext cx="71438" cy="11906"/>
          </a:xfrm>
          <a:prstGeom prst="rect">
            <a:avLst/>
          </a:prstGeom>
          <a:solidFill>
            <a:srgbClr val="85ADD0"/>
          </a:solidFill>
          <a:ln w="12700">
            <a:solidFill>
              <a:srgbClr val="FFFFFF">
                <a:alpha val="0"/>
              </a:srgbClr>
            </a:solidFill>
            <a:prstDash val="solid"/>
          </a:ln>
        </p:spPr>
      </p:sp>
      <p:sp>
        <p:nvSpPr>
          <p:cNvPr id="164" name="reserve-2-boundary-bottom-25"/>
          <p:cNvSpPr/>
          <p:nvPr/>
        </p:nvSpPr>
        <p:spPr>
          <a:xfrm>
            <a:off x="7262813" y="3738563"/>
            <a:ext cx="71438" cy="11906"/>
          </a:xfrm>
          <a:prstGeom prst="rect">
            <a:avLst/>
          </a:prstGeom>
          <a:solidFill>
            <a:srgbClr val="85ADD0"/>
          </a:solidFill>
          <a:ln w="12700">
            <a:solidFill>
              <a:srgbClr val="FFFFFF">
                <a:alpha val="0"/>
              </a:srgbClr>
            </a:solidFill>
            <a:prstDash val="solid"/>
          </a:ln>
        </p:spPr>
      </p:sp>
      <p:sp>
        <p:nvSpPr>
          <p:cNvPr id="165" name="reserve-2-boundary-bottom-26"/>
          <p:cNvSpPr/>
          <p:nvPr/>
        </p:nvSpPr>
        <p:spPr>
          <a:xfrm>
            <a:off x="7381875" y="3738563"/>
            <a:ext cx="71438" cy="11906"/>
          </a:xfrm>
          <a:prstGeom prst="rect">
            <a:avLst/>
          </a:prstGeom>
          <a:solidFill>
            <a:srgbClr val="85ADD0"/>
          </a:solidFill>
          <a:ln w="12700">
            <a:solidFill>
              <a:srgbClr val="FFFFFF">
                <a:alpha val="0"/>
              </a:srgbClr>
            </a:solidFill>
            <a:prstDash val="solid"/>
          </a:ln>
        </p:spPr>
      </p:sp>
      <p:sp>
        <p:nvSpPr>
          <p:cNvPr id="166" name="reserve-2-boundary-bottom-27"/>
          <p:cNvSpPr/>
          <p:nvPr/>
        </p:nvSpPr>
        <p:spPr>
          <a:xfrm>
            <a:off x="7500938" y="3738563"/>
            <a:ext cx="71438" cy="11906"/>
          </a:xfrm>
          <a:prstGeom prst="rect">
            <a:avLst/>
          </a:prstGeom>
          <a:solidFill>
            <a:srgbClr val="85ADD0"/>
          </a:solidFill>
          <a:ln w="12700">
            <a:solidFill>
              <a:srgbClr val="FFFFFF">
                <a:alpha val="0"/>
              </a:srgbClr>
            </a:solidFill>
            <a:prstDash val="solid"/>
          </a:ln>
        </p:spPr>
      </p:sp>
      <p:sp>
        <p:nvSpPr>
          <p:cNvPr id="167" name="reserve-2-boundary-bottom-28"/>
          <p:cNvSpPr/>
          <p:nvPr/>
        </p:nvSpPr>
        <p:spPr>
          <a:xfrm>
            <a:off x="7620000" y="3738563"/>
            <a:ext cx="71438" cy="11906"/>
          </a:xfrm>
          <a:prstGeom prst="rect">
            <a:avLst/>
          </a:prstGeom>
          <a:solidFill>
            <a:srgbClr val="85ADD0"/>
          </a:solidFill>
          <a:ln w="12700">
            <a:solidFill>
              <a:srgbClr val="FFFFFF">
                <a:alpha val="0"/>
              </a:srgbClr>
            </a:solidFill>
            <a:prstDash val="solid"/>
          </a:ln>
        </p:spPr>
      </p:sp>
      <p:sp>
        <p:nvSpPr>
          <p:cNvPr id="168" name="reserve-2-boundary-bottom-29"/>
          <p:cNvSpPr/>
          <p:nvPr/>
        </p:nvSpPr>
        <p:spPr>
          <a:xfrm>
            <a:off x="7739063" y="3738563"/>
            <a:ext cx="71438" cy="11906"/>
          </a:xfrm>
          <a:prstGeom prst="rect">
            <a:avLst/>
          </a:prstGeom>
          <a:solidFill>
            <a:srgbClr val="85ADD0"/>
          </a:solidFill>
          <a:ln w="12700">
            <a:solidFill>
              <a:srgbClr val="FFFFFF">
                <a:alpha val="0"/>
              </a:srgbClr>
            </a:solidFill>
            <a:prstDash val="solid"/>
          </a:ln>
        </p:spPr>
      </p:sp>
      <p:sp>
        <p:nvSpPr>
          <p:cNvPr id="169" name="reserve-2-boundary-bottom-30"/>
          <p:cNvSpPr/>
          <p:nvPr/>
        </p:nvSpPr>
        <p:spPr>
          <a:xfrm>
            <a:off x="7858125" y="3738563"/>
            <a:ext cx="47625" cy="11906"/>
          </a:xfrm>
          <a:prstGeom prst="rect">
            <a:avLst/>
          </a:prstGeom>
          <a:solidFill>
            <a:srgbClr val="85ADD0"/>
          </a:solidFill>
          <a:ln w="12700">
            <a:solidFill>
              <a:srgbClr val="FFFFFF">
                <a:alpha val="0"/>
              </a:srgbClr>
            </a:solidFill>
            <a:prstDash val="solid"/>
          </a:ln>
        </p:spPr>
      </p:sp>
      <p:sp>
        <p:nvSpPr>
          <p:cNvPr id="170" name="reserve-2-boundary-left-0"/>
          <p:cNvSpPr/>
          <p:nvPr/>
        </p:nvSpPr>
        <p:spPr>
          <a:xfrm>
            <a:off x="4250531" y="2946797"/>
            <a:ext cx="11906" cy="71438"/>
          </a:xfrm>
          <a:prstGeom prst="rect">
            <a:avLst/>
          </a:prstGeom>
          <a:solidFill>
            <a:srgbClr val="85ADD0"/>
          </a:solidFill>
          <a:ln w="12700">
            <a:solidFill>
              <a:srgbClr val="FFFFFF">
                <a:alpha val="0"/>
              </a:srgbClr>
            </a:solidFill>
            <a:prstDash val="solid"/>
          </a:ln>
        </p:spPr>
      </p:sp>
      <p:sp>
        <p:nvSpPr>
          <p:cNvPr id="171" name="reserve-2-boundary-left-1"/>
          <p:cNvSpPr/>
          <p:nvPr/>
        </p:nvSpPr>
        <p:spPr>
          <a:xfrm>
            <a:off x="4250531" y="3065859"/>
            <a:ext cx="11906" cy="71438"/>
          </a:xfrm>
          <a:prstGeom prst="rect">
            <a:avLst/>
          </a:prstGeom>
          <a:solidFill>
            <a:srgbClr val="85ADD0"/>
          </a:solidFill>
          <a:ln w="12700">
            <a:solidFill>
              <a:srgbClr val="FFFFFF">
                <a:alpha val="0"/>
              </a:srgbClr>
            </a:solidFill>
            <a:prstDash val="solid"/>
          </a:ln>
        </p:spPr>
      </p:sp>
      <p:sp>
        <p:nvSpPr>
          <p:cNvPr id="172" name="reserve-2-boundary-left-2"/>
          <p:cNvSpPr/>
          <p:nvPr/>
        </p:nvSpPr>
        <p:spPr>
          <a:xfrm>
            <a:off x="4250531" y="3184922"/>
            <a:ext cx="11906" cy="71438"/>
          </a:xfrm>
          <a:prstGeom prst="rect">
            <a:avLst/>
          </a:prstGeom>
          <a:solidFill>
            <a:srgbClr val="85ADD0"/>
          </a:solidFill>
          <a:ln w="12700">
            <a:solidFill>
              <a:srgbClr val="FFFFFF">
                <a:alpha val="0"/>
              </a:srgbClr>
            </a:solidFill>
            <a:prstDash val="solid"/>
          </a:ln>
        </p:spPr>
      </p:sp>
      <p:sp>
        <p:nvSpPr>
          <p:cNvPr id="173" name="reserve-2-boundary-left-3"/>
          <p:cNvSpPr/>
          <p:nvPr/>
        </p:nvSpPr>
        <p:spPr>
          <a:xfrm>
            <a:off x="4250531" y="3303984"/>
            <a:ext cx="11906" cy="71438"/>
          </a:xfrm>
          <a:prstGeom prst="rect">
            <a:avLst/>
          </a:prstGeom>
          <a:solidFill>
            <a:srgbClr val="85ADD0"/>
          </a:solidFill>
          <a:ln w="12700">
            <a:solidFill>
              <a:srgbClr val="FFFFFF">
                <a:alpha val="0"/>
              </a:srgbClr>
            </a:solidFill>
            <a:prstDash val="solid"/>
          </a:ln>
        </p:spPr>
      </p:sp>
      <p:sp>
        <p:nvSpPr>
          <p:cNvPr id="174" name="reserve-2-boundary-left-4"/>
          <p:cNvSpPr/>
          <p:nvPr/>
        </p:nvSpPr>
        <p:spPr>
          <a:xfrm>
            <a:off x="4250531" y="3423047"/>
            <a:ext cx="11906" cy="71438"/>
          </a:xfrm>
          <a:prstGeom prst="rect">
            <a:avLst/>
          </a:prstGeom>
          <a:solidFill>
            <a:srgbClr val="85ADD0"/>
          </a:solidFill>
          <a:ln w="12700">
            <a:solidFill>
              <a:srgbClr val="FFFFFF">
                <a:alpha val="0"/>
              </a:srgbClr>
            </a:solidFill>
            <a:prstDash val="solid"/>
          </a:ln>
        </p:spPr>
      </p:sp>
      <p:sp>
        <p:nvSpPr>
          <p:cNvPr id="175" name="reserve-2-boundary-left-5"/>
          <p:cNvSpPr/>
          <p:nvPr/>
        </p:nvSpPr>
        <p:spPr>
          <a:xfrm>
            <a:off x="4250531" y="3542109"/>
            <a:ext cx="11906" cy="71438"/>
          </a:xfrm>
          <a:prstGeom prst="rect">
            <a:avLst/>
          </a:prstGeom>
          <a:solidFill>
            <a:srgbClr val="85ADD0"/>
          </a:solidFill>
          <a:ln w="12700">
            <a:solidFill>
              <a:srgbClr val="FFFFFF">
                <a:alpha val="0"/>
              </a:srgbClr>
            </a:solidFill>
            <a:prstDash val="solid"/>
          </a:ln>
        </p:spPr>
      </p:sp>
      <p:sp>
        <p:nvSpPr>
          <p:cNvPr id="176" name="reserve-2-boundary-left-6"/>
          <p:cNvSpPr/>
          <p:nvPr/>
        </p:nvSpPr>
        <p:spPr>
          <a:xfrm>
            <a:off x="4250531" y="3661172"/>
            <a:ext cx="11906" cy="47625"/>
          </a:xfrm>
          <a:prstGeom prst="rect">
            <a:avLst/>
          </a:prstGeom>
          <a:solidFill>
            <a:srgbClr val="85ADD0"/>
          </a:solidFill>
          <a:ln w="12700">
            <a:solidFill>
              <a:srgbClr val="FFFFFF">
                <a:alpha val="0"/>
              </a:srgbClr>
            </a:solidFill>
            <a:prstDash val="solid"/>
          </a:ln>
        </p:spPr>
      </p:sp>
      <p:sp>
        <p:nvSpPr>
          <p:cNvPr id="177" name="reserve-2-boundary-right-0"/>
          <p:cNvSpPr/>
          <p:nvPr/>
        </p:nvSpPr>
        <p:spPr>
          <a:xfrm>
            <a:off x="7929563" y="2946797"/>
            <a:ext cx="11906" cy="71438"/>
          </a:xfrm>
          <a:prstGeom prst="rect">
            <a:avLst/>
          </a:prstGeom>
          <a:solidFill>
            <a:srgbClr val="85ADD0"/>
          </a:solidFill>
          <a:ln w="12700">
            <a:solidFill>
              <a:srgbClr val="FFFFFF">
                <a:alpha val="0"/>
              </a:srgbClr>
            </a:solidFill>
            <a:prstDash val="solid"/>
          </a:ln>
        </p:spPr>
      </p:sp>
      <p:sp>
        <p:nvSpPr>
          <p:cNvPr id="178" name="reserve-2-boundary-right-1"/>
          <p:cNvSpPr/>
          <p:nvPr/>
        </p:nvSpPr>
        <p:spPr>
          <a:xfrm>
            <a:off x="7929563" y="3065859"/>
            <a:ext cx="11906" cy="71438"/>
          </a:xfrm>
          <a:prstGeom prst="rect">
            <a:avLst/>
          </a:prstGeom>
          <a:solidFill>
            <a:srgbClr val="85ADD0"/>
          </a:solidFill>
          <a:ln w="12700">
            <a:solidFill>
              <a:srgbClr val="FFFFFF">
                <a:alpha val="0"/>
              </a:srgbClr>
            </a:solidFill>
            <a:prstDash val="solid"/>
          </a:ln>
        </p:spPr>
      </p:sp>
      <p:sp>
        <p:nvSpPr>
          <p:cNvPr id="179" name="reserve-2-boundary-right-2"/>
          <p:cNvSpPr/>
          <p:nvPr/>
        </p:nvSpPr>
        <p:spPr>
          <a:xfrm>
            <a:off x="7929563" y="3184922"/>
            <a:ext cx="11906" cy="71438"/>
          </a:xfrm>
          <a:prstGeom prst="rect">
            <a:avLst/>
          </a:prstGeom>
          <a:solidFill>
            <a:srgbClr val="85ADD0"/>
          </a:solidFill>
          <a:ln w="12700">
            <a:solidFill>
              <a:srgbClr val="FFFFFF">
                <a:alpha val="0"/>
              </a:srgbClr>
            </a:solidFill>
            <a:prstDash val="solid"/>
          </a:ln>
        </p:spPr>
      </p:sp>
      <p:sp>
        <p:nvSpPr>
          <p:cNvPr id="180" name="reserve-2-boundary-right-3"/>
          <p:cNvSpPr/>
          <p:nvPr/>
        </p:nvSpPr>
        <p:spPr>
          <a:xfrm>
            <a:off x="7929563" y="3303984"/>
            <a:ext cx="11906" cy="71438"/>
          </a:xfrm>
          <a:prstGeom prst="rect">
            <a:avLst/>
          </a:prstGeom>
          <a:solidFill>
            <a:srgbClr val="85ADD0"/>
          </a:solidFill>
          <a:ln w="12700">
            <a:solidFill>
              <a:srgbClr val="FFFFFF">
                <a:alpha val="0"/>
              </a:srgbClr>
            </a:solidFill>
            <a:prstDash val="solid"/>
          </a:ln>
        </p:spPr>
      </p:sp>
      <p:sp>
        <p:nvSpPr>
          <p:cNvPr id="181" name="reserve-2-boundary-right-4"/>
          <p:cNvSpPr/>
          <p:nvPr/>
        </p:nvSpPr>
        <p:spPr>
          <a:xfrm>
            <a:off x="7929563" y="3423047"/>
            <a:ext cx="11906" cy="71438"/>
          </a:xfrm>
          <a:prstGeom prst="rect">
            <a:avLst/>
          </a:prstGeom>
          <a:solidFill>
            <a:srgbClr val="85ADD0"/>
          </a:solidFill>
          <a:ln w="12700">
            <a:solidFill>
              <a:srgbClr val="FFFFFF">
                <a:alpha val="0"/>
              </a:srgbClr>
            </a:solidFill>
            <a:prstDash val="solid"/>
          </a:ln>
        </p:spPr>
      </p:sp>
      <p:sp>
        <p:nvSpPr>
          <p:cNvPr id="182" name="reserve-2-boundary-right-5"/>
          <p:cNvSpPr/>
          <p:nvPr/>
        </p:nvSpPr>
        <p:spPr>
          <a:xfrm>
            <a:off x="7929563" y="3542109"/>
            <a:ext cx="11906" cy="71438"/>
          </a:xfrm>
          <a:prstGeom prst="rect">
            <a:avLst/>
          </a:prstGeom>
          <a:solidFill>
            <a:srgbClr val="85ADD0"/>
          </a:solidFill>
          <a:ln w="12700">
            <a:solidFill>
              <a:srgbClr val="FFFFFF">
                <a:alpha val="0"/>
              </a:srgbClr>
            </a:solidFill>
            <a:prstDash val="solid"/>
          </a:ln>
        </p:spPr>
      </p:sp>
      <p:sp>
        <p:nvSpPr>
          <p:cNvPr id="183" name="reserve-2-boundary-right-6"/>
          <p:cNvSpPr/>
          <p:nvPr/>
        </p:nvSpPr>
        <p:spPr>
          <a:xfrm>
            <a:off x="7929563" y="3661172"/>
            <a:ext cx="11906" cy="47625"/>
          </a:xfrm>
          <a:prstGeom prst="rect">
            <a:avLst/>
          </a:prstGeom>
          <a:solidFill>
            <a:srgbClr val="85ADD0"/>
          </a:solidFill>
          <a:ln w="12700">
            <a:solidFill>
              <a:srgbClr val="FFFFFF">
                <a:alpha val="0"/>
              </a:srgbClr>
            </a:solidFill>
            <a:prstDash val="solid"/>
          </a:ln>
        </p:spPr>
      </p:sp>
      <p:sp>
        <p:nvSpPr>
          <p:cNvPr id="184" name="reserve-3-boundary-top-0"/>
          <p:cNvSpPr/>
          <p:nvPr/>
        </p:nvSpPr>
        <p:spPr>
          <a:xfrm>
            <a:off x="8143875" y="2905125"/>
            <a:ext cx="71438" cy="11906"/>
          </a:xfrm>
          <a:prstGeom prst="rect">
            <a:avLst/>
          </a:prstGeom>
          <a:solidFill>
            <a:srgbClr val="85ADD0"/>
          </a:solidFill>
          <a:ln w="12700">
            <a:solidFill>
              <a:srgbClr val="FFFFFF">
                <a:alpha val="0"/>
              </a:srgbClr>
            </a:solidFill>
            <a:prstDash val="solid"/>
          </a:ln>
        </p:spPr>
      </p:sp>
      <p:sp>
        <p:nvSpPr>
          <p:cNvPr id="185" name="reserve-3-boundary-top-1"/>
          <p:cNvSpPr/>
          <p:nvPr/>
        </p:nvSpPr>
        <p:spPr>
          <a:xfrm>
            <a:off x="8262938" y="2905125"/>
            <a:ext cx="71438" cy="11906"/>
          </a:xfrm>
          <a:prstGeom prst="rect">
            <a:avLst/>
          </a:prstGeom>
          <a:solidFill>
            <a:srgbClr val="85ADD0"/>
          </a:solidFill>
          <a:ln w="12700">
            <a:solidFill>
              <a:srgbClr val="FFFFFF">
                <a:alpha val="0"/>
              </a:srgbClr>
            </a:solidFill>
            <a:prstDash val="solid"/>
          </a:ln>
        </p:spPr>
      </p:sp>
      <p:sp>
        <p:nvSpPr>
          <p:cNvPr id="186" name="reserve-3-boundary-top-2"/>
          <p:cNvSpPr/>
          <p:nvPr/>
        </p:nvSpPr>
        <p:spPr>
          <a:xfrm>
            <a:off x="8382000" y="2905125"/>
            <a:ext cx="71438" cy="11906"/>
          </a:xfrm>
          <a:prstGeom prst="rect">
            <a:avLst/>
          </a:prstGeom>
          <a:solidFill>
            <a:srgbClr val="85ADD0"/>
          </a:solidFill>
          <a:ln w="12700">
            <a:solidFill>
              <a:srgbClr val="FFFFFF">
                <a:alpha val="0"/>
              </a:srgbClr>
            </a:solidFill>
            <a:prstDash val="solid"/>
          </a:ln>
        </p:spPr>
      </p:sp>
      <p:sp>
        <p:nvSpPr>
          <p:cNvPr id="187" name="reserve-3-boundary-top-3"/>
          <p:cNvSpPr/>
          <p:nvPr/>
        </p:nvSpPr>
        <p:spPr>
          <a:xfrm>
            <a:off x="8501063" y="2905125"/>
            <a:ext cx="71438" cy="11906"/>
          </a:xfrm>
          <a:prstGeom prst="rect">
            <a:avLst/>
          </a:prstGeom>
          <a:solidFill>
            <a:srgbClr val="85ADD0"/>
          </a:solidFill>
          <a:ln w="12700">
            <a:solidFill>
              <a:srgbClr val="FFFFFF">
                <a:alpha val="0"/>
              </a:srgbClr>
            </a:solidFill>
            <a:prstDash val="solid"/>
          </a:ln>
        </p:spPr>
      </p:sp>
      <p:sp>
        <p:nvSpPr>
          <p:cNvPr id="188" name="reserve-3-boundary-top-4"/>
          <p:cNvSpPr/>
          <p:nvPr/>
        </p:nvSpPr>
        <p:spPr>
          <a:xfrm>
            <a:off x="8620125" y="2905125"/>
            <a:ext cx="71438" cy="11906"/>
          </a:xfrm>
          <a:prstGeom prst="rect">
            <a:avLst/>
          </a:prstGeom>
          <a:solidFill>
            <a:srgbClr val="85ADD0"/>
          </a:solidFill>
          <a:ln w="12700">
            <a:solidFill>
              <a:srgbClr val="FFFFFF">
                <a:alpha val="0"/>
              </a:srgbClr>
            </a:solidFill>
            <a:prstDash val="solid"/>
          </a:ln>
        </p:spPr>
      </p:sp>
      <p:sp>
        <p:nvSpPr>
          <p:cNvPr id="189" name="reserve-3-boundary-top-5"/>
          <p:cNvSpPr/>
          <p:nvPr/>
        </p:nvSpPr>
        <p:spPr>
          <a:xfrm>
            <a:off x="8739188" y="2905125"/>
            <a:ext cx="71438" cy="11906"/>
          </a:xfrm>
          <a:prstGeom prst="rect">
            <a:avLst/>
          </a:prstGeom>
          <a:solidFill>
            <a:srgbClr val="85ADD0"/>
          </a:solidFill>
          <a:ln w="12700">
            <a:solidFill>
              <a:srgbClr val="FFFFFF">
                <a:alpha val="0"/>
              </a:srgbClr>
            </a:solidFill>
            <a:prstDash val="solid"/>
          </a:ln>
        </p:spPr>
      </p:sp>
      <p:sp>
        <p:nvSpPr>
          <p:cNvPr id="190" name="reserve-3-boundary-top-6"/>
          <p:cNvSpPr/>
          <p:nvPr/>
        </p:nvSpPr>
        <p:spPr>
          <a:xfrm>
            <a:off x="8858250" y="2905125"/>
            <a:ext cx="71438" cy="11906"/>
          </a:xfrm>
          <a:prstGeom prst="rect">
            <a:avLst/>
          </a:prstGeom>
          <a:solidFill>
            <a:srgbClr val="85ADD0"/>
          </a:solidFill>
          <a:ln w="12700">
            <a:solidFill>
              <a:srgbClr val="FFFFFF">
                <a:alpha val="0"/>
              </a:srgbClr>
            </a:solidFill>
            <a:prstDash val="solid"/>
          </a:ln>
        </p:spPr>
      </p:sp>
      <p:sp>
        <p:nvSpPr>
          <p:cNvPr id="191" name="reserve-3-boundary-top-7"/>
          <p:cNvSpPr/>
          <p:nvPr/>
        </p:nvSpPr>
        <p:spPr>
          <a:xfrm>
            <a:off x="8977313" y="2905125"/>
            <a:ext cx="71438" cy="11906"/>
          </a:xfrm>
          <a:prstGeom prst="rect">
            <a:avLst/>
          </a:prstGeom>
          <a:solidFill>
            <a:srgbClr val="85ADD0"/>
          </a:solidFill>
          <a:ln w="12700">
            <a:solidFill>
              <a:srgbClr val="FFFFFF">
                <a:alpha val="0"/>
              </a:srgbClr>
            </a:solidFill>
            <a:prstDash val="solid"/>
          </a:ln>
        </p:spPr>
      </p:sp>
      <p:sp>
        <p:nvSpPr>
          <p:cNvPr id="192" name="reserve-3-boundary-top-8"/>
          <p:cNvSpPr/>
          <p:nvPr/>
        </p:nvSpPr>
        <p:spPr>
          <a:xfrm>
            <a:off x="9096375" y="2905125"/>
            <a:ext cx="71438" cy="11906"/>
          </a:xfrm>
          <a:prstGeom prst="rect">
            <a:avLst/>
          </a:prstGeom>
          <a:solidFill>
            <a:srgbClr val="85ADD0"/>
          </a:solidFill>
          <a:ln w="12700">
            <a:solidFill>
              <a:srgbClr val="FFFFFF">
                <a:alpha val="0"/>
              </a:srgbClr>
            </a:solidFill>
            <a:prstDash val="solid"/>
          </a:ln>
        </p:spPr>
      </p:sp>
      <p:sp>
        <p:nvSpPr>
          <p:cNvPr id="193" name="reserve-3-boundary-top-9"/>
          <p:cNvSpPr/>
          <p:nvPr/>
        </p:nvSpPr>
        <p:spPr>
          <a:xfrm>
            <a:off x="9215438" y="2905125"/>
            <a:ext cx="71438" cy="11906"/>
          </a:xfrm>
          <a:prstGeom prst="rect">
            <a:avLst/>
          </a:prstGeom>
          <a:solidFill>
            <a:srgbClr val="85ADD0"/>
          </a:solidFill>
          <a:ln w="12700">
            <a:solidFill>
              <a:srgbClr val="FFFFFF">
                <a:alpha val="0"/>
              </a:srgbClr>
            </a:solidFill>
            <a:prstDash val="solid"/>
          </a:ln>
        </p:spPr>
      </p:sp>
      <p:sp>
        <p:nvSpPr>
          <p:cNvPr id="194" name="reserve-3-boundary-top-10"/>
          <p:cNvSpPr/>
          <p:nvPr/>
        </p:nvSpPr>
        <p:spPr>
          <a:xfrm>
            <a:off x="9334500" y="2905125"/>
            <a:ext cx="71438" cy="11906"/>
          </a:xfrm>
          <a:prstGeom prst="rect">
            <a:avLst/>
          </a:prstGeom>
          <a:solidFill>
            <a:srgbClr val="85ADD0"/>
          </a:solidFill>
          <a:ln w="12700">
            <a:solidFill>
              <a:srgbClr val="FFFFFF">
                <a:alpha val="0"/>
              </a:srgbClr>
            </a:solidFill>
            <a:prstDash val="solid"/>
          </a:ln>
        </p:spPr>
      </p:sp>
      <p:sp>
        <p:nvSpPr>
          <p:cNvPr id="195" name="reserve-3-boundary-top-11"/>
          <p:cNvSpPr/>
          <p:nvPr/>
        </p:nvSpPr>
        <p:spPr>
          <a:xfrm>
            <a:off x="9453563" y="2905125"/>
            <a:ext cx="71438" cy="11906"/>
          </a:xfrm>
          <a:prstGeom prst="rect">
            <a:avLst/>
          </a:prstGeom>
          <a:solidFill>
            <a:srgbClr val="85ADD0"/>
          </a:solidFill>
          <a:ln w="12700">
            <a:solidFill>
              <a:srgbClr val="FFFFFF">
                <a:alpha val="0"/>
              </a:srgbClr>
            </a:solidFill>
            <a:prstDash val="solid"/>
          </a:ln>
        </p:spPr>
      </p:sp>
      <p:sp>
        <p:nvSpPr>
          <p:cNvPr id="196" name="reserve-3-boundary-top-12"/>
          <p:cNvSpPr/>
          <p:nvPr/>
        </p:nvSpPr>
        <p:spPr>
          <a:xfrm>
            <a:off x="9572625" y="2905125"/>
            <a:ext cx="71438" cy="11906"/>
          </a:xfrm>
          <a:prstGeom prst="rect">
            <a:avLst/>
          </a:prstGeom>
          <a:solidFill>
            <a:srgbClr val="85ADD0"/>
          </a:solidFill>
          <a:ln w="12700">
            <a:solidFill>
              <a:srgbClr val="FFFFFF">
                <a:alpha val="0"/>
              </a:srgbClr>
            </a:solidFill>
            <a:prstDash val="solid"/>
          </a:ln>
        </p:spPr>
      </p:sp>
      <p:sp>
        <p:nvSpPr>
          <p:cNvPr id="197" name="reserve-3-boundary-top-13"/>
          <p:cNvSpPr/>
          <p:nvPr/>
        </p:nvSpPr>
        <p:spPr>
          <a:xfrm>
            <a:off x="9691688" y="2905125"/>
            <a:ext cx="71438" cy="11906"/>
          </a:xfrm>
          <a:prstGeom prst="rect">
            <a:avLst/>
          </a:prstGeom>
          <a:solidFill>
            <a:srgbClr val="85ADD0"/>
          </a:solidFill>
          <a:ln w="12700">
            <a:solidFill>
              <a:srgbClr val="FFFFFF">
                <a:alpha val="0"/>
              </a:srgbClr>
            </a:solidFill>
            <a:prstDash val="solid"/>
          </a:ln>
        </p:spPr>
      </p:sp>
      <p:sp>
        <p:nvSpPr>
          <p:cNvPr id="198" name="reserve-3-boundary-top-14"/>
          <p:cNvSpPr/>
          <p:nvPr/>
        </p:nvSpPr>
        <p:spPr>
          <a:xfrm>
            <a:off x="9810750" y="2905125"/>
            <a:ext cx="71438" cy="11906"/>
          </a:xfrm>
          <a:prstGeom prst="rect">
            <a:avLst/>
          </a:prstGeom>
          <a:solidFill>
            <a:srgbClr val="85ADD0"/>
          </a:solidFill>
          <a:ln w="12700">
            <a:solidFill>
              <a:srgbClr val="FFFFFF">
                <a:alpha val="0"/>
              </a:srgbClr>
            </a:solidFill>
            <a:prstDash val="solid"/>
          </a:ln>
        </p:spPr>
      </p:sp>
      <p:sp>
        <p:nvSpPr>
          <p:cNvPr id="199" name="reserve-3-boundary-top-15"/>
          <p:cNvSpPr/>
          <p:nvPr/>
        </p:nvSpPr>
        <p:spPr>
          <a:xfrm>
            <a:off x="9929813" y="2905125"/>
            <a:ext cx="71438" cy="11906"/>
          </a:xfrm>
          <a:prstGeom prst="rect">
            <a:avLst/>
          </a:prstGeom>
          <a:solidFill>
            <a:srgbClr val="85ADD0"/>
          </a:solidFill>
          <a:ln w="12700">
            <a:solidFill>
              <a:srgbClr val="FFFFFF">
                <a:alpha val="0"/>
              </a:srgbClr>
            </a:solidFill>
            <a:prstDash val="solid"/>
          </a:ln>
        </p:spPr>
      </p:sp>
      <p:sp>
        <p:nvSpPr>
          <p:cNvPr id="200" name="reserve-3-boundary-top-16"/>
          <p:cNvSpPr/>
          <p:nvPr/>
        </p:nvSpPr>
        <p:spPr>
          <a:xfrm>
            <a:off x="10048875" y="2905125"/>
            <a:ext cx="71438" cy="11906"/>
          </a:xfrm>
          <a:prstGeom prst="rect">
            <a:avLst/>
          </a:prstGeom>
          <a:solidFill>
            <a:srgbClr val="85ADD0"/>
          </a:solidFill>
          <a:ln w="12700">
            <a:solidFill>
              <a:srgbClr val="FFFFFF">
                <a:alpha val="0"/>
              </a:srgbClr>
            </a:solidFill>
            <a:prstDash val="solid"/>
          </a:ln>
        </p:spPr>
      </p:sp>
      <p:sp>
        <p:nvSpPr>
          <p:cNvPr id="201" name="reserve-3-boundary-top-17"/>
          <p:cNvSpPr/>
          <p:nvPr/>
        </p:nvSpPr>
        <p:spPr>
          <a:xfrm>
            <a:off x="10167938" y="2905125"/>
            <a:ext cx="71438" cy="11906"/>
          </a:xfrm>
          <a:prstGeom prst="rect">
            <a:avLst/>
          </a:prstGeom>
          <a:solidFill>
            <a:srgbClr val="85ADD0"/>
          </a:solidFill>
          <a:ln w="12700">
            <a:solidFill>
              <a:srgbClr val="FFFFFF">
                <a:alpha val="0"/>
              </a:srgbClr>
            </a:solidFill>
            <a:prstDash val="solid"/>
          </a:ln>
        </p:spPr>
      </p:sp>
      <p:sp>
        <p:nvSpPr>
          <p:cNvPr id="202" name="reserve-3-boundary-top-18"/>
          <p:cNvSpPr/>
          <p:nvPr/>
        </p:nvSpPr>
        <p:spPr>
          <a:xfrm>
            <a:off x="10287000" y="2905125"/>
            <a:ext cx="71438" cy="11906"/>
          </a:xfrm>
          <a:prstGeom prst="rect">
            <a:avLst/>
          </a:prstGeom>
          <a:solidFill>
            <a:srgbClr val="85ADD0"/>
          </a:solidFill>
          <a:ln w="12700">
            <a:solidFill>
              <a:srgbClr val="FFFFFF">
                <a:alpha val="0"/>
              </a:srgbClr>
            </a:solidFill>
            <a:prstDash val="solid"/>
          </a:ln>
        </p:spPr>
      </p:sp>
      <p:sp>
        <p:nvSpPr>
          <p:cNvPr id="203" name="reserve-3-boundary-top-19"/>
          <p:cNvSpPr/>
          <p:nvPr/>
        </p:nvSpPr>
        <p:spPr>
          <a:xfrm>
            <a:off x="10406063" y="2905125"/>
            <a:ext cx="71438" cy="11906"/>
          </a:xfrm>
          <a:prstGeom prst="rect">
            <a:avLst/>
          </a:prstGeom>
          <a:solidFill>
            <a:srgbClr val="85ADD0"/>
          </a:solidFill>
          <a:ln w="12700">
            <a:solidFill>
              <a:srgbClr val="FFFFFF">
                <a:alpha val="0"/>
              </a:srgbClr>
            </a:solidFill>
            <a:prstDash val="solid"/>
          </a:ln>
        </p:spPr>
      </p:sp>
      <p:sp>
        <p:nvSpPr>
          <p:cNvPr id="204" name="reserve-3-boundary-top-20"/>
          <p:cNvSpPr/>
          <p:nvPr/>
        </p:nvSpPr>
        <p:spPr>
          <a:xfrm>
            <a:off x="10525125" y="2905125"/>
            <a:ext cx="71438" cy="11906"/>
          </a:xfrm>
          <a:prstGeom prst="rect">
            <a:avLst/>
          </a:prstGeom>
          <a:solidFill>
            <a:srgbClr val="85ADD0"/>
          </a:solidFill>
          <a:ln w="12700">
            <a:solidFill>
              <a:srgbClr val="FFFFFF">
                <a:alpha val="0"/>
              </a:srgbClr>
            </a:solidFill>
            <a:prstDash val="solid"/>
          </a:ln>
        </p:spPr>
      </p:sp>
      <p:sp>
        <p:nvSpPr>
          <p:cNvPr id="205" name="reserve-3-boundary-top-21"/>
          <p:cNvSpPr/>
          <p:nvPr/>
        </p:nvSpPr>
        <p:spPr>
          <a:xfrm>
            <a:off x="10644188" y="2905125"/>
            <a:ext cx="71438" cy="11906"/>
          </a:xfrm>
          <a:prstGeom prst="rect">
            <a:avLst/>
          </a:prstGeom>
          <a:solidFill>
            <a:srgbClr val="85ADD0"/>
          </a:solidFill>
          <a:ln w="12700">
            <a:solidFill>
              <a:srgbClr val="FFFFFF">
                <a:alpha val="0"/>
              </a:srgbClr>
            </a:solidFill>
            <a:prstDash val="solid"/>
          </a:ln>
        </p:spPr>
      </p:sp>
      <p:sp>
        <p:nvSpPr>
          <p:cNvPr id="206" name="reserve-3-boundary-top-22"/>
          <p:cNvSpPr/>
          <p:nvPr/>
        </p:nvSpPr>
        <p:spPr>
          <a:xfrm>
            <a:off x="10763250" y="2905125"/>
            <a:ext cx="71438" cy="11906"/>
          </a:xfrm>
          <a:prstGeom prst="rect">
            <a:avLst/>
          </a:prstGeom>
          <a:solidFill>
            <a:srgbClr val="85ADD0"/>
          </a:solidFill>
          <a:ln w="12700">
            <a:solidFill>
              <a:srgbClr val="FFFFFF">
                <a:alpha val="0"/>
              </a:srgbClr>
            </a:solidFill>
            <a:prstDash val="solid"/>
          </a:ln>
        </p:spPr>
      </p:sp>
      <p:sp>
        <p:nvSpPr>
          <p:cNvPr id="207" name="reserve-3-boundary-top-23"/>
          <p:cNvSpPr/>
          <p:nvPr/>
        </p:nvSpPr>
        <p:spPr>
          <a:xfrm>
            <a:off x="10882313" y="2905125"/>
            <a:ext cx="71438" cy="11906"/>
          </a:xfrm>
          <a:prstGeom prst="rect">
            <a:avLst/>
          </a:prstGeom>
          <a:solidFill>
            <a:srgbClr val="85ADD0"/>
          </a:solidFill>
          <a:ln w="12700">
            <a:solidFill>
              <a:srgbClr val="FFFFFF">
                <a:alpha val="0"/>
              </a:srgbClr>
            </a:solidFill>
            <a:prstDash val="solid"/>
          </a:ln>
        </p:spPr>
      </p:sp>
      <p:sp>
        <p:nvSpPr>
          <p:cNvPr id="208" name="reserve-3-boundary-top-24"/>
          <p:cNvSpPr/>
          <p:nvPr/>
        </p:nvSpPr>
        <p:spPr>
          <a:xfrm>
            <a:off x="11001375" y="2905125"/>
            <a:ext cx="71438" cy="11906"/>
          </a:xfrm>
          <a:prstGeom prst="rect">
            <a:avLst/>
          </a:prstGeom>
          <a:solidFill>
            <a:srgbClr val="85ADD0"/>
          </a:solidFill>
          <a:ln w="12700">
            <a:solidFill>
              <a:srgbClr val="FFFFFF">
                <a:alpha val="0"/>
              </a:srgbClr>
            </a:solidFill>
            <a:prstDash val="solid"/>
          </a:ln>
        </p:spPr>
      </p:sp>
      <p:sp>
        <p:nvSpPr>
          <p:cNvPr id="209" name="reserve-3-boundary-top-25"/>
          <p:cNvSpPr/>
          <p:nvPr/>
        </p:nvSpPr>
        <p:spPr>
          <a:xfrm>
            <a:off x="11120438" y="2905125"/>
            <a:ext cx="71438" cy="11906"/>
          </a:xfrm>
          <a:prstGeom prst="rect">
            <a:avLst/>
          </a:prstGeom>
          <a:solidFill>
            <a:srgbClr val="85ADD0"/>
          </a:solidFill>
          <a:ln w="12700">
            <a:solidFill>
              <a:srgbClr val="FFFFFF">
                <a:alpha val="0"/>
              </a:srgbClr>
            </a:solidFill>
            <a:prstDash val="solid"/>
          </a:ln>
        </p:spPr>
      </p:sp>
      <p:sp>
        <p:nvSpPr>
          <p:cNvPr id="210" name="reserve-3-boundary-top-26"/>
          <p:cNvSpPr/>
          <p:nvPr/>
        </p:nvSpPr>
        <p:spPr>
          <a:xfrm>
            <a:off x="11239500" y="2905125"/>
            <a:ext cx="71438" cy="11906"/>
          </a:xfrm>
          <a:prstGeom prst="rect">
            <a:avLst/>
          </a:prstGeom>
          <a:solidFill>
            <a:srgbClr val="85ADD0"/>
          </a:solidFill>
          <a:ln w="12700">
            <a:solidFill>
              <a:srgbClr val="FFFFFF">
                <a:alpha val="0"/>
              </a:srgbClr>
            </a:solidFill>
            <a:prstDash val="solid"/>
          </a:ln>
        </p:spPr>
      </p:sp>
      <p:sp>
        <p:nvSpPr>
          <p:cNvPr id="211" name="reserve-3-boundary-top-27"/>
          <p:cNvSpPr/>
          <p:nvPr/>
        </p:nvSpPr>
        <p:spPr>
          <a:xfrm>
            <a:off x="11358563" y="2905125"/>
            <a:ext cx="71438" cy="11906"/>
          </a:xfrm>
          <a:prstGeom prst="rect">
            <a:avLst/>
          </a:prstGeom>
          <a:solidFill>
            <a:srgbClr val="85ADD0"/>
          </a:solidFill>
          <a:ln w="12700">
            <a:solidFill>
              <a:srgbClr val="FFFFFF">
                <a:alpha val="0"/>
              </a:srgbClr>
            </a:solidFill>
            <a:prstDash val="solid"/>
          </a:ln>
        </p:spPr>
      </p:sp>
      <p:sp>
        <p:nvSpPr>
          <p:cNvPr id="212" name="reserve-3-boundary-top-28"/>
          <p:cNvSpPr/>
          <p:nvPr/>
        </p:nvSpPr>
        <p:spPr>
          <a:xfrm>
            <a:off x="11477625" y="2905125"/>
            <a:ext cx="71438" cy="11906"/>
          </a:xfrm>
          <a:prstGeom prst="rect">
            <a:avLst/>
          </a:prstGeom>
          <a:solidFill>
            <a:srgbClr val="85ADD0"/>
          </a:solidFill>
          <a:ln w="12700">
            <a:solidFill>
              <a:srgbClr val="FFFFFF">
                <a:alpha val="0"/>
              </a:srgbClr>
            </a:solidFill>
            <a:prstDash val="solid"/>
          </a:ln>
        </p:spPr>
      </p:sp>
      <p:sp>
        <p:nvSpPr>
          <p:cNvPr id="213" name="reserve-3-boundary-top-29"/>
          <p:cNvSpPr/>
          <p:nvPr/>
        </p:nvSpPr>
        <p:spPr>
          <a:xfrm>
            <a:off x="11596688" y="2905125"/>
            <a:ext cx="71438" cy="11906"/>
          </a:xfrm>
          <a:prstGeom prst="rect">
            <a:avLst/>
          </a:prstGeom>
          <a:solidFill>
            <a:srgbClr val="85ADD0"/>
          </a:solidFill>
          <a:ln w="12700">
            <a:solidFill>
              <a:srgbClr val="FFFFFF">
                <a:alpha val="0"/>
              </a:srgbClr>
            </a:solidFill>
            <a:prstDash val="solid"/>
          </a:ln>
        </p:spPr>
      </p:sp>
      <p:sp>
        <p:nvSpPr>
          <p:cNvPr id="214" name="reserve-3-boundary-top-30"/>
          <p:cNvSpPr/>
          <p:nvPr/>
        </p:nvSpPr>
        <p:spPr>
          <a:xfrm>
            <a:off x="11715750" y="2905125"/>
            <a:ext cx="47625" cy="11906"/>
          </a:xfrm>
          <a:prstGeom prst="rect">
            <a:avLst/>
          </a:prstGeom>
          <a:solidFill>
            <a:srgbClr val="85ADD0"/>
          </a:solidFill>
          <a:ln w="12700">
            <a:solidFill>
              <a:srgbClr val="FFFFFF">
                <a:alpha val="0"/>
              </a:srgbClr>
            </a:solidFill>
            <a:prstDash val="solid"/>
          </a:ln>
        </p:spPr>
      </p:sp>
      <p:sp>
        <p:nvSpPr>
          <p:cNvPr id="215" name="reserve-3-boundary-bottom-0"/>
          <p:cNvSpPr/>
          <p:nvPr/>
        </p:nvSpPr>
        <p:spPr>
          <a:xfrm>
            <a:off x="8143875" y="3738563"/>
            <a:ext cx="71438" cy="11906"/>
          </a:xfrm>
          <a:prstGeom prst="rect">
            <a:avLst/>
          </a:prstGeom>
          <a:solidFill>
            <a:srgbClr val="85ADD0"/>
          </a:solidFill>
          <a:ln w="12700">
            <a:solidFill>
              <a:srgbClr val="FFFFFF">
                <a:alpha val="0"/>
              </a:srgbClr>
            </a:solidFill>
            <a:prstDash val="solid"/>
          </a:ln>
        </p:spPr>
      </p:sp>
      <p:sp>
        <p:nvSpPr>
          <p:cNvPr id="216" name="reserve-3-boundary-bottom-1"/>
          <p:cNvSpPr/>
          <p:nvPr/>
        </p:nvSpPr>
        <p:spPr>
          <a:xfrm>
            <a:off x="8262938" y="3738563"/>
            <a:ext cx="71438" cy="11906"/>
          </a:xfrm>
          <a:prstGeom prst="rect">
            <a:avLst/>
          </a:prstGeom>
          <a:solidFill>
            <a:srgbClr val="85ADD0"/>
          </a:solidFill>
          <a:ln w="12700">
            <a:solidFill>
              <a:srgbClr val="FFFFFF">
                <a:alpha val="0"/>
              </a:srgbClr>
            </a:solidFill>
            <a:prstDash val="solid"/>
          </a:ln>
        </p:spPr>
      </p:sp>
      <p:sp>
        <p:nvSpPr>
          <p:cNvPr id="217" name="reserve-3-boundary-bottom-2"/>
          <p:cNvSpPr/>
          <p:nvPr/>
        </p:nvSpPr>
        <p:spPr>
          <a:xfrm>
            <a:off x="8382000" y="3738563"/>
            <a:ext cx="71438" cy="11906"/>
          </a:xfrm>
          <a:prstGeom prst="rect">
            <a:avLst/>
          </a:prstGeom>
          <a:solidFill>
            <a:srgbClr val="85ADD0"/>
          </a:solidFill>
          <a:ln w="12700">
            <a:solidFill>
              <a:srgbClr val="FFFFFF">
                <a:alpha val="0"/>
              </a:srgbClr>
            </a:solidFill>
            <a:prstDash val="solid"/>
          </a:ln>
        </p:spPr>
      </p:sp>
      <p:sp>
        <p:nvSpPr>
          <p:cNvPr id="218" name="reserve-3-boundary-bottom-3"/>
          <p:cNvSpPr/>
          <p:nvPr/>
        </p:nvSpPr>
        <p:spPr>
          <a:xfrm>
            <a:off x="8501063" y="3738563"/>
            <a:ext cx="71438" cy="11906"/>
          </a:xfrm>
          <a:prstGeom prst="rect">
            <a:avLst/>
          </a:prstGeom>
          <a:solidFill>
            <a:srgbClr val="85ADD0"/>
          </a:solidFill>
          <a:ln w="12700">
            <a:solidFill>
              <a:srgbClr val="FFFFFF">
                <a:alpha val="0"/>
              </a:srgbClr>
            </a:solidFill>
            <a:prstDash val="solid"/>
          </a:ln>
        </p:spPr>
      </p:sp>
      <p:sp>
        <p:nvSpPr>
          <p:cNvPr id="219" name="reserve-3-boundary-bottom-4"/>
          <p:cNvSpPr/>
          <p:nvPr/>
        </p:nvSpPr>
        <p:spPr>
          <a:xfrm>
            <a:off x="8620125" y="3738563"/>
            <a:ext cx="71438" cy="11906"/>
          </a:xfrm>
          <a:prstGeom prst="rect">
            <a:avLst/>
          </a:prstGeom>
          <a:solidFill>
            <a:srgbClr val="85ADD0"/>
          </a:solidFill>
          <a:ln w="12700">
            <a:solidFill>
              <a:srgbClr val="FFFFFF">
                <a:alpha val="0"/>
              </a:srgbClr>
            </a:solidFill>
            <a:prstDash val="solid"/>
          </a:ln>
        </p:spPr>
      </p:sp>
      <p:sp>
        <p:nvSpPr>
          <p:cNvPr id="220" name="reserve-3-boundary-bottom-5"/>
          <p:cNvSpPr/>
          <p:nvPr/>
        </p:nvSpPr>
        <p:spPr>
          <a:xfrm>
            <a:off x="8739188" y="3738563"/>
            <a:ext cx="71438" cy="11906"/>
          </a:xfrm>
          <a:prstGeom prst="rect">
            <a:avLst/>
          </a:prstGeom>
          <a:solidFill>
            <a:srgbClr val="85ADD0"/>
          </a:solidFill>
          <a:ln w="12700">
            <a:solidFill>
              <a:srgbClr val="FFFFFF">
                <a:alpha val="0"/>
              </a:srgbClr>
            </a:solidFill>
            <a:prstDash val="solid"/>
          </a:ln>
        </p:spPr>
      </p:sp>
      <p:sp>
        <p:nvSpPr>
          <p:cNvPr id="221" name="reserve-3-boundary-bottom-6"/>
          <p:cNvSpPr/>
          <p:nvPr/>
        </p:nvSpPr>
        <p:spPr>
          <a:xfrm>
            <a:off x="8858250" y="3738563"/>
            <a:ext cx="71438" cy="11906"/>
          </a:xfrm>
          <a:prstGeom prst="rect">
            <a:avLst/>
          </a:prstGeom>
          <a:solidFill>
            <a:srgbClr val="85ADD0"/>
          </a:solidFill>
          <a:ln w="12700">
            <a:solidFill>
              <a:srgbClr val="FFFFFF">
                <a:alpha val="0"/>
              </a:srgbClr>
            </a:solidFill>
            <a:prstDash val="solid"/>
          </a:ln>
        </p:spPr>
      </p:sp>
      <p:sp>
        <p:nvSpPr>
          <p:cNvPr id="222" name="reserve-3-boundary-bottom-7"/>
          <p:cNvSpPr/>
          <p:nvPr/>
        </p:nvSpPr>
        <p:spPr>
          <a:xfrm>
            <a:off x="8977313" y="3738563"/>
            <a:ext cx="71438" cy="11906"/>
          </a:xfrm>
          <a:prstGeom prst="rect">
            <a:avLst/>
          </a:prstGeom>
          <a:solidFill>
            <a:srgbClr val="85ADD0"/>
          </a:solidFill>
          <a:ln w="12700">
            <a:solidFill>
              <a:srgbClr val="FFFFFF">
                <a:alpha val="0"/>
              </a:srgbClr>
            </a:solidFill>
            <a:prstDash val="solid"/>
          </a:ln>
        </p:spPr>
      </p:sp>
      <p:sp>
        <p:nvSpPr>
          <p:cNvPr id="223" name="reserve-3-boundary-bottom-8"/>
          <p:cNvSpPr/>
          <p:nvPr/>
        </p:nvSpPr>
        <p:spPr>
          <a:xfrm>
            <a:off x="9096375" y="3738563"/>
            <a:ext cx="71438" cy="11906"/>
          </a:xfrm>
          <a:prstGeom prst="rect">
            <a:avLst/>
          </a:prstGeom>
          <a:solidFill>
            <a:srgbClr val="85ADD0"/>
          </a:solidFill>
          <a:ln w="12700">
            <a:solidFill>
              <a:srgbClr val="FFFFFF">
                <a:alpha val="0"/>
              </a:srgbClr>
            </a:solidFill>
            <a:prstDash val="solid"/>
          </a:ln>
        </p:spPr>
      </p:sp>
      <p:sp>
        <p:nvSpPr>
          <p:cNvPr id="224" name="reserve-3-boundary-bottom-9"/>
          <p:cNvSpPr/>
          <p:nvPr/>
        </p:nvSpPr>
        <p:spPr>
          <a:xfrm>
            <a:off x="9215438" y="3738563"/>
            <a:ext cx="71438" cy="11906"/>
          </a:xfrm>
          <a:prstGeom prst="rect">
            <a:avLst/>
          </a:prstGeom>
          <a:solidFill>
            <a:srgbClr val="85ADD0"/>
          </a:solidFill>
          <a:ln w="12700">
            <a:solidFill>
              <a:srgbClr val="FFFFFF">
                <a:alpha val="0"/>
              </a:srgbClr>
            </a:solidFill>
            <a:prstDash val="solid"/>
          </a:ln>
        </p:spPr>
      </p:sp>
      <p:sp>
        <p:nvSpPr>
          <p:cNvPr id="225" name="reserve-3-boundary-bottom-10"/>
          <p:cNvSpPr/>
          <p:nvPr/>
        </p:nvSpPr>
        <p:spPr>
          <a:xfrm>
            <a:off x="9334500" y="3738563"/>
            <a:ext cx="71438" cy="11906"/>
          </a:xfrm>
          <a:prstGeom prst="rect">
            <a:avLst/>
          </a:prstGeom>
          <a:solidFill>
            <a:srgbClr val="85ADD0"/>
          </a:solidFill>
          <a:ln w="12700">
            <a:solidFill>
              <a:srgbClr val="FFFFFF">
                <a:alpha val="0"/>
              </a:srgbClr>
            </a:solidFill>
            <a:prstDash val="solid"/>
          </a:ln>
        </p:spPr>
      </p:sp>
      <p:sp>
        <p:nvSpPr>
          <p:cNvPr id="226" name="reserve-3-boundary-bottom-11"/>
          <p:cNvSpPr/>
          <p:nvPr/>
        </p:nvSpPr>
        <p:spPr>
          <a:xfrm>
            <a:off x="9453563" y="3738563"/>
            <a:ext cx="71438" cy="11906"/>
          </a:xfrm>
          <a:prstGeom prst="rect">
            <a:avLst/>
          </a:prstGeom>
          <a:solidFill>
            <a:srgbClr val="85ADD0"/>
          </a:solidFill>
          <a:ln w="12700">
            <a:solidFill>
              <a:srgbClr val="FFFFFF">
                <a:alpha val="0"/>
              </a:srgbClr>
            </a:solidFill>
            <a:prstDash val="solid"/>
          </a:ln>
        </p:spPr>
      </p:sp>
      <p:sp>
        <p:nvSpPr>
          <p:cNvPr id="227" name="reserve-3-boundary-bottom-12"/>
          <p:cNvSpPr/>
          <p:nvPr/>
        </p:nvSpPr>
        <p:spPr>
          <a:xfrm>
            <a:off x="9572625" y="3738563"/>
            <a:ext cx="71438" cy="11906"/>
          </a:xfrm>
          <a:prstGeom prst="rect">
            <a:avLst/>
          </a:prstGeom>
          <a:solidFill>
            <a:srgbClr val="85ADD0"/>
          </a:solidFill>
          <a:ln w="12700">
            <a:solidFill>
              <a:srgbClr val="FFFFFF">
                <a:alpha val="0"/>
              </a:srgbClr>
            </a:solidFill>
            <a:prstDash val="solid"/>
          </a:ln>
        </p:spPr>
      </p:sp>
      <p:sp>
        <p:nvSpPr>
          <p:cNvPr id="228" name="reserve-3-boundary-bottom-13"/>
          <p:cNvSpPr/>
          <p:nvPr/>
        </p:nvSpPr>
        <p:spPr>
          <a:xfrm>
            <a:off x="9691688" y="3738563"/>
            <a:ext cx="71438" cy="11906"/>
          </a:xfrm>
          <a:prstGeom prst="rect">
            <a:avLst/>
          </a:prstGeom>
          <a:solidFill>
            <a:srgbClr val="85ADD0"/>
          </a:solidFill>
          <a:ln w="12700">
            <a:solidFill>
              <a:srgbClr val="FFFFFF">
                <a:alpha val="0"/>
              </a:srgbClr>
            </a:solidFill>
            <a:prstDash val="solid"/>
          </a:ln>
        </p:spPr>
      </p:sp>
      <p:sp>
        <p:nvSpPr>
          <p:cNvPr id="229" name="reserve-3-boundary-bottom-14"/>
          <p:cNvSpPr/>
          <p:nvPr/>
        </p:nvSpPr>
        <p:spPr>
          <a:xfrm>
            <a:off x="9810750" y="3738563"/>
            <a:ext cx="71438" cy="11906"/>
          </a:xfrm>
          <a:prstGeom prst="rect">
            <a:avLst/>
          </a:prstGeom>
          <a:solidFill>
            <a:srgbClr val="85ADD0"/>
          </a:solidFill>
          <a:ln w="12700">
            <a:solidFill>
              <a:srgbClr val="FFFFFF">
                <a:alpha val="0"/>
              </a:srgbClr>
            </a:solidFill>
            <a:prstDash val="solid"/>
          </a:ln>
        </p:spPr>
      </p:sp>
      <p:sp>
        <p:nvSpPr>
          <p:cNvPr id="230" name="reserve-3-boundary-bottom-15"/>
          <p:cNvSpPr/>
          <p:nvPr/>
        </p:nvSpPr>
        <p:spPr>
          <a:xfrm>
            <a:off x="9929813" y="3738563"/>
            <a:ext cx="71438" cy="11906"/>
          </a:xfrm>
          <a:prstGeom prst="rect">
            <a:avLst/>
          </a:prstGeom>
          <a:solidFill>
            <a:srgbClr val="85ADD0"/>
          </a:solidFill>
          <a:ln w="12700">
            <a:solidFill>
              <a:srgbClr val="FFFFFF">
                <a:alpha val="0"/>
              </a:srgbClr>
            </a:solidFill>
            <a:prstDash val="solid"/>
          </a:ln>
        </p:spPr>
      </p:sp>
      <p:sp>
        <p:nvSpPr>
          <p:cNvPr id="231" name="reserve-3-boundary-bottom-16"/>
          <p:cNvSpPr/>
          <p:nvPr/>
        </p:nvSpPr>
        <p:spPr>
          <a:xfrm>
            <a:off x="10048875" y="3738563"/>
            <a:ext cx="71438" cy="11906"/>
          </a:xfrm>
          <a:prstGeom prst="rect">
            <a:avLst/>
          </a:prstGeom>
          <a:solidFill>
            <a:srgbClr val="85ADD0"/>
          </a:solidFill>
          <a:ln w="12700">
            <a:solidFill>
              <a:srgbClr val="FFFFFF">
                <a:alpha val="0"/>
              </a:srgbClr>
            </a:solidFill>
            <a:prstDash val="solid"/>
          </a:ln>
        </p:spPr>
      </p:sp>
      <p:sp>
        <p:nvSpPr>
          <p:cNvPr id="232" name="reserve-3-boundary-bottom-17"/>
          <p:cNvSpPr/>
          <p:nvPr/>
        </p:nvSpPr>
        <p:spPr>
          <a:xfrm>
            <a:off x="10167938" y="3738563"/>
            <a:ext cx="71438" cy="11906"/>
          </a:xfrm>
          <a:prstGeom prst="rect">
            <a:avLst/>
          </a:prstGeom>
          <a:solidFill>
            <a:srgbClr val="85ADD0"/>
          </a:solidFill>
          <a:ln w="12700">
            <a:solidFill>
              <a:srgbClr val="FFFFFF">
                <a:alpha val="0"/>
              </a:srgbClr>
            </a:solidFill>
            <a:prstDash val="solid"/>
          </a:ln>
        </p:spPr>
      </p:sp>
      <p:sp>
        <p:nvSpPr>
          <p:cNvPr id="233" name="reserve-3-boundary-bottom-18"/>
          <p:cNvSpPr/>
          <p:nvPr/>
        </p:nvSpPr>
        <p:spPr>
          <a:xfrm>
            <a:off x="10287000" y="3738563"/>
            <a:ext cx="71438" cy="11906"/>
          </a:xfrm>
          <a:prstGeom prst="rect">
            <a:avLst/>
          </a:prstGeom>
          <a:solidFill>
            <a:srgbClr val="85ADD0"/>
          </a:solidFill>
          <a:ln w="12700">
            <a:solidFill>
              <a:srgbClr val="FFFFFF">
                <a:alpha val="0"/>
              </a:srgbClr>
            </a:solidFill>
            <a:prstDash val="solid"/>
          </a:ln>
        </p:spPr>
      </p:sp>
      <p:sp>
        <p:nvSpPr>
          <p:cNvPr id="234" name="reserve-3-boundary-bottom-19"/>
          <p:cNvSpPr/>
          <p:nvPr/>
        </p:nvSpPr>
        <p:spPr>
          <a:xfrm>
            <a:off x="10406063" y="3738563"/>
            <a:ext cx="71438" cy="11906"/>
          </a:xfrm>
          <a:prstGeom prst="rect">
            <a:avLst/>
          </a:prstGeom>
          <a:solidFill>
            <a:srgbClr val="85ADD0"/>
          </a:solidFill>
          <a:ln w="12700">
            <a:solidFill>
              <a:srgbClr val="FFFFFF">
                <a:alpha val="0"/>
              </a:srgbClr>
            </a:solidFill>
            <a:prstDash val="solid"/>
          </a:ln>
        </p:spPr>
      </p:sp>
      <p:sp>
        <p:nvSpPr>
          <p:cNvPr id="235" name="reserve-3-boundary-bottom-20"/>
          <p:cNvSpPr/>
          <p:nvPr/>
        </p:nvSpPr>
        <p:spPr>
          <a:xfrm>
            <a:off x="10525125" y="3738563"/>
            <a:ext cx="71438" cy="11906"/>
          </a:xfrm>
          <a:prstGeom prst="rect">
            <a:avLst/>
          </a:prstGeom>
          <a:solidFill>
            <a:srgbClr val="85ADD0"/>
          </a:solidFill>
          <a:ln w="12700">
            <a:solidFill>
              <a:srgbClr val="FFFFFF">
                <a:alpha val="0"/>
              </a:srgbClr>
            </a:solidFill>
            <a:prstDash val="solid"/>
          </a:ln>
        </p:spPr>
      </p:sp>
      <p:sp>
        <p:nvSpPr>
          <p:cNvPr id="236" name="reserve-3-boundary-bottom-21"/>
          <p:cNvSpPr/>
          <p:nvPr/>
        </p:nvSpPr>
        <p:spPr>
          <a:xfrm>
            <a:off x="10644188" y="3738563"/>
            <a:ext cx="71438" cy="11906"/>
          </a:xfrm>
          <a:prstGeom prst="rect">
            <a:avLst/>
          </a:prstGeom>
          <a:solidFill>
            <a:srgbClr val="85ADD0"/>
          </a:solidFill>
          <a:ln w="12700">
            <a:solidFill>
              <a:srgbClr val="FFFFFF">
                <a:alpha val="0"/>
              </a:srgbClr>
            </a:solidFill>
            <a:prstDash val="solid"/>
          </a:ln>
        </p:spPr>
      </p:sp>
      <p:sp>
        <p:nvSpPr>
          <p:cNvPr id="237" name="reserve-3-boundary-bottom-22"/>
          <p:cNvSpPr/>
          <p:nvPr/>
        </p:nvSpPr>
        <p:spPr>
          <a:xfrm>
            <a:off x="10763250" y="3738563"/>
            <a:ext cx="71438" cy="11906"/>
          </a:xfrm>
          <a:prstGeom prst="rect">
            <a:avLst/>
          </a:prstGeom>
          <a:solidFill>
            <a:srgbClr val="85ADD0"/>
          </a:solidFill>
          <a:ln w="12700">
            <a:solidFill>
              <a:srgbClr val="FFFFFF">
                <a:alpha val="0"/>
              </a:srgbClr>
            </a:solidFill>
            <a:prstDash val="solid"/>
          </a:ln>
        </p:spPr>
      </p:sp>
      <p:sp>
        <p:nvSpPr>
          <p:cNvPr id="238" name="reserve-3-boundary-bottom-23"/>
          <p:cNvSpPr/>
          <p:nvPr/>
        </p:nvSpPr>
        <p:spPr>
          <a:xfrm>
            <a:off x="10882313" y="3738563"/>
            <a:ext cx="71438" cy="11906"/>
          </a:xfrm>
          <a:prstGeom prst="rect">
            <a:avLst/>
          </a:prstGeom>
          <a:solidFill>
            <a:srgbClr val="85ADD0"/>
          </a:solidFill>
          <a:ln w="12700">
            <a:solidFill>
              <a:srgbClr val="FFFFFF">
                <a:alpha val="0"/>
              </a:srgbClr>
            </a:solidFill>
            <a:prstDash val="solid"/>
          </a:ln>
        </p:spPr>
      </p:sp>
      <p:sp>
        <p:nvSpPr>
          <p:cNvPr id="239" name="reserve-3-boundary-bottom-24"/>
          <p:cNvSpPr/>
          <p:nvPr/>
        </p:nvSpPr>
        <p:spPr>
          <a:xfrm>
            <a:off x="11001375" y="3738563"/>
            <a:ext cx="71438" cy="11906"/>
          </a:xfrm>
          <a:prstGeom prst="rect">
            <a:avLst/>
          </a:prstGeom>
          <a:solidFill>
            <a:srgbClr val="85ADD0"/>
          </a:solidFill>
          <a:ln w="12700">
            <a:solidFill>
              <a:srgbClr val="FFFFFF">
                <a:alpha val="0"/>
              </a:srgbClr>
            </a:solidFill>
            <a:prstDash val="solid"/>
          </a:ln>
        </p:spPr>
      </p:sp>
      <p:sp>
        <p:nvSpPr>
          <p:cNvPr id="240" name="reserve-3-boundary-bottom-25"/>
          <p:cNvSpPr/>
          <p:nvPr/>
        </p:nvSpPr>
        <p:spPr>
          <a:xfrm>
            <a:off x="11120438" y="3738563"/>
            <a:ext cx="71438" cy="11906"/>
          </a:xfrm>
          <a:prstGeom prst="rect">
            <a:avLst/>
          </a:prstGeom>
          <a:solidFill>
            <a:srgbClr val="85ADD0"/>
          </a:solidFill>
          <a:ln w="12700">
            <a:solidFill>
              <a:srgbClr val="FFFFFF">
                <a:alpha val="0"/>
              </a:srgbClr>
            </a:solidFill>
            <a:prstDash val="solid"/>
          </a:ln>
        </p:spPr>
      </p:sp>
      <p:sp>
        <p:nvSpPr>
          <p:cNvPr id="241" name="reserve-3-boundary-bottom-26"/>
          <p:cNvSpPr/>
          <p:nvPr/>
        </p:nvSpPr>
        <p:spPr>
          <a:xfrm>
            <a:off x="11239500" y="3738563"/>
            <a:ext cx="71438" cy="11906"/>
          </a:xfrm>
          <a:prstGeom prst="rect">
            <a:avLst/>
          </a:prstGeom>
          <a:solidFill>
            <a:srgbClr val="85ADD0"/>
          </a:solidFill>
          <a:ln w="12700">
            <a:solidFill>
              <a:srgbClr val="FFFFFF">
                <a:alpha val="0"/>
              </a:srgbClr>
            </a:solidFill>
            <a:prstDash val="solid"/>
          </a:ln>
        </p:spPr>
      </p:sp>
      <p:sp>
        <p:nvSpPr>
          <p:cNvPr id="242" name="reserve-3-boundary-bottom-27"/>
          <p:cNvSpPr/>
          <p:nvPr/>
        </p:nvSpPr>
        <p:spPr>
          <a:xfrm>
            <a:off x="11358563" y="3738563"/>
            <a:ext cx="71438" cy="11906"/>
          </a:xfrm>
          <a:prstGeom prst="rect">
            <a:avLst/>
          </a:prstGeom>
          <a:solidFill>
            <a:srgbClr val="85ADD0"/>
          </a:solidFill>
          <a:ln w="12700">
            <a:solidFill>
              <a:srgbClr val="FFFFFF">
                <a:alpha val="0"/>
              </a:srgbClr>
            </a:solidFill>
            <a:prstDash val="solid"/>
          </a:ln>
        </p:spPr>
      </p:sp>
      <p:sp>
        <p:nvSpPr>
          <p:cNvPr id="243" name="reserve-3-boundary-bottom-28"/>
          <p:cNvSpPr/>
          <p:nvPr/>
        </p:nvSpPr>
        <p:spPr>
          <a:xfrm>
            <a:off x="11477625" y="3738563"/>
            <a:ext cx="71438" cy="11906"/>
          </a:xfrm>
          <a:prstGeom prst="rect">
            <a:avLst/>
          </a:prstGeom>
          <a:solidFill>
            <a:srgbClr val="85ADD0"/>
          </a:solidFill>
          <a:ln w="12700">
            <a:solidFill>
              <a:srgbClr val="FFFFFF">
                <a:alpha val="0"/>
              </a:srgbClr>
            </a:solidFill>
            <a:prstDash val="solid"/>
          </a:ln>
        </p:spPr>
      </p:sp>
      <p:sp>
        <p:nvSpPr>
          <p:cNvPr id="244" name="reserve-3-boundary-bottom-29"/>
          <p:cNvSpPr/>
          <p:nvPr/>
        </p:nvSpPr>
        <p:spPr>
          <a:xfrm>
            <a:off x="11596688" y="3738563"/>
            <a:ext cx="71438" cy="11906"/>
          </a:xfrm>
          <a:prstGeom prst="rect">
            <a:avLst/>
          </a:prstGeom>
          <a:solidFill>
            <a:srgbClr val="85ADD0"/>
          </a:solidFill>
          <a:ln w="12700">
            <a:solidFill>
              <a:srgbClr val="FFFFFF">
                <a:alpha val="0"/>
              </a:srgbClr>
            </a:solidFill>
            <a:prstDash val="solid"/>
          </a:ln>
        </p:spPr>
      </p:sp>
      <p:sp>
        <p:nvSpPr>
          <p:cNvPr id="245" name="reserve-3-boundary-bottom-30"/>
          <p:cNvSpPr/>
          <p:nvPr/>
        </p:nvSpPr>
        <p:spPr>
          <a:xfrm>
            <a:off x="11715750" y="3738563"/>
            <a:ext cx="47625" cy="11906"/>
          </a:xfrm>
          <a:prstGeom prst="rect">
            <a:avLst/>
          </a:prstGeom>
          <a:solidFill>
            <a:srgbClr val="85ADD0"/>
          </a:solidFill>
          <a:ln w="12700">
            <a:solidFill>
              <a:srgbClr val="FFFFFF">
                <a:alpha val="0"/>
              </a:srgbClr>
            </a:solidFill>
            <a:prstDash val="solid"/>
          </a:ln>
        </p:spPr>
      </p:sp>
      <p:sp>
        <p:nvSpPr>
          <p:cNvPr id="246" name="reserve-3-boundary-left-0"/>
          <p:cNvSpPr/>
          <p:nvPr/>
        </p:nvSpPr>
        <p:spPr>
          <a:xfrm>
            <a:off x="8108156" y="2946797"/>
            <a:ext cx="11906" cy="71438"/>
          </a:xfrm>
          <a:prstGeom prst="rect">
            <a:avLst/>
          </a:prstGeom>
          <a:solidFill>
            <a:srgbClr val="85ADD0"/>
          </a:solidFill>
          <a:ln w="12700">
            <a:solidFill>
              <a:srgbClr val="FFFFFF">
                <a:alpha val="0"/>
              </a:srgbClr>
            </a:solidFill>
            <a:prstDash val="solid"/>
          </a:ln>
        </p:spPr>
      </p:sp>
      <p:sp>
        <p:nvSpPr>
          <p:cNvPr id="247" name="reserve-3-boundary-left-1"/>
          <p:cNvSpPr/>
          <p:nvPr/>
        </p:nvSpPr>
        <p:spPr>
          <a:xfrm>
            <a:off x="8108156" y="3065859"/>
            <a:ext cx="11906" cy="71438"/>
          </a:xfrm>
          <a:prstGeom prst="rect">
            <a:avLst/>
          </a:prstGeom>
          <a:solidFill>
            <a:srgbClr val="85ADD0"/>
          </a:solidFill>
          <a:ln w="12700">
            <a:solidFill>
              <a:srgbClr val="FFFFFF">
                <a:alpha val="0"/>
              </a:srgbClr>
            </a:solidFill>
            <a:prstDash val="solid"/>
          </a:ln>
        </p:spPr>
      </p:sp>
      <p:sp>
        <p:nvSpPr>
          <p:cNvPr id="248" name="reserve-3-boundary-left-2"/>
          <p:cNvSpPr/>
          <p:nvPr/>
        </p:nvSpPr>
        <p:spPr>
          <a:xfrm>
            <a:off x="8108156" y="3184922"/>
            <a:ext cx="11906" cy="71438"/>
          </a:xfrm>
          <a:prstGeom prst="rect">
            <a:avLst/>
          </a:prstGeom>
          <a:solidFill>
            <a:srgbClr val="85ADD0"/>
          </a:solidFill>
          <a:ln w="12700">
            <a:solidFill>
              <a:srgbClr val="FFFFFF">
                <a:alpha val="0"/>
              </a:srgbClr>
            </a:solidFill>
            <a:prstDash val="solid"/>
          </a:ln>
        </p:spPr>
      </p:sp>
      <p:sp>
        <p:nvSpPr>
          <p:cNvPr id="249" name="reserve-3-boundary-left-3"/>
          <p:cNvSpPr/>
          <p:nvPr/>
        </p:nvSpPr>
        <p:spPr>
          <a:xfrm>
            <a:off x="8108156" y="3303984"/>
            <a:ext cx="11906" cy="71438"/>
          </a:xfrm>
          <a:prstGeom prst="rect">
            <a:avLst/>
          </a:prstGeom>
          <a:solidFill>
            <a:srgbClr val="85ADD0"/>
          </a:solidFill>
          <a:ln w="12700">
            <a:solidFill>
              <a:srgbClr val="FFFFFF">
                <a:alpha val="0"/>
              </a:srgbClr>
            </a:solidFill>
            <a:prstDash val="solid"/>
          </a:ln>
        </p:spPr>
      </p:sp>
      <p:sp>
        <p:nvSpPr>
          <p:cNvPr id="250" name="reserve-3-boundary-left-4"/>
          <p:cNvSpPr/>
          <p:nvPr/>
        </p:nvSpPr>
        <p:spPr>
          <a:xfrm>
            <a:off x="8108156" y="3423047"/>
            <a:ext cx="11906" cy="71438"/>
          </a:xfrm>
          <a:prstGeom prst="rect">
            <a:avLst/>
          </a:prstGeom>
          <a:solidFill>
            <a:srgbClr val="85ADD0"/>
          </a:solidFill>
          <a:ln w="12700">
            <a:solidFill>
              <a:srgbClr val="FFFFFF">
                <a:alpha val="0"/>
              </a:srgbClr>
            </a:solidFill>
            <a:prstDash val="solid"/>
          </a:ln>
        </p:spPr>
      </p:sp>
      <p:sp>
        <p:nvSpPr>
          <p:cNvPr id="251" name="reserve-3-boundary-left-5"/>
          <p:cNvSpPr/>
          <p:nvPr/>
        </p:nvSpPr>
        <p:spPr>
          <a:xfrm>
            <a:off x="8108156" y="3542109"/>
            <a:ext cx="11906" cy="71438"/>
          </a:xfrm>
          <a:prstGeom prst="rect">
            <a:avLst/>
          </a:prstGeom>
          <a:solidFill>
            <a:srgbClr val="85ADD0"/>
          </a:solidFill>
          <a:ln w="12700">
            <a:solidFill>
              <a:srgbClr val="FFFFFF">
                <a:alpha val="0"/>
              </a:srgbClr>
            </a:solidFill>
            <a:prstDash val="solid"/>
          </a:ln>
        </p:spPr>
      </p:sp>
      <p:sp>
        <p:nvSpPr>
          <p:cNvPr id="252" name="reserve-3-boundary-left-6"/>
          <p:cNvSpPr/>
          <p:nvPr/>
        </p:nvSpPr>
        <p:spPr>
          <a:xfrm>
            <a:off x="8108156" y="3661172"/>
            <a:ext cx="11906" cy="47625"/>
          </a:xfrm>
          <a:prstGeom prst="rect">
            <a:avLst/>
          </a:prstGeom>
          <a:solidFill>
            <a:srgbClr val="85ADD0"/>
          </a:solidFill>
          <a:ln w="12700">
            <a:solidFill>
              <a:srgbClr val="FFFFFF">
                <a:alpha val="0"/>
              </a:srgbClr>
            </a:solidFill>
            <a:prstDash val="solid"/>
          </a:ln>
        </p:spPr>
      </p:sp>
      <p:sp>
        <p:nvSpPr>
          <p:cNvPr id="253" name="reserve-3-boundary-right-0"/>
          <p:cNvSpPr/>
          <p:nvPr/>
        </p:nvSpPr>
        <p:spPr>
          <a:xfrm>
            <a:off x="11787188" y="2946797"/>
            <a:ext cx="11906" cy="71438"/>
          </a:xfrm>
          <a:prstGeom prst="rect">
            <a:avLst/>
          </a:prstGeom>
          <a:solidFill>
            <a:srgbClr val="85ADD0"/>
          </a:solidFill>
          <a:ln w="12700">
            <a:solidFill>
              <a:srgbClr val="FFFFFF">
                <a:alpha val="0"/>
              </a:srgbClr>
            </a:solidFill>
            <a:prstDash val="solid"/>
          </a:ln>
        </p:spPr>
      </p:sp>
      <p:sp>
        <p:nvSpPr>
          <p:cNvPr id="254" name="reserve-3-boundary-right-1"/>
          <p:cNvSpPr/>
          <p:nvPr/>
        </p:nvSpPr>
        <p:spPr>
          <a:xfrm>
            <a:off x="11787188" y="3065859"/>
            <a:ext cx="11906" cy="71438"/>
          </a:xfrm>
          <a:prstGeom prst="rect">
            <a:avLst/>
          </a:prstGeom>
          <a:solidFill>
            <a:srgbClr val="85ADD0"/>
          </a:solidFill>
          <a:ln w="12700">
            <a:solidFill>
              <a:srgbClr val="FFFFFF">
                <a:alpha val="0"/>
              </a:srgbClr>
            </a:solidFill>
            <a:prstDash val="solid"/>
          </a:ln>
        </p:spPr>
      </p:sp>
      <p:sp>
        <p:nvSpPr>
          <p:cNvPr id="255" name="reserve-3-boundary-right-2"/>
          <p:cNvSpPr/>
          <p:nvPr/>
        </p:nvSpPr>
        <p:spPr>
          <a:xfrm>
            <a:off x="11787188" y="3184922"/>
            <a:ext cx="11906" cy="71438"/>
          </a:xfrm>
          <a:prstGeom prst="rect">
            <a:avLst/>
          </a:prstGeom>
          <a:solidFill>
            <a:srgbClr val="85ADD0"/>
          </a:solidFill>
          <a:ln w="12700">
            <a:solidFill>
              <a:srgbClr val="FFFFFF">
                <a:alpha val="0"/>
              </a:srgbClr>
            </a:solidFill>
            <a:prstDash val="solid"/>
          </a:ln>
        </p:spPr>
      </p:sp>
      <p:sp>
        <p:nvSpPr>
          <p:cNvPr id="256" name="reserve-3-boundary-right-3"/>
          <p:cNvSpPr/>
          <p:nvPr/>
        </p:nvSpPr>
        <p:spPr>
          <a:xfrm>
            <a:off x="11787188" y="3303984"/>
            <a:ext cx="11906" cy="71438"/>
          </a:xfrm>
          <a:prstGeom prst="rect">
            <a:avLst/>
          </a:prstGeom>
          <a:solidFill>
            <a:srgbClr val="85ADD0"/>
          </a:solidFill>
          <a:ln w="12700">
            <a:solidFill>
              <a:srgbClr val="FFFFFF">
                <a:alpha val="0"/>
              </a:srgbClr>
            </a:solidFill>
            <a:prstDash val="solid"/>
          </a:ln>
        </p:spPr>
      </p:sp>
      <p:sp>
        <p:nvSpPr>
          <p:cNvPr id="257" name="reserve-3-boundary-right-4"/>
          <p:cNvSpPr/>
          <p:nvPr/>
        </p:nvSpPr>
        <p:spPr>
          <a:xfrm>
            <a:off x="11787188" y="3423047"/>
            <a:ext cx="11906" cy="71438"/>
          </a:xfrm>
          <a:prstGeom prst="rect">
            <a:avLst/>
          </a:prstGeom>
          <a:solidFill>
            <a:srgbClr val="85ADD0"/>
          </a:solidFill>
          <a:ln w="12700">
            <a:solidFill>
              <a:srgbClr val="FFFFFF">
                <a:alpha val="0"/>
              </a:srgbClr>
            </a:solidFill>
            <a:prstDash val="solid"/>
          </a:ln>
        </p:spPr>
      </p:sp>
      <p:sp>
        <p:nvSpPr>
          <p:cNvPr id="258" name="reserve-3-boundary-right-5"/>
          <p:cNvSpPr/>
          <p:nvPr/>
        </p:nvSpPr>
        <p:spPr>
          <a:xfrm>
            <a:off x="11787188" y="3542109"/>
            <a:ext cx="11906" cy="71438"/>
          </a:xfrm>
          <a:prstGeom prst="rect">
            <a:avLst/>
          </a:prstGeom>
          <a:solidFill>
            <a:srgbClr val="85ADD0"/>
          </a:solidFill>
          <a:ln w="12700">
            <a:solidFill>
              <a:srgbClr val="FFFFFF">
                <a:alpha val="0"/>
              </a:srgbClr>
            </a:solidFill>
            <a:prstDash val="solid"/>
          </a:ln>
        </p:spPr>
      </p:sp>
      <p:sp>
        <p:nvSpPr>
          <p:cNvPr id="259" name="reserve-3-boundary-right-6"/>
          <p:cNvSpPr/>
          <p:nvPr/>
        </p:nvSpPr>
        <p:spPr>
          <a:xfrm>
            <a:off x="11787188" y="3661172"/>
            <a:ext cx="11906" cy="47625"/>
          </a:xfrm>
          <a:prstGeom prst="rect">
            <a:avLst/>
          </a:prstGeom>
          <a:solidFill>
            <a:srgbClr val="85ADD0"/>
          </a:solidFill>
          <a:ln w="12700">
            <a:solidFill>
              <a:srgbClr val="FFFFFF">
                <a:alpha val="0"/>
              </a:srgbClr>
            </a:solidFill>
            <a:prstDash val="solid"/>
          </a:ln>
        </p:spPr>
      </p:sp>
      <p:pic>
        <p:nvPicPr>
          <p:cNvPr id="260" name="priority-1-icon" descr="decorative_illustration">    </p:cNvPr>
          <p:cNvPicPr>
            <a:picLocks noChangeAspect="1"/>
          </p:cNvPicPr>
          <p:nvPr/>
        </p:nvPicPr>
        <p:blipFill>
          <a:blip r:embed="rId1"/>
          <a:stretch>
            <a:fillRect/>
          </a:stretch>
        </p:blipFill>
        <p:spPr>
          <a:xfrm>
            <a:off x="523875" y="1768078"/>
            <a:ext cx="369094" cy="369094"/>
          </a:xfrm>
          <a:prstGeom prst="rect">
            <a:avLst/>
          </a:prstGeom>
        </p:spPr>
      </p:pic>
      <p:pic>
        <p:nvPicPr>
          <p:cNvPr id="261" name="priority-2-icon" descr="decorative_illustration">    </p:cNvPr>
          <p:cNvPicPr>
            <a:picLocks noChangeAspect="1"/>
          </p:cNvPicPr>
          <p:nvPr/>
        </p:nvPicPr>
        <p:blipFill>
          <a:blip r:embed="rId2"/>
          <a:stretch>
            <a:fillRect/>
          </a:stretch>
        </p:blipFill>
        <p:spPr>
          <a:xfrm>
            <a:off x="4381500" y="1768078"/>
            <a:ext cx="369094" cy="369094"/>
          </a:xfrm>
          <a:prstGeom prst="rect">
            <a:avLst/>
          </a:prstGeom>
        </p:spPr>
      </p:pic>
      <p:pic>
        <p:nvPicPr>
          <p:cNvPr id="262" name="priority-3-icon" descr="decorative_illustration">    </p:cNvPr>
          <p:cNvPicPr>
            <a:picLocks noChangeAspect="1"/>
          </p:cNvPicPr>
          <p:nvPr/>
        </p:nvPicPr>
        <p:blipFill>
          <a:blip r:embed="rId3"/>
          <a:stretch>
            <a:fillRect/>
          </a:stretch>
        </p:blipFill>
        <p:spPr>
          <a:xfrm>
            <a:off x="8239125" y="1768078"/>
            <a:ext cx="369094" cy="369094"/>
          </a:xfrm>
          <a:prstGeom prst="rect">
            <a:avLst/>
          </a:prstGeom>
        </p:spPr>
      </p:pic>
      <p:pic>
        <p:nvPicPr>
          <p:cNvPr id="263" name="reserve-1-icon" descr="decorative_illustration">    </p:cNvPr>
          <p:cNvPicPr>
            <a:picLocks noChangeAspect="1"/>
          </p:cNvPicPr>
          <p:nvPr/>
        </p:nvPicPr>
        <p:blipFill>
          <a:blip r:embed="rId4"/>
          <a:stretch>
            <a:fillRect/>
          </a:stretch>
        </p:blipFill>
        <p:spPr>
          <a:xfrm>
            <a:off x="523875" y="3036094"/>
            <a:ext cx="333375" cy="333375"/>
          </a:xfrm>
          <a:prstGeom prst="rect">
            <a:avLst/>
          </a:prstGeom>
        </p:spPr>
      </p:pic>
      <p:pic>
        <p:nvPicPr>
          <p:cNvPr id="264" name="reserve-2-icon" descr="decorative_illustration">    </p:cNvPr>
          <p:cNvPicPr>
            <a:picLocks noChangeAspect="1"/>
          </p:cNvPicPr>
          <p:nvPr/>
        </p:nvPicPr>
        <p:blipFill>
          <a:blip r:embed="rId5"/>
          <a:stretch>
            <a:fillRect/>
          </a:stretch>
        </p:blipFill>
        <p:spPr>
          <a:xfrm>
            <a:off x="4381500" y="3036094"/>
            <a:ext cx="333375" cy="333375"/>
          </a:xfrm>
          <a:prstGeom prst="rect">
            <a:avLst/>
          </a:prstGeom>
        </p:spPr>
      </p:pic>
      <p:pic>
        <p:nvPicPr>
          <p:cNvPr id="265" name="reserve-3-icon" descr="decorative_illustration">    </p:cNvPr>
          <p:cNvPicPr>
            <a:picLocks noChangeAspect="1"/>
          </p:cNvPicPr>
          <p:nvPr/>
        </p:nvPicPr>
        <p:blipFill>
          <a:blip r:embed="rId6"/>
          <a:stretch>
            <a:fillRect/>
          </a:stretch>
        </p:blipFill>
        <p:spPr>
          <a:xfrm>
            <a:off x="8239125" y="3036094"/>
            <a:ext cx="333375" cy="333375"/>
          </a:xfrm>
          <a:prstGeom prst="rect">
            <a:avLst/>
          </a:prstGeom>
        </p:spPr>
      </p:pic>
      <p:sp>
        <p:nvSpPr>
          <p:cNvPr id="266" name="headline"/>
          <p:cNvSpPr txBox="1"/>
          <p:nvPr/>
        </p:nvSpPr>
        <p:spPr>
          <a:xfrm>
            <a:off x="541734" y="488156"/>
            <a:ext cx="11191875" cy="345281"/>
          </a:xfrm>
          <a:prstGeom prst="rect">
            <a:avLst/>
          </a:prstGeom>
          <a:noFill/>
          <a:ln/>
        </p:spPr>
        <p:txBody>
          <a:bodyPr wrap="square" lIns="0" tIns="0" rIns="0" bIns="0" rtlCol="0" anchor="ctr">
            <a:noAutofit/>
          </a:bodyPr>
          <a:lstStyle/>
          <a:p>
            <a:pPr algn="l" indent="0" marL="0">
              <a:lnSpc>
                <a:spcPct val="100000"/>
              </a:lnSpc>
              <a:buNone/>
              <a:defRPr spc="0"/>
            </a:pPr>
            <a:r>
              <a:rPr lang="en-US" sz="1950" b="1" dirty="0" spc="0">
                <a:solidFill>
                  <a:srgbClr val="102C55"/>
                </a:solidFill>
                <a:latin typeface="Microsoft YaHei" pitchFamily="34" charset="0"/>
                <a:ea typeface="Microsoft YaHei" pitchFamily="34" charset="-122"/>
                <a:cs typeface="Microsoft YaHei" pitchFamily="34" charset="-120"/>
              </a:rPr>
              <a:t>应优先做强三项工程与平台能力，新增 Agent 专用 CPU 硬件尚无充分证据</a:t>
            </a:r>
            <a:endParaRPr lang="en-US" sz="1950" dirty="0" spc="0"/>
          </a:p>
        </p:txBody>
      </p:sp>
      <p:sp>
        <p:nvSpPr>
          <p:cNvPr id="267" name="subtitle"/>
          <p:cNvSpPr txBox="1"/>
          <p:nvPr/>
        </p:nvSpPr>
        <p:spPr>
          <a:xfrm>
            <a:off x="559594" y="887016"/>
            <a:ext cx="10953750"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dirty="0" spc="0">
                <a:solidFill>
                  <a:srgbClr val="58738A"/>
                </a:solidFill>
                <a:latin typeface="Microsoft YaHei" pitchFamily="34" charset="0"/>
                <a:ea typeface="Microsoft YaHei" pitchFamily="34" charset="-122"/>
                <a:cs typeface="Microsoft YaHei" pitchFamily="34" charset="-120"/>
              </a:rPr>
              <a:t>当前公开证据支持软件、通用 ISA 与系统协同；三项条件储备保持开放，不等于硬件立项。</a:t>
            </a:r>
            <a:endParaRPr lang="en-US" sz="1050" dirty="0" spc="0"/>
          </a:p>
        </p:txBody>
      </p:sp>
      <p:sp>
        <p:nvSpPr>
          <p:cNvPr id="268" name="tier-1-num"/>
          <p:cNvSpPr txBox="1"/>
          <p:nvPr/>
        </p:nvSpPr>
        <p:spPr>
          <a:xfrm>
            <a:off x="476250" y="1357313"/>
            <a:ext cx="184547" cy="166688"/>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750" b="1" dirty="0" spc="0">
                <a:solidFill>
                  <a:srgbClr val="173753"/>
                </a:solidFill>
                <a:latin typeface="Microsoft YaHei" pitchFamily="34" charset="0"/>
                <a:ea typeface="Microsoft YaHei" pitchFamily="34" charset="-122"/>
                <a:cs typeface="Microsoft YaHei" pitchFamily="34" charset="-120"/>
              </a:rPr>
              <a:t>1</a:t>
            </a:r>
            <a:endParaRPr lang="en-US" sz="750" dirty="0" spc="0"/>
          </a:p>
        </p:txBody>
      </p:sp>
      <p:sp>
        <p:nvSpPr>
          <p:cNvPr id="269" name="tier-1-head"/>
          <p:cNvSpPr txBox="1"/>
          <p:nvPr/>
        </p:nvSpPr>
        <p:spPr>
          <a:xfrm>
            <a:off x="750094" y="1345406"/>
            <a:ext cx="2619375"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优先建设｜三项工程与平台能力</a:t>
            </a:r>
            <a:endParaRPr lang="en-US" sz="1100" dirty="0" spc="0"/>
          </a:p>
        </p:txBody>
      </p:sp>
      <p:sp>
        <p:nvSpPr>
          <p:cNvPr id="270" name="tier-1-sub"/>
          <p:cNvSpPr txBox="1"/>
          <p:nvPr/>
        </p:nvSpPr>
        <p:spPr>
          <a:xfrm>
            <a:off x="3512344" y="1363266"/>
            <a:ext cx="6905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现有能力的优化与协同，不是三项新芯片设计</a:t>
            </a:r>
            <a:endParaRPr lang="en-US" sz="800" dirty="0" spc="0"/>
          </a:p>
        </p:txBody>
      </p:sp>
      <p:sp>
        <p:nvSpPr>
          <p:cNvPr id="271" name="tier-1-count"/>
          <p:cNvSpPr txBox="1"/>
          <p:nvPr/>
        </p:nvSpPr>
        <p:spPr>
          <a:xfrm>
            <a:off x="11185922" y="1357313"/>
            <a:ext cx="506016" cy="17264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750" b="1" dirty="0" spc="0">
                <a:solidFill>
                  <a:srgbClr val="FFFFFF"/>
                </a:solidFill>
                <a:latin typeface="Microsoft YaHei" pitchFamily="34" charset="0"/>
                <a:ea typeface="Microsoft YaHei" pitchFamily="34" charset="-122"/>
                <a:cs typeface="Microsoft YaHei" pitchFamily="34" charset="-120"/>
              </a:rPr>
              <a:t>03 项</a:t>
            </a:r>
            <a:endParaRPr lang="en-US" sz="750" dirty="0" spc="0"/>
          </a:p>
        </p:txBody>
      </p:sp>
      <p:sp>
        <p:nvSpPr>
          <p:cNvPr id="272" name="tier-2-num"/>
          <p:cNvSpPr txBox="1"/>
          <p:nvPr/>
        </p:nvSpPr>
        <p:spPr>
          <a:xfrm>
            <a:off x="476250" y="2637234"/>
            <a:ext cx="184547" cy="166688"/>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750" b="1" dirty="0" spc="0">
                <a:solidFill>
                  <a:srgbClr val="173753"/>
                </a:solidFill>
                <a:latin typeface="Microsoft YaHei" pitchFamily="34" charset="0"/>
                <a:ea typeface="Microsoft YaHei" pitchFamily="34" charset="-122"/>
                <a:cs typeface="Microsoft YaHei" pitchFamily="34" charset="-120"/>
              </a:rPr>
              <a:t>2</a:t>
            </a:r>
            <a:endParaRPr lang="en-US" sz="750" dirty="0" spc="0"/>
          </a:p>
        </p:txBody>
      </p:sp>
      <p:sp>
        <p:nvSpPr>
          <p:cNvPr id="273" name="tier-2-head"/>
          <p:cNvSpPr txBox="1"/>
          <p:nvPr/>
        </p:nvSpPr>
        <p:spPr>
          <a:xfrm>
            <a:off x="750094" y="2625328"/>
            <a:ext cx="2619375"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条件研究｜三项开放假设</a:t>
            </a:r>
            <a:endParaRPr lang="en-US" sz="1100" dirty="0" spc="0"/>
          </a:p>
        </p:txBody>
      </p:sp>
      <p:sp>
        <p:nvSpPr>
          <p:cNvPr id="274" name="tier-2-sub"/>
          <p:cNvSpPr txBox="1"/>
          <p:nvPr/>
        </p:nvSpPr>
        <p:spPr>
          <a:xfrm>
            <a:off x="3512344" y="2643188"/>
            <a:ext cx="6905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只有强软件 / 通用硬件基线后仍有独立证据，才重新评估</a:t>
            </a:r>
            <a:endParaRPr lang="en-US" sz="800" dirty="0" spc="0"/>
          </a:p>
        </p:txBody>
      </p:sp>
      <p:sp>
        <p:nvSpPr>
          <p:cNvPr id="275" name="tier-2-count"/>
          <p:cNvSpPr txBox="1"/>
          <p:nvPr/>
        </p:nvSpPr>
        <p:spPr>
          <a:xfrm>
            <a:off x="11185922" y="2637234"/>
            <a:ext cx="506016" cy="17264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750" b="1" dirty="0" spc="0">
                <a:solidFill>
                  <a:srgbClr val="FFFFFF"/>
                </a:solidFill>
                <a:latin typeface="Microsoft YaHei" pitchFamily="34" charset="0"/>
                <a:ea typeface="Microsoft YaHei" pitchFamily="34" charset="-122"/>
                <a:cs typeface="Microsoft YaHei" pitchFamily="34" charset="-120"/>
              </a:rPr>
              <a:t>03 项</a:t>
            </a:r>
            <a:endParaRPr lang="en-US" sz="750" dirty="0" spc="0"/>
          </a:p>
        </p:txBody>
      </p:sp>
      <p:sp>
        <p:nvSpPr>
          <p:cNvPr id="276" name="priority-1-head"/>
          <p:cNvSpPr txBox="1"/>
          <p:nvPr/>
        </p:nvSpPr>
        <p:spPr>
          <a:xfrm>
            <a:off x="988219" y="1696641"/>
            <a:ext cx="2976563"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CPU / LLVM 异构快速执行</a:t>
            </a:r>
            <a:endParaRPr lang="en-US" sz="1050" dirty="0" spc="0"/>
          </a:p>
        </p:txBody>
      </p:sp>
      <p:sp>
        <p:nvSpPr>
          <p:cNvPr id="277" name="priority-1-tag"/>
          <p:cNvSpPr txBox="1"/>
          <p:nvPr/>
        </p:nvSpPr>
        <p:spPr>
          <a:xfrm>
            <a:off x="1059656" y="1910953"/>
            <a:ext cx="2857500"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b="1" dirty="0" spc="0">
                <a:solidFill>
                  <a:srgbClr val="58738A"/>
                </a:solidFill>
                <a:latin typeface="Microsoft YaHei" pitchFamily="34" charset="0"/>
                <a:ea typeface="Microsoft YaHei" pitchFamily="34" charset="-122"/>
                <a:cs typeface="Microsoft YaHei" pitchFamily="34" charset="-120"/>
              </a:rPr>
              <a:t>现有 ISA + 编译 / 内核</a:t>
            </a:r>
            <a:endParaRPr lang="en-US" sz="750" dirty="0" spc="0"/>
          </a:p>
        </p:txBody>
      </p:sp>
      <p:sp>
        <p:nvSpPr>
          <p:cNvPr id="278" name="priority-1-line1"/>
          <p:cNvSpPr txBox="1"/>
          <p:nvPr/>
        </p:nvSpPr>
        <p:spPr>
          <a:xfrm>
            <a:off x="988219" y="2065734"/>
            <a:ext cx="3000375" cy="14882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复用 AArch64 / SME2 等现有能力，</a:t>
            </a:r>
            <a:endParaRPr lang="en-US" sz="800" dirty="0" spc="0"/>
          </a:p>
        </p:txBody>
      </p:sp>
      <p:sp>
        <p:nvSpPr>
          <p:cNvPr id="279" name="priority-1-line2"/>
          <p:cNvSpPr txBox="1"/>
          <p:nvPr/>
        </p:nvSpPr>
        <p:spPr>
          <a:xfrm>
            <a:off x="988219" y="2178844"/>
            <a:ext cx="3000375" cy="14882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优化微内核、布局与分阶段放置。</a:t>
            </a:r>
            <a:endParaRPr lang="en-US" sz="800" dirty="0" spc="0"/>
          </a:p>
        </p:txBody>
      </p:sp>
      <p:sp>
        <p:nvSpPr>
          <p:cNvPr id="280" name="priority-1-foot"/>
          <p:cNvSpPr txBox="1"/>
          <p:nvPr/>
        </p:nvSpPr>
        <p:spPr>
          <a:xfrm>
            <a:off x="988219" y="2345531"/>
            <a:ext cx="3000375" cy="13692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保留合适 CPU 角色；不预设优于 NPU。</a:t>
            </a:r>
            <a:endParaRPr lang="en-US" sz="800" dirty="0" spc="0"/>
          </a:p>
        </p:txBody>
      </p:sp>
      <p:sp>
        <p:nvSpPr>
          <p:cNvPr id="281" name="priority-2-head"/>
          <p:cNvSpPr txBox="1"/>
          <p:nvPr/>
        </p:nvSpPr>
        <p:spPr>
          <a:xfrm>
            <a:off x="4845844" y="1696641"/>
            <a:ext cx="2976563"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可信工具动作与结果核验</a:t>
            </a:r>
            <a:endParaRPr lang="en-US" sz="1050" dirty="0" spc="0"/>
          </a:p>
        </p:txBody>
      </p:sp>
      <p:sp>
        <p:nvSpPr>
          <p:cNvPr id="282" name="priority-2-tag"/>
          <p:cNvSpPr txBox="1"/>
          <p:nvPr/>
        </p:nvSpPr>
        <p:spPr>
          <a:xfrm>
            <a:off x="4917281" y="1910953"/>
            <a:ext cx="2857500"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b="1" dirty="0" spc="0">
                <a:solidFill>
                  <a:srgbClr val="58738A"/>
                </a:solidFill>
                <a:latin typeface="Microsoft YaHei" pitchFamily="34" charset="0"/>
                <a:ea typeface="Microsoft YaHei" pitchFamily="34" charset="-122"/>
                <a:cs typeface="Microsoft YaHei" pitchFamily="34" charset="-120"/>
              </a:rPr>
              <a:t>Agent 平台 / 应用 / OS</a:t>
            </a:r>
            <a:endParaRPr lang="en-US" sz="750" dirty="0" spc="0"/>
          </a:p>
        </p:txBody>
      </p:sp>
      <p:sp>
        <p:nvSpPr>
          <p:cNvPr id="283" name="priority-2-line1"/>
          <p:cNvSpPr txBox="1"/>
          <p:nvPr/>
        </p:nvSpPr>
        <p:spPr>
          <a:xfrm>
            <a:off x="4845844" y="2065734"/>
            <a:ext cx="3000375" cy="14882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明确权限并重新确认操作目标，</a:t>
            </a:r>
            <a:endParaRPr lang="en-US" sz="800" dirty="0" spc="0"/>
          </a:p>
        </p:txBody>
      </p:sp>
      <p:sp>
        <p:nvSpPr>
          <p:cNvPr id="284" name="priority-2-line2"/>
          <p:cNvSpPr txBox="1"/>
          <p:nvPr/>
        </p:nvSpPr>
        <p:spPr>
          <a:xfrm>
            <a:off x="4845844" y="2178844"/>
            <a:ext cx="3000375" cy="14882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核验外部效果，支持有界恢复。</a:t>
            </a:r>
            <a:endParaRPr lang="en-US" sz="800" dirty="0" spc="0"/>
          </a:p>
        </p:txBody>
      </p:sp>
      <p:sp>
        <p:nvSpPr>
          <p:cNvPr id="285" name="priority-2-foot"/>
          <p:cNvSpPr txBox="1"/>
          <p:nvPr/>
        </p:nvSpPr>
        <p:spPr>
          <a:xfrm>
            <a:off x="4845844" y="2345531"/>
            <a:ext cx="3000375" cy="13692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核验真实效果，不能只看工具调用成功。</a:t>
            </a:r>
            <a:endParaRPr lang="en-US" sz="800" dirty="0" spc="0"/>
          </a:p>
        </p:txBody>
      </p:sp>
      <p:sp>
        <p:nvSpPr>
          <p:cNvPr id="286" name="priority-3-head"/>
          <p:cNvSpPr txBox="1"/>
          <p:nvPr/>
        </p:nvSpPr>
        <p:spPr>
          <a:xfrm>
            <a:off x="8703469" y="1696641"/>
            <a:ext cx="2976563"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Runtime / OS 异构调度与前台体验</a:t>
            </a:r>
            <a:endParaRPr lang="en-US" sz="1050" dirty="0" spc="0"/>
          </a:p>
        </p:txBody>
      </p:sp>
      <p:sp>
        <p:nvSpPr>
          <p:cNvPr id="287" name="priority-3-tag"/>
          <p:cNvSpPr txBox="1"/>
          <p:nvPr/>
        </p:nvSpPr>
        <p:spPr>
          <a:xfrm>
            <a:off x="8774906" y="1910953"/>
            <a:ext cx="2857500"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b="1" dirty="0" spc="0">
                <a:solidFill>
                  <a:srgbClr val="58738A"/>
                </a:solidFill>
                <a:latin typeface="Microsoft YaHei" pitchFamily="34" charset="0"/>
                <a:ea typeface="Microsoft YaHei" pitchFamily="34" charset="-122"/>
                <a:cs typeface="Microsoft YaHei" pitchFamily="34" charset="-120"/>
              </a:rPr>
              <a:t>CPU / GPU / NPU + DRAM</a:t>
            </a:r>
            <a:endParaRPr lang="en-US" sz="750" dirty="0" spc="0"/>
          </a:p>
        </p:txBody>
      </p:sp>
      <p:sp>
        <p:nvSpPr>
          <p:cNvPr id="288" name="priority-3-line1"/>
          <p:cNvSpPr txBox="1"/>
          <p:nvPr/>
        </p:nvSpPr>
        <p:spPr>
          <a:xfrm>
            <a:off x="8703469" y="2065734"/>
            <a:ext cx="3000375" cy="14882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动态 DAG 与后端能力感知放置，</a:t>
            </a:r>
            <a:endParaRPr lang="en-US" sz="800" dirty="0" spc="0"/>
          </a:p>
        </p:txBody>
      </p:sp>
      <p:sp>
        <p:nvSpPr>
          <p:cNvPr id="289" name="priority-3-line2"/>
          <p:cNvSpPr txBox="1"/>
          <p:nvPr/>
        </p:nvSpPr>
        <p:spPr>
          <a:xfrm>
            <a:off x="8703469" y="2178844"/>
            <a:ext cx="3000375" cy="14882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兼顾共享内存争用与前台 QoE。</a:t>
            </a:r>
            <a:endParaRPr lang="en-US" sz="800" dirty="0" spc="0"/>
          </a:p>
        </p:txBody>
      </p:sp>
      <p:sp>
        <p:nvSpPr>
          <p:cNvPr id="290" name="priority-3-foot"/>
          <p:cNvSpPr txBox="1"/>
          <p:nvPr/>
        </p:nvSpPr>
        <p:spPr>
          <a:xfrm>
            <a:off x="8703469" y="2345531"/>
            <a:ext cx="3000375" cy="13692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运行时与系统协同，不推出新 CPU 硬件。</a:t>
            </a:r>
            <a:endParaRPr lang="en-US" sz="800" dirty="0" spc="0"/>
          </a:p>
        </p:txBody>
      </p:sp>
      <p:sp>
        <p:nvSpPr>
          <p:cNvPr id="291" name="reserve-1-head"/>
          <p:cNvSpPr txBox="1"/>
          <p:nvPr/>
        </p:nvSpPr>
        <p:spPr>
          <a:xfrm>
            <a:off x="964406" y="2958703"/>
            <a:ext cx="244078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3753"/>
                </a:solidFill>
                <a:latin typeface="Microsoft YaHei" pitchFamily="34" charset="0"/>
                <a:ea typeface="Microsoft YaHei" pitchFamily="34" charset="-122"/>
                <a:cs typeface="Microsoft YaHei" pitchFamily="34" charset="-120"/>
              </a:rPr>
              <a:t>额外任务进度信息</a:t>
            </a:r>
            <a:endParaRPr lang="en-US" sz="1000" dirty="0" spc="0"/>
          </a:p>
        </p:txBody>
      </p:sp>
      <p:sp>
        <p:nvSpPr>
          <p:cNvPr id="292" name="reserve-1-status"/>
          <p:cNvSpPr txBox="1"/>
          <p:nvPr/>
        </p:nvSpPr>
        <p:spPr>
          <a:xfrm>
            <a:off x="3405188" y="2946797"/>
            <a:ext cx="559594" cy="172641"/>
          </a:xfrm>
          <a:prstGeom prst="rect">
            <a:avLst/>
          </a:prstGeom>
          <a:noFill/>
          <a:ln/>
        </p:spPr>
        <p:txBody>
          <a:bodyPr wrap="square" lIns="11906" tIns="11906" rIns="11906" bIns="11906" rtlCol="0" anchor="ctr">
            <a:noAutofit/>
          </a:bodyPr>
          <a:lstStyle/>
          <a:p>
            <a:pPr algn="r" indent="0" marL="0">
              <a:lnSpc>
                <a:spcPct val="100000"/>
              </a:lnSpc>
              <a:buNone/>
              <a:defRPr spc="0"/>
            </a:pPr>
            <a:r>
              <a:rPr lang="en-US" sz="750" b="1" dirty="0" spc="0">
                <a:solidFill>
                  <a:srgbClr val="79551E"/>
                </a:solidFill>
                <a:latin typeface="Microsoft YaHei" pitchFamily="34" charset="0"/>
                <a:ea typeface="Microsoft YaHei" pitchFamily="34" charset="-122"/>
                <a:cs typeface="Microsoft YaHei" pitchFamily="34" charset="-120"/>
              </a:rPr>
              <a:t>条件开放</a:t>
            </a:r>
            <a:endParaRPr lang="en-US" sz="750" dirty="0" spc="0"/>
          </a:p>
        </p:txBody>
      </p:sp>
      <p:sp>
        <p:nvSpPr>
          <p:cNvPr id="293" name="reserve-1-question"/>
          <p:cNvSpPr txBox="1"/>
          <p:nvPr/>
        </p:nvSpPr>
        <p:spPr>
          <a:xfrm>
            <a:off x="964406" y="3202781"/>
            <a:ext cx="29944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账本外是否仍有不可重建的私有进度？</a:t>
            </a:r>
            <a:endParaRPr lang="en-US" sz="850" dirty="0" spc="0"/>
          </a:p>
        </p:txBody>
      </p:sp>
      <p:sp>
        <p:nvSpPr>
          <p:cNvPr id="294" name="reserve-1-gate"/>
          <p:cNvSpPr txBox="1"/>
          <p:nvPr/>
        </p:nvSpPr>
        <p:spPr>
          <a:xfrm>
            <a:off x="1035844" y="3429000"/>
            <a:ext cx="2857500"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b="1" dirty="0" spc="0">
                <a:solidFill>
                  <a:srgbClr val="79551E"/>
                </a:solidFill>
                <a:latin typeface="Microsoft YaHei" pitchFamily="34" charset="0"/>
                <a:ea typeface="Microsoft YaHei" pitchFamily="34" charset="-122"/>
                <a:cs typeface="Microsoft YaHei" pitchFamily="34" charset="-120"/>
              </a:rPr>
              <a:t>门槛：公开证据证明会改变正确执行决策。</a:t>
            </a:r>
            <a:endParaRPr lang="en-US" sz="800" dirty="0" spc="0"/>
          </a:p>
        </p:txBody>
      </p:sp>
      <p:sp>
        <p:nvSpPr>
          <p:cNvPr id="295" name="reserve-2-head"/>
          <p:cNvSpPr txBox="1"/>
          <p:nvPr/>
        </p:nvSpPr>
        <p:spPr>
          <a:xfrm>
            <a:off x="4822031" y="2958703"/>
            <a:ext cx="244078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3753"/>
                </a:solidFill>
                <a:latin typeface="Microsoft YaHei" pitchFamily="34" charset="0"/>
                <a:ea typeface="Microsoft YaHei" pitchFamily="34" charset="-122"/>
                <a:cs typeface="Microsoft YaHei" pitchFamily="34" charset="-120"/>
              </a:rPr>
              <a:t>跨引擎派生状态有效性</a:t>
            </a:r>
            <a:endParaRPr lang="en-US" sz="1000" dirty="0" spc="0"/>
          </a:p>
        </p:txBody>
      </p:sp>
      <p:sp>
        <p:nvSpPr>
          <p:cNvPr id="296" name="reserve-2-status"/>
          <p:cNvSpPr txBox="1"/>
          <p:nvPr/>
        </p:nvSpPr>
        <p:spPr>
          <a:xfrm>
            <a:off x="7262813" y="2946797"/>
            <a:ext cx="559594" cy="172641"/>
          </a:xfrm>
          <a:prstGeom prst="rect">
            <a:avLst/>
          </a:prstGeom>
          <a:noFill/>
          <a:ln/>
        </p:spPr>
        <p:txBody>
          <a:bodyPr wrap="square" lIns="11906" tIns="11906" rIns="11906" bIns="11906" rtlCol="0" anchor="ctr">
            <a:noAutofit/>
          </a:bodyPr>
          <a:lstStyle/>
          <a:p>
            <a:pPr algn="r" indent="0" marL="0">
              <a:lnSpc>
                <a:spcPct val="100000"/>
              </a:lnSpc>
              <a:buNone/>
              <a:defRPr spc="0"/>
            </a:pPr>
            <a:r>
              <a:rPr lang="en-US" sz="750" b="1" dirty="0" spc="0">
                <a:solidFill>
                  <a:srgbClr val="79551E"/>
                </a:solidFill>
                <a:latin typeface="Microsoft YaHei" pitchFamily="34" charset="0"/>
                <a:ea typeface="Microsoft YaHei" pitchFamily="34" charset="-122"/>
                <a:cs typeface="Microsoft YaHei" pitchFamily="34" charset="-120"/>
              </a:rPr>
              <a:t>条件开放</a:t>
            </a:r>
            <a:endParaRPr lang="en-US" sz="750" dirty="0" spc="0"/>
          </a:p>
        </p:txBody>
      </p:sp>
      <p:sp>
        <p:nvSpPr>
          <p:cNvPr id="297" name="reserve-2-question"/>
          <p:cNvSpPr txBox="1"/>
          <p:nvPr/>
        </p:nvSpPr>
        <p:spPr>
          <a:xfrm>
            <a:off x="4822031" y="3202781"/>
            <a:ext cx="29944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跨引擎状态失效成本能否被软件吸收？</a:t>
            </a:r>
            <a:endParaRPr lang="en-US" sz="850" dirty="0" spc="0"/>
          </a:p>
        </p:txBody>
      </p:sp>
      <p:sp>
        <p:nvSpPr>
          <p:cNvPr id="298" name="reserve-2-gate"/>
          <p:cNvSpPr txBox="1"/>
          <p:nvPr/>
        </p:nvSpPr>
        <p:spPr>
          <a:xfrm>
            <a:off x="4893469" y="3429000"/>
            <a:ext cx="2857500"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b="1" dirty="0" spc="0">
                <a:solidFill>
                  <a:srgbClr val="79551E"/>
                </a:solidFill>
                <a:latin typeface="Microsoft YaHei" pitchFamily="34" charset="0"/>
                <a:ea typeface="Microsoft YaHei" pitchFamily="34" charset="-122"/>
                <a:cs typeface="Microsoft YaHei" pitchFamily="34" charset="-120"/>
              </a:rPr>
              <a:t>门槛：先对照版本化、缓存与 OS / HAL 管理。</a:t>
            </a:r>
            <a:endParaRPr lang="en-US" sz="800" dirty="0" spc="0"/>
          </a:p>
        </p:txBody>
      </p:sp>
      <p:sp>
        <p:nvSpPr>
          <p:cNvPr id="299" name="reserve-3-head"/>
          <p:cNvSpPr txBox="1"/>
          <p:nvPr/>
        </p:nvSpPr>
        <p:spPr>
          <a:xfrm>
            <a:off x="8679656" y="2958703"/>
            <a:ext cx="244078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3753"/>
                </a:solidFill>
                <a:latin typeface="Microsoft YaHei" pitchFamily="34" charset="0"/>
                <a:ea typeface="Microsoft YaHei" pitchFamily="34" charset="-122"/>
                <a:cs typeface="Microsoft YaHei" pitchFamily="34" charset="-120"/>
              </a:rPr>
              <a:t>CPU 续执行局部性</a:t>
            </a:r>
            <a:endParaRPr lang="en-US" sz="1000" dirty="0" spc="0"/>
          </a:p>
        </p:txBody>
      </p:sp>
      <p:sp>
        <p:nvSpPr>
          <p:cNvPr id="300" name="reserve-3-status"/>
          <p:cNvSpPr txBox="1"/>
          <p:nvPr/>
        </p:nvSpPr>
        <p:spPr>
          <a:xfrm>
            <a:off x="11120438" y="2946797"/>
            <a:ext cx="559594" cy="172641"/>
          </a:xfrm>
          <a:prstGeom prst="rect">
            <a:avLst/>
          </a:prstGeom>
          <a:noFill/>
          <a:ln/>
        </p:spPr>
        <p:txBody>
          <a:bodyPr wrap="square" lIns="11906" tIns="11906" rIns="11906" bIns="11906" rtlCol="0" anchor="ctr">
            <a:noAutofit/>
          </a:bodyPr>
          <a:lstStyle/>
          <a:p>
            <a:pPr algn="r" indent="0" marL="0">
              <a:lnSpc>
                <a:spcPct val="100000"/>
              </a:lnSpc>
              <a:buNone/>
              <a:defRPr spc="0"/>
            </a:pPr>
            <a:r>
              <a:rPr lang="en-US" sz="750" b="1" dirty="0" spc="0">
                <a:solidFill>
                  <a:srgbClr val="79551E"/>
                </a:solidFill>
                <a:latin typeface="Microsoft YaHei" pitchFamily="34" charset="0"/>
                <a:ea typeface="Microsoft YaHei" pitchFamily="34" charset="-122"/>
                <a:cs typeface="Microsoft YaHei" pitchFamily="34" charset="-120"/>
              </a:rPr>
              <a:t>条件开放</a:t>
            </a:r>
            <a:endParaRPr lang="en-US" sz="750" dirty="0" spc="0"/>
          </a:p>
        </p:txBody>
      </p:sp>
      <p:sp>
        <p:nvSpPr>
          <p:cNvPr id="301" name="reserve-3-question"/>
          <p:cNvSpPr txBox="1"/>
          <p:nvPr/>
        </p:nvSpPr>
        <p:spPr>
          <a:xfrm>
            <a:off x="8679656" y="3202781"/>
            <a:ext cx="29944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强软件与通用缓存后，局部性是否仍有独立收益？</a:t>
            </a:r>
            <a:endParaRPr lang="en-US" sz="850" dirty="0" spc="0"/>
          </a:p>
        </p:txBody>
      </p:sp>
      <p:sp>
        <p:nvSpPr>
          <p:cNvPr id="302" name="reserve-3-gate"/>
          <p:cNvSpPr txBox="1"/>
          <p:nvPr/>
        </p:nvSpPr>
        <p:spPr>
          <a:xfrm>
            <a:off x="8751094" y="3429000"/>
            <a:ext cx="2857500"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b="1" dirty="0" spc="0">
                <a:solidFill>
                  <a:srgbClr val="79551E"/>
                </a:solidFill>
                <a:latin typeface="Microsoft YaHei" pitchFamily="34" charset="0"/>
                <a:ea typeface="Microsoft YaHei" pitchFamily="34" charset="-122"/>
                <a:cs typeface="Microsoft YaHei" pitchFamily="34" charset="-120"/>
              </a:rPr>
              <a:t>门槛：需要可复核的真实手机证据。</a:t>
            </a:r>
            <a:endParaRPr lang="en-US" sz="800" dirty="0" spc="0"/>
          </a:p>
        </p:txBody>
      </p:sp>
      <p:sp>
        <p:nvSpPr>
          <p:cNvPr id="303" name="zero"/>
          <p:cNvSpPr txBox="1"/>
          <p:nvPr/>
        </p:nvSpPr>
        <p:spPr>
          <a:xfrm>
            <a:off x="506016" y="4048125"/>
            <a:ext cx="1309688" cy="38695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2700" b="1" dirty="0" spc="0">
                <a:solidFill>
                  <a:srgbClr val="FFFFFF"/>
                </a:solidFill>
                <a:latin typeface="Microsoft YaHei" pitchFamily="34" charset="0"/>
                <a:ea typeface="Microsoft YaHei" pitchFamily="34" charset="-122"/>
                <a:cs typeface="Microsoft YaHei" pitchFamily="34" charset="-120"/>
              </a:rPr>
              <a:t>0</a:t>
            </a:r>
            <a:endParaRPr lang="en-US" sz="2700" dirty="0" spc="0"/>
          </a:p>
        </p:txBody>
      </p:sp>
      <p:sp>
        <p:nvSpPr>
          <p:cNvPr id="304" name="zero-label"/>
          <p:cNvSpPr txBox="1"/>
          <p:nvPr/>
        </p:nvSpPr>
        <p:spPr>
          <a:xfrm>
            <a:off x="541734" y="4399359"/>
            <a:ext cx="1250156" cy="21431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FFFFFF"/>
                </a:solidFill>
                <a:latin typeface="Microsoft YaHei" pitchFamily="34" charset="0"/>
                <a:ea typeface="Microsoft YaHei" pitchFamily="34" charset="-122"/>
                <a:cs typeface="Microsoft YaHei" pitchFamily="34" charset="-120"/>
              </a:rPr>
              <a:t>项新硬件主押注</a:t>
            </a:r>
            <a:endParaRPr lang="en-US" sz="900" dirty="0" spc="0"/>
          </a:p>
        </p:txBody>
      </p:sp>
      <p:sp>
        <p:nvSpPr>
          <p:cNvPr id="305" name="zero-claim"/>
          <p:cNvSpPr txBox="1"/>
          <p:nvPr/>
        </p:nvSpPr>
        <p:spPr>
          <a:xfrm>
            <a:off x="2006203" y="3905250"/>
            <a:ext cx="9584531" cy="25598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102C55"/>
                </a:solidFill>
                <a:latin typeface="Microsoft YaHei" pitchFamily="34" charset="0"/>
                <a:ea typeface="Microsoft YaHei" pitchFamily="34" charset="-122"/>
                <a:cs typeface="Microsoft YaHei" pitchFamily="34" charset="-120"/>
              </a:rPr>
              <a:t>当前没有任何 Agent 专用 CPU 新硬件方向，获得充分公开证据支持，可作为独立主押注。</a:t>
            </a:r>
            <a:endParaRPr lang="en-US" sz="1150" dirty="0" spc="0"/>
          </a:p>
        </p:txBody>
      </p:sp>
      <p:sp>
        <p:nvSpPr>
          <p:cNvPr id="306" name="zero-boundary"/>
          <p:cNvSpPr txBox="1"/>
          <p:nvPr/>
        </p:nvSpPr>
        <p:spPr>
          <a:xfrm>
            <a:off x="2012156" y="4155281"/>
            <a:ext cx="9465469"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这是当前证据状态，不是永久否定硬件价值；也不表示 CPU 技术没有价值。</a:t>
            </a:r>
            <a:endParaRPr lang="en-US" sz="950" dirty="0" spc="0"/>
          </a:p>
        </p:txBody>
      </p:sp>
      <p:sp>
        <p:nvSpPr>
          <p:cNvPr id="307" name="historical-state"/>
          <p:cNvSpPr txBox="1"/>
          <p:nvPr/>
        </p:nvSpPr>
        <p:spPr>
          <a:xfrm>
            <a:off x="2012156" y="4452938"/>
            <a:ext cx="9465469" cy="24407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历史方向 A 已降为条件储备：假设仍开放，但旧评分不再代表当前立项优先级。</a:t>
            </a:r>
            <a:endParaRPr lang="en-US" sz="850" dirty="0" spc="0"/>
          </a:p>
        </p:txBody>
      </p:sp>
      <p:sp>
        <p:nvSpPr>
          <p:cNvPr id="308" name="gate-label"/>
          <p:cNvSpPr txBox="1"/>
          <p:nvPr/>
        </p:nvSpPr>
        <p:spPr>
          <a:xfrm>
            <a:off x="500063" y="5030391"/>
            <a:ext cx="1131094" cy="226219"/>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FFFFFF"/>
                </a:solidFill>
                <a:latin typeface="Microsoft YaHei" pitchFamily="34" charset="0"/>
                <a:ea typeface="Microsoft YaHei" pitchFamily="34" charset="-122"/>
                <a:cs typeface="Microsoft YaHei" pitchFamily="34" charset="-120"/>
              </a:rPr>
              <a:t>重新评估门槛</a:t>
            </a:r>
            <a:endParaRPr lang="en-US" sz="850" dirty="0" spc="0"/>
          </a:p>
        </p:txBody>
      </p:sp>
      <p:sp>
        <p:nvSpPr>
          <p:cNvPr id="309" name="gate-1-head"/>
          <p:cNvSpPr txBox="1"/>
          <p:nvPr/>
        </p:nvSpPr>
        <p:spPr>
          <a:xfrm>
            <a:off x="1762125" y="4964906"/>
            <a:ext cx="2559844"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外部公开原始证据</a:t>
            </a:r>
            <a:endParaRPr lang="en-US" sz="850" dirty="0" spc="0"/>
          </a:p>
        </p:txBody>
      </p:sp>
      <p:sp>
        <p:nvSpPr>
          <p:cNvPr id="310" name="gate-1-sub"/>
          <p:cNvSpPr txBox="1"/>
          <p:nvPr/>
        </p:nvSpPr>
        <p:spPr>
          <a:xfrm>
            <a:off x="1762125" y="5149453"/>
            <a:ext cx="255984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能复核因果与场景</a:t>
            </a:r>
            <a:endParaRPr lang="en-US" sz="850" dirty="0" spc="0"/>
          </a:p>
        </p:txBody>
      </p:sp>
      <p:sp>
        <p:nvSpPr>
          <p:cNvPr id="311" name="gate-2-head"/>
          <p:cNvSpPr txBox="1"/>
          <p:nvPr/>
        </p:nvSpPr>
        <p:spPr>
          <a:xfrm>
            <a:off x="3958828" y="4964906"/>
            <a:ext cx="2559844"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强软件 / 通用硬件对照</a:t>
            </a:r>
            <a:endParaRPr lang="en-US" sz="850" dirty="0" spc="0"/>
          </a:p>
        </p:txBody>
      </p:sp>
      <p:sp>
        <p:nvSpPr>
          <p:cNvPr id="312" name="gate-2-sub"/>
          <p:cNvSpPr txBox="1"/>
          <p:nvPr/>
        </p:nvSpPr>
        <p:spPr>
          <a:xfrm>
            <a:off x="3958828" y="5149453"/>
            <a:ext cx="255984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排除已有机制可解释的收益</a:t>
            </a:r>
            <a:endParaRPr lang="en-US" sz="850" dirty="0" spc="0"/>
          </a:p>
        </p:txBody>
      </p:sp>
      <p:sp>
        <p:nvSpPr>
          <p:cNvPr id="313" name="gate-3-head"/>
          <p:cNvSpPr txBox="1"/>
          <p:nvPr/>
        </p:nvSpPr>
        <p:spPr>
          <a:xfrm>
            <a:off x="6304359" y="4964906"/>
            <a:ext cx="2559844"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不可被基线吸收的物理残差</a:t>
            </a:r>
            <a:endParaRPr lang="en-US" sz="850" dirty="0" spc="0"/>
          </a:p>
        </p:txBody>
      </p:sp>
      <p:sp>
        <p:nvSpPr>
          <p:cNvPr id="314" name="gate-3-sub"/>
          <p:cNvSpPr txBox="1"/>
          <p:nvPr/>
        </p:nvSpPr>
        <p:spPr>
          <a:xfrm>
            <a:off x="6304359" y="5149453"/>
            <a:ext cx="255984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跨引擎 / 手机层面可复核</a:t>
            </a:r>
            <a:endParaRPr lang="en-US" sz="850" dirty="0" spc="0"/>
          </a:p>
        </p:txBody>
      </p:sp>
      <p:sp>
        <p:nvSpPr>
          <p:cNvPr id="315" name="gate-4-head"/>
          <p:cNvSpPr txBox="1"/>
          <p:nvPr/>
        </p:nvSpPr>
        <p:spPr>
          <a:xfrm>
            <a:off x="9108281" y="4964906"/>
            <a:ext cx="2559844"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才重新评估新硬件</a:t>
            </a:r>
            <a:endParaRPr lang="en-US" sz="850" dirty="0" spc="0"/>
          </a:p>
        </p:txBody>
      </p:sp>
      <p:sp>
        <p:nvSpPr>
          <p:cNvPr id="316" name="gate-4-sub"/>
          <p:cNvSpPr txBox="1"/>
          <p:nvPr/>
        </p:nvSpPr>
        <p:spPr>
          <a:xfrm>
            <a:off x="9108281" y="5149453"/>
            <a:ext cx="255984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不是预先承诺立项</a:t>
            </a:r>
            <a:endParaRPr lang="en-US" sz="850" dirty="0" spc="0"/>
          </a:p>
        </p:txBody>
      </p:sp>
      <p:sp>
        <p:nvSpPr>
          <p:cNvPr id="317" name="gate-op-1"/>
          <p:cNvSpPr txBox="1"/>
          <p:nvPr/>
        </p:nvSpPr>
        <p:spPr>
          <a:xfrm>
            <a:off x="3583781" y="5030391"/>
            <a:ext cx="208359"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250" b="1" dirty="0" spc="0">
                <a:solidFill>
                  <a:srgbClr val="2473B6"/>
                </a:solidFill>
                <a:latin typeface="Microsoft YaHei" pitchFamily="34" charset="0"/>
                <a:ea typeface="Microsoft YaHei" pitchFamily="34" charset="-122"/>
                <a:cs typeface="Microsoft YaHei" pitchFamily="34" charset="-120"/>
              </a:rPr>
              <a:t>+</a:t>
            </a:r>
            <a:endParaRPr lang="en-US" sz="1250" dirty="0" spc="0"/>
          </a:p>
        </p:txBody>
      </p:sp>
      <p:sp>
        <p:nvSpPr>
          <p:cNvPr id="318" name="gate-op-2"/>
          <p:cNvSpPr txBox="1"/>
          <p:nvPr/>
        </p:nvSpPr>
        <p:spPr>
          <a:xfrm>
            <a:off x="5935266" y="5030391"/>
            <a:ext cx="208359"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250" b="1" dirty="0" spc="0">
                <a:solidFill>
                  <a:srgbClr val="2473B6"/>
                </a:solidFill>
                <a:latin typeface="Microsoft YaHei" pitchFamily="34" charset="0"/>
                <a:ea typeface="Microsoft YaHei" pitchFamily="34" charset="-122"/>
                <a:cs typeface="Microsoft YaHei" pitchFamily="34" charset="-120"/>
              </a:rPr>
              <a:t>+</a:t>
            </a:r>
            <a:endParaRPr lang="en-US" sz="1250" dirty="0" spc="0"/>
          </a:p>
        </p:txBody>
      </p:sp>
      <p:sp>
        <p:nvSpPr>
          <p:cNvPr id="319" name="gate-op-3"/>
          <p:cNvSpPr txBox="1"/>
          <p:nvPr/>
        </p:nvSpPr>
        <p:spPr>
          <a:xfrm>
            <a:off x="8780859" y="5030391"/>
            <a:ext cx="208359"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250" b="1" dirty="0" spc="0">
                <a:solidFill>
                  <a:srgbClr val="2473B6"/>
                </a:solidFill>
                <a:latin typeface="Microsoft YaHei" pitchFamily="34" charset="0"/>
                <a:ea typeface="Microsoft YaHei" pitchFamily="34" charset="-122"/>
                <a:cs typeface="Microsoft YaHei" pitchFamily="34" charset="-120"/>
              </a:rPr>
              <a:t>→</a:t>
            </a:r>
            <a:endParaRPr lang="en-US" sz="1250" dirty="0" spc="0"/>
          </a:p>
        </p:txBody>
      </p:sp>
      <p:sp>
        <p:nvSpPr>
          <p:cNvPr id="320" name="source-line"/>
          <p:cNvSpPr txBox="1"/>
          <p:nvPr/>
        </p:nvSpPr>
        <p:spPr>
          <a:xfrm>
            <a:off x="476250" y="5786438"/>
            <a:ext cx="10120313"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依据：current.md · DEC-PORTFOLIO-002 · DEC-A-008 · 公开论文与平台证据映射。</a:t>
            </a:r>
            <a:endParaRPr lang="en-US" sz="850" dirty="0" spc="0"/>
          </a:p>
        </p:txBody>
      </p:sp>
      <p:sp>
        <p:nvSpPr>
          <p:cNvPr id="321" name="scope-line"/>
          <p:cNvSpPr txBox="1"/>
          <p:nvPr/>
        </p:nvSpPr>
        <p:spPr>
          <a:xfrm>
            <a:off x="476250" y="5965031"/>
            <a:ext cx="10894219"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边界：仅基于公开资料；未开展自有实验、PoC 或模拟。历史分数保留作记录，不作为当前决策依据。</a:t>
            </a:r>
            <a:endParaRPr lang="en-US" sz="850" dirty="0" spc="0"/>
          </a:p>
        </p:txBody>
      </p:sp>
      <p:sp>
        <p:nvSpPr>
          <p:cNvPr id="322" name="decision-logic"/>
          <p:cNvSpPr txBox="1"/>
          <p:nvPr/>
        </p:nvSpPr>
        <p:spPr>
          <a:xfrm>
            <a:off x="476250" y="6197203"/>
            <a:ext cx="10834688" cy="25598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b="1" dirty="0" spc="0">
                <a:solidFill>
                  <a:srgbClr val="173753"/>
                </a:solidFill>
                <a:latin typeface="Microsoft YaHei" pitchFamily="34" charset="0"/>
                <a:ea typeface="Microsoft YaHei" pitchFamily="34" charset="-122"/>
                <a:cs typeface="Microsoft YaHei" pitchFamily="34" charset="-120"/>
              </a:rPr>
              <a:t>决策逻辑：先建设工程与平台能力 → 保留可证伪研究假设 → 达到证据门槛后才重开硬件讨论。</a:t>
            </a:r>
            <a:endParaRPr lang="en-US" sz="900" dirty="0" spc="0"/>
          </a:p>
        </p:txBody>
      </p:sp>
      <p:sp>
        <p:nvSpPr>
          <p:cNvPr id="323"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lifecycle-field-1"/>
          <p:cNvSpPr/>
          <p:nvPr/>
        </p:nvSpPr>
        <p:spPr>
          <a:xfrm>
            <a:off x="4060031" y="1220391"/>
            <a:ext cx="4077891" cy="4316016"/>
          </a:xfrm>
          <a:prstGeom prst="ellipse">
            <a:avLst/>
          </a:prstGeom>
          <a:solidFill>
            <a:srgbClr val="F4FAFF"/>
          </a:solidFill>
          <a:ln w="6350">
            <a:solidFill>
              <a:srgbClr val="DCEFFD"/>
            </a:solidFill>
            <a:prstDash val="solid"/>
          </a:ln>
        </p:spPr>
      </p:sp>
      <p:sp>
        <p:nvSpPr>
          <p:cNvPr id="3" name="lifecycle-field-2"/>
          <p:cNvSpPr/>
          <p:nvPr/>
        </p:nvSpPr>
        <p:spPr>
          <a:xfrm>
            <a:off x="4417219" y="1529953"/>
            <a:ext cx="3363516" cy="3607594"/>
          </a:xfrm>
          <a:prstGeom prst="ellipse">
            <a:avLst/>
          </a:prstGeom>
          <a:solidFill>
            <a:srgbClr val="EAF6FF"/>
          </a:solidFill>
          <a:ln w="6350">
            <a:solidFill>
              <a:srgbClr val="DCEFFD"/>
            </a:solidFill>
            <a:prstDash val="solid"/>
          </a:ln>
        </p:spPr>
      </p:sp>
      <p:sp>
        <p:nvSpPr>
          <p:cNvPr id="4" name="panel-1"/>
          <p:cNvSpPr/>
          <p:nvPr/>
        </p:nvSpPr>
        <p:spPr>
          <a:xfrm>
            <a:off x="285750" y="1119188"/>
            <a:ext cx="3690938" cy="2553891"/>
          </a:xfrm>
          <a:prstGeom prst="roundRect">
            <a:avLst>
              <a:gd name="adj" fmla="val 3030"/>
            </a:avLst>
          </a:prstGeom>
          <a:solidFill>
            <a:srgbClr val="FFFFFF"/>
          </a:solidFill>
          <a:ln w="8930">
            <a:solidFill>
              <a:srgbClr val="BCD6EC"/>
            </a:solidFill>
            <a:prstDash val="solid"/>
          </a:ln>
        </p:spPr>
      </p:sp>
      <p:sp>
        <p:nvSpPr>
          <p:cNvPr id="5" name="panel-2"/>
          <p:cNvSpPr/>
          <p:nvPr/>
        </p:nvSpPr>
        <p:spPr>
          <a:xfrm>
            <a:off x="8203406" y="1119188"/>
            <a:ext cx="3690938" cy="2553891"/>
          </a:xfrm>
          <a:prstGeom prst="roundRect">
            <a:avLst>
              <a:gd name="adj" fmla="val 3030"/>
            </a:avLst>
          </a:prstGeom>
          <a:solidFill>
            <a:srgbClr val="F7F9FD"/>
          </a:solidFill>
          <a:ln w="8930">
            <a:solidFill>
              <a:srgbClr val="BCD6EC"/>
            </a:solidFill>
            <a:prstDash val="solid"/>
          </a:ln>
        </p:spPr>
      </p:sp>
      <p:sp>
        <p:nvSpPr>
          <p:cNvPr id="6" name="panel-3"/>
          <p:cNvSpPr/>
          <p:nvPr/>
        </p:nvSpPr>
        <p:spPr>
          <a:xfrm>
            <a:off x="285750" y="3726656"/>
            <a:ext cx="3690938" cy="2422922"/>
          </a:xfrm>
          <a:prstGeom prst="roundRect">
            <a:avLst>
              <a:gd name="adj" fmla="val 3194"/>
            </a:avLst>
          </a:prstGeom>
          <a:solidFill>
            <a:srgbClr val="FFFFFF"/>
          </a:solidFill>
          <a:ln w="8930">
            <a:solidFill>
              <a:srgbClr val="BCD6EC"/>
            </a:solidFill>
            <a:prstDash val="solid"/>
          </a:ln>
        </p:spPr>
      </p:sp>
      <p:sp>
        <p:nvSpPr>
          <p:cNvPr id="7" name="panel-4"/>
          <p:cNvSpPr/>
          <p:nvPr/>
        </p:nvSpPr>
        <p:spPr>
          <a:xfrm>
            <a:off x="8203406" y="3726656"/>
            <a:ext cx="3690938" cy="2422922"/>
          </a:xfrm>
          <a:prstGeom prst="roundRect">
            <a:avLst>
              <a:gd name="adj" fmla="val 3194"/>
            </a:avLst>
          </a:prstGeom>
          <a:solidFill>
            <a:srgbClr val="F7F9FD"/>
          </a:solidFill>
          <a:ln w="8930">
            <a:solidFill>
              <a:srgbClr val="BCD6EC"/>
            </a:solidFill>
            <a:prstDash val="solid"/>
          </a:ln>
        </p:spPr>
      </p:sp>
      <p:sp>
        <p:nvSpPr>
          <p:cNvPr id="8" name="detail-card-1"/>
          <p:cNvSpPr/>
          <p:nvPr/>
        </p:nvSpPr>
        <p:spPr>
          <a:xfrm>
            <a:off x="446484" y="1940719"/>
            <a:ext cx="3298031" cy="797719"/>
          </a:xfrm>
          <a:prstGeom prst="roundRect">
            <a:avLst>
              <a:gd name="adj" fmla="val 8209"/>
            </a:avLst>
          </a:prstGeom>
          <a:solidFill>
            <a:srgbClr val="F7FBFF"/>
          </a:solidFill>
          <a:ln w="7144">
            <a:solidFill>
              <a:srgbClr val="C7E0F3"/>
            </a:solidFill>
            <a:prstDash val="solid"/>
          </a:ln>
        </p:spPr>
      </p:sp>
      <p:sp>
        <p:nvSpPr>
          <p:cNvPr id="9" name="detail-card-2"/>
          <p:cNvSpPr/>
          <p:nvPr/>
        </p:nvSpPr>
        <p:spPr>
          <a:xfrm>
            <a:off x="446484" y="2821781"/>
            <a:ext cx="3298031" cy="732234"/>
          </a:xfrm>
          <a:prstGeom prst="roundRect">
            <a:avLst>
              <a:gd name="adj" fmla="val 8943"/>
            </a:avLst>
          </a:prstGeom>
          <a:solidFill>
            <a:srgbClr val="F7FBFF"/>
          </a:solidFill>
          <a:ln w="7144">
            <a:solidFill>
              <a:srgbClr val="C7E0F3"/>
            </a:solidFill>
            <a:prstDash val="solid"/>
          </a:ln>
        </p:spPr>
      </p:sp>
      <p:sp>
        <p:nvSpPr>
          <p:cNvPr id="10" name="detail-card-3"/>
          <p:cNvSpPr/>
          <p:nvPr/>
        </p:nvSpPr>
        <p:spPr>
          <a:xfrm>
            <a:off x="8370094" y="1952625"/>
            <a:ext cx="3345656" cy="791766"/>
          </a:xfrm>
          <a:prstGeom prst="roundRect">
            <a:avLst>
              <a:gd name="adj" fmla="val 8271"/>
            </a:avLst>
          </a:prstGeom>
          <a:solidFill>
            <a:srgbClr val="F7FBFF"/>
          </a:solidFill>
          <a:ln w="7144">
            <a:solidFill>
              <a:srgbClr val="C7E0F3"/>
            </a:solidFill>
            <a:prstDash val="solid"/>
          </a:ln>
        </p:spPr>
      </p:sp>
      <p:sp>
        <p:nvSpPr>
          <p:cNvPr id="11" name="detail-card-4"/>
          <p:cNvSpPr/>
          <p:nvPr/>
        </p:nvSpPr>
        <p:spPr>
          <a:xfrm>
            <a:off x="8370094" y="2815828"/>
            <a:ext cx="3345656" cy="732234"/>
          </a:xfrm>
          <a:prstGeom prst="roundRect">
            <a:avLst>
              <a:gd name="adj" fmla="val 8943"/>
            </a:avLst>
          </a:prstGeom>
          <a:solidFill>
            <a:srgbClr val="F7FBFF"/>
          </a:solidFill>
          <a:ln w="7144">
            <a:solidFill>
              <a:srgbClr val="C7E0F3"/>
            </a:solidFill>
            <a:prstDash val="solid"/>
          </a:ln>
        </p:spPr>
      </p:sp>
      <p:sp>
        <p:nvSpPr>
          <p:cNvPr id="12" name="detail-card-5"/>
          <p:cNvSpPr/>
          <p:nvPr/>
        </p:nvSpPr>
        <p:spPr>
          <a:xfrm>
            <a:off x="5250656" y="2000250"/>
            <a:ext cx="1744266" cy="357188"/>
          </a:xfrm>
          <a:prstGeom prst="roundRect">
            <a:avLst>
              <a:gd name="adj" fmla="val 18333"/>
            </a:avLst>
          </a:prstGeom>
          <a:solidFill>
            <a:srgbClr val="F7FBFF"/>
          </a:solidFill>
          <a:ln w="7144">
            <a:solidFill>
              <a:srgbClr val="C7E0F3"/>
            </a:solidFill>
            <a:prstDash val="solid"/>
          </a:ln>
        </p:spPr>
      </p:sp>
      <p:sp>
        <p:nvSpPr>
          <p:cNvPr id="13" name="detail-card-6"/>
          <p:cNvSpPr/>
          <p:nvPr/>
        </p:nvSpPr>
        <p:spPr>
          <a:xfrm>
            <a:off x="5250656" y="2530078"/>
            <a:ext cx="1744266" cy="357188"/>
          </a:xfrm>
          <a:prstGeom prst="roundRect">
            <a:avLst>
              <a:gd name="adj" fmla="val 18333"/>
            </a:avLst>
          </a:prstGeom>
          <a:solidFill>
            <a:srgbClr val="F7FBFF"/>
          </a:solidFill>
          <a:ln w="7144">
            <a:solidFill>
              <a:srgbClr val="C7E0F3"/>
            </a:solidFill>
            <a:prstDash val="solid"/>
          </a:ln>
        </p:spPr>
      </p:sp>
      <p:sp>
        <p:nvSpPr>
          <p:cNvPr id="14" name="detail-card-7"/>
          <p:cNvSpPr/>
          <p:nvPr/>
        </p:nvSpPr>
        <p:spPr>
          <a:xfrm>
            <a:off x="5250656" y="3071813"/>
            <a:ext cx="1744266" cy="357188"/>
          </a:xfrm>
          <a:prstGeom prst="roundRect">
            <a:avLst>
              <a:gd name="adj" fmla="val 18333"/>
            </a:avLst>
          </a:prstGeom>
          <a:solidFill>
            <a:srgbClr val="F7FBFF"/>
          </a:solidFill>
          <a:ln w="7144">
            <a:solidFill>
              <a:srgbClr val="C7E0F3"/>
            </a:solidFill>
            <a:prstDash val="solid"/>
          </a:ln>
        </p:spPr>
      </p:sp>
      <p:sp>
        <p:nvSpPr>
          <p:cNvPr id="15" name="detail-card-8"/>
          <p:cNvSpPr/>
          <p:nvPr/>
        </p:nvSpPr>
        <p:spPr>
          <a:xfrm>
            <a:off x="5244703" y="3804047"/>
            <a:ext cx="1768078" cy="357188"/>
          </a:xfrm>
          <a:prstGeom prst="roundRect">
            <a:avLst>
              <a:gd name="adj" fmla="val 18333"/>
            </a:avLst>
          </a:prstGeom>
          <a:solidFill>
            <a:srgbClr val="F7FBFF"/>
          </a:solidFill>
          <a:ln w="7144">
            <a:solidFill>
              <a:srgbClr val="C7E0F3"/>
            </a:solidFill>
            <a:prstDash val="solid"/>
          </a:ln>
        </p:spPr>
      </p:sp>
      <p:sp>
        <p:nvSpPr>
          <p:cNvPr id="16" name="detail-card-9"/>
          <p:cNvSpPr/>
          <p:nvPr/>
        </p:nvSpPr>
        <p:spPr>
          <a:xfrm>
            <a:off x="5244703" y="4387453"/>
            <a:ext cx="1768078" cy="357188"/>
          </a:xfrm>
          <a:prstGeom prst="roundRect">
            <a:avLst>
              <a:gd name="adj" fmla="val 18333"/>
            </a:avLst>
          </a:prstGeom>
          <a:solidFill>
            <a:srgbClr val="F7FBFF"/>
          </a:solidFill>
          <a:ln w="7144">
            <a:solidFill>
              <a:srgbClr val="C7E0F3"/>
            </a:solidFill>
            <a:prstDash val="solid"/>
          </a:ln>
        </p:spPr>
      </p:sp>
      <p:sp>
        <p:nvSpPr>
          <p:cNvPr id="17" name="detail-card-10"/>
          <p:cNvSpPr/>
          <p:nvPr/>
        </p:nvSpPr>
        <p:spPr>
          <a:xfrm>
            <a:off x="5042297" y="4935141"/>
            <a:ext cx="2297906" cy="357188"/>
          </a:xfrm>
          <a:prstGeom prst="roundRect">
            <a:avLst>
              <a:gd name="adj" fmla="val 18333"/>
            </a:avLst>
          </a:prstGeom>
          <a:solidFill>
            <a:srgbClr val="F7FBFF"/>
          </a:solidFill>
          <a:ln w="7144">
            <a:solidFill>
              <a:srgbClr val="C7E0F3"/>
            </a:solidFill>
            <a:prstDash val="solid"/>
          </a:ln>
        </p:spPr>
      </p:sp>
      <p:sp>
        <p:nvSpPr>
          <p:cNvPr id="18" name="sensing-gate"/>
          <p:cNvSpPr/>
          <p:nvPr/>
        </p:nvSpPr>
        <p:spPr>
          <a:xfrm>
            <a:off x="1666875" y="4458891"/>
            <a:ext cx="803672" cy="1023938"/>
          </a:xfrm>
          <a:prstGeom prst="roundRect">
            <a:avLst>
              <a:gd name="adj" fmla="val 10370"/>
            </a:avLst>
          </a:prstGeom>
          <a:solidFill>
            <a:srgbClr val="F7FCFF"/>
          </a:solidFill>
          <a:ln w="11906">
            <a:solidFill>
              <a:srgbClr val="74B8E5"/>
            </a:solidFill>
            <a:prstDash val="solid"/>
          </a:ln>
        </p:spPr>
      </p:sp>
      <p:sp>
        <p:nvSpPr>
          <p:cNvPr id="19" name="sensing-approved"/>
          <p:cNvSpPr/>
          <p:nvPr/>
        </p:nvSpPr>
        <p:spPr>
          <a:xfrm>
            <a:off x="2708672" y="4488656"/>
            <a:ext cx="1131094" cy="476250"/>
          </a:xfrm>
          <a:prstGeom prst="roundRect">
            <a:avLst>
              <a:gd name="adj" fmla="val 17500"/>
            </a:avLst>
          </a:prstGeom>
          <a:solidFill>
            <a:srgbClr val="F7FCFF"/>
          </a:solidFill>
          <a:ln w="11906">
            <a:solidFill>
              <a:srgbClr val="74B8E5"/>
            </a:solidFill>
            <a:prstDash val="solid"/>
          </a:ln>
        </p:spPr>
      </p:sp>
      <p:sp>
        <p:nvSpPr>
          <p:cNvPr id="20" name="sensing-rejected"/>
          <p:cNvSpPr/>
          <p:nvPr/>
        </p:nvSpPr>
        <p:spPr>
          <a:xfrm>
            <a:off x="2708672" y="5024438"/>
            <a:ext cx="1131094" cy="476250"/>
          </a:xfrm>
          <a:prstGeom prst="roundRect">
            <a:avLst>
              <a:gd name="adj" fmla="val 17500"/>
            </a:avLst>
          </a:prstGeom>
          <a:solidFill>
            <a:srgbClr val="F7FCFF"/>
          </a:solidFill>
          <a:ln w="11906">
            <a:solidFill>
              <a:srgbClr val="74B8E5"/>
            </a:solidFill>
            <a:prstDash val="solid"/>
          </a:ln>
        </p:spPr>
      </p:sp>
      <p:sp>
        <p:nvSpPr>
          <p:cNvPr id="21"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22"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23" name="blue-bar-1"/>
          <p:cNvSpPr/>
          <p:nvPr/>
        </p:nvSpPr>
        <p:spPr>
          <a:xfrm>
            <a:off x="333375" y="1143000"/>
            <a:ext cx="3762375" cy="369094"/>
          </a:xfrm>
          <a:prstGeom prst="roundRect">
            <a:avLst>
              <a:gd name="adj" fmla="val 12903"/>
            </a:avLst>
          </a:prstGeom>
          <a:solidFill>
            <a:srgbClr val="1769B1"/>
          </a:solidFill>
          <a:ln w="12700">
            <a:solidFill>
              <a:srgbClr val="FFFFFF">
                <a:alpha val="0"/>
              </a:srgbClr>
            </a:solidFill>
            <a:prstDash val="solid"/>
          </a:ln>
        </p:spPr>
      </p:sp>
      <p:sp>
        <p:nvSpPr>
          <p:cNvPr id="24" name="blue-bar-2"/>
          <p:cNvSpPr/>
          <p:nvPr/>
        </p:nvSpPr>
        <p:spPr>
          <a:xfrm>
            <a:off x="8066484" y="1143000"/>
            <a:ext cx="3792141" cy="369094"/>
          </a:xfrm>
          <a:prstGeom prst="roundRect">
            <a:avLst>
              <a:gd name="adj" fmla="val 12903"/>
            </a:avLst>
          </a:prstGeom>
          <a:solidFill>
            <a:srgbClr val="1769B1"/>
          </a:solidFill>
          <a:ln w="12700">
            <a:solidFill>
              <a:srgbClr val="FFFFFF">
                <a:alpha val="0"/>
              </a:srgbClr>
            </a:solidFill>
            <a:prstDash val="solid"/>
          </a:ln>
        </p:spPr>
      </p:sp>
      <p:sp>
        <p:nvSpPr>
          <p:cNvPr id="25" name="blue-bar-3"/>
          <p:cNvSpPr/>
          <p:nvPr/>
        </p:nvSpPr>
        <p:spPr>
          <a:xfrm>
            <a:off x="333375" y="3732609"/>
            <a:ext cx="3643313" cy="369094"/>
          </a:xfrm>
          <a:prstGeom prst="roundRect">
            <a:avLst>
              <a:gd name="adj" fmla="val 12903"/>
            </a:avLst>
          </a:prstGeom>
          <a:solidFill>
            <a:srgbClr val="1769B1"/>
          </a:solidFill>
          <a:ln w="12700">
            <a:solidFill>
              <a:srgbClr val="FFFFFF">
                <a:alpha val="0"/>
              </a:srgbClr>
            </a:solidFill>
            <a:prstDash val="solid"/>
          </a:ln>
        </p:spPr>
      </p:sp>
      <p:sp>
        <p:nvSpPr>
          <p:cNvPr id="26" name="blue-bar-4"/>
          <p:cNvSpPr/>
          <p:nvPr/>
        </p:nvSpPr>
        <p:spPr>
          <a:xfrm>
            <a:off x="8209359" y="3738563"/>
            <a:ext cx="3649266" cy="375047"/>
          </a:xfrm>
          <a:prstGeom prst="roundRect">
            <a:avLst>
              <a:gd name="adj" fmla="val 12698"/>
            </a:avLst>
          </a:prstGeom>
          <a:solidFill>
            <a:srgbClr val="1769B1"/>
          </a:solidFill>
          <a:ln w="12700">
            <a:solidFill>
              <a:srgbClr val="FFFFFF">
                <a:alpha val="0"/>
              </a:srgbClr>
            </a:solidFill>
            <a:prstDash val="solid"/>
          </a:ln>
        </p:spPr>
      </p:sp>
      <p:sp>
        <p:nvSpPr>
          <p:cNvPr id="27" name="section-number-circle-1"/>
          <p:cNvSpPr/>
          <p:nvPr/>
        </p:nvSpPr>
        <p:spPr>
          <a:xfrm>
            <a:off x="410766" y="1178719"/>
            <a:ext cx="297656" cy="297656"/>
          </a:xfrm>
          <a:prstGeom prst="ellipse">
            <a:avLst/>
          </a:prstGeom>
          <a:solidFill>
            <a:srgbClr val="F7FBFF"/>
          </a:solidFill>
          <a:ln w="23813">
            <a:solidFill>
              <a:srgbClr val="0B70C6"/>
            </a:solidFill>
            <a:prstDash val="solid"/>
          </a:ln>
        </p:spPr>
      </p:sp>
      <p:sp>
        <p:nvSpPr>
          <p:cNvPr id="28" name="section-number-circle-2"/>
          <p:cNvSpPr/>
          <p:nvPr/>
        </p:nvSpPr>
        <p:spPr>
          <a:xfrm>
            <a:off x="8239125" y="1178719"/>
            <a:ext cx="297656" cy="297656"/>
          </a:xfrm>
          <a:prstGeom prst="ellipse">
            <a:avLst/>
          </a:prstGeom>
          <a:solidFill>
            <a:srgbClr val="F7FBFF"/>
          </a:solidFill>
          <a:ln w="23813">
            <a:solidFill>
              <a:srgbClr val="0B70C6"/>
            </a:solidFill>
            <a:prstDash val="solid"/>
          </a:ln>
        </p:spPr>
      </p:sp>
      <p:sp>
        <p:nvSpPr>
          <p:cNvPr id="29" name="section-number-circle-3"/>
          <p:cNvSpPr/>
          <p:nvPr/>
        </p:nvSpPr>
        <p:spPr>
          <a:xfrm>
            <a:off x="8239125" y="3792141"/>
            <a:ext cx="297656" cy="297656"/>
          </a:xfrm>
          <a:prstGeom prst="ellipse">
            <a:avLst/>
          </a:prstGeom>
          <a:solidFill>
            <a:srgbClr val="F7FBFF"/>
          </a:solidFill>
          <a:ln w="23813">
            <a:solidFill>
              <a:srgbClr val="0B70C6"/>
            </a:solidFill>
            <a:prstDash val="solid"/>
          </a:ln>
        </p:spPr>
      </p:sp>
      <p:sp>
        <p:nvSpPr>
          <p:cNvPr id="30" name="section-number-circle-4"/>
          <p:cNvSpPr/>
          <p:nvPr/>
        </p:nvSpPr>
        <p:spPr>
          <a:xfrm>
            <a:off x="410766" y="3792141"/>
            <a:ext cx="297656" cy="297656"/>
          </a:xfrm>
          <a:prstGeom prst="ellipse">
            <a:avLst/>
          </a:prstGeom>
          <a:solidFill>
            <a:srgbClr val="F7FBFF"/>
          </a:solidFill>
          <a:ln w="23813">
            <a:solidFill>
              <a:srgbClr val="0B70C6"/>
            </a:solidFill>
            <a:prstDash val="solid"/>
          </a:ln>
        </p:spPr>
      </p:sp>
      <p:sp>
        <p:nvSpPr>
          <p:cNvPr id="31" name="SC_FREEFORM_ROUTE__left-task-to-goal__0"/>
          <p:cNvSpPr/>
          <p:nvPr/>
        </p:nvSpPr>
        <p:spPr>
          <a:xfrm>
            <a:off x="3976688" y="2178844"/>
            <a:ext cx="1273969" cy="217289"/>
          </a:xfrm>
          <a:custGeom>
            <a:avLst/>
            <a:gdLst/>
            <a:ahLst/>
            <a:cxnLst/>
            <a:rect l="l" t="t" r="r" b="b"/>
            <a:pathLst>
              <a:path w="1273969" h="217289">
                <a:moveTo>
                  <a:pt x="0" y="217289"/>
                </a:moveTo>
                <a:lnTo>
                  <a:pt x="636984" y="217289"/>
                </a:lnTo>
                <a:lnTo>
                  <a:pt x="636984" y="0"/>
                </a:lnTo>
                <a:lnTo>
                  <a:pt x="1273969" y="0"/>
                </a:lnTo>
              </a:path>
            </a:pathLst>
          </a:custGeom>
          <a:solidFill>
            <a:srgbClr val="FFFFFF">
              <a:alpha val="0"/>
            </a:srgbClr>
          </a:solidFill>
          <a:ln w="17859">
            <a:solidFill>
              <a:srgbClr val="2473B6"/>
            </a:solidFill>
            <a:prstDash val="solid"/>
            <a:round/>
            <a:headEnd type="none"/>
            <a:tailEnd type="triangle" w="med" len="med"/>
          </a:ln>
        </p:spPr>
      </p:sp>
      <p:sp>
        <p:nvSpPr>
          <p:cNvPr id="32" name="SC_FREEFORM_ROUTE__plan-to-search-handoff__0"/>
          <p:cNvSpPr/>
          <p:nvPr/>
        </p:nvSpPr>
        <p:spPr>
          <a:xfrm>
            <a:off x="6994922" y="2396133"/>
            <a:ext cx="1208484" cy="312539"/>
          </a:xfrm>
          <a:custGeom>
            <a:avLst/>
            <a:gdLst/>
            <a:ahLst/>
            <a:cxnLst/>
            <a:rect l="l" t="t" r="r" b="b"/>
            <a:pathLst>
              <a:path w="1208484" h="312539">
                <a:moveTo>
                  <a:pt x="0" y="312539"/>
                </a:moveTo>
                <a:lnTo>
                  <a:pt x="604242" y="312539"/>
                </a:lnTo>
                <a:lnTo>
                  <a:pt x="604242" y="0"/>
                </a:lnTo>
                <a:lnTo>
                  <a:pt x="1208484" y="0"/>
                </a:lnTo>
              </a:path>
            </a:pathLst>
          </a:custGeom>
          <a:solidFill>
            <a:srgbClr val="FFFFFF">
              <a:alpha val="0"/>
            </a:srgbClr>
          </a:solidFill>
          <a:ln w="17859">
            <a:solidFill>
              <a:srgbClr val="2473B6"/>
            </a:solidFill>
            <a:prstDash val="solid"/>
            <a:round/>
            <a:headEnd type="none"/>
            <a:tailEnd type="triangle" w="med" len="med"/>
          </a:ln>
        </p:spPr>
      </p:sp>
      <p:sp>
        <p:nvSpPr>
          <p:cNvPr id="33" name="SC_FREEFORM_ROUTE__sense-to-feedback__0"/>
          <p:cNvSpPr/>
          <p:nvPr/>
        </p:nvSpPr>
        <p:spPr>
          <a:xfrm>
            <a:off x="3976688" y="4938117"/>
            <a:ext cx="1065609" cy="175617"/>
          </a:xfrm>
          <a:custGeom>
            <a:avLst/>
            <a:gdLst/>
            <a:ahLst/>
            <a:cxnLst/>
            <a:rect l="l" t="t" r="r" b="b"/>
            <a:pathLst>
              <a:path w="1065609" h="175617">
                <a:moveTo>
                  <a:pt x="0" y="0"/>
                </a:moveTo>
                <a:lnTo>
                  <a:pt x="532805" y="0"/>
                </a:lnTo>
                <a:lnTo>
                  <a:pt x="532805" y="175617"/>
                </a:lnTo>
                <a:lnTo>
                  <a:pt x="1065609" y="175617"/>
                </a:lnTo>
              </a:path>
            </a:pathLst>
          </a:custGeom>
          <a:solidFill>
            <a:srgbClr val="FFFFFF">
              <a:alpha val="0"/>
            </a:srgbClr>
          </a:solidFill>
          <a:ln w="17859">
            <a:solidFill>
              <a:srgbClr val="2473B6"/>
            </a:solidFill>
            <a:prstDash val="solid"/>
            <a:round/>
            <a:headEnd type="none"/>
            <a:tailEnd type="triangle" w="med" len="med"/>
          </a:ln>
        </p:spPr>
      </p:sp>
      <p:sp>
        <p:nvSpPr>
          <p:cNvPr id="34" name="SC_FREEFORM_ROUTE__feedback-to-revision__0"/>
          <p:cNvSpPr/>
          <p:nvPr/>
        </p:nvSpPr>
        <p:spPr>
          <a:xfrm>
            <a:off x="7340203" y="4938117"/>
            <a:ext cx="863203" cy="175617"/>
          </a:xfrm>
          <a:custGeom>
            <a:avLst/>
            <a:gdLst/>
            <a:ahLst/>
            <a:cxnLst/>
            <a:rect l="l" t="t" r="r" b="b"/>
            <a:pathLst>
              <a:path w="863203" h="175617">
                <a:moveTo>
                  <a:pt x="0" y="175617"/>
                </a:moveTo>
                <a:lnTo>
                  <a:pt x="431602" y="175617"/>
                </a:lnTo>
                <a:lnTo>
                  <a:pt x="431602" y="0"/>
                </a:lnTo>
                <a:lnTo>
                  <a:pt x="863203" y="0"/>
                </a:lnTo>
              </a:path>
            </a:pathLst>
          </a:custGeom>
          <a:solidFill>
            <a:srgbClr val="FFFFFF">
              <a:alpha val="0"/>
            </a:srgbClr>
          </a:solidFill>
          <a:ln w="17859">
            <a:solidFill>
              <a:srgbClr val="2473B6"/>
            </a:solidFill>
            <a:prstDash val="solid"/>
            <a:round/>
            <a:headEnd type="none"/>
            <a:tailEnd type="triangle" w="med" len="med"/>
          </a:ln>
        </p:spPr>
      </p:sp>
      <p:sp>
        <p:nvSpPr>
          <p:cNvPr id="35" name="SC_FREEFORM_ROUTE__inference-no-tool-bypass__0"/>
          <p:cNvSpPr/>
          <p:nvPr/>
        </p:nvSpPr>
        <p:spPr>
          <a:xfrm>
            <a:off x="6122789" y="3429000"/>
            <a:ext cx="5953" cy="958453"/>
          </a:xfrm>
          <a:custGeom>
            <a:avLst/>
            <a:gdLst/>
            <a:ahLst/>
            <a:cxnLst/>
            <a:rect l="l" t="t" r="r" b="b"/>
            <a:pathLst>
              <a:path w="5953" h="958453">
                <a:moveTo>
                  <a:pt x="0" y="0"/>
                </a:moveTo>
                <a:lnTo>
                  <a:pt x="0" y="479227"/>
                </a:lnTo>
                <a:lnTo>
                  <a:pt x="5953" y="479227"/>
                </a:lnTo>
                <a:lnTo>
                  <a:pt x="5953" y="958453"/>
                </a:lnTo>
              </a:path>
            </a:pathLst>
          </a:custGeom>
          <a:solidFill>
            <a:srgbClr val="FFFFFF">
              <a:alpha val="0"/>
            </a:srgbClr>
          </a:solidFill>
          <a:ln w="17859">
            <a:solidFill>
              <a:srgbClr val="2473B6"/>
            </a:solidFill>
            <a:prstDash val="dash"/>
            <a:round/>
            <a:headEnd type="none"/>
            <a:tailEnd type="triangle" w="med" len="med"/>
          </a:ln>
        </p:spPr>
      </p:sp>
      <p:sp>
        <p:nvSpPr>
          <p:cNvPr id="36" name="SC_FREEFORM_ROUTE__sensing-to-approved-action__0"/>
          <p:cNvSpPr/>
          <p:nvPr/>
        </p:nvSpPr>
        <p:spPr>
          <a:xfrm>
            <a:off x="2470547" y="4726781"/>
            <a:ext cx="238125" cy="244078"/>
          </a:xfrm>
          <a:custGeom>
            <a:avLst/>
            <a:gdLst/>
            <a:ahLst/>
            <a:cxnLst/>
            <a:rect l="l" t="t" r="r" b="b"/>
            <a:pathLst>
              <a:path w="238125" h="244078">
                <a:moveTo>
                  <a:pt x="0" y="244078"/>
                </a:moveTo>
                <a:lnTo>
                  <a:pt x="119062" y="244078"/>
                </a:lnTo>
                <a:lnTo>
                  <a:pt x="119062" y="0"/>
                </a:lnTo>
                <a:lnTo>
                  <a:pt x="238125" y="0"/>
                </a:lnTo>
              </a:path>
            </a:pathLst>
          </a:custGeom>
          <a:solidFill>
            <a:srgbClr val="FFFFFF">
              <a:alpha val="0"/>
            </a:srgbClr>
          </a:solidFill>
          <a:ln w="17859">
            <a:solidFill>
              <a:srgbClr val="2473B6"/>
            </a:solidFill>
            <a:prstDash val="solid"/>
            <a:round/>
            <a:headEnd type="none"/>
            <a:tailEnd type="triangle" w="med" len="med"/>
          </a:ln>
        </p:spPr>
      </p:sp>
      <p:sp>
        <p:nvSpPr>
          <p:cNvPr id="37" name="SC_FREEFORM_ROUTE__sensing-to-rejected-action__0"/>
          <p:cNvSpPr/>
          <p:nvPr/>
        </p:nvSpPr>
        <p:spPr>
          <a:xfrm>
            <a:off x="2470547" y="4970859"/>
            <a:ext cx="238125" cy="291703"/>
          </a:xfrm>
          <a:custGeom>
            <a:avLst/>
            <a:gdLst/>
            <a:ahLst/>
            <a:cxnLst/>
            <a:rect l="l" t="t" r="r" b="b"/>
            <a:pathLst>
              <a:path w="238125" h="291703">
                <a:moveTo>
                  <a:pt x="0" y="0"/>
                </a:moveTo>
                <a:lnTo>
                  <a:pt x="119062" y="0"/>
                </a:lnTo>
                <a:lnTo>
                  <a:pt x="119062" y="291703"/>
                </a:lnTo>
                <a:lnTo>
                  <a:pt x="238125" y="291703"/>
                </a:lnTo>
              </a:path>
            </a:pathLst>
          </a:custGeom>
          <a:solidFill>
            <a:srgbClr val="FFFFFF">
              <a:alpha val="0"/>
            </a:srgbClr>
          </a:solidFill>
          <a:ln w="17859">
            <a:solidFill>
              <a:srgbClr val="2473B6"/>
            </a:solidFill>
            <a:prstDash val="solid"/>
            <a:round/>
            <a:headEnd type="none"/>
            <a:tailEnd type="triangle" w="med" len="med"/>
          </a:ln>
        </p:spPr>
      </p:sp>
      <p:cxnSp>
        <p:nvCxnSpPr>
          <p:cNvPr id="38" name="SC_CONNECTOR__lifecycle-5__0"/>
          <p:cNvCxnSpPr/>
          <p:nvPr/>
        </p:nvCxnSpPr>
        <p:spPr>
          <a:xfrm>
            <a:off x="6122789" y="2357438"/>
            <a:ext cx="0" cy="172641"/>
          </a:xfrm>
          <a:prstGeom prst="line">
            <a:avLst/>
          </a:prstGeom>
          <a:noFill/>
          <a:ln w="17859">
            <a:solidFill>
              <a:srgbClr val="2473B6"/>
            </a:solidFill>
            <a:prstDash val="solid"/>
            <a:round/>
            <a:headEnd type="none"/>
            <a:tailEnd type="triangle" w="med" len="med"/>
          </a:ln>
        </p:spPr>
      </p:cxnSp>
      <p:cxnSp>
        <p:nvCxnSpPr>
          <p:cNvPr id="39" name="SC_CONNECTOR__lifecycle-6__0"/>
          <p:cNvCxnSpPr/>
          <p:nvPr/>
        </p:nvCxnSpPr>
        <p:spPr>
          <a:xfrm>
            <a:off x="6122789" y="2887266"/>
            <a:ext cx="0" cy="184547"/>
          </a:xfrm>
          <a:prstGeom prst="line">
            <a:avLst/>
          </a:prstGeom>
          <a:noFill/>
          <a:ln w="17859">
            <a:solidFill>
              <a:srgbClr val="2473B6"/>
            </a:solidFill>
            <a:prstDash val="solid"/>
            <a:round/>
            <a:headEnd type="none"/>
            <a:tailEnd type="triangle" w="med" len="med"/>
          </a:ln>
        </p:spPr>
      </p:cxnSp>
      <p:sp>
        <p:nvSpPr>
          <p:cNvPr id="40" name="SC_FREEFORM_ROUTE__lifecycle-7__0"/>
          <p:cNvSpPr/>
          <p:nvPr/>
        </p:nvSpPr>
        <p:spPr>
          <a:xfrm>
            <a:off x="6122789" y="3429000"/>
            <a:ext cx="5953" cy="375047"/>
          </a:xfrm>
          <a:custGeom>
            <a:avLst/>
            <a:gdLst/>
            <a:ahLst/>
            <a:cxnLst/>
            <a:rect l="l" t="t" r="r" b="b"/>
            <a:pathLst>
              <a:path w="5953" h="375047">
                <a:moveTo>
                  <a:pt x="0" y="0"/>
                </a:moveTo>
                <a:lnTo>
                  <a:pt x="0" y="187523"/>
                </a:lnTo>
                <a:lnTo>
                  <a:pt x="5953" y="187523"/>
                </a:lnTo>
                <a:lnTo>
                  <a:pt x="5953" y="375047"/>
                </a:lnTo>
              </a:path>
            </a:pathLst>
          </a:custGeom>
          <a:solidFill>
            <a:srgbClr val="FFFFFF">
              <a:alpha val="0"/>
            </a:srgbClr>
          </a:solidFill>
          <a:ln w="17859">
            <a:solidFill>
              <a:srgbClr val="2473B6"/>
            </a:solidFill>
            <a:prstDash val="solid"/>
            <a:round/>
            <a:headEnd type="none"/>
            <a:tailEnd type="triangle" w="med" len="med"/>
          </a:ln>
        </p:spPr>
      </p:sp>
      <p:cxnSp>
        <p:nvCxnSpPr>
          <p:cNvPr id="41" name="SC_CONNECTOR__lifecycle-8__0"/>
          <p:cNvCxnSpPr/>
          <p:nvPr/>
        </p:nvCxnSpPr>
        <p:spPr>
          <a:xfrm>
            <a:off x="6128742" y="4161234"/>
            <a:ext cx="0" cy="226219"/>
          </a:xfrm>
          <a:prstGeom prst="line">
            <a:avLst/>
          </a:prstGeom>
          <a:noFill/>
          <a:ln w="17859">
            <a:solidFill>
              <a:srgbClr val="2473B6"/>
            </a:solidFill>
            <a:prstDash val="solid"/>
            <a:round/>
            <a:headEnd type="none"/>
            <a:tailEnd type="triangle" w="med" len="med"/>
          </a:ln>
        </p:spPr>
      </p:cxnSp>
      <p:sp>
        <p:nvSpPr>
          <p:cNvPr id="42" name="SC_FREEFORM_ROUTE__lifecycle-9__0"/>
          <p:cNvSpPr/>
          <p:nvPr/>
        </p:nvSpPr>
        <p:spPr>
          <a:xfrm>
            <a:off x="6128742" y="4744641"/>
            <a:ext cx="62508" cy="190500"/>
          </a:xfrm>
          <a:custGeom>
            <a:avLst/>
            <a:gdLst/>
            <a:ahLst/>
            <a:cxnLst/>
            <a:rect l="l" t="t" r="r" b="b"/>
            <a:pathLst>
              <a:path w="62508" h="190500">
                <a:moveTo>
                  <a:pt x="0" y="0"/>
                </a:moveTo>
                <a:lnTo>
                  <a:pt x="0" y="95250"/>
                </a:lnTo>
                <a:lnTo>
                  <a:pt x="62508" y="95250"/>
                </a:lnTo>
                <a:lnTo>
                  <a:pt x="62508" y="190500"/>
                </a:lnTo>
              </a:path>
            </a:pathLst>
          </a:custGeom>
          <a:solidFill>
            <a:srgbClr val="FFFFFF">
              <a:alpha val="0"/>
            </a:srgbClr>
          </a:solidFill>
          <a:ln w="17859">
            <a:solidFill>
              <a:srgbClr val="2473B6"/>
            </a:solidFill>
            <a:prstDash val="solid"/>
            <a:round/>
            <a:headEnd type="none"/>
            <a:tailEnd type="triangle" w="med" len="med"/>
          </a:ln>
        </p:spPr>
      </p:sp>
      <p:pic>
        <p:nvPicPr>
          <p:cNvPr id="43" name="art-1" descr="decorative_illustration">    </p:cNvPr>
          <p:cNvPicPr>
            <a:picLocks noChangeAspect="1"/>
          </p:cNvPicPr>
          <p:nvPr/>
        </p:nvPicPr>
        <p:blipFill>
          <a:blip r:embed="rId1"/>
          <a:stretch>
            <a:fillRect/>
          </a:stretch>
        </p:blipFill>
        <p:spPr>
          <a:xfrm>
            <a:off x="5875734" y="1178719"/>
            <a:ext cx="440531" cy="458391"/>
          </a:xfrm>
          <a:prstGeom prst="rect">
            <a:avLst/>
          </a:prstGeom>
        </p:spPr>
      </p:pic>
      <p:sp>
        <p:nvSpPr>
          <p:cNvPr id="44" name="section-number-1"/>
          <p:cNvSpPr txBox="1"/>
          <p:nvPr/>
        </p:nvSpPr>
        <p:spPr>
          <a:xfrm>
            <a:off x="434578" y="1184672"/>
            <a:ext cx="250031" cy="273844"/>
          </a:xfrm>
          <a:prstGeom prst="rect">
            <a:avLst/>
          </a:prstGeom>
          <a:noFill/>
          <a:ln/>
        </p:spPr>
        <p:txBody>
          <a:bodyPr wrap="square" lIns="0" tIns="0" rIns="0" bIns="0" rtlCol="0" anchor="ctr">
            <a:noAutofit/>
          </a:bodyPr>
          <a:lstStyle/>
          <a:p>
            <a:pPr algn="ctr" indent="0" marL="0">
              <a:lnSpc>
                <a:spcPct val="100000"/>
              </a:lnSpc>
              <a:buNone/>
              <a:defRPr spc="0"/>
            </a:pPr>
            <a:r>
              <a:rPr lang="en-US" sz="1650" b="1" dirty="0" spc="0">
                <a:solidFill>
                  <a:srgbClr val="102C55"/>
                </a:solidFill>
                <a:latin typeface="Microsoft YaHei" pitchFamily="34" charset="0"/>
                <a:ea typeface="Microsoft YaHei" pitchFamily="34" charset="-122"/>
                <a:cs typeface="Microsoft YaHei" pitchFamily="34" charset="-120"/>
              </a:rPr>
              <a:t>1</a:t>
            </a:r>
            <a:endParaRPr lang="en-US" sz="1650" dirty="0" spc="0"/>
          </a:p>
        </p:txBody>
      </p:sp>
      <p:sp>
        <p:nvSpPr>
          <p:cNvPr id="45" name="section-number-2"/>
          <p:cNvSpPr txBox="1"/>
          <p:nvPr/>
        </p:nvSpPr>
        <p:spPr>
          <a:xfrm>
            <a:off x="8262938" y="1184672"/>
            <a:ext cx="250031" cy="273844"/>
          </a:xfrm>
          <a:prstGeom prst="rect">
            <a:avLst/>
          </a:prstGeom>
          <a:noFill/>
          <a:ln/>
        </p:spPr>
        <p:txBody>
          <a:bodyPr wrap="square" lIns="0" tIns="0" rIns="0" bIns="0" rtlCol="0" anchor="ctr">
            <a:noAutofit/>
          </a:bodyPr>
          <a:lstStyle/>
          <a:p>
            <a:pPr algn="ctr" indent="0" marL="0">
              <a:lnSpc>
                <a:spcPct val="100000"/>
              </a:lnSpc>
              <a:buNone/>
              <a:defRPr spc="0"/>
            </a:pPr>
            <a:r>
              <a:rPr lang="en-US" sz="1650" b="1" dirty="0" spc="0">
                <a:solidFill>
                  <a:srgbClr val="102C55"/>
                </a:solidFill>
                <a:latin typeface="Microsoft YaHei" pitchFamily="34" charset="0"/>
                <a:ea typeface="Microsoft YaHei" pitchFamily="34" charset="-122"/>
                <a:cs typeface="Microsoft YaHei" pitchFamily="34" charset="-120"/>
              </a:rPr>
              <a:t>2</a:t>
            </a:r>
            <a:endParaRPr lang="en-US" sz="1650" dirty="0" spc="0"/>
          </a:p>
        </p:txBody>
      </p:sp>
      <p:sp>
        <p:nvSpPr>
          <p:cNvPr id="46" name="section-number-3"/>
          <p:cNvSpPr txBox="1"/>
          <p:nvPr/>
        </p:nvSpPr>
        <p:spPr>
          <a:xfrm>
            <a:off x="8262938" y="3798094"/>
            <a:ext cx="250031" cy="273844"/>
          </a:xfrm>
          <a:prstGeom prst="rect">
            <a:avLst/>
          </a:prstGeom>
          <a:noFill/>
          <a:ln/>
        </p:spPr>
        <p:txBody>
          <a:bodyPr wrap="square" lIns="0" tIns="0" rIns="0" bIns="0" rtlCol="0" anchor="ctr">
            <a:noAutofit/>
          </a:bodyPr>
          <a:lstStyle/>
          <a:p>
            <a:pPr algn="ctr" indent="0" marL="0">
              <a:lnSpc>
                <a:spcPct val="100000"/>
              </a:lnSpc>
              <a:buNone/>
              <a:defRPr spc="0"/>
            </a:pPr>
            <a:r>
              <a:rPr lang="en-US" sz="1650" b="1" dirty="0" spc="0">
                <a:solidFill>
                  <a:srgbClr val="102C55"/>
                </a:solidFill>
                <a:latin typeface="Microsoft YaHei" pitchFamily="34" charset="0"/>
                <a:ea typeface="Microsoft YaHei" pitchFamily="34" charset="-122"/>
                <a:cs typeface="Microsoft YaHei" pitchFamily="34" charset="-120"/>
              </a:rPr>
              <a:t>3</a:t>
            </a:r>
            <a:endParaRPr lang="en-US" sz="1650" dirty="0" spc="0"/>
          </a:p>
        </p:txBody>
      </p:sp>
      <p:sp>
        <p:nvSpPr>
          <p:cNvPr id="47" name="section-number-4"/>
          <p:cNvSpPr txBox="1"/>
          <p:nvPr/>
        </p:nvSpPr>
        <p:spPr>
          <a:xfrm>
            <a:off x="434578" y="3798094"/>
            <a:ext cx="250031" cy="273844"/>
          </a:xfrm>
          <a:prstGeom prst="rect">
            <a:avLst/>
          </a:prstGeom>
          <a:noFill/>
          <a:ln/>
        </p:spPr>
        <p:txBody>
          <a:bodyPr wrap="square" lIns="0" tIns="0" rIns="0" bIns="0" rtlCol="0" anchor="ctr">
            <a:noAutofit/>
          </a:bodyPr>
          <a:lstStyle/>
          <a:p>
            <a:pPr algn="ctr" indent="0" marL="0">
              <a:lnSpc>
                <a:spcPct val="100000"/>
              </a:lnSpc>
              <a:buNone/>
              <a:defRPr spc="0"/>
            </a:pPr>
            <a:r>
              <a:rPr lang="en-US" sz="1650" b="1" dirty="0" spc="0">
                <a:solidFill>
                  <a:srgbClr val="102C55"/>
                </a:solidFill>
                <a:latin typeface="Microsoft YaHei" pitchFamily="34" charset="0"/>
                <a:ea typeface="Microsoft YaHei" pitchFamily="34" charset="-122"/>
                <a:cs typeface="Microsoft YaHei" pitchFamily="34" charset="-120"/>
              </a:rPr>
              <a:t>4</a:t>
            </a:r>
            <a:endParaRPr lang="en-US" sz="1650" dirty="0" spc="0"/>
          </a:p>
        </p:txBody>
      </p:sp>
      <p:sp>
        <p:nvSpPr>
          <p:cNvPr id="48" name="ocr-001"/>
          <p:cNvSpPr txBox="1"/>
          <p:nvPr/>
        </p:nvSpPr>
        <p:spPr>
          <a:xfrm>
            <a:off x="500063" y="369094"/>
            <a:ext cx="11174016" cy="357188"/>
          </a:xfrm>
          <a:prstGeom prst="rect">
            <a:avLst/>
          </a:prstGeom>
          <a:noFill/>
          <a:ln/>
        </p:spPr>
        <p:txBody>
          <a:bodyPr wrap="square" lIns="0" tIns="0" rIns="0" bIns="0" rtlCol="0" anchor="ctr">
            <a:noAutofit/>
          </a:bodyPr>
          <a:lstStyle/>
          <a:p>
            <a:pPr algn="l" indent="0" marL="0">
              <a:lnSpc>
                <a:spcPct val="100000"/>
              </a:lnSpc>
              <a:buNone/>
              <a:defRPr spc="0"/>
            </a:pPr>
            <a:r>
              <a:rPr lang="en-US" sz="2500" b="1" dirty="0" spc="0">
                <a:solidFill>
                  <a:srgbClr val="102C55"/>
                </a:solidFill>
                <a:latin typeface="Microsoft YaHei" pitchFamily="34" charset="0"/>
                <a:ea typeface="Microsoft YaHei" pitchFamily="34" charset="-122"/>
                <a:cs typeface="Microsoft YaHei" pitchFamily="34" charset="-120"/>
              </a:rPr>
              <a:t>持续任务、可信动作和可修订状态正在改变手机执行负载</a:t>
            </a:r>
            <a:endParaRPr lang="en-US" sz="2500" dirty="0" spc="0"/>
          </a:p>
        </p:txBody>
      </p:sp>
      <p:sp>
        <p:nvSpPr>
          <p:cNvPr id="49" name="ocr-002"/>
          <p:cNvSpPr txBox="1"/>
          <p:nvPr/>
        </p:nvSpPr>
        <p:spPr>
          <a:xfrm>
            <a:off x="494109" y="750094"/>
            <a:ext cx="9852422"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500" dirty="0" spc="0">
                <a:solidFill>
                  <a:srgbClr val="58738A"/>
                </a:solidFill>
                <a:latin typeface="Microsoft YaHei" pitchFamily="34" charset="0"/>
                <a:ea typeface="Microsoft YaHei" pitchFamily="34" charset="-122"/>
                <a:cs typeface="Microsoft YaHei" pitchFamily="34" charset="-120"/>
              </a:rPr>
              <a:t>Agent 不只是多次 Decode：控制流、真实动作、状态有效期与是否唤醒都可能发生变化。</a:t>
            </a:r>
            <a:endParaRPr lang="en-US" sz="1500" dirty="0" spc="0"/>
          </a:p>
        </p:txBody>
      </p:sp>
      <p:sp>
        <p:nvSpPr>
          <p:cNvPr id="50" name="ocr-003"/>
          <p:cNvSpPr txBox="1"/>
          <p:nvPr/>
        </p:nvSpPr>
        <p:spPr>
          <a:xfrm>
            <a:off x="833438" y="1226344"/>
            <a:ext cx="3059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连续会话与工具丨跨应用任务</a:t>
            </a:r>
            <a:endParaRPr lang="en-US" sz="1100" dirty="0" spc="0"/>
          </a:p>
        </p:txBody>
      </p:sp>
      <p:sp>
        <p:nvSpPr>
          <p:cNvPr id="51" name="ocr-004"/>
          <p:cNvSpPr txBox="1"/>
          <p:nvPr/>
        </p:nvSpPr>
        <p:spPr>
          <a:xfrm>
            <a:off x="8709422" y="1226344"/>
            <a:ext cx="325635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反复异构交接|检索与生成交错</a:t>
            </a:r>
            <a:endParaRPr lang="en-US" sz="1100" dirty="0" spc="0"/>
          </a:p>
        </p:txBody>
      </p:sp>
      <p:sp>
        <p:nvSpPr>
          <p:cNvPr id="52" name="ocr-005"/>
          <p:cNvSpPr txBox="1"/>
          <p:nvPr/>
        </p:nvSpPr>
        <p:spPr>
          <a:xfrm>
            <a:off x="434578" y="1547813"/>
            <a:ext cx="449460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Agent需要在多个应用间持续操作，并验证真实执行结果，</a:t>
            </a:r>
            <a:endParaRPr lang="en-US" sz="1000" dirty="0" spc="0"/>
          </a:p>
        </p:txBody>
      </p:sp>
      <p:sp>
        <p:nvSpPr>
          <p:cNvPr id="53" name="ocr-006"/>
          <p:cNvSpPr txBox="1"/>
          <p:nvPr/>
        </p:nvSpPr>
        <p:spPr>
          <a:xfrm>
            <a:off x="8328422" y="1559719"/>
            <a:ext cx="3845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在同一任务中多轮检索与生成交替进行，涉及异构算力的</a:t>
            </a:r>
            <a:endParaRPr lang="en-US" sz="800" dirty="0" spc="0"/>
          </a:p>
        </p:txBody>
      </p:sp>
      <p:sp>
        <p:nvSpPr>
          <p:cNvPr id="54" name="ocr-007"/>
          <p:cNvSpPr txBox="1"/>
          <p:nvPr/>
        </p:nvSpPr>
        <p:spPr>
          <a:xfrm>
            <a:off x="434578" y="1714500"/>
            <a:ext cx="1684734"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不是一次性生成回复。</a:t>
            </a:r>
            <a:endParaRPr lang="en-US" sz="950" dirty="0" spc="0"/>
          </a:p>
        </p:txBody>
      </p:sp>
      <p:sp>
        <p:nvSpPr>
          <p:cNvPr id="55" name="ocr-008"/>
          <p:cNvSpPr txBox="1"/>
          <p:nvPr/>
        </p:nvSpPr>
        <p:spPr>
          <a:xfrm>
            <a:off x="5351859" y="1660922"/>
            <a:ext cx="2000250"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Agent任务生命周期</a:t>
            </a:r>
            <a:endParaRPr lang="en-US" sz="1200" dirty="0" spc="0"/>
          </a:p>
        </p:txBody>
      </p:sp>
      <p:sp>
        <p:nvSpPr>
          <p:cNvPr id="56" name="ocr-009"/>
          <p:cNvSpPr txBox="1"/>
          <p:nvPr/>
        </p:nvSpPr>
        <p:spPr>
          <a:xfrm>
            <a:off x="8316516" y="1714500"/>
            <a:ext cx="1660922"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反复切换与数据共享。</a:t>
            </a:r>
            <a:endParaRPr lang="en-US" sz="1000" dirty="0" spc="0"/>
          </a:p>
        </p:txBody>
      </p:sp>
      <p:sp>
        <p:nvSpPr>
          <p:cNvPr id="57" name="ocr-011"/>
          <p:cNvSpPr txBox="1"/>
          <p:nvPr/>
        </p:nvSpPr>
        <p:spPr>
          <a:xfrm>
            <a:off x="1023938" y="2035969"/>
            <a:ext cx="66675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示例场景</a:t>
            </a:r>
            <a:endParaRPr lang="en-US" sz="850" dirty="0" spc="0"/>
          </a:p>
        </p:txBody>
      </p:sp>
      <p:sp>
        <p:nvSpPr>
          <p:cNvPr id="58" name="ocr-012"/>
          <p:cNvSpPr txBox="1"/>
          <p:nvPr/>
        </p:nvSpPr>
        <p:spPr>
          <a:xfrm>
            <a:off x="5810250" y="2030016"/>
            <a:ext cx="422672"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目标</a:t>
            </a:r>
            <a:endParaRPr lang="en-US" sz="1000" dirty="0" spc="0"/>
          </a:p>
        </p:txBody>
      </p:sp>
      <p:sp>
        <p:nvSpPr>
          <p:cNvPr id="59" name="ocr-013"/>
          <p:cNvSpPr txBox="1"/>
          <p:nvPr/>
        </p:nvSpPr>
        <p:spPr>
          <a:xfrm>
            <a:off x="9013031" y="2053828"/>
            <a:ext cx="66675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示例场景</a:t>
            </a:r>
            <a:endParaRPr lang="en-US" sz="850" dirty="0" spc="0"/>
          </a:p>
        </p:txBody>
      </p:sp>
      <p:sp>
        <p:nvSpPr>
          <p:cNvPr id="60" name="ocr-014"/>
          <p:cNvSpPr txBox="1"/>
          <p:nvPr/>
        </p:nvSpPr>
        <p:spPr>
          <a:xfrm>
            <a:off x="1041797" y="2208609"/>
            <a:ext cx="24229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日程事项：从邮件中提取行程信息，</a:t>
            </a:r>
            <a:endParaRPr lang="en-US" sz="800" dirty="0" spc="0"/>
          </a:p>
        </p:txBody>
      </p:sp>
      <p:sp>
        <p:nvSpPr>
          <p:cNvPr id="61" name="ocr-015"/>
          <p:cNvSpPr txBox="1"/>
          <p:nvPr/>
        </p:nvSpPr>
        <p:spPr>
          <a:xfrm>
            <a:off x="5816203" y="2208609"/>
            <a:ext cx="1345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用户意图/任务需求</a:t>
            </a:r>
            <a:endParaRPr lang="en-US" sz="800" dirty="0" spc="0"/>
          </a:p>
        </p:txBody>
      </p:sp>
      <p:sp>
        <p:nvSpPr>
          <p:cNvPr id="62" name="ocr-016"/>
          <p:cNvSpPr txBox="1"/>
          <p:nvPr/>
        </p:nvSpPr>
        <p:spPr>
          <a:xfrm>
            <a:off x="9024938" y="2256234"/>
            <a:ext cx="201810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搜索资料→模型总结→发现信息不足，</a:t>
            </a:r>
            <a:endParaRPr lang="en-US" sz="800" dirty="0" spc="0"/>
          </a:p>
        </p:txBody>
      </p:sp>
      <p:sp>
        <p:nvSpPr>
          <p:cNvPr id="63" name="ocr-017"/>
          <p:cNvSpPr txBox="1"/>
          <p:nvPr/>
        </p:nvSpPr>
        <p:spPr>
          <a:xfrm>
            <a:off x="11072813" y="2196703"/>
            <a:ext cx="77390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检索生成</a:t>
            </a:r>
            <a:endParaRPr lang="en-US" sz="750" dirty="0" spc="0"/>
          </a:p>
        </p:txBody>
      </p:sp>
      <p:sp>
        <p:nvSpPr>
          <p:cNvPr id="64" name="ocr-018"/>
          <p:cNvSpPr txBox="1"/>
          <p:nvPr/>
        </p:nvSpPr>
        <p:spPr>
          <a:xfrm>
            <a:off x="1035844" y="2363391"/>
            <a:ext cx="23752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查询目历空闲时间，创建会议并发</a:t>
            </a:r>
            <a:endParaRPr lang="en-US" sz="800" dirty="0" spc="0"/>
          </a:p>
        </p:txBody>
      </p:sp>
      <p:sp>
        <p:nvSpPr>
          <p:cNvPr id="65" name="ocr-019"/>
          <p:cNvSpPr txBox="1"/>
          <p:nvPr/>
        </p:nvSpPr>
        <p:spPr>
          <a:xfrm>
            <a:off x="11138297" y="2345531"/>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多轮交错</a:t>
            </a:r>
            <a:endParaRPr lang="en-US" sz="850" dirty="0" spc="0"/>
          </a:p>
        </p:txBody>
      </p:sp>
      <p:sp>
        <p:nvSpPr>
          <p:cNvPr id="66" name="ocr-020"/>
          <p:cNvSpPr txBox="1"/>
          <p:nvPr/>
        </p:nvSpPr>
        <p:spPr>
          <a:xfrm>
            <a:off x="9024938" y="2416969"/>
            <a:ext cx="207168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再次检索→更新结论并生成最终回复。</a:t>
            </a:r>
            <a:endParaRPr lang="en-US" sz="800" dirty="0" spc="0"/>
          </a:p>
        </p:txBody>
      </p:sp>
      <p:sp>
        <p:nvSpPr>
          <p:cNvPr id="67" name="ocr-021"/>
          <p:cNvSpPr txBox="1"/>
          <p:nvPr/>
        </p:nvSpPr>
        <p:spPr>
          <a:xfrm>
            <a:off x="1023938" y="2506266"/>
            <a:ext cx="228004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送邀请，最后验证是否创建成功。</a:t>
            </a:r>
            <a:endParaRPr lang="en-US" sz="850" dirty="0" spc="0"/>
          </a:p>
        </p:txBody>
      </p:sp>
      <p:sp>
        <p:nvSpPr>
          <p:cNvPr id="68" name="ocr-022"/>
          <p:cNvSpPr txBox="1"/>
          <p:nvPr/>
        </p:nvSpPr>
        <p:spPr>
          <a:xfrm>
            <a:off x="5810250" y="2565797"/>
            <a:ext cx="428625"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规划</a:t>
            </a:r>
            <a:endParaRPr lang="en-US" sz="950" dirty="0" spc="0"/>
          </a:p>
        </p:txBody>
      </p:sp>
      <p:sp>
        <p:nvSpPr>
          <p:cNvPr id="69" name="ocr-023"/>
          <p:cNvSpPr txBox="1"/>
          <p:nvPr/>
        </p:nvSpPr>
        <p:spPr>
          <a:xfrm>
            <a:off x="5822156" y="2744391"/>
            <a:ext cx="1339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任务拆解/工具选择</a:t>
            </a:r>
            <a:endParaRPr lang="en-US" sz="800" dirty="0" spc="0"/>
          </a:p>
        </p:txBody>
      </p:sp>
      <p:sp>
        <p:nvSpPr>
          <p:cNvPr id="70" name="ocr-024"/>
          <p:cNvSpPr txBox="1"/>
          <p:nvPr/>
        </p:nvSpPr>
        <p:spPr>
          <a:xfrm>
            <a:off x="1047750" y="2839641"/>
            <a:ext cx="150018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带来的执行负载变化</a:t>
            </a:r>
            <a:endParaRPr lang="en-US" sz="800" dirty="0" spc="0"/>
          </a:p>
        </p:txBody>
      </p:sp>
      <p:sp>
        <p:nvSpPr>
          <p:cNvPr id="71" name="ocr-025"/>
          <p:cNvSpPr txBox="1"/>
          <p:nvPr/>
        </p:nvSpPr>
        <p:spPr>
          <a:xfrm>
            <a:off x="9036844" y="2845594"/>
            <a:ext cx="1476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带来的执行负载变化</a:t>
            </a:r>
            <a:endParaRPr lang="en-US" sz="800" dirty="0" spc="0"/>
          </a:p>
        </p:txBody>
      </p:sp>
      <p:sp>
        <p:nvSpPr>
          <p:cNvPr id="72" name="ocr-026"/>
          <p:cNvSpPr txBox="1"/>
          <p:nvPr/>
        </p:nvSpPr>
        <p:spPr>
          <a:xfrm>
            <a:off x="1053703" y="3024188"/>
            <a:ext cx="17145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CPU调度、权限与恢复</a:t>
            </a:r>
            <a:endParaRPr lang="en-US" sz="800" dirty="0" spc="0"/>
          </a:p>
        </p:txBody>
      </p:sp>
      <p:sp>
        <p:nvSpPr>
          <p:cNvPr id="73" name="ocr-027"/>
          <p:cNvSpPr txBox="1"/>
          <p:nvPr/>
        </p:nvSpPr>
        <p:spPr>
          <a:xfrm>
            <a:off x="9042797" y="3030141"/>
            <a:ext cx="31313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CPU/GPU/NPU放置、启动/同步与共享DRAM</a:t>
            </a:r>
            <a:endParaRPr lang="en-US" sz="800" dirty="0" spc="0"/>
          </a:p>
        </p:txBody>
      </p:sp>
      <p:sp>
        <p:nvSpPr>
          <p:cNvPr id="74" name="ocr-028"/>
          <p:cNvSpPr txBox="1"/>
          <p:nvPr/>
        </p:nvSpPr>
        <p:spPr>
          <a:xfrm>
            <a:off x="5810250" y="3095625"/>
            <a:ext cx="904875"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推理/检索</a:t>
            </a:r>
            <a:endParaRPr lang="en-US" sz="1000" dirty="0" spc="0"/>
          </a:p>
        </p:txBody>
      </p:sp>
      <p:sp>
        <p:nvSpPr>
          <p:cNvPr id="75" name="ocr-029"/>
          <p:cNvSpPr txBox="1"/>
          <p:nvPr/>
        </p:nvSpPr>
        <p:spPr>
          <a:xfrm>
            <a:off x="1041797" y="3184922"/>
            <a:ext cx="32385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跨应用切换、权限申请、异常恢复与结果验证</a:t>
            </a:r>
            <a:endParaRPr lang="en-US" sz="800" dirty="0" spc="0"/>
          </a:p>
        </p:txBody>
      </p:sp>
      <p:sp>
        <p:nvSpPr>
          <p:cNvPr id="76" name="ocr-030"/>
          <p:cNvSpPr txBox="1"/>
          <p:nvPr/>
        </p:nvSpPr>
        <p:spPr>
          <a:xfrm>
            <a:off x="9036844" y="3196828"/>
            <a:ext cx="3143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检索、推理与后处理在不同硬件上交替执行，涉及数据</a:t>
            </a:r>
            <a:endParaRPr lang="en-US" sz="800" dirty="0" spc="0"/>
          </a:p>
        </p:txBody>
      </p:sp>
      <p:sp>
        <p:nvSpPr>
          <p:cNvPr id="77" name="ocr-031"/>
          <p:cNvSpPr txBox="1"/>
          <p:nvPr/>
        </p:nvSpPr>
        <p:spPr>
          <a:xfrm>
            <a:off x="1041797" y="3333750"/>
            <a:ext cx="238125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增加了系统调度与上下文管理开销。</a:t>
            </a:r>
            <a:endParaRPr lang="en-US" sz="850" dirty="0" spc="0"/>
          </a:p>
        </p:txBody>
      </p:sp>
      <p:sp>
        <p:nvSpPr>
          <p:cNvPr id="78" name="ocr-032"/>
          <p:cNvSpPr txBox="1"/>
          <p:nvPr/>
        </p:nvSpPr>
        <p:spPr>
          <a:xfrm>
            <a:off x="5810250" y="3286125"/>
            <a:ext cx="160139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理解、生成、外部知识查询</a:t>
            </a:r>
            <a:endParaRPr lang="en-US" sz="750" dirty="0" spc="0"/>
          </a:p>
        </p:txBody>
      </p:sp>
      <p:sp>
        <p:nvSpPr>
          <p:cNvPr id="79" name="ocr-033"/>
          <p:cNvSpPr txBox="1"/>
          <p:nvPr/>
        </p:nvSpPr>
        <p:spPr>
          <a:xfrm>
            <a:off x="9024938" y="3333750"/>
            <a:ext cx="2333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搬运、内存共享与多引擎同步开销。</a:t>
            </a:r>
            <a:endParaRPr lang="en-US" sz="800" dirty="0" spc="0"/>
          </a:p>
        </p:txBody>
      </p:sp>
      <p:sp>
        <p:nvSpPr>
          <p:cNvPr id="80" name="ocr-034"/>
          <p:cNvSpPr txBox="1"/>
          <p:nvPr/>
        </p:nvSpPr>
        <p:spPr>
          <a:xfrm>
            <a:off x="7352109" y="3440906"/>
            <a:ext cx="63698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未授权或</a:t>
            </a:r>
            <a:endParaRPr lang="en-US" sz="850" dirty="0" spc="0"/>
          </a:p>
        </p:txBody>
      </p:sp>
      <p:sp>
        <p:nvSpPr>
          <p:cNvPr id="81" name="ocr-035"/>
          <p:cNvSpPr txBox="1"/>
          <p:nvPr/>
        </p:nvSpPr>
        <p:spPr>
          <a:xfrm>
            <a:off x="4220766" y="3554016"/>
            <a:ext cx="111918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结果不符合预期</a:t>
            </a:r>
            <a:endParaRPr lang="en-US" sz="850" dirty="0" spc="0"/>
          </a:p>
        </p:txBody>
      </p:sp>
      <p:sp>
        <p:nvSpPr>
          <p:cNvPr id="82" name="ocr-036"/>
          <p:cNvSpPr txBox="1"/>
          <p:nvPr/>
        </p:nvSpPr>
        <p:spPr>
          <a:xfrm>
            <a:off x="5881688" y="3637359"/>
            <a:ext cx="857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若授权且必要</a:t>
            </a:r>
            <a:endParaRPr lang="en-US" sz="800" dirty="0" spc="0"/>
          </a:p>
        </p:txBody>
      </p:sp>
      <p:sp>
        <p:nvSpPr>
          <p:cNvPr id="83" name="ocr-037"/>
          <p:cNvSpPr txBox="1"/>
          <p:nvPr/>
        </p:nvSpPr>
        <p:spPr>
          <a:xfrm>
            <a:off x="7358063" y="3589734"/>
            <a:ext cx="625078"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无需工具</a:t>
            </a:r>
            <a:endParaRPr lang="en-US" sz="900" dirty="0" spc="0"/>
          </a:p>
        </p:txBody>
      </p:sp>
      <p:sp>
        <p:nvSpPr>
          <p:cNvPr id="84" name="ocr-038"/>
          <p:cNvSpPr txBox="1"/>
          <p:nvPr/>
        </p:nvSpPr>
        <p:spPr>
          <a:xfrm>
            <a:off x="4387453" y="3714750"/>
            <a:ext cx="6607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返回规划</a:t>
            </a:r>
            <a:endParaRPr lang="en-US" sz="850" dirty="0" spc="0"/>
          </a:p>
        </p:txBody>
      </p:sp>
      <p:sp>
        <p:nvSpPr>
          <p:cNvPr id="85" name="ocr-039"/>
          <p:cNvSpPr txBox="1"/>
          <p:nvPr/>
        </p:nvSpPr>
        <p:spPr>
          <a:xfrm>
            <a:off x="7292578" y="3744516"/>
            <a:ext cx="785813"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（仅生成回复）</a:t>
            </a:r>
            <a:endParaRPr lang="en-US" sz="750" dirty="0" spc="0"/>
          </a:p>
        </p:txBody>
      </p:sp>
      <p:sp>
        <p:nvSpPr>
          <p:cNvPr id="86" name="ocr-040"/>
          <p:cNvSpPr txBox="1"/>
          <p:nvPr/>
        </p:nvSpPr>
        <p:spPr>
          <a:xfrm>
            <a:off x="845344" y="3815953"/>
            <a:ext cx="253603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感知准入|决定做或不做</a:t>
            </a:r>
            <a:endParaRPr lang="en-US" sz="1100" dirty="0" spc="0"/>
          </a:p>
        </p:txBody>
      </p:sp>
      <p:sp>
        <p:nvSpPr>
          <p:cNvPr id="87" name="ocr-041"/>
          <p:cNvSpPr txBox="1"/>
          <p:nvPr/>
        </p:nvSpPr>
        <p:spPr>
          <a:xfrm>
            <a:off x="4327922" y="3863578"/>
            <a:ext cx="82153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或重新检索</a:t>
            </a:r>
            <a:endParaRPr lang="en-US" sz="950" dirty="0" spc="0"/>
          </a:p>
        </p:txBody>
      </p:sp>
      <p:sp>
        <p:nvSpPr>
          <p:cNvPr id="88" name="ocr-042"/>
          <p:cNvSpPr txBox="1"/>
          <p:nvPr/>
        </p:nvSpPr>
        <p:spPr>
          <a:xfrm>
            <a:off x="5810250" y="3857625"/>
            <a:ext cx="73818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工具动作</a:t>
            </a:r>
            <a:endParaRPr lang="en-US" sz="1000" dirty="0" spc="0"/>
          </a:p>
        </p:txBody>
      </p:sp>
      <p:sp>
        <p:nvSpPr>
          <p:cNvPr id="89" name="ocr-044"/>
          <p:cNvSpPr txBox="1"/>
          <p:nvPr/>
        </p:nvSpPr>
        <p:spPr>
          <a:xfrm>
            <a:off x="8709422" y="3827859"/>
            <a:ext cx="3464719"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FFFFFF"/>
                </a:solidFill>
                <a:latin typeface="Microsoft YaHei" pitchFamily="34" charset="0"/>
                <a:ea typeface="Microsoft YaHei" pitchFamily="34" charset="-122"/>
                <a:cs typeface="Microsoft YaHei" pitchFamily="34" charset="-120"/>
              </a:rPr>
              <a:t>目标与状态修订|取消/回退/重新规划</a:t>
            </a:r>
            <a:endParaRPr lang="en-US" sz="1050" dirty="0" spc="0"/>
          </a:p>
        </p:txBody>
      </p:sp>
      <p:sp>
        <p:nvSpPr>
          <p:cNvPr id="90" name="ocr-045"/>
          <p:cNvSpPr txBox="1"/>
          <p:nvPr/>
        </p:nvSpPr>
        <p:spPr>
          <a:xfrm>
            <a:off x="5816203" y="4030266"/>
            <a:ext cx="14227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调用应用/服务/设备</a:t>
            </a:r>
            <a:endParaRPr lang="en-US" sz="800" dirty="0" spc="0"/>
          </a:p>
        </p:txBody>
      </p:sp>
      <p:sp>
        <p:nvSpPr>
          <p:cNvPr id="91" name="ocr-046"/>
          <p:cNvSpPr txBox="1"/>
          <p:nvPr/>
        </p:nvSpPr>
        <p:spPr>
          <a:xfrm>
            <a:off x="386953" y="4125516"/>
            <a:ext cx="4750594"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通过低功耗传感与上下文感知，判断是否需要主动唤醒Agent，</a:t>
            </a:r>
            <a:endParaRPr lang="en-US" sz="1000" dirty="0" spc="0"/>
          </a:p>
        </p:txBody>
      </p:sp>
      <p:sp>
        <p:nvSpPr>
          <p:cNvPr id="92" name="ocr-047"/>
          <p:cNvSpPr txBox="1"/>
          <p:nvPr/>
        </p:nvSpPr>
        <p:spPr>
          <a:xfrm>
            <a:off x="8245078" y="4143375"/>
            <a:ext cx="3929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在任务执行过程中，用户可能更改目标，或外部应用状态发生变化，</a:t>
            </a:r>
            <a:endParaRPr lang="en-US" sz="800" dirty="0" spc="0"/>
          </a:p>
        </p:txBody>
      </p:sp>
      <p:sp>
        <p:nvSpPr>
          <p:cNvPr id="93" name="ocr-048"/>
          <p:cNvSpPr txBox="1"/>
          <p:nvPr/>
        </p:nvSpPr>
        <p:spPr>
          <a:xfrm>
            <a:off x="398859" y="4304109"/>
            <a:ext cx="19704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避免不必要的计算与打扰。</a:t>
            </a:r>
            <a:endParaRPr lang="en-US" sz="800" dirty="0" spc="0"/>
          </a:p>
        </p:txBody>
      </p:sp>
      <p:sp>
        <p:nvSpPr>
          <p:cNvPr id="94" name="ocr-049"/>
          <p:cNvSpPr txBox="1"/>
          <p:nvPr/>
        </p:nvSpPr>
        <p:spPr>
          <a:xfrm>
            <a:off x="8227219" y="4304109"/>
            <a:ext cx="20776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需要取消、回退或重新规划。</a:t>
            </a:r>
            <a:endParaRPr lang="en-US" sz="800" dirty="0" spc="0"/>
          </a:p>
        </p:txBody>
      </p:sp>
      <p:sp>
        <p:nvSpPr>
          <p:cNvPr id="95" name="ocr-050"/>
          <p:cNvSpPr txBox="1"/>
          <p:nvPr/>
        </p:nvSpPr>
        <p:spPr>
          <a:xfrm>
            <a:off x="5816203" y="4417219"/>
            <a:ext cx="105965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实际效果验证</a:t>
            </a:r>
            <a:endParaRPr lang="en-US" sz="850" dirty="0" spc="0"/>
          </a:p>
        </p:txBody>
      </p:sp>
      <p:sp>
        <p:nvSpPr>
          <p:cNvPr id="96" name="ocr-051"/>
          <p:cNvSpPr txBox="1"/>
          <p:nvPr/>
        </p:nvSpPr>
        <p:spPr>
          <a:xfrm>
            <a:off x="815578" y="4554141"/>
            <a:ext cx="83343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语音/环境声</a:t>
            </a:r>
            <a:endParaRPr lang="en-US" sz="800" dirty="0" spc="0"/>
          </a:p>
        </p:txBody>
      </p:sp>
      <p:sp>
        <p:nvSpPr>
          <p:cNvPr id="97" name="ocr-052"/>
          <p:cNvSpPr txBox="1"/>
          <p:nvPr/>
        </p:nvSpPr>
        <p:spPr>
          <a:xfrm>
            <a:off x="3357563" y="4566047"/>
            <a:ext cx="65484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满足条件</a:t>
            </a:r>
            <a:endParaRPr lang="en-US" sz="850" dirty="0" spc="0"/>
          </a:p>
        </p:txBody>
      </p:sp>
      <p:sp>
        <p:nvSpPr>
          <p:cNvPr id="98" name="ocr-053"/>
          <p:cNvSpPr txBox="1"/>
          <p:nvPr/>
        </p:nvSpPr>
        <p:spPr>
          <a:xfrm>
            <a:off x="5822156" y="4583906"/>
            <a:ext cx="137517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检查结果/对比预期</a:t>
            </a:r>
            <a:endParaRPr lang="en-US" sz="800" dirty="0" spc="0"/>
          </a:p>
        </p:txBody>
      </p:sp>
      <p:sp>
        <p:nvSpPr>
          <p:cNvPr id="99" name="ocr-054"/>
          <p:cNvSpPr txBox="1"/>
          <p:nvPr/>
        </p:nvSpPr>
        <p:spPr>
          <a:xfrm>
            <a:off x="11185922" y="4577953"/>
            <a:ext cx="59531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修改目标</a:t>
            </a:r>
            <a:endParaRPr lang="en-US" sz="950" dirty="0" spc="0"/>
          </a:p>
        </p:txBody>
      </p:sp>
      <p:sp>
        <p:nvSpPr>
          <p:cNvPr id="100" name="ocr-055"/>
          <p:cNvSpPr txBox="1"/>
          <p:nvPr/>
        </p:nvSpPr>
        <p:spPr>
          <a:xfrm>
            <a:off x="8685609" y="4637484"/>
            <a:ext cx="64293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示例场景</a:t>
            </a:r>
            <a:endParaRPr lang="en-US" sz="850" dirty="0" spc="0"/>
          </a:p>
        </p:txBody>
      </p:sp>
      <p:sp>
        <p:nvSpPr>
          <p:cNvPr id="101" name="ocr-056"/>
          <p:cNvSpPr txBox="1"/>
          <p:nvPr/>
        </p:nvSpPr>
        <p:spPr>
          <a:xfrm>
            <a:off x="815578" y="4768453"/>
            <a:ext cx="964406"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位置/移动状态</a:t>
            </a:r>
            <a:endParaRPr lang="en-US" sz="900" dirty="0" spc="0"/>
          </a:p>
        </p:txBody>
      </p:sp>
      <p:sp>
        <p:nvSpPr>
          <p:cNvPr id="102" name="ocr-057"/>
          <p:cNvSpPr txBox="1"/>
          <p:nvPr/>
        </p:nvSpPr>
        <p:spPr>
          <a:xfrm>
            <a:off x="3351609" y="4714875"/>
            <a:ext cx="105965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唤醒并开始任务</a:t>
            </a:r>
            <a:endParaRPr lang="en-US" sz="950" dirty="0" spc="0"/>
          </a:p>
        </p:txBody>
      </p:sp>
      <p:sp>
        <p:nvSpPr>
          <p:cNvPr id="103" name="ocr-058"/>
          <p:cNvSpPr txBox="1"/>
          <p:nvPr/>
        </p:nvSpPr>
        <p:spPr>
          <a:xfrm>
            <a:off x="8697516" y="4816078"/>
            <a:ext cx="235743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用户临时修改行程时间，或目标应用</a:t>
            </a:r>
            <a:endParaRPr lang="en-US" sz="800" dirty="0" spc="0"/>
          </a:p>
        </p:txBody>
      </p:sp>
      <p:sp>
        <p:nvSpPr>
          <p:cNvPr id="104" name="ocr-059"/>
          <p:cNvSpPr txBox="1"/>
          <p:nvPr/>
        </p:nvSpPr>
        <p:spPr>
          <a:xfrm>
            <a:off x="11179969" y="4863703"/>
            <a:ext cx="839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外部状态变化</a:t>
            </a:r>
            <a:endParaRPr lang="en-US" sz="800" dirty="0" spc="0"/>
          </a:p>
        </p:txBody>
      </p:sp>
      <p:sp>
        <p:nvSpPr>
          <p:cNvPr id="105" name="ocr-060"/>
          <p:cNvSpPr txBox="1"/>
          <p:nvPr/>
        </p:nvSpPr>
        <p:spPr>
          <a:xfrm>
            <a:off x="523875" y="4953000"/>
            <a:ext cx="261938" cy="4226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173753"/>
                </a:solidFill>
                <a:latin typeface="Microsoft YaHei" pitchFamily="34" charset="0"/>
                <a:ea typeface="Microsoft YaHei" pitchFamily="34" charset="-122"/>
                <a:cs typeface="Microsoft YaHei" pitchFamily="34" charset="-120"/>
              </a:rPr>
              <a:t>方口</a:t>
            </a:r>
            <a:endParaRPr lang="en-US" sz="1450" dirty="0" spc="0"/>
          </a:p>
        </p:txBody>
      </p:sp>
      <p:sp>
        <p:nvSpPr>
          <p:cNvPr id="106" name="ocr-061"/>
          <p:cNvSpPr txBox="1"/>
          <p:nvPr/>
        </p:nvSpPr>
        <p:spPr>
          <a:xfrm>
            <a:off x="815578" y="4994672"/>
            <a:ext cx="958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运动/活动状态</a:t>
            </a:r>
            <a:endParaRPr lang="en-US" sz="800" dirty="0" spc="0"/>
          </a:p>
        </p:txBody>
      </p:sp>
      <p:sp>
        <p:nvSpPr>
          <p:cNvPr id="107" name="ocr-062"/>
          <p:cNvSpPr txBox="1"/>
          <p:nvPr/>
        </p:nvSpPr>
        <p:spPr>
          <a:xfrm>
            <a:off x="5667375" y="5018484"/>
            <a:ext cx="17323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状态更新/必要时反馈</a:t>
            </a:r>
            <a:endParaRPr lang="en-US" sz="800" dirty="0" spc="0"/>
          </a:p>
        </p:txBody>
      </p:sp>
      <p:sp>
        <p:nvSpPr>
          <p:cNvPr id="108" name="ocr-063"/>
          <p:cNvSpPr txBox="1"/>
          <p:nvPr/>
        </p:nvSpPr>
        <p:spPr>
          <a:xfrm>
            <a:off x="8691563" y="4958953"/>
            <a:ext cx="2363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返回失败给果，Agent需要取消当前</a:t>
            </a:r>
            <a:endParaRPr lang="en-US" sz="800" dirty="0" spc="0"/>
          </a:p>
        </p:txBody>
      </p:sp>
      <p:sp>
        <p:nvSpPr>
          <p:cNvPr id="109" name="ocr-064"/>
          <p:cNvSpPr txBox="1"/>
          <p:nvPr/>
        </p:nvSpPr>
        <p:spPr>
          <a:xfrm>
            <a:off x="1964531" y="5072063"/>
            <a:ext cx="7560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低功耗感知</a:t>
            </a:r>
            <a:endParaRPr lang="en-US" sz="750" dirty="0" spc="0"/>
          </a:p>
        </p:txBody>
      </p:sp>
      <p:sp>
        <p:nvSpPr>
          <p:cNvPr id="110" name="ocr-065"/>
          <p:cNvSpPr txBox="1"/>
          <p:nvPr/>
        </p:nvSpPr>
        <p:spPr>
          <a:xfrm>
            <a:off x="3363516" y="5054203"/>
            <a:ext cx="79771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不满足条件</a:t>
            </a:r>
            <a:endParaRPr lang="en-US" sz="850" dirty="0" spc="0"/>
          </a:p>
        </p:txBody>
      </p:sp>
      <p:sp>
        <p:nvSpPr>
          <p:cNvPr id="111" name="ocr-066"/>
          <p:cNvSpPr txBox="1"/>
          <p:nvPr/>
        </p:nvSpPr>
        <p:spPr>
          <a:xfrm>
            <a:off x="8691563" y="5107781"/>
            <a:ext cx="151804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步骤，回退并重新规划。</a:t>
            </a:r>
            <a:endParaRPr lang="en-US" sz="800" dirty="0" spc="0"/>
          </a:p>
        </p:txBody>
      </p:sp>
      <p:sp>
        <p:nvSpPr>
          <p:cNvPr id="112" name="ocr-067"/>
          <p:cNvSpPr txBox="1"/>
          <p:nvPr/>
        </p:nvSpPr>
        <p:spPr>
          <a:xfrm>
            <a:off x="821531" y="5179219"/>
            <a:ext cx="8453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应用使用状态</a:t>
            </a:r>
            <a:endParaRPr lang="en-US" sz="800" dirty="0" spc="0"/>
          </a:p>
        </p:txBody>
      </p:sp>
      <p:sp>
        <p:nvSpPr>
          <p:cNvPr id="113" name="ocr-068"/>
          <p:cNvSpPr txBox="1"/>
          <p:nvPr/>
        </p:nvSpPr>
        <p:spPr>
          <a:xfrm>
            <a:off x="3369469" y="5203031"/>
            <a:ext cx="76200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保持低功耗</a:t>
            </a:r>
            <a:endParaRPr lang="en-US" sz="850" dirty="0" spc="0"/>
          </a:p>
        </p:txBody>
      </p:sp>
      <p:sp>
        <p:nvSpPr>
          <p:cNvPr id="114" name="ocr-069"/>
          <p:cNvSpPr txBox="1"/>
          <p:nvPr/>
        </p:nvSpPr>
        <p:spPr>
          <a:xfrm>
            <a:off x="5661422" y="5191125"/>
            <a:ext cx="213717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更新记忆/生成新目标/通知用户</a:t>
            </a:r>
            <a:endParaRPr lang="en-US" sz="800" dirty="0" spc="0"/>
          </a:p>
        </p:txBody>
      </p:sp>
      <p:sp>
        <p:nvSpPr>
          <p:cNvPr id="115" name="ocr-070"/>
          <p:cNvSpPr txBox="1"/>
          <p:nvPr/>
        </p:nvSpPr>
        <p:spPr>
          <a:xfrm>
            <a:off x="11197828" y="5149453"/>
            <a:ext cx="5655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执行失败</a:t>
            </a:r>
            <a:endParaRPr lang="en-US" sz="750" dirty="0" spc="0"/>
          </a:p>
        </p:txBody>
      </p:sp>
      <p:sp>
        <p:nvSpPr>
          <p:cNvPr id="116" name="ocr-071"/>
          <p:cNvSpPr txBox="1"/>
          <p:nvPr/>
        </p:nvSpPr>
        <p:spPr>
          <a:xfrm>
            <a:off x="1976438" y="5214938"/>
            <a:ext cx="738188"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与唤醒决莱</a:t>
            </a:r>
            <a:endParaRPr lang="en-US" sz="750" dirty="0" spc="0"/>
          </a:p>
        </p:txBody>
      </p:sp>
      <p:sp>
        <p:nvSpPr>
          <p:cNvPr id="117" name="ocr-072"/>
          <p:cNvSpPr txBox="1"/>
          <p:nvPr/>
        </p:nvSpPr>
        <p:spPr>
          <a:xfrm>
            <a:off x="821531" y="5363766"/>
            <a:ext cx="8453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其他传感信号</a:t>
            </a:r>
            <a:endParaRPr lang="en-US" sz="800" dirty="0" spc="0"/>
          </a:p>
        </p:txBody>
      </p:sp>
      <p:sp>
        <p:nvSpPr>
          <p:cNvPr id="118" name="ocr-073"/>
          <p:cNvSpPr txBox="1"/>
          <p:nvPr/>
        </p:nvSpPr>
        <p:spPr>
          <a:xfrm>
            <a:off x="3363516" y="5345906"/>
            <a:ext cx="50006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不唤醒</a:t>
            </a:r>
            <a:endParaRPr lang="en-US" sz="850" dirty="0" spc="0"/>
          </a:p>
        </p:txBody>
      </p:sp>
      <p:sp>
        <p:nvSpPr>
          <p:cNvPr id="119" name="ocr-074"/>
          <p:cNvSpPr txBox="1"/>
          <p:nvPr/>
        </p:nvSpPr>
        <p:spPr>
          <a:xfrm>
            <a:off x="8709422" y="5447109"/>
            <a:ext cx="149423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带来的执行负载变化</a:t>
            </a:r>
            <a:endParaRPr lang="en-US" sz="800" dirty="0" spc="0"/>
          </a:p>
        </p:txBody>
      </p:sp>
      <p:sp>
        <p:nvSpPr>
          <p:cNvPr id="120" name="ocr-075"/>
          <p:cNvSpPr txBox="1"/>
          <p:nvPr/>
        </p:nvSpPr>
        <p:spPr>
          <a:xfrm>
            <a:off x="1035844" y="5613797"/>
            <a:ext cx="14227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带来的执行负载变化</a:t>
            </a:r>
            <a:endParaRPr lang="en-US" sz="800" dirty="0" spc="0"/>
          </a:p>
        </p:txBody>
      </p:sp>
      <p:sp>
        <p:nvSpPr>
          <p:cNvPr id="121" name="ocr-076"/>
          <p:cNvSpPr txBox="1"/>
          <p:nvPr/>
        </p:nvSpPr>
        <p:spPr>
          <a:xfrm>
            <a:off x="8715375" y="5625703"/>
            <a:ext cx="2024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状态版本、TTL、失效、重建</a:t>
            </a:r>
            <a:endParaRPr lang="en-US" sz="800" dirty="0" spc="0"/>
          </a:p>
        </p:txBody>
      </p:sp>
      <p:sp>
        <p:nvSpPr>
          <p:cNvPr id="122" name="ocr-077"/>
          <p:cNvSpPr txBox="1"/>
          <p:nvPr/>
        </p:nvSpPr>
        <p:spPr>
          <a:xfrm>
            <a:off x="1035844" y="5750719"/>
            <a:ext cx="17145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唤醒、误报、隐私与电池</a:t>
            </a:r>
            <a:endParaRPr lang="en-US" sz="800" dirty="0" spc="0"/>
          </a:p>
        </p:txBody>
      </p:sp>
      <p:sp>
        <p:nvSpPr>
          <p:cNvPr id="123" name="ocr-078"/>
          <p:cNvSpPr txBox="1"/>
          <p:nvPr/>
        </p:nvSpPr>
        <p:spPr>
          <a:xfrm>
            <a:off x="4506516" y="5780484"/>
            <a:ext cx="111323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感知与唤醒门控</a:t>
            </a:r>
            <a:endParaRPr lang="en-US" sz="850" dirty="0" spc="0"/>
          </a:p>
        </p:txBody>
      </p:sp>
      <p:sp>
        <p:nvSpPr>
          <p:cNvPr id="124" name="ocr-079"/>
          <p:cNvSpPr txBox="1"/>
          <p:nvPr/>
        </p:nvSpPr>
        <p:spPr>
          <a:xfrm>
            <a:off x="8715375" y="5798344"/>
            <a:ext cx="345876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需要推护任务状态的服本管理与有效期，处理状态失效、</a:t>
            </a:r>
            <a:endParaRPr lang="en-US" sz="750" dirty="0" spc="0"/>
          </a:p>
        </p:txBody>
      </p:sp>
      <p:sp>
        <p:nvSpPr>
          <p:cNvPr id="125" name="ocr-080"/>
          <p:cNvSpPr txBox="1"/>
          <p:nvPr/>
        </p:nvSpPr>
        <p:spPr>
          <a:xfrm>
            <a:off x="1035844" y="5875734"/>
            <a:ext cx="350043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需要在低功耗下完成感知与判断，平衡焕醒准确性、用户隐私</a:t>
            </a:r>
            <a:endParaRPr lang="en-US" sz="800" dirty="0" spc="0"/>
          </a:p>
        </p:txBody>
      </p:sp>
      <p:sp>
        <p:nvSpPr>
          <p:cNvPr id="126" name="ocr-081"/>
          <p:cNvSpPr txBox="1"/>
          <p:nvPr/>
        </p:nvSpPr>
        <p:spPr>
          <a:xfrm>
            <a:off x="4566047" y="5947172"/>
            <a:ext cx="13989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(并非每次都会触发）</a:t>
            </a:r>
            <a:endParaRPr lang="en-US" sz="800" dirty="0" spc="0"/>
          </a:p>
        </p:txBody>
      </p:sp>
      <p:sp>
        <p:nvSpPr>
          <p:cNvPr id="127" name="ocr-082"/>
          <p:cNvSpPr txBox="1"/>
          <p:nvPr/>
        </p:nvSpPr>
        <p:spPr>
          <a:xfrm>
            <a:off x="8721328" y="5947172"/>
            <a:ext cx="345281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回退与重新构建，带来额外的内存、存储与计算开销。</a:t>
            </a:r>
            <a:endParaRPr lang="en-US" sz="750" dirty="0" spc="0"/>
          </a:p>
        </p:txBody>
      </p:sp>
      <p:sp>
        <p:nvSpPr>
          <p:cNvPr id="128" name="ocr-083"/>
          <p:cNvSpPr txBox="1"/>
          <p:nvPr/>
        </p:nvSpPr>
        <p:spPr>
          <a:xfrm>
            <a:off x="1041797" y="6036469"/>
            <a:ext cx="110132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保护与电池消耗。</a:t>
            </a:r>
            <a:endParaRPr lang="en-US" sz="750" dirty="0" spc="0"/>
          </a:p>
        </p:txBody>
      </p:sp>
      <p:sp>
        <p:nvSpPr>
          <p:cNvPr id="129" name="ocr-084"/>
          <p:cNvSpPr txBox="1"/>
          <p:nvPr/>
        </p:nvSpPr>
        <p:spPr>
          <a:xfrm>
            <a:off x="857250" y="6286500"/>
            <a:ext cx="8471297"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这些变化共同塑造了手机上的Agent执行负载：不再是固定的硬件流水线，而是受感知、控制流、工具动作与状态管理驱动的动态工作流。</a:t>
            </a:r>
            <a:endParaRPr lang="en-US" sz="950" dirty="0" spc="0"/>
          </a:p>
        </p:txBody>
      </p:sp>
      <p:sp>
        <p:nvSpPr>
          <p:cNvPr id="130" name="ocr-085"/>
          <p:cNvSpPr txBox="1"/>
          <p:nvPr/>
        </p:nvSpPr>
        <p:spPr>
          <a:xfrm>
            <a:off x="9358313" y="6250781"/>
            <a:ext cx="281582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需要从系统层面考虑计算调度、内存管理、权限与恢复、</a:t>
            </a:r>
            <a:endParaRPr lang="en-US" sz="750" dirty="0" spc="0"/>
          </a:p>
        </p:txBody>
      </p:sp>
      <p:sp>
        <p:nvSpPr>
          <p:cNvPr id="131" name="ocr-086"/>
          <p:cNvSpPr txBox="1"/>
          <p:nvPr/>
        </p:nvSpPr>
        <p:spPr>
          <a:xfrm>
            <a:off x="9358313" y="6387703"/>
            <a:ext cx="2119313" cy="14287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650" dirty="0" spc="0">
                <a:solidFill>
                  <a:srgbClr val="58738A"/>
                </a:solidFill>
                <a:latin typeface="Microsoft YaHei" pitchFamily="34" charset="0"/>
                <a:ea typeface="Microsoft YaHei" pitchFamily="34" charset="-122"/>
                <a:cs typeface="Microsoft YaHei" pitchFamily="34" charset="-120"/>
              </a:rPr>
              <a:t>以及功耗与隐私等多维度的协同优化。</a:t>
            </a:r>
            <a:endParaRPr lang="en-US" sz="650" dirty="0" spc="0"/>
          </a:p>
        </p:txBody>
      </p:sp>
      <p:sp>
        <p:nvSpPr>
          <p:cNvPr id="132"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accent"/>
          <p:cNvSpPr/>
          <p:nvPr/>
        </p:nvSpPr>
        <p:spPr>
          <a:xfrm>
            <a:off x="381000" y="500063"/>
            <a:ext cx="53578" cy="702469"/>
          </a:xfrm>
          <a:prstGeom prst="rect">
            <a:avLst/>
          </a:prstGeom>
          <a:solidFill>
            <a:srgbClr val="2473B6"/>
          </a:solidFill>
          <a:ln w="12700">
            <a:solidFill>
              <a:srgbClr val="FFFFFF">
                <a:alpha val="0"/>
              </a:srgbClr>
            </a:solidFill>
            <a:prstDash val="solid"/>
          </a:ln>
        </p:spPr>
      </p:sp>
      <p:sp>
        <p:nvSpPr>
          <p:cNvPr id="3" name="title-rule"/>
          <p:cNvSpPr/>
          <p:nvPr/>
        </p:nvSpPr>
        <p:spPr>
          <a:xfrm>
            <a:off x="398859" y="1315641"/>
            <a:ext cx="11400234" cy="11906"/>
          </a:xfrm>
          <a:prstGeom prst="rect">
            <a:avLst/>
          </a:prstGeom>
          <a:solidFill>
            <a:srgbClr val="C9DBEA"/>
          </a:solidFill>
          <a:ln w="12700">
            <a:solidFill>
              <a:srgbClr val="FFFFFF">
                <a:alpha val="0"/>
              </a:srgbClr>
            </a:solidFill>
            <a:prstDash val="solid"/>
          </a:ln>
        </p:spPr>
      </p:sp>
      <p:sp>
        <p:nvSpPr>
          <p:cNvPr id="4" name="dag-panel"/>
          <p:cNvSpPr/>
          <p:nvPr/>
        </p:nvSpPr>
        <p:spPr>
          <a:xfrm>
            <a:off x="392906" y="1500188"/>
            <a:ext cx="7477125" cy="3298031"/>
          </a:xfrm>
          <a:prstGeom prst="roundRect">
            <a:avLst>
              <a:gd name="adj" fmla="val 2527"/>
            </a:avLst>
          </a:prstGeom>
          <a:solidFill>
            <a:srgbClr val="FFFFFF"/>
          </a:solidFill>
          <a:ln w="9525">
            <a:solidFill>
              <a:srgbClr val="C9DBEA"/>
            </a:solidFill>
            <a:prstDash val="solid"/>
          </a:ln>
        </p:spPr>
      </p:sp>
      <p:sp>
        <p:nvSpPr>
          <p:cNvPr id="5" name="constraints-panel"/>
          <p:cNvSpPr/>
          <p:nvPr/>
        </p:nvSpPr>
        <p:spPr>
          <a:xfrm>
            <a:off x="8012906" y="1500188"/>
            <a:ext cx="3768328" cy="3298031"/>
          </a:xfrm>
          <a:prstGeom prst="roundRect">
            <a:avLst>
              <a:gd name="adj" fmla="val 2527"/>
            </a:avLst>
          </a:prstGeom>
          <a:solidFill>
            <a:srgbClr val="FFFFFF"/>
          </a:solidFill>
          <a:ln w="9525">
            <a:solidFill>
              <a:srgbClr val="C9DBEA"/>
            </a:solidFill>
            <a:prstDash val="solid"/>
          </a:ln>
        </p:spPr>
      </p:sp>
      <p:sp>
        <p:nvSpPr>
          <p:cNvPr id="6" name="schedule-panel"/>
          <p:cNvSpPr/>
          <p:nvPr/>
        </p:nvSpPr>
        <p:spPr>
          <a:xfrm>
            <a:off x="392906" y="4923234"/>
            <a:ext cx="11388328" cy="898922"/>
          </a:xfrm>
          <a:prstGeom prst="roundRect">
            <a:avLst>
              <a:gd name="adj" fmla="val 9272"/>
            </a:avLst>
          </a:prstGeom>
          <a:solidFill>
            <a:srgbClr val="FFFFFF"/>
          </a:solidFill>
          <a:ln w="9525">
            <a:solidFill>
              <a:srgbClr val="C9DBEA"/>
            </a:solidFill>
            <a:prstDash val="solid"/>
          </a:ln>
        </p:spPr>
      </p:sp>
      <p:sp>
        <p:nvSpPr>
          <p:cNvPr id="7" name="dag-field"/>
          <p:cNvSpPr/>
          <p:nvPr/>
        </p:nvSpPr>
        <p:spPr>
          <a:xfrm>
            <a:off x="500063" y="1899047"/>
            <a:ext cx="7227094" cy="2672953"/>
          </a:xfrm>
          <a:prstGeom prst="roundRect">
            <a:avLst>
              <a:gd name="adj" fmla="val 2895"/>
            </a:avLst>
          </a:prstGeom>
          <a:solidFill>
            <a:srgbClr val="F7F9FD"/>
          </a:solidFill>
          <a:ln w="8930">
            <a:solidFill>
              <a:srgbClr val="D7E8F7"/>
            </a:solidFill>
            <a:prstDash val="solid"/>
          </a:ln>
        </p:spPr>
      </p:sp>
      <p:sp>
        <p:nvSpPr>
          <p:cNvPr id="8" name="takeaway-field"/>
          <p:cNvSpPr/>
          <p:nvPr/>
        </p:nvSpPr>
        <p:spPr>
          <a:xfrm>
            <a:off x="392906" y="5917406"/>
            <a:ext cx="11388328" cy="279797"/>
          </a:xfrm>
          <a:prstGeom prst="roundRect">
            <a:avLst>
              <a:gd name="adj" fmla="val 17021"/>
            </a:avLst>
          </a:prstGeom>
          <a:solidFill>
            <a:srgbClr val="EDF4FA"/>
          </a:solidFill>
          <a:ln w="12700">
            <a:solidFill>
              <a:srgbClr val="FFFFFF">
                <a:alpha val="0"/>
              </a:srgbClr>
            </a:solidFill>
            <a:prstDash val="solid"/>
          </a:ln>
        </p:spPr>
      </p:sp>
      <p:sp>
        <p:nvSpPr>
          <p:cNvPr id="9" name="source-rule"/>
          <p:cNvSpPr/>
          <p:nvPr/>
        </p:nvSpPr>
        <p:spPr>
          <a:xfrm>
            <a:off x="422672" y="6274594"/>
            <a:ext cx="11352609" cy="11906"/>
          </a:xfrm>
          <a:prstGeom prst="rect">
            <a:avLst/>
          </a:prstGeom>
          <a:solidFill>
            <a:srgbClr val="C9DBEA"/>
          </a:solidFill>
          <a:ln w="12700">
            <a:solidFill>
              <a:srgbClr val="FFFFFF">
                <a:alpha val="0"/>
              </a:srgbClr>
            </a:solidFill>
            <a:prstDash val="solid"/>
          </a:ln>
        </p:spPr>
      </p:sp>
      <p:sp>
        <p:nvSpPr>
          <p:cNvPr id="10" name="dag-bar"/>
          <p:cNvSpPr/>
          <p:nvPr/>
        </p:nvSpPr>
        <p:spPr>
          <a:xfrm>
            <a:off x="392906" y="1500188"/>
            <a:ext cx="7477125" cy="351234"/>
          </a:xfrm>
          <a:prstGeom prst="roundRect">
            <a:avLst>
              <a:gd name="adj" fmla="val 16949"/>
            </a:avLst>
          </a:prstGeom>
          <a:solidFill>
            <a:srgbClr val="174478"/>
          </a:solidFill>
          <a:ln w="12700">
            <a:solidFill>
              <a:srgbClr val="FFFFFF">
                <a:alpha val="0"/>
              </a:srgbClr>
            </a:solidFill>
            <a:prstDash val="solid"/>
          </a:ln>
        </p:spPr>
      </p:sp>
      <p:sp>
        <p:nvSpPr>
          <p:cNvPr id="11" name="constraints-bar"/>
          <p:cNvSpPr/>
          <p:nvPr/>
        </p:nvSpPr>
        <p:spPr>
          <a:xfrm>
            <a:off x="8012906" y="1500188"/>
            <a:ext cx="3768328" cy="351234"/>
          </a:xfrm>
          <a:prstGeom prst="roundRect">
            <a:avLst>
              <a:gd name="adj" fmla="val 16949"/>
            </a:avLst>
          </a:prstGeom>
          <a:solidFill>
            <a:srgbClr val="174478"/>
          </a:solidFill>
          <a:ln w="12700">
            <a:solidFill>
              <a:srgbClr val="FFFFFF">
                <a:alpha val="0"/>
              </a:srgbClr>
            </a:solidFill>
            <a:prstDash val="solid"/>
          </a:ln>
        </p:spPr>
      </p:sp>
      <p:sp>
        <p:nvSpPr>
          <p:cNvPr id="12" name="schedule-bar"/>
          <p:cNvSpPr/>
          <p:nvPr/>
        </p:nvSpPr>
        <p:spPr>
          <a:xfrm>
            <a:off x="392906" y="4923234"/>
            <a:ext cx="11388328" cy="351234"/>
          </a:xfrm>
          <a:prstGeom prst="roundRect">
            <a:avLst>
              <a:gd name="adj" fmla="val 16949"/>
            </a:avLst>
          </a:prstGeom>
          <a:solidFill>
            <a:srgbClr val="174478"/>
          </a:solidFill>
          <a:ln w="12700">
            <a:solidFill>
              <a:srgbClr val="FFFFFF">
                <a:alpha val="0"/>
              </a:srgbClr>
            </a:solidFill>
            <a:prstDash val="solid"/>
          </a:ln>
        </p:spPr>
      </p:sp>
      <p:sp>
        <p:nvSpPr>
          <p:cNvPr id="13" name="N1"/>
          <p:cNvSpPr/>
          <p:nvPr/>
        </p:nvSpPr>
        <p:spPr>
          <a:xfrm>
            <a:off x="648891" y="2815828"/>
            <a:ext cx="1000125" cy="589359"/>
          </a:xfrm>
          <a:prstGeom prst="roundRect">
            <a:avLst>
              <a:gd name="adj" fmla="val 11111"/>
            </a:avLst>
          </a:prstGeom>
          <a:solidFill>
            <a:srgbClr val="E7F2FD"/>
          </a:solidFill>
          <a:ln w="8930">
            <a:solidFill>
              <a:srgbClr val="A4CEF0"/>
            </a:solidFill>
            <a:prstDash val="solid"/>
          </a:ln>
        </p:spPr>
      </p:sp>
      <p:sp>
        <p:nvSpPr>
          <p:cNvPr id="14" name="N2"/>
          <p:cNvSpPr/>
          <p:nvPr/>
        </p:nvSpPr>
        <p:spPr>
          <a:xfrm>
            <a:off x="1875234" y="2792016"/>
            <a:ext cx="976313" cy="601266"/>
          </a:xfrm>
          <a:prstGeom prst="roundRect">
            <a:avLst>
              <a:gd name="adj" fmla="val 10891"/>
            </a:avLst>
          </a:prstGeom>
          <a:solidFill>
            <a:srgbClr val="E7F2FD"/>
          </a:solidFill>
          <a:ln w="8930">
            <a:solidFill>
              <a:srgbClr val="A4CEF0"/>
            </a:solidFill>
            <a:prstDash val="solid"/>
          </a:ln>
        </p:spPr>
      </p:sp>
      <p:sp>
        <p:nvSpPr>
          <p:cNvPr id="15" name="N3"/>
          <p:cNvSpPr/>
          <p:nvPr/>
        </p:nvSpPr>
        <p:spPr>
          <a:xfrm>
            <a:off x="3089672" y="2291953"/>
            <a:ext cx="1166813" cy="452438"/>
          </a:xfrm>
          <a:prstGeom prst="roundRect">
            <a:avLst>
              <a:gd name="adj" fmla="val 14474"/>
            </a:avLst>
          </a:prstGeom>
          <a:solidFill>
            <a:srgbClr val="E7F2FD"/>
          </a:solidFill>
          <a:ln w="8930">
            <a:solidFill>
              <a:srgbClr val="A4CEF0"/>
            </a:solidFill>
            <a:prstDash val="solid"/>
          </a:ln>
        </p:spPr>
      </p:sp>
      <p:sp>
        <p:nvSpPr>
          <p:cNvPr id="16" name="N4a"/>
          <p:cNvSpPr/>
          <p:nvPr/>
        </p:nvSpPr>
        <p:spPr>
          <a:xfrm>
            <a:off x="4881563" y="2291953"/>
            <a:ext cx="1083469" cy="452438"/>
          </a:xfrm>
          <a:prstGeom prst="roundRect">
            <a:avLst>
              <a:gd name="adj" fmla="val 14474"/>
            </a:avLst>
          </a:prstGeom>
          <a:solidFill>
            <a:srgbClr val="E7F2FD"/>
          </a:solidFill>
          <a:ln w="8930">
            <a:solidFill>
              <a:srgbClr val="A4CEF0"/>
            </a:solidFill>
            <a:prstDash val="solid"/>
          </a:ln>
        </p:spPr>
      </p:sp>
      <p:sp>
        <p:nvSpPr>
          <p:cNvPr id="17" name="N4b"/>
          <p:cNvSpPr/>
          <p:nvPr/>
        </p:nvSpPr>
        <p:spPr>
          <a:xfrm>
            <a:off x="4881563" y="2934891"/>
            <a:ext cx="1083469" cy="446484"/>
          </a:xfrm>
          <a:prstGeom prst="roundRect">
            <a:avLst>
              <a:gd name="adj" fmla="val 14667"/>
            </a:avLst>
          </a:prstGeom>
          <a:solidFill>
            <a:srgbClr val="E7F2FD"/>
          </a:solidFill>
          <a:ln w="8930">
            <a:solidFill>
              <a:srgbClr val="A4CEF0"/>
            </a:solidFill>
            <a:prstDash val="solid"/>
          </a:ln>
        </p:spPr>
      </p:sp>
      <p:sp>
        <p:nvSpPr>
          <p:cNvPr id="18" name="N5"/>
          <p:cNvSpPr/>
          <p:nvPr/>
        </p:nvSpPr>
        <p:spPr>
          <a:xfrm>
            <a:off x="6191250" y="2792016"/>
            <a:ext cx="1131094" cy="583406"/>
          </a:xfrm>
          <a:prstGeom prst="roundRect">
            <a:avLst>
              <a:gd name="adj" fmla="val 11224"/>
            </a:avLst>
          </a:prstGeom>
          <a:solidFill>
            <a:srgbClr val="E7F2FD"/>
          </a:solidFill>
          <a:ln w="8930">
            <a:solidFill>
              <a:srgbClr val="A4CEF0"/>
            </a:solidFill>
            <a:prstDash val="solid"/>
          </a:ln>
        </p:spPr>
      </p:sp>
      <p:sp>
        <p:nvSpPr>
          <p:cNvPr id="19" name="N6"/>
          <p:cNvSpPr/>
          <p:nvPr/>
        </p:nvSpPr>
        <p:spPr>
          <a:xfrm>
            <a:off x="6488906" y="3780234"/>
            <a:ext cx="1107281" cy="607219"/>
          </a:xfrm>
          <a:prstGeom prst="roundRect">
            <a:avLst>
              <a:gd name="adj" fmla="val 10784"/>
            </a:avLst>
          </a:prstGeom>
          <a:solidFill>
            <a:srgbClr val="E7F2FD"/>
          </a:solidFill>
          <a:ln w="8930">
            <a:solidFill>
              <a:srgbClr val="A4CEF0"/>
            </a:solidFill>
            <a:prstDash val="solid"/>
          </a:ln>
        </p:spPr>
      </p:sp>
      <p:sp>
        <p:nvSpPr>
          <p:cNvPr id="20" name="N7"/>
          <p:cNvSpPr/>
          <p:nvPr/>
        </p:nvSpPr>
        <p:spPr>
          <a:xfrm>
            <a:off x="5089922" y="3780234"/>
            <a:ext cx="1113234" cy="607219"/>
          </a:xfrm>
          <a:prstGeom prst="roundRect">
            <a:avLst>
              <a:gd name="adj" fmla="val 10784"/>
            </a:avLst>
          </a:prstGeom>
          <a:solidFill>
            <a:srgbClr val="E7F2FD"/>
          </a:solidFill>
          <a:ln w="8930">
            <a:solidFill>
              <a:srgbClr val="A4CEF0"/>
            </a:solidFill>
            <a:prstDash val="solid"/>
          </a:ln>
        </p:spPr>
      </p:sp>
      <p:sp>
        <p:nvSpPr>
          <p:cNvPr id="21" name="N8"/>
          <p:cNvSpPr/>
          <p:nvPr/>
        </p:nvSpPr>
        <p:spPr>
          <a:xfrm>
            <a:off x="3810000" y="3780234"/>
            <a:ext cx="1065609" cy="607219"/>
          </a:xfrm>
          <a:prstGeom prst="roundRect">
            <a:avLst>
              <a:gd name="adj" fmla="val 10784"/>
            </a:avLst>
          </a:prstGeom>
          <a:solidFill>
            <a:srgbClr val="E7F2FD"/>
          </a:solidFill>
          <a:ln w="8930">
            <a:solidFill>
              <a:srgbClr val="A4CEF0"/>
            </a:solidFill>
            <a:prstDash val="solid"/>
          </a:ln>
        </p:spPr>
      </p:sp>
      <p:sp>
        <p:nvSpPr>
          <p:cNvPr id="22" name="N9"/>
          <p:cNvSpPr/>
          <p:nvPr/>
        </p:nvSpPr>
        <p:spPr>
          <a:xfrm>
            <a:off x="2464594" y="3780234"/>
            <a:ext cx="1137047" cy="607219"/>
          </a:xfrm>
          <a:prstGeom prst="roundRect">
            <a:avLst>
              <a:gd name="adj" fmla="val 10784"/>
            </a:avLst>
          </a:prstGeom>
          <a:solidFill>
            <a:srgbClr val="E7F2FD"/>
          </a:solidFill>
          <a:ln w="8930">
            <a:solidFill>
              <a:srgbClr val="A4CEF0"/>
            </a:solidFill>
            <a:prstDash val="solid"/>
          </a:ln>
        </p:spPr>
      </p:sp>
      <p:sp>
        <p:nvSpPr>
          <p:cNvPr id="23" name="constraint-1"/>
          <p:cNvSpPr/>
          <p:nvPr/>
        </p:nvSpPr>
        <p:spPr>
          <a:xfrm>
            <a:off x="8161734" y="1940719"/>
            <a:ext cx="3476625" cy="589359"/>
          </a:xfrm>
          <a:prstGeom prst="roundRect">
            <a:avLst>
              <a:gd name="adj" fmla="val 12121"/>
            </a:avLst>
          </a:prstGeom>
          <a:solidFill>
            <a:srgbClr val="E7F2FD"/>
          </a:solidFill>
          <a:ln w="8930">
            <a:solidFill>
              <a:srgbClr val="C9DBEA"/>
            </a:solidFill>
            <a:prstDash val="solid"/>
          </a:ln>
        </p:spPr>
      </p:sp>
      <p:sp>
        <p:nvSpPr>
          <p:cNvPr id="24" name="constraint-2"/>
          <p:cNvSpPr/>
          <p:nvPr/>
        </p:nvSpPr>
        <p:spPr>
          <a:xfrm>
            <a:off x="8161734" y="2601516"/>
            <a:ext cx="3476625" cy="589359"/>
          </a:xfrm>
          <a:prstGeom prst="roundRect">
            <a:avLst>
              <a:gd name="adj" fmla="val 12121"/>
            </a:avLst>
          </a:prstGeom>
          <a:solidFill>
            <a:srgbClr val="F7F9FD"/>
          </a:solidFill>
          <a:ln w="8930">
            <a:solidFill>
              <a:srgbClr val="C9DBEA"/>
            </a:solidFill>
            <a:prstDash val="solid"/>
          </a:ln>
        </p:spPr>
      </p:sp>
      <p:sp>
        <p:nvSpPr>
          <p:cNvPr id="25" name="constraint-3"/>
          <p:cNvSpPr/>
          <p:nvPr/>
        </p:nvSpPr>
        <p:spPr>
          <a:xfrm>
            <a:off x="8161734" y="3262313"/>
            <a:ext cx="3476625" cy="589359"/>
          </a:xfrm>
          <a:prstGeom prst="roundRect">
            <a:avLst>
              <a:gd name="adj" fmla="val 12121"/>
            </a:avLst>
          </a:prstGeom>
          <a:solidFill>
            <a:srgbClr val="E7F2FD"/>
          </a:solidFill>
          <a:ln w="8930">
            <a:solidFill>
              <a:srgbClr val="C9DBEA"/>
            </a:solidFill>
            <a:prstDash val="solid"/>
          </a:ln>
        </p:spPr>
      </p:sp>
      <p:sp>
        <p:nvSpPr>
          <p:cNvPr id="26" name="constraint-4"/>
          <p:cNvSpPr/>
          <p:nvPr/>
        </p:nvSpPr>
        <p:spPr>
          <a:xfrm>
            <a:off x="8161734" y="3923109"/>
            <a:ext cx="3476625" cy="589359"/>
          </a:xfrm>
          <a:prstGeom prst="roundRect">
            <a:avLst>
              <a:gd name="adj" fmla="val 12121"/>
            </a:avLst>
          </a:prstGeom>
          <a:solidFill>
            <a:srgbClr val="F7F9FD"/>
          </a:solidFill>
          <a:ln w="8930">
            <a:solidFill>
              <a:srgbClr val="C9DBEA"/>
            </a:solidFill>
            <a:prstDash val="solid"/>
          </a:ln>
        </p:spPr>
      </p:sp>
      <p:sp>
        <p:nvSpPr>
          <p:cNvPr id="27" name="step-1"/>
          <p:cNvSpPr/>
          <p:nvPr/>
        </p:nvSpPr>
        <p:spPr>
          <a:xfrm>
            <a:off x="517922" y="5304234"/>
            <a:ext cx="2018109" cy="398859"/>
          </a:xfrm>
          <a:prstGeom prst="roundRect">
            <a:avLst>
              <a:gd name="adj" fmla="val 14925"/>
            </a:avLst>
          </a:prstGeom>
          <a:solidFill>
            <a:srgbClr val="E7F2FD"/>
          </a:solidFill>
          <a:ln w="8930">
            <a:solidFill>
              <a:srgbClr val="C9DBEA"/>
            </a:solidFill>
            <a:prstDash val="solid"/>
          </a:ln>
        </p:spPr>
      </p:sp>
      <p:sp>
        <p:nvSpPr>
          <p:cNvPr id="28" name="step-2"/>
          <p:cNvSpPr/>
          <p:nvPr/>
        </p:nvSpPr>
        <p:spPr>
          <a:xfrm>
            <a:off x="2827734" y="5304234"/>
            <a:ext cx="2018109" cy="398859"/>
          </a:xfrm>
          <a:prstGeom prst="roundRect">
            <a:avLst>
              <a:gd name="adj" fmla="val 14925"/>
            </a:avLst>
          </a:prstGeom>
          <a:solidFill>
            <a:srgbClr val="F7F9FD"/>
          </a:solidFill>
          <a:ln w="8930">
            <a:solidFill>
              <a:srgbClr val="C9DBEA"/>
            </a:solidFill>
            <a:prstDash val="solid"/>
          </a:ln>
        </p:spPr>
      </p:sp>
      <p:sp>
        <p:nvSpPr>
          <p:cNvPr id="29" name="step-3"/>
          <p:cNvSpPr/>
          <p:nvPr/>
        </p:nvSpPr>
        <p:spPr>
          <a:xfrm>
            <a:off x="5137547" y="5304234"/>
            <a:ext cx="2018109" cy="398859"/>
          </a:xfrm>
          <a:prstGeom prst="roundRect">
            <a:avLst>
              <a:gd name="adj" fmla="val 14925"/>
            </a:avLst>
          </a:prstGeom>
          <a:solidFill>
            <a:srgbClr val="E7F2FD"/>
          </a:solidFill>
          <a:ln w="8930">
            <a:solidFill>
              <a:srgbClr val="C9DBEA"/>
            </a:solidFill>
            <a:prstDash val="solid"/>
          </a:ln>
        </p:spPr>
      </p:sp>
      <p:sp>
        <p:nvSpPr>
          <p:cNvPr id="30" name="step-4"/>
          <p:cNvSpPr/>
          <p:nvPr/>
        </p:nvSpPr>
        <p:spPr>
          <a:xfrm>
            <a:off x="7447359" y="5304234"/>
            <a:ext cx="2018109" cy="398859"/>
          </a:xfrm>
          <a:prstGeom prst="roundRect">
            <a:avLst>
              <a:gd name="adj" fmla="val 14925"/>
            </a:avLst>
          </a:prstGeom>
          <a:solidFill>
            <a:srgbClr val="F7F9FD"/>
          </a:solidFill>
          <a:ln w="8930">
            <a:solidFill>
              <a:srgbClr val="C9DBEA"/>
            </a:solidFill>
            <a:prstDash val="solid"/>
          </a:ln>
        </p:spPr>
      </p:sp>
      <p:sp>
        <p:nvSpPr>
          <p:cNvPr id="31" name="step-5"/>
          <p:cNvSpPr/>
          <p:nvPr/>
        </p:nvSpPr>
        <p:spPr>
          <a:xfrm>
            <a:off x="9757172" y="5304234"/>
            <a:ext cx="2018109" cy="398859"/>
          </a:xfrm>
          <a:prstGeom prst="roundRect">
            <a:avLst>
              <a:gd name="adj" fmla="val 14925"/>
            </a:avLst>
          </a:prstGeom>
          <a:solidFill>
            <a:srgbClr val="E7F2FD"/>
          </a:solidFill>
          <a:ln w="8930">
            <a:solidFill>
              <a:srgbClr val="C9DBEA"/>
            </a:solidFill>
            <a:prstDash val="solid"/>
          </a:ln>
        </p:spPr>
      </p:sp>
      <p:sp>
        <p:nvSpPr>
          <p:cNvPr id="32" name="SC_FREEFORM_ROUTE__E01__0"/>
          <p:cNvSpPr/>
          <p:nvPr/>
        </p:nvSpPr>
        <p:spPr>
          <a:xfrm>
            <a:off x="1649016" y="3092648"/>
            <a:ext cx="226219" cy="17859"/>
          </a:xfrm>
          <a:custGeom>
            <a:avLst/>
            <a:gdLst/>
            <a:ahLst/>
            <a:cxnLst/>
            <a:rect l="l" t="t" r="r" b="b"/>
            <a:pathLst>
              <a:path w="226219" h="17859">
                <a:moveTo>
                  <a:pt x="0" y="17859"/>
                </a:moveTo>
                <a:lnTo>
                  <a:pt x="113109" y="17859"/>
                </a:lnTo>
                <a:lnTo>
                  <a:pt x="113109" y="0"/>
                </a:lnTo>
                <a:lnTo>
                  <a:pt x="226219" y="0"/>
                </a:lnTo>
              </a:path>
            </a:pathLst>
          </a:custGeom>
          <a:solidFill>
            <a:srgbClr val="FFFFFF">
              <a:alpha val="0"/>
            </a:srgbClr>
          </a:solidFill>
          <a:ln w="17859">
            <a:solidFill>
              <a:srgbClr val="2473B6"/>
            </a:solidFill>
            <a:prstDash val="solid"/>
            <a:round/>
            <a:headEnd type="none"/>
            <a:tailEnd type="triangle" w="med" len="med"/>
          </a:ln>
        </p:spPr>
      </p:sp>
      <p:sp>
        <p:nvSpPr>
          <p:cNvPr id="33" name="SC_FREEFORM_ROUTE__E02__0"/>
          <p:cNvSpPr/>
          <p:nvPr/>
        </p:nvSpPr>
        <p:spPr>
          <a:xfrm>
            <a:off x="2363391" y="2518172"/>
            <a:ext cx="726281" cy="273844"/>
          </a:xfrm>
          <a:custGeom>
            <a:avLst/>
            <a:gdLst/>
            <a:ahLst/>
            <a:cxnLst/>
            <a:rect l="l" t="t" r="r" b="b"/>
            <a:pathLst>
              <a:path w="726281" h="273844">
                <a:moveTo>
                  <a:pt x="0" y="273844"/>
                </a:moveTo>
                <a:lnTo>
                  <a:pt x="0" y="0"/>
                </a:lnTo>
                <a:lnTo>
                  <a:pt x="726281" y="0"/>
                </a:lnTo>
              </a:path>
            </a:pathLst>
          </a:custGeom>
          <a:solidFill>
            <a:srgbClr val="FFFFFF">
              <a:alpha val="0"/>
            </a:srgbClr>
          </a:solidFill>
          <a:ln w="17859">
            <a:solidFill>
              <a:srgbClr val="2473B6"/>
            </a:solidFill>
            <a:prstDash val="dash"/>
            <a:round/>
            <a:headEnd type="none"/>
            <a:tailEnd type="triangle" w="med" len="med"/>
          </a:ln>
        </p:spPr>
      </p:sp>
      <p:sp>
        <p:nvSpPr>
          <p:cNvPr id="34" name="SC_FREEFORM_ROUTE__E03__0"/>
          <p:cNvSpPr/>
          <p:nvPr/>
        </p:nvSpPr>
        <p:spPr>
          <a:xfrm>
            <a:off x="2363391" y="2196703"/>
            <a:ext cx="2518172" cy="595312"/>
          </a:xfrm>
          <a:custGeom>
            <a:avLst/>
            <a:gdLst/>
            <a:ahLst/>
            <a:cxnLst/>
            <a:rect l="l" t="t" r="r" b="b"/>
            <a:pathLst>
              <a:path w="2518172" h="595312">
                <a:moveTo>
                  <a:pt x="0" y="595312"/>
                </a:moveTo>
                <a:lnTo>
                  <a:pt x="0" y="0"/>
                </a:lnTo>
                <a:lnTo>
                  <a:pt x="2333625" y="0"/>
                </a:lnTo>
                <a:lnTo>
                  <a:pt x="2333625" y="321469"/>
                </a:lnTo>
                <a:lnTo>
                  <a:pt x="2518172" y="321469"/>
                </a:lnTo>
              </a:path>
            </a:pathLst>
          </a:custGeom>
          <a:solidFill>
            <a:srgbClr val="FFFFFF">
              <a:alpha val="0"/>
            </a:srgbClr>
          </a:solidFill>
          <a:ln w="17859">
            <a:solidFill>
              <a:srgbClr val="2473B6"/>
            </a:solidFill>
            <a:prstDash val="dash"/>
            <a:round/>
            <a:headEnd type="none"/>
            <a:tailEnd type="triangle" w="med" len="med"/>
          </a:ln>
        </p:spPr>
      </p:sp>
      <p:cxnSp>
        <p:nvCxnSpPr>
          <p:cNvPr id="35" name="SC_CONNECTOR__E04__0"/>
          <p:cNvCxnSpPr/>
          <p:nvPr/>
        </p:nvCxnSpPr>
        <p:spPr>
          <a:xfrm>
            <a:off x="4256484" y="2518172"/>
            <a:ext cx="625078" cy="0"/>
          </a:xfrm>
          <a:prstGeom prst="line">
            <a:avLst/>
          </a:prstGeom>
          <a:noFill/>
          <a:ln w="17859">
            <a:solidFill>
              <a:srgbClr val="2473B6"/>
            </a:solidFill>
            <a:prstDash val="solid"/>
            <a:round/>
            <a:headEnd type="none"/>
            <a:tailEnd type="triangle" w="med" len="med"/>
          </a:ln>
        </p:spPr>
      </p:cxnSp>
      <p:sp>
        <p:nvSpPr>
          <p:cNvPr id="36" name="SC_FREEFORM_ROUTE__E05__0"/>
          <p:cNvSpPr/>
          <p:nvPr/>
        </p:nvSpPr>
        <p:spPr>
          <a:xfrm>
            <a:off x="3673078" y="2744391"/>
            <a:ext cx="1208484" cy="413742"/>
          </a:xfrm>
          <a:custGeom>
            <a:avLst/>
            <a:gdLst/>
            <a:ahLst/>
            <a:cxnLst/>
            <a:rect l="l" t="t" r="r" b="b"/>
            <a:pathLst>
              <a:path w="1208484" h="413742">
                <a:moveTo>
                  <a:pt x="0" y="0"/>
                </a:moveTo>
                <a:lnTo>
                  <a:pt x="0" y="413742"/>
                </a:lnTo>
                <a:lnTo>
                  <a:pt x="1208484" y="413742"/>
                </a:lnTo>
              </a:path>
            </a:pathLst>
          </a:custGeom>
          <a:solidFill>
            <a:srgbClr val="FFFFFF">
              <a:alpha val="0"/>
            </a:srgbClr>
          </a:solidFill>
          <a:ln w="17859">
            <a:solidFill>
              <a:srgbClr val="2473B6"/>
            </a:solidFill>
            <a:prstDash val="dash"/>
            <a:round/>
            <a:headEnd type="none"/>
            <a:tailEnd type="triangle" w="med" len="med"/>
          </a:ln>
        </p:spPr>
      </p:sp>
      <p:sp>
        <p:nvSpPr>
          <p:cNvPr id="37" name="SC_FREEFORM_ROUTE__E06__0"/>
          <p:cNvSpPr/>
          <p:nvPr/>
        </p:nvSpPr>
        <p:spPr>
          <a:xfrm>
            <a:off x="5965031" y="2518172"/>
            <a:ext cx="226219" cy="565547"/>
          </a:xfrm>
          <a:custGeom>
            <a:avLst/>
            <a:gdLst/>
            <a:ahLst/>
            <a:cxnLst/>
            <a:rect l="l" t="t" r="r" b="b"/>
            <a:pathLst>
              <a:path w="226219" h="565547">
                <a:moveTo>
                  <a:pt x="0" y="0"/>
                </a:moveTo>
                <a:lnTo>
                  <a:pt x="113109" y="0"/>
                </a:lnTo>
                <a:lnTo>
                  <a:pt x="113109" y="565547"/>
                </a:lnTo>
                <a:lnTo>
                  <a:pt x="226219" y="565547"/>
                </a:lnTo>
              </a:path>
            </a:pathLst>
          </a:custGeom>
          <a:solidFill>
            <a:srgbClr val="FFFFFF">
              <a:alpha val="0"/>
            </a:srgbClr>
          </a:solidFill>
          <a:ln w="17859">
            <a:solidFill>
              <a:srgbClr val="2473B6"/>
            </a:solidFill>
            <a:prstDash val="solid"/>
            <a:round/>
            <a:headEnd type="none"/>
            <a:tailEnd type="triangle" w="med" len="med"/>
          </a:ln>
        </p:spPr>
      </p:sp>
      <p:sp>
        <p:nvSpPr>
          <p:cNvPr id="38" name="SC_FREEFORM_ROUTE__E07__0"/>
          <p:cNvSpPr/>
          <p:nvPr/>
        </p:nvSpPr>
        <p:spPr>
          <a:xfrm>
            <a:off x="5965031" y="3083719"/>
            <a:ext cx="226219" cy="74414"/>
          </a:xfrm>
          <a:custGeom>
            <a:avLst/>
            <a:gdLst/>
            <a:ahLst/>
            <a:cxnLst/>
            <a:rect l="l" t="t" r="r" b="b"/>
            <a:pathLst>
              <a:path w="226219" h="74414">
                <a:moveTo>
                  <a:pt x="0" y="74414"/>
                </a:moveTo>
                <a:lnTo>
                  <a:pt x="113109" y="74414"/>
                </a:lnTo>
                <a:lnTo>
                  <a:pt x="113109" y="0"/>
                </a:lnTo>
                <a:lnTo>
                  <a:pt x="226219" y="0"/>
                </a:lnTo>
              </a:path>
            </a:pathLst>
          </a:custGeom>
          <a:solidFill>
            <a:srgbClr val="FFFFFF">
              <a:alpha val="0"/>
            </a:srgbClr>
          </a:solidFill>
          <a:ln w="17859">
            <a:solidFill>
              <a:srgbClr val="2473B6"/>
            </a:solidFill>
            <a:prstDash val="solid"/>
            <a:round/>
            <a:headEnd type="none"/>
            <a:tailEnd type="triangle" w="med" len="med"/>
          </a:ln>
        </p:spPr>
      </p:sp>
      <p:sp>
        <p:nvSpPr>
          <p:cNvPr id="39" name="SC_FREEFORM_ROUTE__E08__0"/>
          <p:cNvSpPr/>
          <p:nvPr/>
        </p:nvSpPr>
        <p:spPr>
          <a:xfrm>
            <a:off x="6756797" y="3375422"/>
            <a:ext cx="285750" cy="404812"/>
          </a:xfrm>
          <a:custGeom>
            <a:avLst/>
            <a:gdLst/>
            <a:ahLst/>
            <a:cxnLst/>
            <a:rect l="l" t="t" r="r" b="b"/>
            <a:pathLst>
              <a:path w="285750" h="404812">
                <a:moveTo>
                  <a:pt x="0" y="0"/>
                </a:moveTo>
                <a:lnTo>
                  <a:pt x="0" y="202406"/>
                </a:lnTo>
                <a:lnTo>
                  <a:pt x="285750" y="202406"/>
                </a:lnTo>
                <a:lnTo>
                  <a:pt x="285750" y="404812"/>
                </a:lnTo>
              </a:path>
            </a:pathLst>
          </a:custGeom>
          <a:solidFill>
            <a:srgbClr val="FFFFFF">
              <a:alpha val="0"/>
            </a:srgbClr>
          </a:solidFill>
          <a:ln w="17859">
            <a:solidFill>
              <a:srgbClr val="2473B6"/>
            </a:solidFill>
            <a:prstDash val="solid"/>
            <a:round/>
            <a:headEnd type="none"/>
            <a:tailEnd type="triangle" w="med" len="med"/>
          </a:ln>
        </p:spPr>
      </p:sp>
      <p:cxnSp>
        <p:nvCxnSpPr>
          <p:cNvPr id="40" name="SC_CONNECTOR__E09__0"/>
          <p:cNvCxnSpPr/>
          <p:nvPr/>
        </p:nvCxnSpPr>
        <p:spPr>
          <a:xfrm flipH="1">
            <a:off x="6203156" y="4083844"/>
            <a:ext cx="285750" cy="0"/>
          </a:xfrm>
          <a:prstGeom prst="line">
            <a:avLst/>
          </a:prstGeom>
          <a:noFill/>
          <a:ln w="17859">
            <a:solidFill>
              <a:srgbClr val="2473B6"/>
            </a:solidFill>
            <a:prstDash val="solid"/>
            <a:round/>
            <a:headEnd type="none"/>
            <a:tailEnd type="triangle" w="med" len="med"/>
          </a:ln>
        </p:spPr>
      </p:cxnSp>
      <p:sp>
        <p:nvSpPr>
          <p:cNvPr id="41" name="SC_FREEFORM_ROUTE__E10__0"/>
          <p:cNvSpPr/>
          <p:nvPr/>
        </p:nvSpPr>
        <p:spPr>
          <a:xfrm>
            <a:off x="4875609" y="4083844"/>
            <a:ext cx="1613297" cy="577453"/>
          </a:xfrm>
          <a:custGeom>
            <a:avLst/>
            <a:gdLst/>
            <a:ahLst/>
            <a:cxnLst/>
            <a:rect l="l" t="t" r="r" b="b"/>
            <a:pathLst>
              <a:path w="1613297" h="577453">
                <a:moveTo>
                  <a:pt x="1613297" y="0"/>
                </a:moveTo>
                <a:lnTo>
                  <a:pt x="1464469" y="0"/>
                </a:lnTo>
                <a:lnTo>
                  <a:pt x="1464469" y="577453"/>
                </a:lnTo>
                <a:lnTo>
                  <a:pt x="125016" y="577453"/>
                </a:lnTo>
                <a:lnTo>
                  <a:pt x="125016" y="0"/>
                </a:lnTo>
                <a:lnTo>
                  <a:pt x="0" y="0"/>
                </a:lnTo>
              </a:path>
            </a:pathLst>
          </a:custGeom>
          <a:solidFill>
            <a:srgbClr val="FFFFFF">
              <a:alpha val="0"/>
            </a:srgbClr>
          </a:solidFill>
          <a:ln w="17859">
            <a:solidFill>
              <a:srgbClr val="2473B6"/>
            </a:solidFill>
            <a:prstDash val="dash"/>
            <a:round/>
            <a:headEnd type="none"/>
            <a:tailEnd type="triangle" w="med" len="med"/>
          </a:ln>
        </p:spPr>
      </p:sp>
      <p:cxnSp>
        <p:nvCxnSpPr>
          <p:cNvPr id="42" name="SC_CONNECTOR__E11__0"/>
          <p:cNvCxnSpPr/>
          <p:nvPr/>
        </p:nvCxnSpPr>
        <p:spPr>
          <a:xfrm flipH="1">
            <a:off x="4875609" y="4083844"/>
            <a:ext cx="214313" cy="0"/>
          </a:xfrm>
          <a:prstGeom prst="line">
            <a:avLst/>
          </a:prstGeom>
          <a:noFill/>
          <a:ln w="17859">
            <a:solidFill>
              <a:srgbClr val="2473B6"/>
            </a:solidFill>
            <a:prstDash val="solid"/>
            <a:round/>
            <a:headEnd type="none"/>
            <a:tailEnd type="triangle" w="med" len="med"/>
          </a:ln>
        </p:spPr>
      </p:cxnSp>
      <p:cxnSp>
        <p:nvCxnSpPr>
          <p:cNvPr id="43" name="SC_CONNECTOR__E12__0"/>
          <p:cNvCxnSpPr/>
          <p:nvPr/>
        </p:nvCxnSpPr>
        <p:spPr>
          <a:xfrm flipH="1">
            <a:off x="3601641" y="4083844"/>
            <a:ext cx="208359" cy="0"/>
          </a:xfrm>
          <a:prstGeom prst="line">
            <a:avLst/>
          </a:prstGeom>
          <a:noFill/>
          <a:ln w="17859">
            <a:solidFill>
              <a:srgbClr val="2473B6"/>
            </a:solidFill>
            <a:prstDash val="solid"/>
            <a:round/>
            <a:headEnd type="none"/>
            <a:tailEnd type="triangle" w="med" len="med"/>
          </a:ln>
        </p:spPr>
      </p:cxnSp>
      <p:sp>
        <p:nvSpPr>
          <p:cNvPr id="44" name="SC_FREEFORM_ROUTE__E13__0"/>
          <p:cNvSpPr/>
          <p:nvPr/>
        </p:nvSpPr>
        <p:spPr>
          <a:xfrm>
            <a:off x="1756172" y="3393281"/>
            <a:ext cx="708422" cy="690562"/>
          </a:xfrm>
          <a:custGeom>
            <a:avLst/>
            <a:gdLst/>
            <a:ahLst/>
            <a:cxnLst/>
            <a:rect l="l" t="t" r="r" b="b"/>
            <a:pathLst>
              <a:path w="708422" h="690562">
                <a:moveTo>
                  <a:pt x="708422" y="690562"/>
                </a:moveTo>
                <a:lnTo>
                  <a:pt x="0" y="690562"/>
                </a:lnTo>
                <a:lnTo>
                  <a:pt x="0" y="148828"/>
                </a:lnTo>
                <a:lnTo>
                  <a:pt x="607219" y="148828"/>
                </a:lnTo>
                <a:lnTo>
                  <a:pt x="607219" y="0"/>
                </a:lnTo>
              </a:path>
            </a:pathLst>
          </a:custGeom>
          <a:solidFill>
            <a:srgbClr val="FFFFFF">
              <a:alpha val="0"/>
            </a:srgbClr>
          </a:solidFill>
          <a:ln w="17859">
            <a:solidFill>
              <a:srgbClr val="2473B6"/>
            </a:solidFill>
            <a:prstDash val="dash"/>
            <a:round/>
            <a:headEnd type="none"/>
            <a:tailEnd type="triangle" w="med" len="med"/>
          </a:ln>
        </p:spPr>
      </p:sp>
      <p:sp>
        <p:nvSpPr>
          <p:cNvPr id="45" name="constraint-badge-1"/>
          <p:cNvSpPr/>
          <p:nvPr/>
        </p:nvSpPr>
        <p:spPr>
          <a:xfrm>
            <a:off x="8262938" y="2071688"/>
            <a:ext cx="273844" cy="273844"/>
          </a:xfrm>
          <a:prstGeom prst="roundRect">
            <a:avLst>
              <a:gd name="adj" fmla="val 47826"/>
            </a:avLst>
          </a:prstGeom>
          <a:solidFill>
            <a:srgbClr val="2473B6"/>
          </a:solidFill>
          <a:ln w="12700">
            <a:solidFill>
              <a:srgbClr val="FFFFFF">
                <a:alpha val="0"/>
              </a:srgbClr>
            </a:solidFill>
            <a:prstDash val="solid"/>
          </a:ln>
        </p:spPr>
      </p:sp>
      <p:sp>
        <p:nvSpPr>
          <p:cNvPr id="46" name="constraint-badge-2"/>
          <p:cNvSpPr/>
          <p:nvPr/>
        </p:nvSpPr>
        <p:spPr>
          <a:xfrm>
            <a:off x="8262938" y="2732484"/>
            <a:ext cx="273844" cy="273844"/>
          </a:xfrm>
          <a:prstGeom prst="roundRect">
            <a:avLst>
              <a:gd name="adj" fmla="val 47826"/>
            </a:avLst>
          </a:prstGeom>
          <a:solidFill>
            <a:srgbClr val="2473B6"/>
          </a:solidFill>
          <a:ln w="12700">
            <a:solidFill>
              <a:srgbClr val="FFFFFF">
                <a:alpha val="0"/>
              </a:srgbClr>
            </a:solidFill>
            <a:prstDash val="solid"/>
          </a:ln>
        </p:spPr>
      </p:sp>
      <p:sp>
        <p:nvSpPr>
          <p:cNvPr id="47" name="constraint-badge-3"/>
          <p:cNvSpPr/>
          <p:nvPr/>
        </p:nvSpPr>
        <p:spPr>
          <a:xfrm>
            <a:off x="8262938" y="3393281"/>
            <a:ext cx="273844" cy="273844"/>
          </a:xfrm>
          <a:prstGeom prst="roundRect">
            <a:avLst>
              <a:gd name="adj" fmla="val 47826"/>
            </a:avLst>
          </a:prstGeom>
          <a:solidFill>
            <a:srgbClr val="2473B6"/>
          </a:solidFill>
          <a:ln w="12700">
            <a:solidFill>
              <a:srgbClr val="FFFFFF">
                <a:alpha val="0"/>
              </a:srgbClr>
            </a:solidFill>
            <a:prstDash val="solid"/>
          </a:ln>
        </p:spPr>
      </p:sp>
      <p:sp>
        <p:nvSpPr>
          <p:cNvPr id="48" name="constraint-badge-4"/>
          <p:cNvSpPr/>
          <p:nvPr/>
        </p:nvSpPr>
        <p:spPr>
          <a:xfrm>
            <a:off x="8262938" y="4054078"/>
            <a:ext cx="273844" cy="273844"/>
          </a:xfrm>
          <a:prstGeom prst="roundRect">
            <a:avLst>
              <a:gd name="adj" fmla="val 47826"/>
            </a:avLst>
          </a:prstGeom>
          <a:solidFill>
            <a:srgbClr val="2473B6"/>
          </a:solidFill>
          <a:ln w="12700">
            <a:solidFill>
              <a:srgbClr val="FFFFFF">
                <a:alpha val="0"/>
              </a:srgbClr>
            </a:solidFill>
            <a:prstDash val="solid"/>
          </a:ln>
        </p:spPr>
      </p:sp>
      <p:sp>
        <p:nvSpPr>
          <p:cNvPr id="49" name="step-badge-1"/>
          <p:cNvSpPr/>
          <p:nvPr/>
        </p:nvSpPr>
        <p:spPr>
          <a:xfrm>
            <a:off x="589359" y="5387578"/>
            <a:ext cx="250031" cy="250031"/>
          </a:xfrm>
          <a:prstGeom prst="roundRect">
            <a:avLst>
              <a:gd name="adj" fmla="val 47619"/>
            </a:avLst>
          </a:prstGeom>
          <a:solidFill>
            <a:srgbClr val="2473B6"/>
          </a:solidFill>
          <a:ln w="12700">
            <a:solidFill>
              <a:srgbClr val="FFFFFF">
                <a:alpha val="0"/>
              </a:srgbClr>
            </a:solidFill>
            <a:prstDash val="solid"/>
          </a:ln>
        </p:spPr>
      </p:sp>
      <p:cxnSp>
        <p:nvCxnSpPr>
          <p:cNvPr id="50" name="SC_CONNECTOR__schedule-flow-1__0"/>
          <p:cNvCxnSpPr/>
          <p:nvPr/>
        </p:nvCxnSpPr>
        <p:spPr>
          <a:xfrm>
            <a:off x="2536031" y="5503664"/>
            <a:ext cx="291703" cy="0"/>
          </a:xfrm>
          <a:prstGeom prst="line">
            <a:avLst/>
          </a:prstGeom>
          <a:noFill/>
          <a:ln w="17859">
            <a:solidFill>
              <a:srgbClr val="2473B6"/>
            </a:solidFill>
            <a:prstDash val="solid"/>
            <a:round/>
            <a:headEnd type="none"/>
            <a:tailEnd type="triangle" w="med" len="med"/>
          </a:ln>
        </p:spPr>
      </p:cxnSp>
      <p:sp>
        <p:nvSpPr>
          <p:cNvPr id="51" name="step-badge-2"/>
          <p:cNvSpPr/>
          <p:nvPr/>
        </p:nvSpPr>
        <p:spPr>
          <a:xfrm>
            <a:off x="2899172" y="5387578"/>
            <a:ext cx="250031" cy="250031"/>
          </a:xfrm>
          <a:prstGeom prst="roundRect">
            <a:avLst>
              <a:gd name="adj" fmla="val 47619"/>
            </a:avLst>
          </a:prstGeom>
          <a:solidFill>
            <a:srgbClr val="2473B6"/>
          </a:solidFill>
          <a:ln w="12700">
            <a:solidFill>
              <a:srgbClr val="FFFFFF">
                <a:alpha val="0"/>
              </a:srgbClr>
            </a:solidFill>
            <a:prstDash val="solid"/>
          </a:ln>
        </p:spPr>
      </p:sp>
      <p:cxnSp>
        <p:nvCxnSpPr>
          <p:cNvPr id="52" name="SC_CONNECTOR__schedule-flow-2__0"/>
          <p:cNvCxnSpPr/>
          <p:nvPr/>
        </p:nvCxnSpPr>
        <p:spPr>
          <a:xfrm>
            <a:off x="4845844" y="5503664"/>
            <a:ext cx="291703" cy="0"/>
          </a:xfrm>
          <a:prstGeom prst="line">
            <a:avLst/>
          </a:prstGeom>
          <a:noFill/>
          <a:ln w="17859">
            <a:solidFill>
              <a:srgbClr val="2473B6"/>
            </a:solidFill>
            <a:prstDash val="solid"/>
            <a:round/>
            <a:headEnd type="none"/>
            <a:tailEnd type="triangle" w="med" len="med"/>
          </a:ln>
        </p:spPr>
      </p:cxnSp>
      <p:sp>
        <p:nvSpPr>
          <p:cNvPr id="53" name="step-badge-3"/>
          <p:cNvSpPr/>
          <p:nvPr/>
        </p:nvSpPr>
        <p:spPr>
          <a:xfrm>
            <a:off x="5208984" y="5387578"/>
            <a:ext cx="250031" cy="250031"/>
          </a:xfrm>
          <a:prstGeom prst="roundRect">
            <a:avLst>
              <a:gd name="adj" fmla="val 47619"/>
            </a:avLst>
          </a:prstGeom>
          <a:solidFill>
            <a:srgbClr val="2473B6"/>
          </a:solidFill>
          <a:ln w="12700">
            <a:solidFill>
              <a:srgbClr val="FFFFFF">
                <a:alpha val="0"/>
              </a:srgbClr>
            </a:solidFill>
            <a:prstDash val="solid"/>
          </a:ln>
        </p:spPr>
      </p:sp>
      <p:cxnSp>
        <p:nvCxnSpPr>
          <p:cNvPr id="54" name="SC_CONNECTOR__schedule-flow-3__0"/>
          <p:cNvCxnSpPr/>
          <p:nvPr/>
        </p:nvCxnSpPr>
        <p:spPr>
          <a:xfrm>
            <a:off x="7155656" y="5503664"/>
            <a:ext cx="291703" cy="0"/>
          </a:xfrm>
          <a:prstGeom prst="line">
            <a:avLst/>
          </a:prstGeom>
          <a:noFill/>
          <a:ln w="17859">
            <a:solidFill>
              <a:srgbClr val="2473B6"/>
            </a:solidFill>
            <a:prstDash val="solid"/>
            <a:round/>
            <a:headEnd type="none"/>
            <a:tailEnd type="triangle" w="med" len="med"/>
          </a:ln>
        </p:spPr>
      </p:cxnSp>
      <p:sp>
        <p:nvSpPr>
          <p:cNvPr id="55" name="step-badge-4"/>
          <p:cNvSpPr/>
          <p:nvPr/>
        </p:nvSpPr>
        <p:spPr>
          <a:xfrm>
            <a:off x="7518797" y="5387578"/>
            <a:ext cx="250031" cy="250031"/>
          </a:xfrm>
          <a:prstGeom prst="roundRect">
            <a:avLst>
              <a:gd name="adj" fmla="val 47619"/>
            </a:avLst>
          </a:prstGeom>
          <a:solidFill>
            <a:srgbClr val="2473B6"/>
          </a:solidFill>
          <a:ln w="12700">
            <a:solidFill>
              <a:srgbClr val="FFFFFF">
                <a:alpha val="0"/>
              </a:srgbClr>
            </a:solidFill>
            <a:prstDash val="solid"/>
          </a:ln>
        </p:spPr>
      </p:sp>
      <p:cxnSp>
        <p:nvCxnSpPr>
          <p:cNvPr id="56" name="SC_CONNECTOR__schedule-flow-4__0"/>
          <p:cNvCxnSpPr/>
          <p:nvPr/>
        </p:nvCxnSpPr>
        <p:spPr>
          <a:xfrm>
            <a:off x="9465469" y="5503664"/>
            <a:ext cx="291703" cy="0"/>
          </a:xfrm>
          <a:prstGeom prst="line">
            <a:avLst/>
          </a:prstGeom>
          <a:noFill/>
          <a:ln w="17859">
            <a:solidFill>
              <a:srgbClr val="2473B6"/>
            </a:solidFill>
            <a:prstDash val="solid"/>
            <a:round/>
            <a:headEnd type="none"/>
            <a:tailEnd type="triangle" w="med" len="med"/>
          </a:ln>
        </p:spPr>
      </p:cxnSp>
      <p:sp>
        <p:nvSpPr>
          <p:cNvPr id="57" name="step-badge-5"/>
          <p:cNvSpPr/>
          <p:nvPr/>
        </p:nvSpPr>
        <p:spPr>
          <a:xfrm>
            <a:off x="9828609" y="5387578"/>
            <a:ext cx="250031" cy="250031"/>
          </a:xfrm>
          <a:prstGeom prst="roundRect">
            <a:avLst>
              <a:gd name="adj" fmla="val 47619"/>
            </a:avLst>
          </a:prstGeom>
          <a:solidFill>
            <a:srgbClr val="2473B6"/>
          </a:solidFill>
          <a:ln w="12700">
            <a:solidFill>
              <a:srgbClr val="FFFFFF">
                <a:alpha val="0"/>
              </a:srgbClr>
            </a:solidFill>
            <a:prstDash val="solid"/>
          </a:ln>
        </p:spPr>
      </p:sp>
      <p:sp>
        <p:nvSpPr>
          <p:cNvPr id="58" name="headline"/>
          <p:cNvSpPr txBox="1"/>
          <p:nvPr/>
        </p:nvSpPr>
        <p:spPr>
          <a:xfrm>
            <a:off x="559594" y="506016"/>
            <a:ext cx="11072813" cy="446484"/>
          </a:xfrm>
          <a:prstGeom prst="rect">
            <a:avLst/>
          </a:prstGeom>
          <a:noFill/>
          <a:ln/>
        </p:spPr>
        <p:txBody>
          <a:bodyPr wrap="square" lIns="0" tIns="0" rIns="0" bIns="0" rtlCol="0" anchor="ctr">
            <a:noAutofit/>
          </a:bodyPr>
          <a:lstStyle/>
          <a:p>
            <a:pPr algn="l" indent="0" marL="0">
              <a:lnSpc>
                <a:spcPct val="100000"/>
              </a:lnSpc>
              <a:buNone/>
              <a:defRPr spc="0"/>
            </a:pPr>
            <a:r>
              <a:rPr lang="en-US" sz="2250" b="1" dirty="0" spc="0">
                <a:solidFill>
                  <a:srgbClr val="102C55"/>
                </a:solidFill>
                <a:latin typeface="Microsoft YaHei" pitchFamily="34" charset="0"/>
                <a:ea typeface="Microsoft YaHei" pitchFamily="34" charset="-122"/>
                <a:cs typeface="Microsoft YaHei" pitchFamily="34" charset="-120"/>
              </a:rPr>
              <a:t>动态 Agent 工作流让调度从算子扩展为有依赖的执行阶段</a:t>
            </a:r>
            <a:endParaRPr lang="en-US" sz="2250" dirty="0" spc="0"/>
          </a:p>
        </p:txBody>
      </p:sp>
      <p:sp>
        <p:nvSpPr>
          <p:cNvPr id="59" name="subtitle"/>
          <p:cNvSpPr txBox="1"/>
          <p:nvPr/>
        </p:nvSpPr>
        <p:spPr>
          <a:xfrm>
            <a:off x="565547" y="964406"/>
            <a:ext cx="10953750"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dirty="0" spc="0">
                <a:solidFill>
                  <a:srgbClr val="58738A"/>
                </a:solidFill>
                <a:latin typeface="Microsoft YaHei" pitchFamily="34" charset="0"/>
                <a:ea typeface="Microsoft YaHei" pitchFamily="34" charset="-122"/>
                <a:cs typeface="Microsoft YaHei" pitchFamily="34" charset="-120"/>
              </a:rPr>
              <a:t>Agent 任务的下一步会根据中间结果变化；调度需要联合考虑阶段依赖、执行成本与前台体验。</a:t>
            </a:r>
            <a:endParaRPr lang="en-US" sz="1150" dirty="0" spc="0"/>
          </a:p>
        </p:txBody>
      </p:sp>
      <p:sp>
        <p:nvSpPr>
          <p:cNvPr id="60" name="dag-title"/>
          <p:cNvSpPr txBox="1"/>
          <p:nvPr/>
        </p:nvSpPr>
        <p:spPr>
          <a:xfrm>
            <a:off x="547688" y="1553766"/>
            <a:ext cx="7179469"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① 动态任务 DAG（概念示意）</a:t>
            </a:r>
            <a:endParaRPr lang="en-US" sz="1250" dirty="0" spc="0"/>
          </a:p>
        </p:txBody>
      </p:sp>
      <p:sp>
        <p:nvSpPr>
          <p:cNvPr id="61" name="constraints-title"/>
          <p:cNvSpPr txBox="1"/>
          <p:nvPr/>
        </p:nvSpPr>
        <p:spPr>
          <a:xfrm>
            <a:off x="8167688" y="1553766"/>
            <a:ext cx="3470672"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② 阶段放置取决于四类约束</a:t>
            </a:r>
            <a:endParaRPr lang="en-US" sz="1250" dirty="0" spc="0"/>
          </a:p>
        </p:txBody>
      </p:sp>
      <p:sp>
        <p:nvSpPr>
          <p:cNvPr id="62" name="schedule-title"/>
          <p:cNvSpPr txBox="1"/>
          <p:nvPr/>
        </p:nvSpPr>
        <p:spPr>
          <a:xfrm>
            <a:off x="547688" y="4976813"/>
            <a:ext cx="11090672"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③ 在线调度不是一次性分配</a:t>
            </a:r>
            <a:endParaRPr lang="en-US" sz="1250" dirty="0" spc="0"/>
          </a:p>
        </p:txBody>
      </p:sp>
      <p:sp>
        <p:nvSpPr>
          <p:cNvPr id="63" name="N1-label"/>
          <p:cNvSpPr txBox="1"/>
          <p:nvPr/>
        </p:nvSpPr>
        <p:spPr>
          <a:xfrm>
            <a:off x="708422" y="2905125"/>
            <a:ext cx="881063"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用户目标</a:t>
            </a:r>
            <a:endParaRPr lang="en-US" sz="900" dirty="0" spc="0"/>
          </a:p>
        </p:txBody>
      </p:sp>
      <p:sp>
        <p:nvSpPr>
          <p:cNvPr id="64" name="N1-sub"/>
          <p:cNvSpPr txBox="1"/>
          <p:nvPr/>
        </p:nvSpPr>
        <p:spPr>
          <a:xfrm>
            <a:off x="708422" y="3113484"/>
            <a:ext cx="881063"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请求与上下文</a:t>
            </a:r>
            <a:endParaRPr lang="en-US" sz="800" dirty="0" spc="0"/>
          </a:p>
        </p:txBody>
      </p:sp>
      <p:sp>
        <p:nvSpPr>
          <p:cNvPr id="65" name="N2-label"/>
          <p:cNvSpPr txBox="1"/>
          <p:nvPr/>
        </p:nvSpPr>
        <p:spPr>
          <a:xfrm>
            <a:off x="1934766" y="2881313"/>
            <a:ext cx="857250"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任务规划</a:t>
            </a:r>
            <a:endParaRPr lang="en-US" sz="900" dirty="0" spc="0"/>
          </a:p>
        </p:txBody>
      </p:sp>
      <p:sp>
        <p:nvSpPr>
          <p:cNvPr id="66" name="N2-sub"/>
          <p:cNvSpPr txBox="1"/>
          <p:nvPr/>
        </p:nvSpPr>
        <p:spPr>
          <a:xfrm>
            <a:off x="1934766" y="3089672"/>
            <a:ext cx="857250"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阶段动态展开</a:t>
            </a:r>
            <a:endParaRPr lang="en-US" sz="800" dirty="0" spc="0"/>
          </a:p>
        </p:txBody>
      </p:sp>
      <p:sp>
        <p:nvSpPr>
          <p:cNvPr id="67" name="N3-label"/>
          <p:cNvSpPr txBox="1"/>
          <p:nvPr/>
        </p:nvSpPr>
        <p:spPr>
          <a:xfrm>
            <a:off x="3149203" y="2381250"/>
            <a:ext cx="1047750"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查询重写（可选）</a:t>
            </a:r>
            <a:endParaRPr lang="en-US" sz="900" dirty="0" spc="0"/>
          </a:p>
        </p:txBody>
      </p:sp>
      <p:sp>
        <p:nvSpPr>
          <p:cNvPr id="68" name="N3-sub"/>
          <p:cNvSpPr txBox="1"/>
          <p:nvPr/>
        </p:nvSpPr>
        <p:spPr>
          <a:xfrm>
            <a:off x="3149203" y="2589609"/>
            <a:ext cx="1047750"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有条件执行</a:t>
            </a:r>
            <a:endParaRPr lang="en-US" sz="800" dirty="0" spc="0"/>
          </a:p>
        </p:txBody>
      </p:sp>
      <p:sp>
        <p:nvSpPr>
          <p:cNvPr id="69" name="N4a-label"/>
          <p:cNvSpPr txBox="1"/>
          <p:nvPr/>
        </p:nvSpPr>
        <p:spPr>
          <a:xfrm>
            <a:off x="4941094" y="2381250"/>
            <a:ext cx="964406"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检索 A</a:t>
            </a:r>
            <a:endParaRPr lang="en-US" sz="900" dirty="0" spc="0"/>
          </a:p>
        </p:txBody>
      </p:sp>
      <p:sp>
        <p:nvSpPr>
          <p:cNvPr id="70" name="N4a-sub"/>
          <p:cNvSpPr txBox="1"/>
          <p:nvPr/>
        </p:nvSpPr>
        <p:spPr>
          <a:xfrm>
            <a:off x="4941094" y="2589609"/>
            <a:ext cx="964406"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按需求触发</a:t>
            </a:r>
            <a:endParaRPr lang="en-US" sz="800" dirty="0" spc="0"/>
          </a:p>
        </p:txBody>
      </p:sp>
      <p:sp>
        <p:nvSpPr>
          <p:cNvPr id="71" name="N4b-label"/>
          <p:cNvSpPr txBox="1"/>
          <p:nvPr/>
        </p:nvSpPr>
        <p:spPr>
          <a:xfrm>
            <a:off x="4941094" y="3024188"/>
            <a:ext cx="964406"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检索 B（并行）</a:t>
            </a:r>
            <a:endParaRPr lang="en-US" sz="900" dirty="0" spc="0"/>
          </a:p>
        </p:txBody>
      </p:sp>
      <p:sp>
        <p:nvSpPr>
          <p:cNvPr id="72" name="N4b-sub"/>
          <p:cNvSpPr txBox="1"/>
          <p:nvPr/>
        </p:nvSpPr>
        <p:spPr>
          <a:xfrm>
            <a:off x="4941094" y="3232547"/>
            <a:ext cx="964406"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若分支启用</a:t>
            </a:r>
            <a:endParaRPr lang="en-US" sz="800" dirty="0" spc="0"/>
          </a:p>
        </p:txBody>
      </p:sp>
      <p:sp>
        <p:nvSpPr>
          <p:cNvPr id="73" name="N5-label"/>
          <p:cNvSpPr txBox="1"/>
          <p:nvPr/>
        </p:nvSpPr>
        <p:spPr>
          <a:xfrm>
            <a:off x="6250781" y="2881313"/>
            <a:ext cx="1012031"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聚合 / 重排</a:t>
            </a:r>
            <a:endParaRPr lang="en-US" sz="900" dirty="0" spc="0"/>
          </a:p>
        </p:txBody>
      </p:sp>
      <p:sp>
        <p:nvSpPr>
          <p:cNvPr id="74" name="N5-sub"/>
          <p:cNvSpPr txBox="1"/>
          <p:nvPr/>
        </p:nvSpPr>
        <p:spPr>
          <a:xfrm>
            <a:off x="6250781" y="3089672"/>
            <a:ext cx="1012031"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等待必要结果</a:t>
            </a:r>
            <a:endParaRPr lang="en-US" sz="800" dirty="0" spc="0"/>
          </a:p>
        </p:txBody>
      </p:sp>
      <p:sp>
        <p:nvSpPr>
          <p:cNvPr id="75" name="N6-label"/>
          <p:cNvSpPr txBox="1"/>
          <p:nvPr/>
        </p:nvSpPr>
        <p:spPr>
          <a:xfrm>
            <a:off x="6548438" y="3869531"/>
            <a:ext cx="988219"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推理 / 生成</a:t>
            </a:r>
            <a:endParaRPr lang="en-US" sz="900" dirty="0" spc="0"/>
          </a:p>
        </p:txBody>
      </p:sp>
      <p:sp>
        <p:nvSpPr>
          <p:cNvPr id="76" name="N6-sub"/>
          <p:cNvSpPr txBox="1"/>
          <p:nvPr/>
        </p:nvSpPr>
        <p:spPr>
          <a:xfrm>
            <a:off x="6548438" y="4077891"/>
            <a:ext cx="988219"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后端按条件选择</a:t>
            </a:r>
            <a:endParaRPr lang="en-US" sz="800" dirty="0" spc="0"/>
          </a:p>
        </p:txBody>
      </p:sp>
      <p:sp>
        <p:nvSpPr>
          <p:cNvPr id="77" name="N7-label"/>
          <p:cNvSpPr txBox="1"/>
          <p:nvPr/>
        </p:nvSpPr>
        <p:spPr>
          <a:xfrm>
            <a:off x="5149453" y="3869531"/>
            <a:ext cx="994172"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工具操作</a:t>
            </a:r>
            <a:endParaRPr lang="en-US" sz="900" dirty="0" spc="0"/>
          </a:p>
        </p:txBody>
      </p:sp>
      <p:sp>
        <p:nvSpPr>
          <p:cNvPr id="78" name="N7-sub"/>
          <p:cNvSpPr txBox="1"/>
          <p:nvPr/>
        </p:nvSpPr>
        <p:spPr>
          <a:xfrm>
            <a:off x="5149453" y="4077891"/>
            <a:ext cx="994172"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需要时且须授权</a:t>
            </a:r>
            <a:endParaRPr lang="en-US" sz="800" dirty="0" spc="0"/>
          </a:p>
        </p:txBody>
      </p:sp>
      <p:sp>
        <p:nvSpPr>
          <p:cNvPr id="79" name="N8-label"/>
          <p:cNvSpPr txBox="1"/>
          <p:nvPr/>
        </p:nvSpPr>
        <p:spPr>
          <a:xfrm>
            <a:off x="3869531" y="3869531"/>
            <a:ext cx="946547"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实际效果验证</a:t>
            </a:r>
            <a:endParaRPr lang="en-US" sz="900" dirty="0" spc="0"/>
          </a:p>
        </p:txBody>
      </p:sp>
      <p:sp>
        <p:nvSpPr>
          <p:cNvPr id="80" name="N8-sub"/>
          <p:cNvSpPr txBox="1"/>
          <p:nvPr/>
        </p:nvSpPr>
        <p:spPr>
          <a:xfrm>
            <a:off x="3869531" y="4077891"/>
            <a:ext cx="946547"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不等于 API 成功</a:t>
            </a:r>
            <a:endParaRPr lang="en-US" sz="800" dirty="0" spc="0"/>
          </a:p>
        </p:txBody>
      </p:sp>
      <p:sp>
        <p:nvSpPr>
          <p:cNvPr id="81" name="N9-label"/>
          <p:cNvSpPr txBox="1"/>
          <p:nvPr/>
        </p:nvSpPr>
        <p:spPr>
          <a:xfrm>
            <a:off x="2524125" y="3869531"/>
            <a:ext cx="1017984" cy="22026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b="1" dirty="0" spc="0">
                <a:solidFill>
                  <a:srgbClr val="174478"/>
                </a:solidFill>
                <a:latin typeface="Microsoft YaHei" pitchFamily="34" charset="0"/>
                <a:ea typeface="Microsoft YaHei" pitchFamily="34" charset="-122"/>
                <a:cs typeface="Microsoft YaHei" pitchFamily="34" charset="-120"/>
              </a:rPr>
              <a:t>状态更新 / 结束</a:t>
            </a:r>
            <a:endParaRPr lang="en-US" sz="900" dirty="0" spc="0"/>
          </a:p>
        </p:txBody>
      </p:sp>
      <p:sp>
        <p:nvSpPr>
          <p:cNvPr id="82" name="N9-sub"/>
          <p:cNvSpPr txBox="1"/>
          <p:nvPr/>
        </p:nvSpPr>
        <p:spPr>
          <a:xfrm>
            <a:off x="2524125" y="4077891"/>
            <a:ext cx="1017984" cy="13692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条件性继续</a:t>
            </a:r>
            <a:endParaRPr lang="en-US" sz="800" dirty="0" spc="0"/>
          </a:p>
        </p:txBody>
      </p:sp>
      <p:sp>
        <p:nvSpPr>
          <p:cNvPr id="83" name="branch-bypass"/>
          <p:cNvSpPr txBox="1"/>
          <p:nvPr/>
        </p:nvSpPr>
        <p:spPr>
          <a:xfrm>
            <a:off x="3262313" y="1964531"/>
            <a:ext cx="1488281"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不重写时，直接检索</a:t>
            </a:r>
            <a:endParaRPr lang="en-US" sz="900" dirty="0" spc="0"/>
          </a:p>
        </p:txBody>
      </p:sp>
      <p:sp>
        <p:nvSpPr>
          <p:cNvPr id="84" name="branch-parallel"/>
          <p:cNvSpPr txBox="1"/>
          <p:nvPr/>
        </p:nvSpPr>
        <p:spPr>
          <a:xfrm>
            <a:off x="4250531" y="2952750"/>
            <a:ext cx="6548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可选并行</a:t>
            </a:r>
            <a:endParaRPr lang="en-US" sz="900" dirty="0" spc="0"/>
          </a:p>
        </p:txBody>
      </p:sp>
      <p:sp>
        <p:nvSpPr>
          <p:cNvPr id="85" name="branch-feedback"/>
          <p:cNvSpPr txBox="1"/>
          <p:nvPr/>
        </p:nvSpPr>
        <p:spPr>
          <a:xfrm>
            <a:off x="684609" y="4280297"/>
            <a:ext cx="110132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任务继续时再规划</a:t>
            </a:r>
            <a:endParaRPr lang="en-US" sz="900" dirty="0" spc="0"/>
          </a:p>
        </p:txBody>
      </p:sp>
      <p:sp>
        <p:nvSpPr>
          <p:cNvPr id="86" name="branch-no-tool"/>
          <p:cNvSpPr txBox="1"/>
          <p:nvPr/>
        </p:nvSpPr>
        <p:spPr>
          <a:xfrm>
            <a:off x="5060156" y="4488656"/>
            <a:ext cx="160734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无需工具时直接验证</a:t>
            </a:r>
            <a:endParaRPr lang="en-US" sz="900" dirty="0" spc="0"/>
          </a:p>
        </p:txBody>
      </p:sp>
      <p:sp>
        <p:nvSpPr>
          <p:cNvPr id="87" name="legend"/>
          <p:cNvSpPr txBox="1"/>
          <p:nvPr/>
        </p:nvSpPr>
        <p:spPr>
          <a:xfrm>
            <a:off x="5149453" y="1958578"/>
            <a:ext cx="2440781"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实线：执行依赖 虚线：条件 / 反馈</a:t>
            </a:r>
            <a:endParaRPr lang="en-US" sz="900" dirty="0" spc="0"/>
          </a:p>
        </p:txBody>
      </p:sp>
      <p:sp>
        <p:nvSpPr>
          <p:cNvPr id="88" name="constraint-head-1"/>
          <p:cNvSpPr txBox="1"/>
          <p:nvPr/>
        </p:nvSpPr>
        <p:spPr>
          <a:xfrm>
            <a:off x="8637984" y="2024062"/>
            <a:ext cx="279796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4478"/>
                </a:solidFill>
                <a:latin typeface="Microsoft YaHei" pitchFamily="34" charset="0"/>
                <a:ea typeface="Microsoft YaHei" pitchFamily="34" charset="-122"/>
                <a:cs typeface="Microsoft YaHei" pitchFamily="34" charset="-120"/>
              </a:rPr>
              <a:t>DAG 依赖与关键路径</a:t>
            </a:r>
            <a:endParaRPr lang="en-US" sz="1100" dirty="0" spc="0"/>
          </a:p>
        </p:txBody>
      </p:sp>
      <p:sp>
        <p:nvSpPr>
          <p:cNvPr id="89" name="constraint-detail-1"/>
          <p:cNvSpPr txBox="1"/>
          <p:nvPr/>
        </p:nvSpPr>
        <p:spPr>
          <a:xfrm>
            <a:off x="8637984" y="2250281"/>
            <a:ext cx="279796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阶段间的先后/并行关系决定完成时间</a:t>
            </a:r>
            <a:endParaRPr lang="en-US" sz="900" dirty="0" spc="0"/>
          </a:p>
        </p:txBody>
      </p:sp>
      <p:sp>
        <p:nvSpPr>
          <p:cNvPr id="90" name="constraint-head-2"/>
          <p:cNvSpPr txBox="1"/>
          <p:nvPr/>
        </p:nvSpPr>
        <p:spPr>
          <a:xfrm>
            <a:off x="8637984" y="2684859"/>
            <a:ext cx="279796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4478"/>
                </a:solidFill>
                <a:latin typeface="Microsoft YaHei" pitchFamily="34" charset="0"/>
                <a:ea typeface="Microsoft YaHei" pitchFamily="34" charset="-122"/>
                <a:cs typeface="Microsoft YaHei" pitchFamily="34" charset="-120"/>
              </a:rPr>
              <a:t>CPU / GPU / NPU 后端能力</a:t>
            </a:r>
            <a:endParaRPr lang="en-US" sz="1100" dirty="0" spc="0"/>
          </a:p>
        </p:txBody>
      </p:sp>
      <p:sp>
        <p:nvSpPr>
          <p:cNvPr id="91" name="constraint-detail-2"/>
          <p:cNvSpPr txBox="1"/>
          <p:nvPr/>
        </p:nvSpPr>
        <p:spPr>
          <a:xfrm>
            <a:off x="8637984" y="2911078"/>
            <a:ext cx="279796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后端支持和执行成本决定可放置范围</a:t>
            </a:r>
            <a:endParaRPr lang="en-US" sz="900" dirty="0" spc="0"/>
          </a:p>
        </p:txBody>
      </p:sp>
      <p:sp>
        <p:nvSpPr>
          <p:cNvPr id="92" name="constraint-head-3"/>
          <p:cNvSpPr txBox="1"/>
          <p:nvPr/>
        </p:nvSpPr>
        <p:spPr>
          <a:xfrm>
            <a:off x="8637984" y="3345656"/>
            <a:ext cx="279796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4478"/>
                </a:solidFill>
                <a:latin typeface="Microsoft YaHei" pitchFamily="34" charset="0"/>
                <a:ea typeface="Microsoft YaHei" pitchFamily="34" charset="-122"/>
                <a:cs typeface="Microsoft YaHei" pitchFamily="34" charset="-120"/>
              </a:rPr>
              <a:t>启动、同步、搬运与回退开销</a:t>
            </a:r>
            <a:endParaRPr lang="en-US" sz="1100" dirty="0" spc="0"/>
          </a:p>
        </p:txBody>
      </p:sp>
      <p:sp>
        <p:nvSpPr>
          <p:cNvPr id="93" name="constraint-detail-3"/>
          <p:cNvSpPr txBox="1"/>
          <p:nvPr/>
        </p:nvSpPr>
        <p:spPr>
          <a:xfrm>
            <a:off x="8637984" y="3571875"/>
            <a:ext cx="279796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局部算子更快，不代表整条任务链更快</a:t>
            </a:r>
            <a:endParaRPr lang="en-US" sz="900" dirty="0" spc="0"/>
          </a:p>
        </p:txBody>
      </p:sp>
      <p:sp>
        <p:nvSpPr>
          <p:cNvPr id="94" name="constraint-head-4"/>
          <p:cNvSpPr txBox="1"/>
          <p:nvPr/>
        </p:nvSpPr>
        <p:spPr>
          <a:xfrm>
            <a:off x="8637984" y="4006453"/>
            <a:ext cx="279796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4478"/>
                </a:solidFill>
                <a:latin typeface="Microsoft YaHei" pitchFamily="34" charset="0"/>
                <a:ea typeface="Microsoft YaHei" pitchFamily="34" charset="-122"/>
                <a:cs typeface="Microsoft YaHei" pitchFamily="34" charset="-120"/>
              </a:rPr>
              <a:t>共享 DRAM 与前台 QoE</a:t>
            </a:r>
            <a:endParaRPr lang="en-US" sz="1100" dirty="0" spc="0"/>
          </a:p>
        </p:txBody>
      </p:sp>
      <p:sp>
        <p:nvSpPr>
          <p:cNvPr id="95" name="constraint-detail-4"/>
          <p:cNvSpPr txBox="1"/>
          <p:nvPr/>
        </p:nvSpPr>
        <p:spPr>
          <a:xfrm>
            <a:off x="8637984" y="4232672"/>
            <a:ext cx="279796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前台交互与共享带宽争用形成资源约束</a:t>
            </a:r>
            <a:endParaRPr lang="en-US" sz="900" dirty="0" spc="0"/>
          </a:p>
        </p:txBody>
      </p:sp>
      <p:sp>
        <p:nvSpPr>
          <p:cNvPr id="96" name="step-number-1"/>
          <p:cNvSpPr txBox="1"/>
          <p:nvPr/>
        </p:nvSpPr>
        <p:spPr>
          <a:xfrm>
            <a:off x="589359" y="5393531"/>
            <a:ext cx="250031"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1</a:t>
            </a:r>
            <a:endParaRPr lang="en-US" sz="1000" dirty="0" spc="0"/>
          </a:p>
        </p:txBody>
      </p:sp>
      <p:sp>
        <p:nvSpPr>
          <p:cNvPr id="97" name="step-heading-1"/>
          <p:cNvSpPr txBox="1"/>
          <p:nvPr/>
        </p:nvSpPr>
        <p:spPr>
          <a:xfrm>
            <a:off x="916781" y="5328047"/>
            <a:ext cx="1571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4478"/>
                </a:solidFill>
                <a:latin typeface="Microsoft YaHei" pitchFamily="34" charset="0"/>
                <a:ea typeface="Microsoft YaHei" pitchFamily="34" charset="-122"/>
                <a:cs typeface="Microsoft YaHei" pitchFamily="34" charset="-120"/>
              </a:rPr>
              <a:t>部分 DAG 可见</a:t>
            </a:r>
            <a:endParaRPr lang="en-US" sz="1000" dirty="0" spc="0"/>
          </a:p>
        </p:txBody>
      </p:sp>
      <p:sp>
        <p:nvSpPr>
          <p:cNvPr id="98" name="step-detail-1"/>
          <p:cNvSpPr txBox="1"/>
          <p:nvPr/>
        </p:nvSpPr>
        <p:spPr>
          <a:xfrm>
            <a:off x="916781" y="5506641"/>
            <a:ext cx="1571625"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识别已知依赖</a:t>
            </a:r>
            <a:endParaRPr lang="en-US" sz="900" dirty="0" spc="0"/>
          </a:p>
        </p:txBody>
      </p:sp>
      <p:sp>
        <p:nvSpPr>
          <p:cNvPr id="99" name="step-number-2"/>
          <p:cNvSpPr txBox="1"/>
          <p:nvPr/>
        </p:nvSpPr>
        <p:spPr>
          <a:xfrm>
            <a:off x="2899172" y="5393531"/>
            <a:ext cx="250031"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2</a:t>
            </a:r>
            <a:endParaRPr lang="en-US" sz="1000" dirty="0" spc="0"/>
          </a:p>
        </p:txBody>
      </p:sp>
      <p:sp>
        <p:nvSpPr>
          <p:cNvPr id="100" name="step-heading-2"/>
          <p:cNvSpPr txBox="1"/>
          <p:nvPr/>
        </p:nvSpPr>
        <p:spPr>
          <a:xfrm>
            <a:off x="3226594" y="5328047"/>
            <a:ext cx="1571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4478"/>
                </a:solidFill>
                <a:latin typeface="Microsoft YaHei" pitchFamily="34" charset="0"/>
                <a:ea typeface="Microsoft YaHei" pitchFamily="34" charset="-122"/>
                <a:cs typeface="Microsoft YaHei" pitchFamily="34" charset="-120"/>
              </a:rPr>
              <a:t>阶段成本评估</a:t>
            </a:r>
            <a:endParaRPr lang="en-US" sz="1000" dirty="0" spc="0"/>
          </a:p>
        </p:txBody>
      </p:sp>
      <p:sp>
        <p:nvSpPr>
          <p:cNvPr id="101" name="step-detail-2"/>
          <p:cNvSpPr txBox="1"/>
          <p:nvPr/>
        </p:nvSpPr>
        <p:spPr>
          <a:xfrm>
            <a:off x="3226594" y="5506641"/>
            <a:ext cx="1571625"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结合后端与交接代价</a:t>
            </a:r>
            <a:endParaRPr lang="en-US" sz="900" dirty="0" spc="0"/>
          </a:p>
        </p:txBody>
      </p:sp>
      <p:sp>
        <p:nvSpPr>
          <p:cNvPr id="102" name="step-number-3"/>
          <p:cNvSpPr txBox="1"/>
          <p:nvPr/>
        </p:nvSpPr>
        <p:spPr>
          <a:xfrm>
            <a:off x="5208984" y="5393531"/>
            <a:ext cx="250031"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3</a:t>
            </a:r>
            <a:endParaRPr lang="en-US" sz="1000" dirty="0" spc="0"/>
          </a:p>
        </p:txBody>
      </p:sp>
      <p:sp>
        <p:nvSpPr>
          <p:cNvPr id="103" name="step-heading-3"/>
          <p:cNvSpPr txBox="1"/>
          <p:nvPr/>
        </p:nvSpPr>
        <p:spPr>
          <a:xfrm>
            <a:off x="5536406" y="5328047"/>
            <a:ext cx="1571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4478"/>
                </a:solidFill>
                <a:latin typeface="Microsoft YaHei" pitchFamily="34" charset="0"/>
                <a:ea typeface="Microsoft YaHei" pitchFamily="34" charset="-122"/>
                <a:cs typeface="Microsoft YaHei" pitchFamily="34" charset="-120"/>
              </a:rPr>
              <a:t>异构资源放置</a:t>
            </a:r>
            <a:endParaRPr lang="en-US" sz="1000" dirty="0" spc="0"/>
          </a:p>
        </p:txBody>
      </p:sp>
      <p:sp>
        <p:nvSpPr>
          <p:cNvPr id="104" name="step-detail-3"/>
          <p:cNvSpPr txBox="1"/>
          <p:nvPr/>
        </p:nvSpPr>
        <p:spPr>
          <a:xfrm>
            <a:off x="5536406" y="5506641"/>
            <a:ext cx="1571625"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动态选择执行单元</a:t>
            </a:r>
            <a:endParaRPr lang="en-US" sz="900" dirty="0" spc="0"/>
          </a:p>
        </p:txBody>
      </p:sp>
      <p:sp>
        <p:nvSpPr>
          <p:cNvPr id="105" name="step-number-4"/>
          <p:cNvSpPr txBox="1"/>
          <p:nvPr/>
        </p:nvSpPr>
        <p:spPr>
          <a:xfrm>
            <a:off x="7518797" y="5393531"/>
            <a:ext cx="250031"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4</a:t>
            </a:r>
            <a:endParaRPr lang="en-US" sz="1000" dirty="0" spc="0"/>
          </a:p>
        </p:txBody>
      </p:sp>
      <p:sp>
        <p:nvSpPr>
          <p:cNvPr id="106" name="step-heading-4"/>
          <p:cNvSpPr txBox="1"/>
          <p:nvPr/>
        </p:nvSpPr>
        <p:spPr>
          <a:xfrm>
            <a:off x="7846219" y="5328047"/>
            <a:ext cx="1571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4478"/>
                </a:solidFill>
                <a:latin typeface="Microsoft YaHei" pitchFamily="34" charset="0"/>
                <a:ea typeface="Microsoft YaHei" pitchFamily="34" charset="-122"/>
                <a:cs typeface="Microsoft YaHei" pitchFamily="34" charset="-120"/>
              </a:rPr>
              <a:t>执行与监测</a:t>
            </a:r>
            <a:endParaRPr lang="en-US" sz="1000" dirty="0" spc="0"/>
          </a:p>
        </p:txBody>
      </p:sp>
      <p:sp>
        <p:nvSpPr>
          <p:cNvPr id="107" name="step-detail-4"/>
          <p:cNvSpPr txBox="1"/>
          <p:nvPr/>
        </p:nvSpPr>
        <p:spPr>
          <a:xfrm>
            <a:off x="7846219" y="5506641"/>
            <a:ext cx="1571625"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采集进度与资源状态</a:t>
            </a:r>
            <a:endParaRPr lang="en-US" sz="900" dirty="0" spc="0"/>
          </a:p>
        </p:txBody>
      </p:sp>
      <p:sp>
        <p:nvSpPr>
          <p:cNvPr id="108" name="step-number-5"/>
          <p:cNvSpPr txBox="1"/>
          <p:nvPr/>
        </p:nvSpPr>
        <p:spPr>
          <a:xfrm>
            <a:off x="9828609" y="5393531"/>
            <a:ext cx="250031"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5</a:t>
            </a:r>
            <a:endParaRPr lang="en-US" sz="1000" dirty="0" spc="0"/>
          </a:p>
        </p:txBody>
      </p:sp>
      <p:sp>
        <p:nvSpPr>
          <p:cNvPr id="109" name="step-heading-5"/>
          <p:cNvSpPr txBox="1"/>
          <p:nvPr/>
        </p:nvSpPr>
        <p:spPr>
          <a:xfrm>
            <a:off x="10156031" y="5328047"/>
            <a:ext cx="1571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4478"/>
                </a:solidFill>
                <a:latin typeface="Microsoft YaHei" pitchFamily="34" charset="0"/>
                <a:ea typeface="Microsoft YaHei" pitchFamily="34" charset="-122"/>
                <a:cs typeface="Microsoft YaHei" pitchFamily="34" charset="-120"/>
              </a:rPr>
              <a:t>新阶段出现后调整</a:t>
            </a:r>
            <a:endParaRPr lang="en-US" sz="1000" dirty="0" spc="0"/>
          </a:p>
        </p:txBody>
      </p:sp>
      <p:sp>
        <p:nvSpPr>
          <p:cNvPr id="110" name="step-detail-5"/>
          <p:cNvSpPr txBox="1"/>
          <p:nvPr/>
        </p:nvSpPr>
        <p:spPr>
          <a:xfrm>
            <a:off x="10156031" y="5506641"/>
            <a:ext cx="1571625"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更新后续调度决策</a:t>
            </a:r>
            <a:endParaRPr lang="en-US" sz="900" dirty="0" spc="0"/>
          </a:p>
        </p:txBody>
      </p:sp>
      <p:sp>
        <p:nvSpPr>
          <p:cNvPr id="111" name="takeaway"/>
          <p:cNvSpPr txBox="1"/>
          <p:nvPr/>
        </p:nvSpPr>
        <p:spPr>
          <a:xfrm>
            <a:off x="523875" y="5941219"/>
            <a:ext cx="10894219"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4478"/>
                </a:solidFill>
                <a:latin typeface="Microsoft YaHei" pitchFamily="34" charset="0"/>
                <a:ea typeface="Microsoft YaHei" pitchFamily="34" charset="-122"/>
                <a:cs typeface="Microsoft YaHei" pitchFamily="34" charset="-120"/>
              </a:rPr>
              <a:t>结论：优先改进 Runtime/OS 与现有 CPU/NPU 协同，不能凭局部算子速度推断端到端收益。</a:t>
            </a:r>
            <a:endParaRPr lang="en-US" sz="1000" dirty="0" spc="0"/>
          </a:p>
        </p:txBody>
      </p:sp>
      <p:sp>
        <p:nvSpPr>
          <p:cNvPr id="112" name="source-line"/>
          <p:cNvSpPr txBox="1"/>
          <p:nvPr/>
        </p:nvSpPr>
        <p:spPr>
          <a:xfrm>
            <a:off x="470297" y="6316266"/>
            <a:ext cx="845343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依据：HeRo（动态 Agentic RAG 阶段 DAG，2026）；SERENO（OSDI 2026，共享 DRAM / 前台 QoE）。</a:t>
            </a:r>
            <a:endParaRPr lang="en-US" sz="850" dirty="0" spc="0"/>
          </a:p>
        </p:txBody>
      </p:sp>
      <p:sp>
        <p:nvSpPr>
          <p:cNvPr id="113" name="boundary-line"/>
          <p:cNvSpPr txBox="1"/>
          <p:nvPr/>
        </p:nvSpPr>
        <p:spPr>
          <a:xfrm>
            <a:off x="10120313" y="6316266"/>
            <a:ext cx="1601391" cy="202406"/>
          </a:xfrm>
          <a:prstGeom prst="rect">
            <a:avLst/>
          </a:prstGeom>
          <a:noFill/>
          <a:ln/>
        </p:spPr>
        <p:txBody>
          <a:bodyPr wrap="square" lIns="11906" tIns="11906" rIns="11906" bIns="11906" rtlCol="0" anchor="ctr">
            <a:noAutofit/>
          </a:bodyPr>
          <a:lstStyle/>
          <a:p>
            <a:pPr algn="r"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概念示意 · 非定量实测图</a:t>
            </a:r>
            <a:endParaRPr lang="en-US" sz="850" dirty="0" spc="0"/>
          </a:p>
        </p:txBody>
      </p:sp>
      <p:sp>
        <p:nvSpPr>
          <p:cNvPr id="114" name="constraint-num-1"/>
          <p:cNvSpPr txBox="1"/>
          <p:nvPr/>
        </p:nvSpPr>
        <p:spPr>
          <a:xfrm>
            <a:off x="8262938" y="2077641"/>
            <a:ext cx="273844" cy="26193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01</a:t>
            </a:r>
            <a:endParaRPr lang="en-US" sz="1000" dirty="0" spc="0"/>
          </a:p>
        </p:txBody>
      </p:sp>
      <p:sp>
        <p:nvSpPr>
          <p:cNvPr id="115" name="constraint-num-2"/>
          <p:cNvSpPr txBox="1"/>
          <p:nvPr/>
        </p:nvSpPr>
        <p:spPr>
          <a:xfrm>
            <a:off x="8262938" y="2738438"/>
            <a:ext cx="273844" cy="26193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02</a:t>
            </a:r>
            <a:endParaRPr lang="en-US" sz="1000" dirty="0" spc="0"/>
          </a:p>
        </p:txBody>
      </p:sp>
      <p:sp>
        <p:nvSpPr>
          <p:cNvPr id="116" name="constraint-num-3"/>
          <p:cNvSpPr txBox="1"/>
          <p:nvPr/>
        </p:nvSpPr>
        <p:spPr>
          <a:xfrm>
            <a:off x="8262938" y="3399234"/>
            <a:ext cx="273844" cy="26193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03</a:t>
            </a:r>
            <a:endParaRPr lang="en-US" sz="1000" dirty="0" spc="0"/>
          </a:p>
        </p:txBody>
      </p:sp>
      <p:sp>
        <p:nvSpPr>
          <p:cNvPr id="117" name="constraint-num-4"/>
          <p:cNvSpPr txBox="1"/>
          <p:nvPr/>
        </p:nvSpPr>
        <p:spPr>
          <a:xfrm>
            <a:off x="8262938" y="4060031"/>
            <a:ext cx="273844" cy="26193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000" b="1" dirty="0" spc="0">
                <a:solidFill>
                  <a:srgbClr val="FFFFFF"/>
                </a:solidFill>
                <a:latin typeface="Microsoft YaHei" pitchFamily="34" charset="0"/>
                <a:ea typeface="Microsoft YaHei" pitchFamily="34" charset="-122"/>
                <a:cs typeface="Microsoft YaHei" pitchFamily="34" charset="-120"/>
              </a:rPr>
              <a:t>04</a:t>
            </a:r>
            <a:endParaRPr lang="en-US" sz="1000" dirty="0" spc="0"/>
          </a:p>
        </p:txBody>
      </p:sp>
      <p:sp>
        <p:nvSpPr>
          <p:cNvPr id="118"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428625" y="1428750"/>
            <a:ext cx="3571875" cy="1803797"/>
          </a:xfrm>
          <a:prstGeom prst="roundRect">
            <a:avLst>
              <a:gd name="adj" fmla="val 4290"/>
            </a:avLst>
          </a:prstGeom>
          <a:solidFill>
            <a:srgbClr val="FFFFFF"/>
          </a:solidFill>
          <a:ln w="8930">
            <a:solidFill>
              <a:srgbClr val="BCD6EC"/>
            </a:solidFill>
            <a:prstDash val="solid"/>
          </a:ln>
        </p:spPr>
      </p:sp>
      <p:sp>
        <p:nvSpPr>
          <p:cNvPr id="3" name="panel-2"/>
          <p:cNvSpPr/>
          <p:nvPr/>
        </p:nvSpPr>
        <p:spPr>
          <a:xfrm>
            <a:off x="4167188" y="1428750"/>
            <a:ext cx="3571875" cy="1803797"/>
          </a:xfrm>
          <a:prstGeom prst="roundRect">
            <a:avLst>
              <a:gd name="adj" fmla="val 4290"/>
            </a:avLst>
          </a:prstGeom>
          <a:solidFill>
            <a:srgbClr val="F7F9FD"/>
          </a:solidFill>
          <a:ln w="8930">
            <a:solidFill>
              <a:srgbClr val="BCD6EC"/>
            </a:solidFill>
            <a:prstDash val="solid"/>
          </a:ln>
        </p:spPr>
      </p:sp>
      <p:sp>
        <p:nvSpPr>
          <p:cNvPr id="4" name="panel-3"/>
          <p:cNvSpPr/>
          <p:nvPr/>
        </p:nvSpPr>
        <p:spPr>
          <a:xfrm>
            <a:off x="7905750" y="1428750"/>
            <a:ext cx="3839766" cy="1803797"/>
          </a:xfrm>
          <a:prstGeom prst="roundRect">
            <a:avLst>
              <a:gd name="adj" fmla="val 4290"/>
            </a:avLst>
          </a:prstGeom>
          <a:solidFill>
            <a:srgbClr val="FFFFFF"/>
          </a:solidFill>
          <a:ln w="8930">
            <a:solidFill>
              <a:srgbClr val="BCD6EC"/>
            </a:solidFill>
            <a:prstDash val="solid"/>
          </a:ln>
        </p:spPr>
      </p:sp>
      <p:sp>
        <p:nvSpPr>
          <p:cNvPr id="5" name="panel-4"/>
          <p:cNvSpPr/>
          <p:nvPr/>
        </p:nvSpPr>
        <p:spPr>
          <a:xfrm>
            <a:off x="428625" y="4917281"/>
            <a:ext cx="11310938" cy="1071563"/>
          </a:xfrm>
          <a:prstGeom prst="roundRect">
            <a:avLst>
              <a:gd name="adj" fmla="val 7222"/>
            </a:avLst>
          </a:prstGeom>
          <a:solidFill>
            <a:srgbClr val="F7F9FD"/>
          </a:solidFill>
          <a:ln w="8930">
            <a:solidFill>
              <a:srgbClr val="BCD6EC"/>
            </a:solidFill>
            <a:prstDash val="solid"/>
          </a:ln>
        </p:spPr>
      </p:sp>
      <p:sp>
        <p:nvSpPr>
          <p:cNvPr id="6"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7"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cxnSp>
        <p:nvCxnSpPr>
          <p:cNvPr id="8" name="SC_CONNECTOR__phase-to-cost__0"/>
          <p:cNvCxnSpPr/>
          <p:nvPr/>
        </p:nvCxnSpPr>
        <p:spPr>
          <a:xfrm>
            <a:off x="4000500" y="2330648"/>
            <a:ext cx="166688" cy="0"/>
          </a:xfrm>
          <a:prstGeom prst="line">
            <a:avLst/>
          </a:prstGeom>
          <a:noFill/>
          <a:ln w="17859">
            <a:solidFill>
              <a:srgbClr val="2473B6"/>
            </a:solidFill>
            <a:prstDash val="solid"/>
            <a:round/>
            <a:headEnd type="none"/>
            <a:tailEnd type="triangle" w="med" len="med"/>
          </a:ln>
        </p:spPr>
      </p:cxnSp>
      <p:cxnSp>
        <p:nvCxnSpPr>
          <p:cNvPr id="9" name="SC_CONNECTOR__cost-to-constraint__0"/>
          <p:cNvCxnSpPr/>
          <p:nvPr/>
        </p:nvCxnSpPr>
        <p:spPr>
          <a:xfrm>
            <a:off x="7739063" y="2330648"/>
            <a:ext cx="166687" cy="0"/>
          </a:xfrm>
          <a:prstGeom prst="line">
            <a:avLst/>
          </a:prstGeom>
          <a:noFill/>
          <a:ln w="17859">
            <a:solidFill>
              <a:srgbClr val="2473B6"/>
            </a:solidFill>
            <a:prstDash val="solid"/>
            <a:round/>
            <a:headEnd type="none"/>
            <a:tailEnd type="triangle" w="med" len="med"/>
          </a:ln>
        </p:spPr>
      </p:cxnSp>
      <p:sp>
        <p:nvSpPr>
          <p:cNvPr id="10" name="ocr-001"/>
          <p:cNvSpPr txBox="1"/>
          <p:nvPr/>
        </p:nvSpPr>
        <p:spPr>
          <a:xfrm>
            <a:off x="571500" y="595313"/>
            <a:ext cx="9584531" cy="321469"/>
          </a:xfrm>
          <a:prstGeom prst="rect">
            <a:avLst/>
          </a:prstGeom>
          <a:noFill/>
          <a:ln/>
        </p:spPr>
        <p:txBody>
          <a:bodyPr wrap="square" lIns="0" tIns="0" rIns="0" bIns="0" rtlCol="0" anchor="ctr">
            <a:noAutofit/>
          </a:bodyPr>
          <a:lstStyle/>
          <a:p>
            <a:pPr algn="l" indent="0" marL="0">
              <a:lnSpc>
                <a:spcPct val="100000"/>
              </a:lnSpc>
              <a:buNone/>
              <a:defRPr spc="0"/>
            </a:pPr>
            <a:r>
              <a:rPr lang="en-US" sz="2250" b="1" dirty="0" spc="0">
                <a:solidFill>
                  <a:srgbClr val="102C55"/>
                </a:solidFill>
                <a:latin typeface="Microsoft YaHei" pitchFamily="34" charset="0"/>
                <a:ea typeface="Microsoft YaHei" pitchFamily="34" charset="-122"/>
                <a:cs typeface="Microsoft YaHei" pitchFamily="34" charset="-120"/>
              </a:rPr>
              <a:t>CPU与NPU的优劣取决于阶段、算子形状和交接成本</a:t>
            </a:r>
            <a:endParaRPr lang="en-US" sz="2250" dirty="0" spc="0"/>
          </a:p>
        </p:txBody>
      </p:sp>
      <p:sp>
        <p:nvSpPr>
          <p:cNvPr id="11" name="ocr-002"/>
          <p:cNvSpPr txBox="1"/>
          <p:nvPr/>
        </p:nvSpPr>
        <p:spPr>
          <a:xfrm>
            <a:off x="559594" y="1023938"/>
            <a:ext cx="7328297"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00" dirty="0" spc="0">
                <a:solidFill>
                  <a:srgbClr val="58738A"/>
                </a:solidFill>
                <a:latin typeface="Microsoft YaHei" pitchFamily="34" charset="0"/>
                <a:ea typeface="Microsoft YaHei" pitchFamily="34" charset="-122"/>
                <a:cs typeface="Microsoft YaHei" pitchFamily="34" charset="-120"/>
              </a:rPr>
              <a:t>同一平台内Prefill、Decode与单算子表现不同；局部优势不能直接外推完整工作流。</a:t>
            </a:r>
            <a:endParaRPr lang="en-US" sz="1300" dirty="0" spc="0"/>
          </a:p>
        </p:txBody>
      </p:sp>
      <p:sp>
        <p:nvSpPr>
          <p:cNvPr id="12" name="ocr-003"/>
          <p:cNvSpPr txBox="1"/>
          <p:nvPr/>
        </p:nvSpPr>
        <p:spPr>
          <a:xfrm>
            <a:off x="571500" y="1762125"/>
            <a:ext cx="220265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Prefill丨被测NPU路径</a:t>
            </a:r>
            <a:endParaRPr lang="en-US" sz="1000" dirty="0" spc="0"/>
          </a:p>
        </p:txBody>
      </p:sp>
      <p:sp>
        <p:nvSpPr>
          <p:cNvPr id="13" name="ocr-004"/>
          <p:cNvSpPr txBox="1"/>
          <p:nvPr/>
        </p:nvSpPr>
        <p:spPr>
          <a:xfrm>
            <a:off x="4399359" y="1756172"/>
            <a:ext cx="2637234"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Decode丨MUL_MAT单算子</a:t>
            </a:r>
            <a:endParaRPr lang="en-US" sz="1100" dirty="0" spc="0"/>
          </a:p>
        </p:txBody>
      </p:sp>
      <p:sp>
        <p:nvSpPr>
          <p:cNvPr id="14" name="ocr-005"/>
          <p:cNvSpPr txBox="1"/>
          <p:nvPr/>
        </p:nvSpPr>
        <p:spPr>
          <a:xfrm>
            <a:off x="8233172" y="1762125"/>
            <a:ext cx="2196703"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Decode|完整执行路径</a:t>
            </a:r>
            <a:endParaRPr lang="en-US" sz="1000" dirty="0" spc="0"/>
          </a:p>
        </p:txBody>
      </p:sp>
      <p:sp>
        <p:nvSpPr>
          <p:cNvPr id="15" name="ocr-006"/>
          <p:cNvSpPr txBox="1"/>
          <p:nvPr/>
        </p:nvSpPr>
        <p:spPr>
          <a:xfrm>
            <a:off x="583406" y="2172891"/>
            <a:ext cx="2297906"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173753"/>
                </a:solidFill>
                <a:latin typeface="Microsoft YaHei" pitchFamily="34" charset="0"/>
                <a:ea typeface="Microsoft YaHei" pitchFamily="34" charset="-122"/>
                <a:cs typeface="Microsoft YaHei" pitchFamily="34" charset="-120"/>
              </a:rPr>
              <a:t>慢 1.27-1.62×</a:t>
            </a:r>
            <a:endParaRPr lang="en-US" sz="1450" dirty="0" spc="0"/>
          </a:p>
        </p:txBody>
      </p:sp>
      <p:sp>
        <p:nvSpPr>
          <p:cNvPr id="16" name="ocr-007"/>
          <p:cNvSpPr txBox="1"/>
          <p:nvPr/>
        </p:nvSpPr>
        <p:spPr>
          <a:xfrm>
            <a:off x="4411266" y="2172891"/>
            <a:ext cx="2970609"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173753"/>
                </a:solidFill>
                <a:latin typeface="Microsoft YaHei" pitchFamily="34" charset="0"/>
                <a:ea typeface="Microsoft YaHei" pitchFamily="34" charset="-122"/>
                <a:cs typeface="Microsoft YaHei" pitchFamily="34" charset="-120"/>
              </a:rPr>
              <a:t>延迟低1.55-1.67×</a:t>
            </a:r>
            <a:endParaRPr lang="en-US" sz="1450" dirty="0" spc="0"/>
          </a:p>
        </p:txBody>
      </p:sp>
      <p:sp>
        <p:nvSpPr>
          <p:cNvPr id="17" name="ocr-008"/>
          <p:cNvSpPr txBox="1"/>
          <p:nvPr/>
        </p:nvSpPr>
        <p:spPr>
          <a:xfrm>
            <a:off x="8239125" y="2166938"/>
            <a:ext cx="2637234" cy="30360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173753"/>
                </a:solidFill>
                <a:latin typeface="Microsoft YaHei" pitchFamily="34" charset="0"/>
                <a:ea typeface="Microsoft YaHei" pitchFamily="34" charset="-122"/>
                <a:cs typeface="Microsoft YaHei" pitchFamily="34" charset="-120"/>
              </a:rPr>
              <a:t>仅约 1.05-1.20×</a:t>
            </a:r>
            <a:endParaRPr lang="en-US" sz="1450" dirty="0" spc="0"/>
          </a:p>
        </p:txBody>
      </p:sp>
      <p:sp>
        <p:nvSpPr>
          <p:cNvPr id="18" name="ocr-009"/>
          <p:cNvSpPr txBox="1"/>
          <p:nvPr/>
        </p:nvSpPr>
        <p:spPr>
          <a:xfrm>
            <a:off x="631031" y="2571750"/>
            <a:ext cx="1244203"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相对6核CPU</a:t>
            </a:r>
            <a:endParaRPr lang="en-US" sz="1200" dirty="0" spc="0"/>
          </a:p>
        </p:txBody>
      </p:sp>
      <p:sp>
        <p:nvSpPr>
          <p:cNvPr id="19" name="ocr-010"/>
          <p:cNvSpPr txBox="1"/>
          <p:nvPr/>
        </p:nvSpPr>
        <p:spPr>
          <a:xfrm>
            <a:off x="4476750" y="2589609"/>
            <a:ext cx="184546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NPU相对同配置CPU</a:t>
            </a:r>
            <a:endParaRPr lang="en-US" sz="1000" dirty="0" spc="0"/>
          </a:p>
        </p:txBody>
      </p:sp>
      <p:sp>
        <p:nvSpPr>
          <p:cNvPr id="20" name="ocr-011"/>
          <p:cNvSpPr txBox="1"/>
          <p:nvPr/>
        </p:nvSpPr>
        <p:spPr>
          <a:xfrm>
            <a:off x="8304609" y="2589609"/>
            <a:ext cx="2101453"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特定论文配置中的总路径</a:t>
            </a:r>
            <a:endParaRPr lang="en-US" sz="1000" dirty="0" spc="0"/>
          </a:p>
        </p:txBody>
      </p:sp>
      <p:sp>
        <p:nvSpPr>
          <p:cNvPr id="21" name="ocr-012"/>
          <p:cNvSpPr txBox="1"/>
          <p:nvPr/>
        </p:nvSpPr>
        <p:spPr>
          <a:xfrm>
            <a:off x="559594" y="2857500"/>
            <a:ext cx="2321719"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被测平台：Snapdragon8Gen3</a:t>
            </a:r>
            <a:endParaRPr lang="en-US" sz="1050" dirty="0" spc="0"/>
          </a:p>
        </p:txBody>
      </p:sp>
      <p:sp>
        <p:nvSpPr>
          <p:cNvPr id="22" name="ocr-013"/>
          <p:cNvSpPr txBox="1"/>
          <p:nvPr/>
        </p:nvSpPr>
        <p:spPr>
          <a:xfrm>
            <a:off x="4399359" y="2869406"/>
            <a:ext cx="2363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仅Decode阶段的MUL_MAT算子</a:t>
            </a:r>
            <a:endParaRPr lang="en-US" sz="800" dirty="0" spc="0"/>
          </a:p>
        </p:txBody>
      </p:sp>
      <p:sp>
        <p:nvSpPr>
          <p:cNvPr id="23" name="ocr-014"/>
          <p:cNvSpPr txBox="1"/>
          <p:nvPr/>
        </p:nvSpPr>
        <p:spPr>
          <a:xfrm>
            <a:off x="8227219" y="2869406"/>
            <a:ext cx="23752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完整Decode路径不是单算子测试</a:t>
            </a:r>
            <a:endParaRPr lang="en-US" sz="800" dirty="0" spc="0"/>
          </a:p>
        </p:txBody>
      </p:sp>
      <p:sp>
        <p:nvSpPr>
          <p:cNvPr id="24" name="ocr-015"/>
          <p:cNvSpPr txBox="1"/>
          <p:nvPr/>
        </p:nvSpPr>
        <p:spPr>
          <a:xfrm>
            <a:off x="553641" y="3036094"/>
            <a:ext cx="2881313"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Hexagonv75；不是所有手机的共同结论</a:t>
            </a:r>
            <a:endParaRPr lang="en-US" sz="1000" dirty="0" spc="0"/>
          </a:p>
        </p:txBody>
      </p:sp>
      <p:sp>
        <p:nvSpPr>
          <p:cNvPr id="25" name="ocr-016"/>
          <p:cNvSpPr txBox="1"/>
          <p:nvPr/>
        </p:nvSpPr>
        <p:spPr>
          <a:xfrm>
            <a:off x="4399359" y="3048000"/>
            <a:ext cx="2524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不得写成整条Decode加速同样倍数</a:t>
            </a:r>
            <a:endParaRPr lang="en-US" sz="800" dirty="0" spc="0"/>
          </a:p>
        </p:txBody>
      </p:sp>
      <p:sp>
        <p:nvSpPr>
          <p:cNvPr id="26" name="ocr-017"/>
          <p:cNvSpPr txBox="1"/>
          <p:nvPr/>
        </p:nvSpPr>
        <p:spPr>
          <a:xfrm>
            <a:off x="8221266" y="3042047"/>
            <a:ext cx="2095500"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也不是Agent任务端到端加速</a:t>
            </a:r>
            <a:endParaRPr lang="en-US" sz="950" dirty="0" spc="0"/>
          </a:p>
        </p:txBody>
      </p:sp>
      <p:sp>
        <p:nvSpPr>
          <p:cNvPr id="27" name="ocr-018"/>
          <p:cNvSpPr txBox="1"/>
          <p:nvPr/>
        </p:nvSpPr>
        <p:spPr>
          <a:xfrm>
            <a:off x="440531" y="3536156"/>
            <a:ext cx="417314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为何局部加速不能直接变为整体收益</a:t>
            </a:r>
            <a:endParaRPr lang="en-US" sz="1100" dirty="0" spc="0"/>
          </a:p>
        </p:txBody>
      </p:sp>
      <p:sp>
        <p:nvSpPr>
          <p:cNvPr id="28" name="ocr-019"/>
          <p:cNvSpPr txBox="1"/>
          <p:nvPr/>
        </p:nvSpPr>
        <p:spPr>
          <a:xfrm>
            <a:off x="440531" y="3798094"/>
            <a:ext cx="660796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非计算开销可能重叠，并非严格顺序相加；通信占被测NPU路径约9.9-13.0%。</a:t>
            </a:r>
            <a:endParaRPr lang="en-US" sz="950" dirty="0" spc="0"/>
          </a:p>
        </p:txBody>
      </p:sp>
      <p:sp>
        <p:nvSpPr>
          <p:cNvPr id="29" name="ocr-020"/>
          <p:cNvSpPr txBox="1"/>
          <p:nvPr/>
        </p:nvSpPr>
        <p:spPr>
          <a:xfrm>
            <a:off x="1178719" y="4268391"/>
            <a:ext cx="934641"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后端启动</a:t>
            </a:r>
            <a:endParaRPr lang="en-US" sz="1250" dirty="0" spc="0"/>
          </a:p>
        </p:txBody>
      </p:sp>
      <p:sp>
        <p:nvSpPr>
          <p:cNvPr id="30" name="ocr-021"/>
          <p:cNvSpPr txBox="1"/>
          <p:nvPr/>
        </p:nvSpPr>
        <p:spPr>
          <a:xfrm>
            <a:off x="3524250" y="4268391"/>
            <a:ext cx="94059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同步等待</a:t>
            </a:r>
            <a:endParaRPr lang="en-US" sz="1250" dirty="0" spc="0"/>
          </a:p>
        </p:txBody>
      </p:sp>
      <p:sp>
        <p:nvSpPr>
          <p:cNvPr id="31" name="ocr-022"/>
          <p:cNvSpPr txBox="1"/>
          <p:nvPr/>
        </p:nvSpPr>
        <p:spPr>
          <a:xfrm>
            <a:off x="5804297" y="4268391"/>
            <a:ext cx="1154906"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布局与搬运</a:t>
            </a:r>
            <a:endParaRPr lang="en-US" sz="1250" dirty="0" spc="0"/>
          </a:p>
        </p:txBody>
      </p:sp>
      <p:sp>
        <p:nvSpPr>
          <p:cNvPr id="32" name="ocr-023"/>
          <p:cNvSpPr txBox="1"/>
          <p:nvPr/>
        </p:nvSpPr>
        <p:spPr>
          <a:xfrm>
            <a:off x="8203406" y="4268391"/>
            <a:ext cx="1000125"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CPU回退</a:t>
            </a:r>
            <a:endParaRPr lang="en-US" sz="1250" dirty="0" spc="0"/>
          </a:p>
        </p:txBody>
      </p:sp>
      <p:sp>
        <p:nvSpPr>
          <p:cNvPr id="33" name="ocr-024"/>
          <p:cNvSpPr txBox="1"/>
          <p:nvPr/>
        </p:nvSpPr>
        <p:spPr>
          <a:xfrm>
            <a:off x="10590609" y="4262438"/>
            <a:ext cx="92273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00" b="1" dirty="0" spc="0">
                <a:solidFill>
                  <a:srgbClr val="173753"/>
                </a:solidFill>
                <a:latin typeface="Microsoft YaHei" pitchFamily="34" charset="0"/>
                <a:ea typeface="Microsoft YaHei" pitchFamily="34" charset="-122"/>
                <a:cs typeface="Microsoft YaHei" pitchFamily="34" charset="-120"/>
              </a:rPr>
              <a:t>共享争用</a:t>
            </a:r>
            <a:endParaRPr lang="en-US" sz="1300" dirty="0" spc="0"/>
          </a:p>
        </p:txBody>
      </p:sp>
      <p:sp>
        <p:nvSpPr>
          <p:cNvPr id="34" name="ocr-025"/>
          <p:cNvSpPr txBox="1"/>
          <p:nvPr/>
        </p:nvSpPr>
        <p:spPr>
          <a:xfrm>
            <a:off x="1077516" y="4589859"/>
            <a:ext cx="1202531"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初始化/图准备</a:t>
            </a:r>
            <a:endParaRPr lang="en-US" sz="1000" dirty="0" spc="0"/>
          </a:p>
        </p:txBody>
      </p:sp>
      <p:sp>
        <p:nvSpPr>
          <p:cNvPr id="35" name="ocr-026"/>
          <p:cNvSpPr txBox="1"/>
          <p:nvPr/>
        </p:nvSpPr>
        <p:spPr>
          <a:xfrm>
            <a:off x="3589734" y="4583906"/>
            <a:ext cx="744141"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阶段切换</a:t>
            </a:r>
            <a:endParaRPr lang="en-US" sz="1000" dirty="0" spc="0"/>
          </a:p>
        </p:txBody>
      </p:sp>
      <p:sp>
        <p:nvSpPr>
          <p:cNvPr id="36" name="ocr-027"/>
          <p:cNvSpPr txBox="1"/>
          <p:nvPr/>
        </p:nvSpPr>
        <p:spPr>
          <a:xfrm>
            <a:off x="5786438" y="4589859"/>
            <a:ext cx="121443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张量格式/复制</a:t>
            </a:r>
            <a:endParaRPr lang="en-US" sz="1000" dirty="0" spc="0"/>
          </a:p>
        </p:txBody>
      </p:sp>
      <p:sp>
        <p:nvSpPr>
          <p:cNvPr id="37" name="ocr-028"/>
          <p:cNvSpPr txBox="1"/>
          <p:nvPr/>
        </p:nvSpPr>
        <p:spPr>
          <a:xfrm>
            <a:off x="8245078" y="4589859"/>
            <a:ext cx="898922"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不支持算子</a:t>
            </a:r>
            <a:endParaRPr lang="en-US" sz="1000" dirty="0" spc="0"/>
          </a:p>
        </p:txBody>
      </p:sp>
      <p:sp>
        <p:nvSpPr>
          <p:cNvPr id="38" name="ocr-029"/>
          <p:cNvSpPr txBox="1"/>
          <p:nvPr/>
        </p:nvSpPr>
        <p:spPr>
          <a:xfrm>
            <a:off x="10548938" y="4577953"/>
            <a:ext cx="1023938"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DRAM/QoE</a:t>
            </a:r>
            <a:endParaRPr lang="en-US" sz="1100" dirty="0" spc="0"/>
          </a:p>
        </p:txBody>
      </p:sp>
      <p:sp>
        <p:nvSpPr>
          <p:cNvPr id="39" name="ocr-030"/>
          <p:cNvSpPr txBox="1"/>
          <p:nvPr/>
        </p:nvSpPr>
        <p:spPr>
          <a:xfrm>
            <a:off x="601266" y="5143500"/>
            <a:ext cx="863203"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173753"/>
                </a:solidFill>
                <a:latin typeface="Microsoft YaHei" pitchFamily="34" charset="0"/>
                <a:ea typeface="Microsoft YaHei" pitchFamily="34" charset="-122"/>
                <a:cs typeface="Microsoft YaHei" pitchFamily="34" charset="-120"/>
              </a:rPr>
              <a:t>证据解读</a:t>
            </a:r>
            <a:endParaRPr lang="en-US" sz="1150" dirty="0" spc="0"/>
          </a:p>
        </p:txBody>
      </p:sp>
      <p:sp>
        <p:nvSpPr>
          <p:cNvPr id="40" name="ocr-031"/>
          <p:cNvSpPr txBox="1"/>
          <p:nvPr/>
        </p:nvSpPr>
        <p:spPr>
          <a:xfrm>
            <a:off x="1857375" y="5173266"/>
            <a:ext cx="591145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9.9-13.0%是被测NPU路径中的通信开销占比，不是端到端时延降低。</a:t>
            </a:r>
            <a:endParaRPr lang="en-US" sz="950" dirty="0" spc="0"/>
          </a:p>
        </p:txBody>
      </p:sp>
      <p:sp>
        <p:nvSpPr>
          <p:cNvPr id="41" name="ocr-032"/>
          <p:cNvSpPr txBox="1"/>
          <p:nvPr/>
        </p:nvSpPr>
        <p:spPr>
          <a:xfrm>
            <a:off x="1851422" y="5381625"/>
            <a:ext cx="5453063"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分项可能重叠；这是一张机理图，不是将上方三个结果加总的实验柱图。</a:t>
            </a:r>
            <a:endParaRPr lang="en-US" sz="1000" dirty="0" spc="0"/>
          </a:p>
        </p:txBody>
      </p:sp>
      <p:sp>
        <p:nvSpPr>
          <p:cNvPr id="42" name="ocr-033"/>
          <p:cNvSpPr txBox="1"/>
          <p:nvPr/>
        </p:nvSpPr>
        <p:spPr>
          <a:xfrm>
            <a:off x="452438" y="5965031"/>
            <a:ext cx="893564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PAPER-009：WhenNPUsAreNotAlwaysFaster(arXiv:2605.27435)；公开手机实测，数值仅适用于原文特定平台/软件栈。</a:t>
            </a:r>
            <a:endParaRPr lang="en-US" sz="950" dirty="0" spc="0"/>
          </a:p>
        </p:txBody>
      </p:sp>
      <p:sp>
        <p:nvSpPr>
          <p:cNvPr id="43" name="ocr-034"/>
          <p:cNvSpPr txBox="1"/>
          <p:nvPr/>
        </p:nvSpPr>
        <p:spPr>
          <a:xfrm>
            <a:off x="452438" y="6173391"/>
            <a:ext cx="7631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注：从CPU/NPU不同阶段交叉点推不出NPU或CPU永远占优，也推不出新增Agent专用CPUISA必要。</a:t>
            </a:r>
            <a:endParaRPr lang="en-US" sz="800" dirty="0" spc="0"/>
          </a:p>
        </p:txBody>
      </p:sp>
      <p:sp>
        <p:nvSpPr>
          <p:cNvPr id="44"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285750" y="1166813"/>
            <a:ext cx="5715000" cy="4452938"/>
          </a:xfrm>
          <a:prstGeom prst="roundRect">
            <a:avLst>
              <a:gd name="adj" fmla="val 1738"/>
            </a:avLst>
          </a:prstGeom>
          <a:solidFill>
            <a:srgbClr val="FFFFFF"/>
          </a:solidFill>
          <a:ln w="8930">
            <a:solidFill>
              <a:srgbClr val="BCD6EC"/>
            </a:solidFill>
            <a:prstDash val="solid"/>
          </a:ln>
        </p:spPr>
      </p:sp>
      <p:sp>
        <p:nvSpPr>
          <p:cNvPr id="3" name="panel-2"/>
          <p:cNvSpPr/>
          <p:nvPr/>
        </p:nvSpPr>
        <p:spPr>
          <a:xfrm>
            <a:off x="6179344" y="1166813"/>
            <a:ext cx="5738813" cy="4452938"/>
          </a:xfrm>
          <a:prstGeom prst="roundRect">
            <a:avLst>
              <a:gd name="adj" fmla="val 1738"/>
            </a:avLst>
          </a:prstGeom>
          <a:solidFill>
            <a:srgbClr val="F7F9FD"/>
          </a:solidFill>
          <a:ln w="8930">
            <a:solidFill>
              <a:srgbClr val="BCD6EC"/>
            </a:solidFill>
            <a:prstDash val="solid"/>
          </a:ln>
        </p:spPr>
      </p:sp>
      <p:sp>
        <p:nvSpPr>
          <p:cNvPr id="4" name="panel-3"/>
          <p:cNvSpPr/>
          <p:nvPr/>
        </p:nvSpPr>
        <p:spPr>
          <a:xfrm>
            <a:off x="285750" y="5697141"/>
            <a:ext cx="8120063" cy="654844"/>
          </a:xfrm>
          <a:prstGeom prst="roundRect">
            <a:avLst>
              <a:gd name="adj" fmla="val 11818"/>
            </a:avLst>
          </a:prstGeom>
          <a:solidFill>
            <a:srgbClr val="FFFFFF"/>
          </a:solidFill>
          <a:ln w="8930">
            <a:solidFill>
              <a:srgbClr val="BCD6EC"/>
            </a:solidFill>
            <a:prstDash val="solid"/>
          </a:ln>
        </p:spPr>
      </p:sp>
      <p:sp>
        <p:nvSpPr>
          <p:cNvPr id="5" name="panel-4"/>
          <p:cNvSpPr/>
          <p:nvPr/>
        </p:nvSpPr>
        <p:spPr>
          <a:xfrm>
            <a:off x="8572500" y="5697141"/>
            <a:ext cx="3345656" cy="654844"/>
          </a:xfrm>
          <a:prstGeom prst="roundRect">
            <a:avLst>
              <a:gd name="adj" fmla="val 11818"/>
            </a:avLst>
          </a:prstGeom>
          <a:solidFill>
            <a:srgbClr val="F7F9FD"/>
          </a:solidFill>
          <a:ln w="8930">
            <a:solidFill>
              <a:srgbClr val="BCD6EC"/>
            </a:solidFill>
            <a:prstDash val="solid"/>
          </a:ln>
        </p:spPr>
      </p:sp>
      <p:sp>
        <p:nvSpPr>
          <p:cNvPr id="6" name="detail-card-1"/>
          <p:cNvSpPr/>
          <p:nvPr/>
        </p:nvSpPr>
        <p:spPr>
          <a:xfrm>
            <a:off x="410766" y="1631156"/>
            <a:ext cx="5494734" cy="1750219"/>
          </a:xfrm>
          <a:prstGeom prst="roundRect">
            <a:avLst>
              <a:gd name="adj" fmla="val 3741"/>
            </a:avLst>
          </a:prstGeom>
          <a:solidFill>
            <a:srgbClr val="F7FBFF"/>
          </a:solidFill>
          <a:ln w="7144">
            <a:solidFill>
              <a:srgbClr val="C7E0F3"/>
            </a:solidFill>
            <a:prstDash val="solid"/>
          </a:ln>
        </p:spPr>
      </p:sp>
      <p:sp>
        <p:nvSpPr>
          <p:cNvPr id="7" name="detail-card-2"/>
          <p:cNvSpPr/>
          <p:nvPr/>
        </p:nvSpPr>
        <p:spPr>
          <a:xfrm>
            <a:off x="410766" y="3440906"/>
            <a:ext cx="5494734" cy="2095500"/>
          </a:xfrm>
          <a:prstGeom prst="roundRect">
            <a:avLst>
              <a:gd name="adj" fmla="val 3125"/>
            </a:avLst>
          </a:prstGeom>
          <a:solidFill>
            <a:srgbClr val="F7FBFF"/>
          </a:solidFill>
          <a:ln w="7144">
            <a:solidFill>
              <a:srgbClr val="C7E0F3"/>
            </a:solidFill>
            <a:prstDash val="solid"/>
          </a:ln>
        </p:spPr>
      </p:sp>
      <p:sp>
        <p:nvSpPr>
          <p:cNvPr id="8" name="detail-card-3"/>
          <p:cNvSpPr/>
          <p:nvPr/>
        </p:nvSpPr>
        <p:spPr>
          <a:xfrm>
            <a:off x="6292453" y="1631156"/>
            <a:ext cx="5488781" cy="1934766"/>
          </a:xfrm>
          <a:prstGeom prst="roundRect">
            <a:avLst>
              <a:gd name="adj" fmla="val 3385"/>
            </a:avLst>
          </a:prstGeom>
          <a:solidFill>
            <a:srgbClr val="F7FBFF"/>
          </a:solidFill>
          <a:ln w="7144">
            <a:solidFill>
              <a:srgbClr val="C7E0F3"/>
            </a:solidFill>
            <a:prstDash val="solid"/>
          </a:ln>
        </p:spPr>
      </p:sp>
      <p:sp>
        <p:nvSpPr>
          <p:cNvPr id="9" name="detail-card-4"/>
          <p:cNvSpPr/>
          <p:nvPr/>
        </p:nvSpPr>
        <p:spPr>
          <a:xfrm>
            <a:off x="6292453" y="3607594"/>
            <a:ext cx="5488781" cy="1905000"/>
          </a:xfrm>
          <a:prstGeom prst="roundRect">
            <a:avLst>
              <a:gd name="adj" fmla="val 3438"/>
            </a:avLst>
          </a:prstGeom>
          <a:solidFill>
            <a:srgbClr val="F7FBFF"/>
          </a:solidFill>
          <a:ln w="7144">
            <a:solidFill>
              <a:srgbClr val="C7E0F3"/>
            </a:solidFill>
            <a:prstDash val="solid"/>
          </a:ln>
        </p:spPr>
      </p:sp>
      <p:sp>
        <p:nvSpPr>
          <p:cNvPr id="10" name="detail-card-5"/>
          <p:cNvSpPr/>
          <p:nvPr/>
        </p:nvSpPr>
        <p:spPr>
          <a:xfrm>
            <a:off x="464344" y="2250281"/>
            <a:ext cx="1101328" cy="916781"/>
          </a:xfrm>
          <a:prstGeom prst="roundRect">
            <a:avLst>
              <a:gd name="adj" fmla="val 7143"/>
            </a:avLst>
          </a:prstGeom>
          <a:solidFill>
            <a:srgbClr val="F7FBFF"/>
          </a:solidFill>
          <a:ln w="7144">
            <a:solidFill>
              <a:srgbClr val="C7E0F3"/>
            </a:solidFill>
            <a:prstDash val="solid"/>
          </a:ln>
        </p:spPr>
      </p:sp>
      <p:sp>
        <p:nvSpPr>
          <p:cNvPr id="11" name="detail-card-6"/>
          <p:cNvSpPr/>
          <p:nvPr/>
        </p:nvSpPr>
        <p:spPr>
          <a:xfrm>
            <a:off x="1803797" y="2434828"/>
            <a:ext cx="809625" cy="517922"/>
          </a:xfrm>
          <a:prstGeom prst="roundRect">
            <a:avLst>
              <a:gd name="adj" fmla="val 12644"/>
            </a:avLst>
          </a:prstGeom>
          <a:solidFill>
            <a:srgbClr val="F7FBFF"/>
          </a:solidFill>
          <a:ln w="7144">
            <a:solidFill>
              <a:srgbClr val="C7E0F3"/>
            </a:solidFill>
            <a:prstDash val="solid"/>
          </a:ln>
        </p:spPr>
      </p:sp>
      <p:sp>
        <p:nvSpPr>
          <p:cNvPr id="12" name="detail-card-7"/>
          <p:cNvSpPr/>
          <p:nvPr/>
        </p:nvSpPr>
        <p:spPr>
          <a:xfrm>
            <a:off x="2982516" y="2119313"/>
            <a:ext cx="1827609" cy="345281"/>
          </a:xfrm>
          <a:prstGeom prst="roundRect">
            <a:avLst>
              <a:gd name="adj" fmla="val 18966"/>
            </a:avLst>
          </a:prstGeom>
          <a:solidFill>
            <a:srgbClr val="F7FBFF"/>
          </a:solidFill>
          <a:ln w="7144">
            <a:solidFill>
              <a:srgbClr val="C7E0F3"/>
            </a:solidFill>
            <a:prstDash val="solid"/>
          </a:ln>
        </p:spPr>
      </p:sp>
      <p:sp>
        <p:nvSpPr>
          <p:cNvPr id="13" name="detail-card-8"/>
          <p:cNvSpPr/>
          <p:nvPr/>
        </p:nvSpPr>
        <p:spPr>
          <a:xfrm>
            <a:off x="2982516" y="2506266"/>
            <a:ext cx="1827609" cy="357188"/>
          </a:xfrm>
          <a:prstGeom prst="roundRect">
            <a:avLst>
              <a:gd name="adj" fmla="val 18333"/>
            </a:avLst>
          </a:prstGeom>
          <a:solidFill>
            <a:srgbClr val="F7FBFF"/>
          </a:solidFill>
          <a:ln w="7144">
            <a:solidFill>
              <a:srgbClr val="C7E0F3"/>
            </a:solidFill>
            <a:prstDash val="solid"/>
          </a:ln>
        </p:spPr>
      </p:sp>
      <p:sp>
        <p:nvSpPr>
          <p:cNvPr id="14" name="detail-card-9"/>
          <p:cNvSpPr/>
          <p:nvPr/>
        </p:nvSpPr>
        <p:spPr>
          <a:xfrm>
            <a:off x="2982516" y="2905125"/>
            <a:ext cx="1827609" cy="357188"/>
          </a:xfrm>
          <a:prstGeom prst="roundRect">
            <a:avLst>
              <a:gd name="adj" fmla="val 18333"/>
            </a:avLst>
          </a:prstGeom>
          <a:solidFill>
            <a:srgbClr val="F7FBFF"/>
          </a:solidFill>
          <a:ln w="7144">
            <a:solidFill>
              <a:srgbClr val="C7E0F3"/>
            </a:solidFill>
            <a:prstDash val="solid"/>
          </a:ln>
        </p:spPr>
      </p:sp>
      <p:sp>
        <p:nvSpPr>
          <p:cNvPr id="15" name="detail-card-10"/>
          <p:cNvSpPr/>
          <p:nvPr/>
        </p:nvSpPr>
        <p:spPr>
          <a:xfrm>
            <a:off x="5066109" y="2244328"/>
            <a:ext cx="750094" cy="1000125"/>
          </a:xfrm>
          <a:prstGeom prst="roundRect">
            <a:avLst>
              <a:gd name="adj" fmla="val 8730"/>
            </a:avLst>
          </a:prstGeom>
          <a:solidFill>
            <a:srgbClr val="F7FBFF"/>
          </a:solidFill>
          <a:ln w="7144">
            <a:solidFill>
              <a:srgbClr val="C7E0F3"/>
            </a:solidFill>
            <a:prstDash val="solid"/>
          </a:ln>
        </p:spPr>
      </p:sp>
      <p:sp>
        <p:nvSpPr>
          <p:cNvPr id="16" name="detail-card-11"/>
          <p:cNvSpPr/>
          <p:nvPr/>
        </p:nvSpPr>
        <p:spPr>
          <a:xfrm>
            <a:off x="428625" y="3935016"/>
            <a:ext cx="1053703" cy="1589484"/>
          </a:xfrm>
          <a:prstGeom prst="roundRect">
            <a:avLst>
              <a:gd name="adj" fmla="val 6215"/>
            </a:avLst>
          </a:prstGeom>
          <a:solidFill>
            <a:srgbClr val="F7FBFF"/>
          </a:solidFill>
          <a:ln w="7144">
            <a:solidFill>
              <a:srgbClr val="C7E0F3"/>
            </a:solidFill>
            <a:prstDash val="solid"/>
          </a:ln>
        </p:spPr>
      </p:sp>
      <p:sp>
        <p:nvSpPr>
          <p:cNvPr id="17" name="detail-card-12"/>
          <p:cNvSpPr/>
          <p:nvPr/>
        </p:nvSpPr>
        <p:spPr>
          <a:xfrm>
            <a:off x="3339703" y="3940969"/>
            <a:ext cx="1458516" cy="708422"/>
          </a:xfrm>
          <a:prstGeom prst="roundRect">
            <a:avLst>
              <a:gd name="adj" fmla="val 9244"/>
            </a:avLst>
          </a:prstGeom>
          <a:solidFill>
            <a:srgbClr val="F7FBFF"/>
          </a:solidFill>
          <a:ln w="7144">
            <a:solidFill>
              <a:srgbClr val="C7E0F3"/>
            </a:solidFill>
            <a:prstDash val="solid"/>
          </a:ln>
        </p:spPr>
      </p:sp>
      <p:sp>
        <p:nvSpPr>
          <p:cNvPr id="18" name="detail-card-13"/>
          <p:cNvSpPr/>
          <p:nvPr/>
        </p:nvSpPr>
        <p:spPr>
          <a:xfrm>
            <a:off x="3339703" y="4708922"/>
            <a:ext cx="1458516" cy="756047"/>
          </a:xfrm>
          <a:prstGeom prst="roundRect">
            <a:avLst>
              <a:gd name="adj" fmla="val 8661"/>
            </a:avLst>
          </a:prstGeom>
          <a:solidFill>
            <a:srgbClr val="F7FBFF"/>
          </a:solidFill>
          <a:ln w="7144">
            <a:solidFill>
              <a:srgbClr val="C7E0F3"/>
            </a:solidFill>
            <a:prstDash val="solid"/>
          </a:ln>
        </p:spPr>
      </p:sp>
      <p:sp>
        <p:nvSpPr>
          <p:cNvPr id="19" name="detail-card-14"/>
          <p:cNvSpPr/>
          <p:nvPr/>
        </p:nvSpPr>
        <p:spPr>
          <a:xfrm>
            <a:off x="5060156" y="4107656"/>
            <a:ext cx="797719" cy="1166813"/>
          </a:xfrm>
          <a:prstGeom prst="roundRect">
            <a:avLst>
              <a:gd name="adj" fmla="val 8209"/>
            </a:avLst>
          </a:prstGeom>
          <a:solidFill>
            <a:srgbClr val="F7FBFF"/>
          </a:solidFill>
          <a:ln w="7144">
            <a:solidFill>
              <a:srgbClr val="C7E0F3"/>
            </a:solidFill>
            <a:prstDash val="solid"/>
          </a:ln>
        </p:spPr>
      </p:sp>
      <p:sp>
        <p:nvSpPr>
          <p:cNvPr id="20" name="detail-card-15"/>
          <p:cNvSpPr/>
          <p:nvPr/>
        </p:nvSpPr>
        <p:spPr>
          <a:xfrm>
            <a:off x="6346031" y="4143375"/>
            <a:ext cx="833438" cy="863203"/>
          </a:xfrm>
          <a:prstGeom prst="roundRect">
            <a:avLst>
              <a:gd name="adj" fmla="val 7857"/>
            </a:avLst>
          </a:prstGeom>
          <a:solidFill>
            <a:srgbClr val="F7FBFF"/>
          </a:solidFill>
          <a:ln w="7144">
            <a:solidFill>
              <a:srgbClr val="C7E0F3"/>
            </a:solidFill>
            <a:prstDash val="solid"/>
          </a:ln>
        </p:spPr>
      </p:sp>
      <p:sp>
        <p:nvSpPr>
          <p:cNvPr id="21" name="detail-card-16"/>
          <p:cNvSpPr/>
          <p:nvPr/>
        </p:nvSpPr>
        <p:spPr>
          <a:xfrm>
            <a:off x="7441406" y="3952875"/>
            <a:ext cx="1452563" cy="1017984"/>
          </a:xfrm>
          <a:prstGeom prst="roundRect">
            <a:avLst>
              <a:gd name="adj" fmla="val 6433"/>
            </a:avLst>
          </a:prstGeom>
          <a:solidFill>
            <a:srgbClr val="F7FBFF"/>
          </a:solidFill>
          <a:ln w="7144">
            <a:solidFill>
              <a:srgbClr val="C7E0F3"/>
            </a:solidFill>
            <a:prstDash val="solid"/>
          </a:ln>
        </p:spPr>
      </p:sp>
      <p:sp>
        <p:nvSpPr>
          <p:cNvPr id="22" name="detail-card-17"/>
          <p:cNvSpPr/>
          <p:nvPr/>
        </p:nvSpPr>
        <p:spPr>
          <a:xfrm>
            <a:off x="9155906" y="3952875"/>
            <a:ext cx="1518047" cy="1017984"/>
          </a:xfrm>
          <a:prstGeom prst="roundRect">
            <a:avLst>
              <a:gd name="adj" fmla="val 6433"/>
            </a:avLst>
          </a:prstGeom>
          <a:solidFill>
            <a:srgbClr val="F7FBFF"/>
          </a:solidFill>
          <a:ln w="7144">
            <a:solidFill>
              <a:srgbClr val="C7E0F3"/>
            </a:solidFill>
            <a:prstDash val="solid"/>
          </a:ln>
        </p:spPr>
      </p:sp>
      <p:sp>
        <p:nvSpPr>
          <p:cNvPr id="23" name="detail-card-18"/>
          <p:cNvSpPr/>
          <p:nvPr/>
        </p:nvSpPr>
        <p:spPr>
          <a:xfrm>
            <a:off x="10894219" y="4089797"/>
            <a:ext cx="845344" cy="952500"/>
          </a:xfrm>
          <a:prstGeom prst="roundRect">
            <a:avLst>
              <a:gd name="adj" fmla="val 7746"/>
            </a:avLst>
          </a:prstGeom>
          <a:solidFill>
            <a:srgbClr val="F7FBFF"/>
          </a:solidFill>
          <a:ln w="7144">
            <a:solidFill>
              <a:srgbClr val="C7E0F3"/>
            </a:solidFill>
            <a:prstDash val="solid"/>
          </a:ln>
        </p:spPr>
      </p:sp>
      <p:sp>
        <p:nvSpPr>
          <p:cNvPr id="24" name="importance-heatmap"/>
          <p:cNvSpPr/>
          <p:nvPr/>
        </p:nvSpPr>
        <p:spPr>
          <a:xfrm>
            <a:off x="9435703" y="2280047"/>
            <a:ext cx="1232297" cy="1035844"/>
          </a:xfrm>
          <a:prstGeom prst="roundRect">
            <a:avLst>
              <a:gd name="adj" fmla="val 4598"/>
            </a:avLst>
          </a:prstGeom>
          <a:solidFill>
            <a:srgbClr val="F5FBFF"/>
          </a:solidFill>
          <a:ln w="7144">
            <a:solidFill>
              <a:srgbClr val="B9DCF5"/>
            </a:solidFill>
            <a:prstDash val="solid"/>
          </a:ln>
        </p:spPr>
      </p:sp>
      <p:sp>
        <p:nvSpPr>
          <p:cNvPr id="25"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26"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27" name="importance-r0-c0"/>
          <p:cNvSpPr/>
          <p:nvPr/>
        </p:nvSpPr>
        <p:spPr>
          <a:xfrm>
            <a:off x="9471422" y="2315766"/>
            <a:ext cx="107156" cy="107156"/>
          </a:xfrm>
          <a:prstGeom prst="rect">
            <a:avLst/>
          </a:prstGeom>
          <a:solidFill>
            <a:srgbClr val="D6EAF9"/>
          </a:solidFill>
          <a:ln w="6350">
            <a:solidFill>
              <a:srgbClr val="FFFFFF"/>
            </a:solidFill>
            <a:prstDash val="solid"/>
          </a:ln>
        </p:spPr>
      </p:sp>
      <p:sp>
        <p:nvSpPr>
          <p:cNvPr id="28" name="importance-r0-c1"/>
          <p:cNvSpPr/>
          <p:nvPr/>
        </p:nvSpPr>
        <p:spPr>
          <a:xfrm>
            <a:off x="9584531" y="2315766"/>
            <a:ext cx="107156" cy="107156"/>
          </a:xfrm>
          <a:prstGeom prst="rect">
            <a:avLst/>
          </a:prstGeom>
          <a:solidFill>
            <a:srgbClr val="B6DDF8"/>
          </a:solidFill>
          <a:ln w="6350">
            <a:solidFill>
              <a:srgbClr val="FFFFFF"/>
            </a:solidFill>
            <a:prstDash val="solid"/>
          </a:ln>
        </p:spPr>
      </p:sp>
      <p:sp>
        <p:nvSpPr>
          <p:cNvPr id="29" name="importance-r0-c2"/>
          <p:cNvSpPr/>
          <p:nvPr/>
        </p:nvSpPr>
        <p:spPr>
          <a:xfrm>
            <a:off x="9697641" y="2315766"/>
            <a:ext cx="107156" cy="107156"/>
          </a:xfrm>
          <a:prstGeom prst="rect">
            <a:avLst/>
          </a:prstGeom>
          <a:solidFill>
            <a:srgbClr val="B6DDF8"/>
          </a:solidFill>
          <a:ln w="6350">
            <a:solidFill>
              <a:srgbClr val="FFFFFF"/>
            </a:solidFill>
            <a:prstDash val="solid"/>
          </a:ln>
        </p:spPr>
      </p:sp>
      <p:sp>
        <p:nvSpPr>
          <p:cNvPr id="30" name="importance-r0-c3"/>
          <p:cNvSpPr/>
          <p:nvPr/>
        </p:nvSpPr>
        <p:spPr>
          <a:xfrm>
            <a:off x="9816703" y="2315766"/>
            <a:ext cx="107156" cy="107156"/>
          </a:xfrm>
          <a:prstGeom prst="rect">
            <a:avLst/>
          </a:prstGeom>
          <a:solidFill>
            <a:srgbClr val="B6DDF8"/>
          </a:solidFill>
          <a:ln w="6350">
            <a:solidFill>
              <a:srgbClr val="FFFFFF"/>
            </a:solidFill>
            <a:prstDash val="solid"/>
          </a:ln>
        </p:spPr>
      </p:sp>
      <p:sp>
        <p:nvSpPr>
          <p:cNvPr id="31" name="importance-r0-c4"/>
          <p:cNvSpPr/>
          <p:nvPr/>
        </p:nvSpPr>
        <p:spPr>
          <a:xfrm>
            <a:off x="9929813" y="2315766"/>
            <a:ext cx="107156" cy="107156"/>
          </a:xfrm>
          <a:prstGeom prst="rect">
            <a:avLst/>
          </a:prstGeom>
          <a:solidFill>
            <a:srgbClr val="1179D9"/>
          </a:solidFill>
          <a:ln w="6350">
            <a:solidFill>
              <a:srgbClr val="FFFFFF"/>
            </a:solidFill>
            <a:prstDash val="solid"/>
          </a:ln>
        </p:spPr>
      </p:sp>
      <p:sp>
        <p:nvSpPr>
          <p:cNvPr id="32" name="importance-r0-c5"/>
          <p:cNvSpPr/>
          <p:nvPr/>
        </p:nvSpPr>
        <p:spPr>
          <a:xfrm>
            <a:off x="10042922" y="2315766"/>
            <a:ext cx="107156" cy="107156"/>
          </a:xfrm>
          <a:prstGeom prst="rect">
            <a:avLst/>
          </a:prstGeom>
          <a:solidFill>
            <a:srgbClr val="B6DDF8"/>
          </a:solidFill>
          <a:ln w="6350">
            <a:solidFill>
              <a:srgbClr val="FFFFFF"/>
            </a:solidFill>
            <a:prstDash val="solid"/>
          </a:ln>
        </p:spPr>
      </p:sp>
      <p:sp>
        <p:nvSpPr>
          <p:cNvPr id="33" name="importance-r0-c6"/>
          <p:cNvSpPr/>
          <p:nvPr/>
        </p:nvSpPr>
        <p:spPr>
          <a:xfrm>
            <a:off x="10156031" y="2315766"/>
            <a:ext cx="107156" cy="107156"/>
          </a:xfrm>
          <a:prstGeom prst="rect">
            <a:avLst/>
          </a:prstGeom>
          <a:solidFill>
            <a:srgbClr val="B6DDF8"/>
          </a:solidFill>
          <a:ln w="6350">
            <a:solidFill>
              <a:srgbClr val="FFFFFF"/>
            </a:solidFill>
            <a:prstDash val="solid"/>
          </a:ln>
        </p:spPr>
      </p:sp>
      <p:sp>
        <p:nvSpPr>
          <p:cNvPr id="34" name="importance-r0-c7"/>
          <p:cNvSpPr/>
          <p:nvPr/>
        </p:nvSpPr>
        <p:spPr>
          <a:xfrm>
            <a:off x="10269141" y="2315766"/>
            <a:ext cx="107156" cy="107156"/>
          </a:xfrm>
          <a:prstGeom prst="rect">
            <a:avLst/>
          </a:prstGeom>
          <a:solidFill>
            <a:srgbClr val="B6DDF8"/>
          </a:solidFill>
          <a:ln w="6350">
            <a:solidFill>
              <a:srgbClr val="FFFFFF"/>
            </a:solidFill>
            <a:prstDash val="solid"/>
          </a:ln>
        </p:spPr>
      </p:sp>
      <p:sp>
        <p:nvSpPr>
          <p:cNvPr id="35" name="importance-r0-c8"/>
          <p:cNvSpPr/>
          <p:nvPr/>
        </p:nvSpPr>
        <p:spPr>
          <a:xfrm>
            <a:off x="10388203" y="2315766"/>
            <a:ext cx="107156" cy="107156"/>
          </a:xfrm>
          <a:prstGeom prst="rect">
            <a:avLst/>
          </a:prstGeom>
          <a:solidFill>
            <a:srgbClr val="D6EAF9"/>
          </a:solidFill>
          <a:ln w="6350">
            <a:solidFill>
              <a:srgbClr val="FFFFFF"/>
            </a:solidFill>
            <a:prstDash val="solid"/>
          </a:ln>
        </p:spPr>
      </p:sp>
      <p:sp>
        <p:nvSpPr>
          <p:cNvPr id="36" name="importance-r0-c9"/>
          <p:cNvSpPr/>
          <p:nvPr/>
        </p:nvSpPr>
        <p:spPr>
          <a:xfrm>
            <a:off x="10501313" y="2315766"/>
            <a:ext cx="107156" cy="107156"/>
          </a:xfrm>
          <a:prstGeom prst="rect">
            <a:avLst/>
          </a:prstGeom>
          <a:solidFill>
            <a:srgbClr val="B6DDF8"/>
          </a:solidFill>
          <a:ln w="6350">
            <a:solidFill>
              <a:srgbClr val="FFFFFF"/>
            </a:solidFill>
            <a:prstDash val="solid"/>
          </a:ln>
        </p:spPr>
      </p:sp>
      <p:sp>
        <p:nvSpPr>
          <p:cNvPr id="37" name="importance-r1-c0"/>
          <p:cNvSpPr/>
          <p:nvPr/>
        </p:nvSpPr>
        <p:spPr>
          <a:xfrm>
            <a:off x="9471422" y="2434828"/>
            <a:ext cx="107156" cy="107156"/>
          </a:xfrm>
          <a:prstGeom prst="rect">
            <a:avLst/>
          </a:prstGeom>
          <a:solidFill>
            <a:srgbClr val="B6DDF8"/>
          </a:solidFill>
          <a:ln w="6350">
            <a:solidFill>
              <a:srgbClr val="FFFFFF"/>
            </a:solidFill>
            <a:prstDash val="solid"/>
          </a:ln>
        </p:spPr>
      </p:sp>
      <p:sp>
        <p:nvSpPr>
          <p:cNvPr id="38" name="importance-r1-c1"/>
          <p:cNvSpPr/>
          <p:nvPr/>
        </p:nvSpPr>
        <p:spPr>
          <a:xfrm>
            <a:off x="9584531" y="2434828"/>
            <a:ext cx="107156" cy="107156"/>
          </a:xfrm>
          <a:prstGeom prst="rect">
            <a:avLst/>
          </a:prstGeom>
          <a:solidFill>
            <a:srgbClr val="B6DDF8"/>
          </a:solidFill>
          <a:ln w="6350">
            <a:solidFill>
              <a:srgbClr val="FFFFFF"/>
            </a:solidFill>
            <a:prstDash val="solid"/>
          </a:ln>
        </p:spPr>
      </p:sp>
      <p:sp>
        <p:nvSpPr>
          <p:cNvPr id="39" name="importance-r1-c2"/>
          <p:cNvSpPr/>
          <p:nvPr/>
        </p:nvSpPr>
        <p:spPr>
          <a:xfrm>
            <a:off x="9697641" y="2434828"/>
            <a:ext cx="107156" cy="107156"/>
          </a:xfrm>
          <a:prstGeom prst="rect">
            <a:avLst/>
          </a:prstGeom>
          <a:solidFill>
            <a:srgbClr val="B6DDF8"/>
          </a:solidFill>
          <a:ln w="6350">
            <a:solidFill>
              <a:srgbClr val="FFFFFF"/>
            </a:solidFill>
            <a:prstDash val="solid"/>
          </a:ln>
        </p:spPr>
      </p:sp>
      <p:sp>
        <p:nvSpPr>
          <p:cNvPr id="40" name="importance-r1-c3"/>
          <p:cNvSpPr/>
          <p:nvPr/>
        </p:nvSpPr>
        <p:spPr>
          <a:xfrm>
            <a:off x="9816703" y="2434828"/>
            <a:ext cx="107156" cy="107156"/>
          </a:xfrm>
          <a:prstGeom prst="rect">
            <a:avLst/>
          </a:prstGeom>
          <a:solidFill>
            <a:srgbClr val="D6EAF9"/>
          </a:solidFill>
          <a:ln w="6350">
            <a:solidFill>
              <a:srgbClr val="FFFFFF"/>
            </a:solidFill>
            <a:prstDash val="solid"/>
          </a:ln>
        </p:spPr>
      </p:sp>
      <p:sp>
        <p:nvSpPr>
          <p:cNvPr id="41" name="importance-r1-c4"/>
          <p:cNvSpPr/>
          <p:nvPr/>
        </p:nvSpPr>
        <p:spPr>
          <a:xfrm>
            <a:off x="9929813" y="2434828"/>
            <a:ext cx="107156" cy="107156"/>
          </a:xfrm>
          <a:prstGeom prst="rect">
            <a:avLst/>
          </a:prstGeom>
          <a:solidFill>
            <a:srgbClr val="B6DDF8"/>
          </a:solidFill>
          <a:ln w="6350">
            <a:solidFill>
              <a:srgbClr val="FFFFFF"/>
            </a:solidFill>
            <a:prstDash val="solid"/>
          </a:ln>
        </p:spPr>
      </p:sp>
      <p:sp>
        <p:nvSpPr>
          <p:cNvPr id="42" name="importance-r1-c5"/>
          <p:cNvSpPr/>
          <p:nvPr/>
        </p:nvSpPr>
        <p:spPr>
          <a:xfrm>
            <a:off x="10042922" y="2434828"/>
            <a:ext cx="107156" cy="107156"/>
          </a:xfrm>
          <a:prstGeom prst="rect">
            <a:avLst/>
          </a:prstGeom>
          <a:solidFill>
            <a:srgbClr val="1179D9"/>
          </a:solidFill>
          <a:ln w="6350">
            <a:solidFill>
              <a:srgbClr val="FFFFFF"/>
            </a:solidFill>
            <a:prstDash val="solid"/>
          </a:ln>
        </p:spPr>
      </p:sp>
      <p:sp>
        <p:nvSpPr>
          <p:cNvPr id="43" name="importance-r1-c6"/>
          <p:cNvSpPr/>
          <p:nvPr/>
        </p:nvSpPr>
        <p:spPr>
          <a:xfrm>
            <a:off x="10156031" y="2434828"/>
            <a:ext cx="107156" cy="107156"/>
          </a:xfrm>
          <a:prstGeom prst="rect">
            <a:avLst/>
          </a:prstGeom>
          <a:solidFill>
            <a:srgbClr val="B6DDF8"/>
          </a:solidFill>
          <a:ln w="6350">
            <a:solidFill>
              <a:srgbClr val="FFFFFF"/>
            </a:solidFill>
            <a:prstDash val="solid"/>
          </a:ln>
        </p:spPr>
      </p:sp>
      <p:sp>
        <p:nvSpPr>
          <p:cNvPr id="44" name="importance-r1-c7"/>
          <p:cNvSpPr/>
          <p:nvPr/>
        </p:nvSpPr>
        <p:spPr>
          <a:xfrm>
            <a:off x="10269141" y="2434828"/>
            <a:ext cx="107156" cy="107156"/>
          </a:xfrm>
          <a:prstGeom prst="rect">
            <a:avLst/>
          </a:prstGeom>
          <a:solidFill>
            <a:srgbClr val="D6EAF9"/>
          </a:solidFill>
          <a:ln w="6350">
            <a:solidFill>
              <a:srgbClr val="FFFFFF"/>
            </a:solidFill>
            <a:prstDash val="solid"/>
          </a:ln>
        </p:spPr>
      </p:sp>
      <p:sp>
        <p:nvSpPr>
          <p:cNvPr id="45" name="importance-r1-c8"/>
          <p:cNvSpPr/>
          <p:nvPr/>
        </p:nvSpPr>
        <p:spPr>
          <a:xfrm>
            <a:off x="10388203" y="2434828"/>
            <a:ext cx="107156" cy="107156"/>
          </a:xfrm>
          <a:prstGeom prst="rect">
            <a:avLst/>
          </a:prstGeom>
          <a:solidFill>
            <a:srgbClr val="B6DDF8"/>
          </a:solidFill>
          <a:ln w="6350">
            <a:solidFill>
              <a:srgbClr val="FFFFFF"/>
            </a:solidFill>
            <a:prstDash val="solid"/>
          </a:ln>
        </p:spPr>
      </p:sp>
      <p:sp>
        <p:nvSpPr>
          <p:cNvPr id="46" name="importance-r1-c9"/>
          <p:cNvSpPr/>
          <p:nvPr/>
        </p:nvSpPr>
        <p:spPr>
          <a:xfrm>
            <a:off x="10501313" y="2434828"/>
            <a:ext cx="107156" cy="107156"/>
          </a:xfrm>
          <a:prstGeom prst="rect">
            <a:avLst/>
          </a:prstGeom>
          <a:solidFill>
            <a:srgbClr val="B6DDF8"/>
          </a:solidFill>
          <a:ln w="6350">
            <a:solidFill>
              <a:srgbClr val="FFFFFF"/>
            </a:solidFill>
            <a:prstDash val="solid"/>
          </a:ln>
        </p:spPr>
      </p:sp>
      <p:sp>
        <p:nvSpPr>
          <p:cNvPr id="47" name="importance-r2-c0"/>
          <p:cNvSpPr/>
          <p:nvPr/>
        </p:nvSpPr>
        <p:spPr>
          <a:xfrm>
            <a:off x="9471422" y="2553891"/>
            <a:ext cx="107156" cy="107156"/>
          </a:xfrm>
          <a:prstGeom prst="rect">
            <a:avLst/>
          </a:prstGeom>
          <a:solidFill>
            <a:srgbClr val="B6DDF8"/>
          </a:solidFill>
          <a:ln w="6350">
            <a:solidFill>
              <a:srgbClr val="FFFFFF"/>
            </a:solidFill>
            <a:prstDash val="solid"/>
          </a:ln>
        </p:spPr>
      </p:sp>
      <p:sp>
        <p:nvSpPr>
          <p:cNvPr id="48" name="importance-r2-c1"/>
          <p:cNvSpPr/>
          <p:nvPr/>
        </p:nvSpPr>
        <p:spPr>
          <a:xfrm>
            <a:off x="9584531" y="2553891"/>
            <a:ext cx="107156" cy="107156"/>
          </a:xfrm>
          <a:prstGeom prst="rect">
            <a:avLst/>
          </a:prstGeom>
          <a:solidFill>
            <a:srgbClr val="B6DDF8"/>
          </a:solidFill>
          <a:ln w="6350">
            <a:solidFill>
              <a:srgbClr val="FFFFFF"/>
            </a:solidFill>
            <a:prstDash val="solid"/>
          </a:ln>
        </p:spPr>
      </p:sp>
      <p:sp>
        <p:nvSpPr>
          <p:cNvPr id="49" name="importance-r2-c2"/>
          <p:cNvSpPr/>
          <p:nvPr/>
        </p:nvSpPr>
        <p:spPr>
          <a:xfrm>
            <a:off x="9697641" y="2553891"/>
            <a:ext cx="107156" cy="107156"/>
          </a:xfrm>
          <a:prstGeom prst="rect">
            <a:avLst/>
          </a:prstGeom>
          <a:solidFill>
            <a:srgbClr val="D6EAF9"/>
          </a:solidFill>
          <a:ln w="6350">
            <a:solidFill>
              <a:srgbClr val="FFFFFF"/>
            </a:solidFill>
            <a:prstDash val="solid"/>
          </a:ln>
        </p:spPr>
      </p:sp>
      <p:sp>
        <p:nvSpPr>
          <p:cNvPr id="50" name="importance-r2-c3"/>
          <p:cNvSpPr/>
          <p:nvPr/>
        </p:nvSpPr>
        <p:spPr>
          <a:xfrm>
            <a:off x="9816703" y="2553891"/>
            <a:ext cx="107156" cy="107156"/>
          </a:xfrm>
          <a:prstGeom prst="rect">
            <a:avLst/>
          </a:prstGeom>
          <a:solidFill>
            <a:srgbClr val="B6DDF8"/>
          </a:solidFill>
          <a:ln w="6350">
            <a:solidFill>
              <a:srgbClr val="FFFFFF"/>
            </a:solidFill>
            <a:prstDash val="solid"/>
          </a:ln>
        </p:spPr>
      </p:sp>
      <p:sp>
        <p:nvSpPr>
          <p:cNvPr id="51" name="importance-r2-c4"/>
          <p:cNvSpPr/>
          <p:nvPr/>
        </p:nvSpPr>
        <p:spPr>
          <a:xfrm>
            <a:off x="9929813" y="2553891"/>
            <a:ext cx="107156" cy="107156"/>
          </a:xfrm>
          <a:prstGeom prst="rect">
            <a:avLst/>
          </a:prstGeom>
          <a:solidFill>
            <a:srgbClr val="B6DDF8"/>
          </a:solidFill>
          <a:ln w="6350">
            <a:solidFill>
              <a:srgbClr val="FFFFFF"/>
            </a:solidFill>
            <a:prstDash val="solid"/>
          </a:ln>
        </p:spPr>
      </p:sp>
      <p:sp>
        <p:nvSpPr>
          <p:cNvPr id="52" name="importance-r2-c5"/>
          <p:cNvSpPr/>
          <p:nvPr/>
        </p:nvSpPr>
        <p:spPr>
          <a:xfrm>
            <a:off x="10042922" y="2553891"/>
            <a:ext cx="107156" cy="107156"/>
          </a:xfrm>
          <a:prstGeom prst="rect">
            <a:avLst/>
          </a:prstGeom>
          <a:solidFill>
            <a:srgbClr val="1179D9"/>
          </a:solidFill>
          <a:ln w="6350">
            <a:solidFill>
              <a:srgbClr val="FFFFFF"/>
            </a:solidFill>
            <a:prstDash val="solid"/>
          </a:ln>
        </p:spPr>
      </p:sp>
      <p:sp>
        <p:nvSpPr>
          <p:cNvPr id="53" name="importance-r2-c6"/>
          <p:cNvSpPr/>
          <p:nvPr/>
        </p:nvSpPr>
        <p:spPr>
          <a:xfrm>
            <a:off x="10156031" y="2553891"/>
            <a:ext cx="107156" cy="107156"/>
          </a:xfrm>
          <a:prstGeom prst="rect">
            <a:avLst/>
          </a:prstGeom>
          <a:solidFill>
            <a:srgbClr val="D6EAF9"/>
          </a:solidFill>
          <a:ln w="6350">
            <a:solidFill>
              <a:srgbClr val="FFFFFF"/>
            </a:solidFill>
            <a:prstDash val="solid"/>
          </a:ln>
        </p:spPr>
      </p:sp>
      <p:sp>
        <p:nvSpPr>
          <p:cNvPr id="54" name="importance-r2-c7"/>
          <p:cNvSpPr/>
          <p:nvPr/>
        </p:nvSpPr>
        <p:spPr>
          <a:xfrm>
            <a:off x="10269141" y="2553891"/>
            <a:ext cx="107156" cy="107156"/>
          </a:xfrm>
          <a:prstGeom prst="rect">
            <a:avLst/>
          </a:prstGeom>
          <a:solidFill>
            <a:srgbClr val="B6DDF8"/>
          </a:solidFill>
          <a:ln w="6350">
            <a:solidFill>
              <a:srgbClr val="FFFFFF"/>
            </a:solidFill>
            <a:prstDash val="solid"/>
          </a:ln>
        </p:spPr>
      </p:sp>
      <p:sp>
        <p:nvSpPr>
          <p:cNvPr id="55" name="importance-r2-c8"/>
          <p:cNvSpPr/>
          <p:nvPr/>
        </p:nvSpPr>
        <p:spPr>
          <a:xfrm>
            <a:off x="10388203" y="2553891"/>
            <a:ext cx="107156" cy="107156"/>
          </a:xfrm>
          <a:prstGeom prst="rect">
            <a:avLst/>
          </a:prstGeom>
          <a:solidFill>
            <a:srgbClr val="B6DDF8"/>
          </a:solidFill>
          <a:ln w="6350">
            <a:solidFill>
              <a:srgbClr val="FFFFFF"/>
            </a:solidFill>
            <a:prstDash val="solid"/>
          </a:ln>
        </p:spPr>
      </p:sp>
      <p:sp>
        <p:nvSpPr>
          <p:cNvPr id="56" name="importance-r2-c9"/>
          <p:cNvSpPr/>
          <p:nvPr/>
        </p:nvSpPr>
        <p:spPr>
          <a:xfrm>
            <a:off x="10501313" y="2553891"/>
            <a:ext cx="107156" cy="107156"/>
          </a:xfrm>
          <a:prstGeom prst="rect">
            <a:avLst/>
          </a:prstGeom>
          <a:solidFill>
            <a:srgbClr val="B6DDF8"/>
          </a:solidFill>
          <a:ln w="6350">
            <a:solidFill>
              <a:srgbClr val="FFFFFF"/>
            </a:solidFill>
            <a:prstDash val="solid"/>
          </a:ln>
        </p:spPr>
      </p:sp>
      <p:sp>
        <p:nvSpPr>
          <p:cNvPr id="57" name="importance-r3-c0"/>
          <p:cNvSpPr/>
          <p:nvPr/>
        </p:nvSpPr>
        <p:spPr>
          <a:xfrm>
            <a:off x="9471422" y="2667000"/>
            <a:ext cx="107156" cy="107156"/>
          </a:xfrm>
          <a:prstGeom prst="rect">
            <a:avLst/>
          </a:prstGeom>
          <a:solidFill>
            <a:srgbClr val="B6DDF8"/>
          </a:solidFill>
          <a:ln w="6350">
            <a:solidFill>
              <a:srgbClr val="FFFFFF"/>
            </a:solidFill>
            <a:prstDash val="solid"/>
          </a:ln>
        </p:spPr>
      </p:sp>
      <p:sp>
        <p:nvSpPr>
          <p:cNvPr id="58" name="importance-r3-c1"/>
          <p:cNvSpPr/>
          <p:nvPr/>
        </p:nvSpPr>
        <p:spPr>
          <a:xfrm>
            <a:off x="9584531" y="2667000"/>
            <a:ext cx="107156" cy="107156"/>
          </a:xfrm>
          <a:prstGeom prst="rect">
            <a:avLst/>
          </a:prstGeom>
          <a:solidFill>
            <a:srgbClr val="D6EAF9"/>
          </a:solidFill>
          <a:ln w="6350">
            <a:solidFill>
              <a:srgbClr val="FFFFFF"/>
            </a:solidFill>
            <a:prstDash val="solid"/>
          </a:ln>
        </p:spPr>
      </p:sp>
      <p:sp>
        <p:nvSpPr>
          <p:cNvPr id="59" name="importance-r3-c2"/>
          <p:cNvSpPr/>
          <p:nvPr/>
        </p:nvSpPr>
        <p:spPr>
          <a:xfrm>
            <a:off x="9697641" y="2667000"/>
            <a:ext cx="107156" cy="107156"/>
          </a:xfrm>
          <a:prstGeom prst="rect">
            <a:avLst/>
          </a:prstGeom>
          <a:solidFill>
            <a:srgbClr val="B6DDF8"/>
          </a:solidFill>
          <a:ln w="6350">
            <a:solidFill>
              <a:srgbClr val="FFFFFF"/>
            </a:solidFill>
            <a:prstDash val="solid"/>
          </a:ln>
        </p:spPr>
      </p:sp>
      <p:sp>
        <p:nvSpPr>
          <p:cNvPr id="60" name="importance-r3-c3"/>
          <p:cNvSpPr/>
          <p:nvPr/>
        </p:nvSpPr>
        <p:spPr>
          <a:xfrm>
            <a:off x="9816703" y="2667000"/>
            <a:ext cx="107156" cy="107156"/>
          </a:xfrm>
          <a:prstGeom prst="rect">
            <a:avLst/>
          </a:prstGeom>
          <a:solidFill>
            <a:srgbClr val="B6DDF8"/>
          </a:solidFill>
          <a:ln w="6350">
            <a:solidFill>
              <a:srgbClr val="FFFFFF"/>
            </a:solidFill>
            <a:prstDash val="solid"/>
          </a:ln>
        </p:spPr>
      </p:sp>
      <p:sp>
        <p:nvSpPr>
          <p:cNvPr id="61" name="importance-r3-c4"/>
          <p:cNvSpPr/>
          <p:nvPr/>
        </p:nvSpPr>
        <p:spPr>
          <a:xfrm>
            <a:off x="9929813" y="2667000"/>
            <a:ext cx="107156" cy="107156"/>
          </a:xfrm>
          <a:prstGeom prst="rect">
            <a:avLst/>
          </a:prstGeom>
          <a:solidFill>
            <a:srgbClr val="B6DDF8"/>
          </a:solidFill>
          <a:ln w="6350">
            <a:solidFill>
              <a:srgbClr val="FFFFFF"/>
            </a:solidFill>
            <a:prstDash val="solid"/>
          </a:ln>
        </p:spPr>
      </p:sp>
      <p:sp>
        <p:nvSpPr>
          <p:cNvPr id="62" name="importance-r3-c5"/>
          <p:cNvSpPr/>
          <p:nvPr/>
        </p:nvSpPr>
        <p:spPr>
          <a:xfrm>
            <a:off x="10042922" y="2667000"/>
            <a:ext cx="107156" cy="107156"/>
          </a:xfrm>
          <a:prstGeom prst="rect">
            <a:avLst/>
          </a:prstGeom>
          <a:solidFill>
            <a:srgbClr val="D6EAF9"/>
          </a:solidFill>
          <a:ln w="6350">
            <a:solidFill>
              <a:srgbClr val="FFFFFF"/>
            </a:solidFill>
            <a:prstDash val="solid"/>
          </a:ln>
        </p:spPr>
      </p:sp>
      <p:sp>
        <p:nvSpPr>
          <p:cNvPr id="63" name="importance-r3-c6"/>
          <p:cNvSpPr/>
          <p:nvPr/>
        </p:nvSpPr>
        <p:spPr>
          <a:xfrm>
            <a:off x="10156031" y="2667000"/>
            <a:ext cx="107156" cy="107156"/>
          </a:xfrm>
          <a:prstGeom prst="rect">
            <a:avLst/>
          </a:prstGeom>
          <a:solidFill>
            <a:srgbClr val="1179D9"/>
          </a:solidFill>
          <a:ln w="6350">
            <a:solidFill>
              <a:srgbClr val="FFFFFF"/>
            </a:solidFill>
            <a:prstDash val="solid"/>
          </a:ln>
        </p:spPr>
      </p:sp>
      <p:sp>
        <p:nvSpPr>
          <p:cNvPr id="64" name="importance-r3-c7"/>
          <p:cNvSpPr/>
          <p:nvPr/>
        </p:nvSpPr>
        <p:spPr>
          <a:xfrm>
            <a:off x="10269141" y="2667000"/>
            <a:ext cx="107156" cy="107156"/>
          </a:xfrm>
          <a:prstGeom prst="rect">
            <a:avLst/>
          </a:prstGeom>
          <a:solidFill>
            <a:srgbClr val="B6DDF8"/>
          </a:solidFill>
          <a:ln w="6350">
            <a:solidFill>
              <a:srgbClr val="FFFFFF"/>
            </a:solidFill>
            <a:prstDash val="solid"/>
          </a:ln>
        </p:spPr>
      </p:sp>
      <p:sp>
        <p:nvSpPr>
          <p:cNvPr id="65" name="importance-r3-c8"/>
          <p:cNvSpPr/>
          <p:nvPr/>
        </p:nvSpPr>
        <p:spPr>
          <a:xfrm>
            <a:off x="10388203" y="2667000"/>
            <a:ext cx="107156" cy="107156"/>
          </a:xfrm>
          <a:prstGeom prst="rect">
            <a:avLst/>
          </a:prstGeom>
          <a:solidFill>
            <a:srgbClr val="B6DDF8"/>
          </a:solidFill>
          <a:ln w="6350">
            <a:solidFill>
              <a:srgbClr val="FFFFFF"/>
            </a:solidFill>
            <a:prstDash val="solid"/>
          </a:ln>
        </p:spPr>
      </p:sp>
      <p:sp>
        <p:nvSpPr>
          <p:cNvPr id="66" name="importance-r3-c9"/>
          <p:cNvSpPr/>
          <p:nvPr/>
        </p:nvSpPr>
        <p:spPr>
          <a:xfrm>
            <a:off x="10501313" y="2667000"/>
            <a:ext cx="107156" cy="107156"/>
          </a:xfrm>
          <a:prstGeom prst="rect">
            <a:avLst/>
          </a:prstGeom>
          <a:solidFill>
            <a:srgbClr val="D6EAF9"/>
          </a:solidFill>
          <a:ln w="6350">
            <a:solidFill>
              <a:srgbClr val="FFFFFF"/>
            </a:solidFill>
            <a:prstDash val="solid"/>
          </a:ln>
        </p:spPr>
      </p:sp>
      <p:sp>
        <p:nvSpPr>
          <p:cNvPr id="67" name="importance-r4-c0"/>
          <p:cNvSpPr/>
          <p:nvPr/>
        </p:nvSpPr>
        <p:spPr>
          <a:xfrm>
            <a:off x="9471422" y="2786063"/>
            <a:ext cx="107156" cy="107156"/>
          </a:xfrm>
          <a:prstGeom prst="rect">
            <a:avLst/>
          </a:prstGeom>
          <a:solidFill>
            <a:srgbClr val="D6EAF9"/>
          </a:solidFill>
          <a:ln w="6350">
            <a:solidFill>
              <a:srgbClr val="FFFFFF"/>
            </a:solidFill>
            <a:prstDash val="solid"/>
          </a:ln>
        </p:spPr>
      </p:sp>
      <p:sp>
        <p:nvSpPr>
          <p:cNvPr id="68" name="importance-r4-c1"/>
          <p:cNvSpPr/>
          <p:nvPr/>
        </p:nvSpPr>
        <p:spPr>
          <a:xfrm>
            <a:off x="9584531" y="2786063"/>
            <a:ext cx="107156" cy="107156"/>
          </a:xfrm>
          <a:prstGeom prst="rect">
            <a:avLst/>
          </a:prstGeom>
          <a:solidFill>
            <a:srgbClr val="B6DDF8"/>
          </a:solidFill>
          <a:ln w="6350">
            <a:solidFill>
              <a:srgbClr val="FFFFFF"/>
            </a:solidFill>
            <a:prstDash val="solid"/>
          </a:ln>
        </p:spPr>
      </p:sp>
      <p:sp>
        <p:nvSpPr>
          <p:cNvPr id="69" name="importance-r4-c2"/>
          <p:cNvSpPr/>
          <p:nvPr/>
        </p:nvSpPr>
        <p:spPr>
          <a:xfrm>
            <a:off x="9697641" y="2786063"/>
            <a:ext cx="107156" cy="107156"/>
          </a:xfrm>
          <a:prstGeom prst="rect">
            <a:avLst/>
          </a:prstGeom>
          <a:solidFill>
            <a:srgbClr val="B6DDF8"/>
          </a:solidFill>
          <a:ln w="6350">
            <a:solidFill>
              <a:srgbClr val="FFFFFF"/>
            </a:solidFill>
            <a:prstDash val="solid"/>
          </a:ln>
        </p:spPr>
      </p:sp>
      <p:sp>
        <p:nvSpPr>
          <p:cNvPr id="70" name="importance-r4-c3"/>
          <p:cNvSpPr/>
          <p:nvPr/>
        </p:nvSpPr>
        <p:spPr>
          <a:xfrm>
            <a:off x="9816703" y="2786063"/>
            <a:ext cx="107156" cy="107156"/>
          </a:xfrm>
          <a:prstGeom prst="rect">
            <a:avLst/>
          </a:prstGeom>
          <a:solidFill>
            <a:srgbClr val="B6DDF8"/>
          </a:solidFill>
          <a:ln w="6350">
            <a:solidFill>
              <a:srgbClr val="FFFFFF"/>
            </a:solidFill>
            <a:prstDash val="solid"/>
          </a:ln>
        </p:spPr>
      </p:sp>
      <p:sp>
        <p:nvSpPr>
          <p:cNvPr id="71" name="importance-r4-c4"/>
          <p:cNvSpPr/>
          <p:nvPr/>
        </p:nvSpPr>
        <p:spPr>
          <a:xfrm>
            <a:off x="9929813" y="2786063"/>
            <a:ext cx="107156" cy="107156"/>
          </a:xfrm>
          <a:prstGeom prst="rect">
            <a:avLst/>
          </a:prstGeom>
          <a:solidFill>
            <a:srgbClr val="D6EAF9"/>
          </a:solidFill>
          <a:ln w="6350">
            <a:solidFill>
              <a:srgbClr val="FFFFFF"/>
            </a:solidFill>
            <a:prstDash val="solid"/>
          </a:ln>
        </p:spPr>
      </p:sp>
      <p:sp>
        <p:nvSpPr>
          <p:cNvPr id="72" name="importance-r4-c5"/>
          <p:cNvSpPr/>
          <p:nvPr/>
        </p:nvSpPr>
        <p:spPr>
          <a:xfrm>
            <a:off x="10042922" y="2786063"/>
            <a:ext cx="107156" cy="107156"/>
          </a:xfrm>
          <a:prstGeom prst="rect">
            <a:avLst/>
          </a:prstGeom>
          <a:solidFill>
            <a:srgbClr val="B6DDF8"/>
          </a:solidFill>
          <a:ln w="6350">
            <a:solidFill>
              <a:srgbClr val="FFFFFF"/>
            </a:solidFill>
            <a:prstDash val="solid"/>
          </a:ln>
        </p:spPr>
      </p:sp>
      <p:sp>
        <p:nvSpPr>
          <p:cNvPr id="73" name="importance-r4-c6"/>
          <p:cNvSpPr/>
          <p:nvPr/>
        </p:nvSpPr>
        <p:spPr>
          <a:xfrm>
            <a:off x="10156031" y="2786063"/>
            <a:ext cx="107156" cy="107156"/>
          </a:xfrm>
          <a:prstGeom prst="rect">
            <a:avLst/>
          </a:prstGeom>
          <a:solidFill>
            <a:srgbClr val="1179D9"/>
          </a:solidFill>
          <a:ln w="6350">
            <a:solidFill>
              <a:srgbClr val="FFFFFF"/>
            </a:solidFill>
            <a:prstDash val="solid"/>
          </a:ln>
        </p:spPr>
      </p:sp>
      <p:sp>
        <p:nvSpPr>
          <p:cNvPr id="74" name="importance-r4-c7"/>
          <p:cNvSpPr/>
          <p:nvPr/>
        </p:nvSpPr>
        <p:spPr>
          <a:xfrm>
            <a:off x="10269141" y="2786063"/>
            <a:ext cx="107156" cy="107156"/>
          </a:xfrm>
          <a:prstGeom prst="rect">
            <a:avLst/>
          </a:prstGeom>
          <a:solidFill>
            <a:srgbClr val="B6DDF8"/>
          </a:solidFill>
          <a:ln w="6350">
            <a:solidFill>
              <a:srgbClr val="FFFFFF"/>
            </a:solidFill>
            <a:prstDash val="solid"/>
          </a:ln>
        </p:spPr>
      </p:sp>
      <p:sp>
        <p:nvSpPr>
          <p:cNvPr id="75" name="importance-r4-c8"/>
          <p:cNvSpPr/>
          <p:nvPr/>
        </p:nvSpPr>
        <p:spPr>
          <a:xfrm>
            <a:off x="10388203" y="2786063"/>
            <a:ext cx="107156" cy="107156"/>
          </a:xfrm>
          <a:prstGeom prst="rect">
            <a:avLst/>
          </a:prstGeom>
          <a:solidFill>
            <a:srgbClr val="D6EAF9"/>
          </a:solidFill>
          <a:ln w="6350">
            <a:solidFill>
              <a:srgbClr val="FFFFFF"/>
            </a:solidFill>
            <a:prstDash val="solid"/>
          </a:ln>
        </p:spPr>
      </p:sp>
      <p:sp>
        <p:nvSpPr>
          <p:cNvPr id="76" name="importance-r4-c9"/>
          <p:cNvSpPr/>
          <p:nvPr/>
        </p:nvSpPr>
        <p:spPr>
          <a:xfrm>
            <a:off x="10501313" y="2786063"/>
            <a:ext cx="107156" cy="107156"/>
          </a:xfrm>
          <a:prstGeom prst="rect">
            <a:avLst/>
          </a:prstGeom>
          <a:solidFill>
            <a:srgbClr val="B6DDF8"/>
          </a:solidFill>
          <a:ln w="6350">
            <a:solidFill>
              <a:srgbClr val="FFFFFF"/>
            </a:solidFill>
            <a:prstDash val="solid"/>
          </a:ln>
        </p:spPr>
      </p:sp>
      <p:sp>
        <p:nvSpPr>
          <p:cNvPr id="77" name="importance-r5-c0"/>
          <p:cNvSpPr/>
          <p:nvPr/>
        </p:nvSpPr>
        <p:spPr>
          <a:xfrm>
            <a:off x="9471422" y="2905125"/>
            <a:ext cx="107156" cy="107156"/>
          </a:xfrm>
          <a:prstGeom prst="rect">
            <a:avLst/>
          </a:prstGeom>
          <a:solidFill>
            <a:srgbClr val="B6DDF8"/>
          </a:solidFill>
          <a:ln w="6350">
            <a:solidFill>
              <a:srgbClr val="FFFFFF"/>
            </a:solidFill>
            <a:prstDash val="solid"/>
          </a:ln>
        </p:spPr>
      </p:sp>
      <p:sp>
        <p:nvSpPr>
          <p:cNvPr id="78" name="importance-r5-c1"/>
          <p:cNvSpPr/>
          <p:nvPr/>
        </p:nvSpPr>
        <p:spPr>
          <a:xfrm>
            <a:off x="9584531" y="2905125"/>
            <a:ext cx="107156" cy="107156"/>
          </a:xfrm>
          <a:prstGeom prst="rect">
            <a:avLst/>
          </a:prstGeom>
          <a:solidFill>
            <a:srgbClr val="B6DDF8"/>
          </a:solidFill>
          <a:ln w="6350">
            <a:solidFill>
              <a:srgbClr val="FFFFFF"/>
            </a:solidFill>
            <a:prstDash val="solid"/>
          </a:ln>
        </p:spPr>
      </p:sp>
      <p:sp>
        <p:nvSpPr>
          <p:cNvPr id="79" name="importance-r5-c2"/>
          <p:cNvSpPr/>
          <p:nvPr/>
        </p:nvSpPr>
        <p:spPr>
          <a:xfrm>
            <a:off x="9697641" y="2905125"/>
            <a:ext cx="107156" cy="107156"/>
          </a:xfrm>
          <a:prstGeom prst="rect">
            <a:avLst/>
          </a:prstGeom>
          <a:solidFill>
            <a:srgbClr val="B6DDF8"/>
          </a:solidFill>
          <a:ln w="6350">
            <a:solidFill>
              <a:srgbClr val="FFFFFF"/>
            </a:solidFill>
            <a:prstDash val="solid"/>
          </a:ln>
        </p:spPr>
      </p:sp>
      <p:sp>
        <p:nvSpPr>
          <p:cNvPr id="80" name="importance-r5-c3"/>
          <p:cNvSpPr/>
          <p:nvPr/>
        </p:nvSpPr>
        <p:spPr>
          <a:xfrm>
            <a:off x="9816703" y="2905125"/>
            <a:ext cx="107156" cy="107156"/>
          </a:xfrm>
          <a:prstGeom prst="rect">
            <a:avLst/>
          </a:prstGeom>
          <a:solidFill>
            <a:srgbClr val="D6EAF9"/>
          </a:solidFill>
          <a:ln w="6350">
            <a:solidFill>
              <a:srgbClr val="FFFFFF"/>
            </a:solidFill>
            <a:prstDash val="solid"/>
          </a:ln>
        </p:spPr>
      </p:sp>
      <p:sp>
        <p:nvSpPr>
          <p:cNvPr id="81" name="importance-r5-c4"/>
          <p:cNvSpPr/>
          <p:nvPr/>
        </p:nvSpPr>
        <p:spPr>
          <a:xfrm>
            <a:off x="9929813" y="2905125"/>
            <a:ext cx="107156" cy="107156"/>
          </a:xfrm>
          <a:prstGeom prst="rect">
            <a:avLst/>
          </a:prstGeom>
          <a:solidFill>
            <a:srgbClr val="B6DDF8"/>
          </a:solidFill>
          <a:ln w="6350">
            <a:solidFill>
              <a:srgbClr val="FFFFFF"/>
            </a:solidFill>
            <a:prstDash val="solid"/>
          </a:ln>
        </p:spPr>
      </p:sp>
      <p:sp>
        <p:nvSpPr>
          <p:cNvPr id="82" name="importance-r5-c5"/>
          <p:cNvSpPr/>
          <p:nvPr/>
        </p:nvSpPr>
        <p:spPr>
          <a:xfrm>
            <a:off x="10042922" y="2905125"/>
            <a:ext cx="107156" cy="107156"/>
          </a:xfrm>
          <a:prstGeom prst="rect">
            <a:avLst/>
          </a:prstGeom>
          <a:solidFill>
            <a:srgbClr val="B6DDF8"/>
          </a:solidFill>
          <a:ln w="6350">
            <a:solidFill>
              <a:srgbClr val="FFFFFF"/>
            </a:solidFill>
            <a:prstDash val="solid"/>
          </a:ln>
        </p:spPr>
      </p:sp>
      <p:sp>
        <p:nvSpPr>
          <p:cNvPr id="83" name="importance-r5-c6"/>
          <p:cNvSpPr/>
          <p:nvPr/>
        </p:nvSpPr>
        <p:spPr>
          <a:xfrm>
            <a:off x="10156031" y="2905125"/>
            <a:ext cx="107156" cy="107156"/>
          </a:xfrm>
          <a:prstGeom prst="rect">
            <a:avLst/>
          </a:prstGeom>
          <a:solidFill>
            <a:srgbClr val="B6DDF8"/>
          </a:solidFill>
          <a:ln w="6350">
            <a:solidFill>
              <a:srgbClr val="FFFFFF"/>
            </a:solidFill>
            <a:prstDash val="solid"/>
          </a:ln>
        </p:spPr>
      </p:sp>
      <p:sp>
        <p:nvSpPr>
          <p:cNvPr id="84" name="importance-r5-c7"/>
          <p:cNvSpPr/>
          <p:nvPr/>
        </p:nvSpPr>
        <p:spPr>
          <a:xfrm>
            <a:off x="10269141" y="2905125"/>
            <a:ext cx="107156" cy="107156"/>
          </a:xfrm>
          <a:prstGeom prst="rect">
            <a:avLst/>
          </a:prstGeom>
          <a:solidFill>
            <a:srgbClr val="D6EAF9"/>
          </a:solidFill>
          <a:ln w="6350">
            <a:solidFill>
              <a:srgbClr val="FFFFFF"/>
            </a:solidFill>
            <a:prstDash val="solid"/>
          </a:ln>
        </p:spPr>
      </p:sp>
      <p:sp>
        <p:nvSpPr>
          <p:cNvPr id="85" name="importance-r5-c8"/>
          <p:cNvSpPr/>
          <p:nvPr/>
        </p:nvSpPr>
        <p:spPr>
          <a:xfrm>
            <a:off x="10388203" y="2905125"/>
            <a:ext cx="107156" cy="107156"/>
          </a:xfrm>
          <a:prstGeom prst="rect">
            <a:avLst/>
          </a:prstGeom>
          <a:solidFill>
            <a:srgbClr val="1179D9"/>
          </a:solidFill>
          <a:ln w="6350">
            <a:solidFill>
              <a:srgbClr val="FFFFFF"/>
            </a:solidFill>
            <a:prstDash val="solid"/>
          </a:ln>
        </p:spPr>
      </p:sp>
      <p:sp>
        <p:nvSpPr>
          <p:cNvPr id="86" name="importance-r5-c9"/>
          <p:cNvSpPr/>
          <p:nvPr/>
        </p:nvSpPr>
        <p:spPr>
          <a:xfrm>
            <a:off x="10501313" y="2905125"/>
            <a:ext cx="107156" cy="107156"/>
          </a:xfrm>
          <a:prstGeom prst="rect">
            <a:avLst/>
          </a:prstGeom>
          <a:solidFill>
            <a:srgbClr val="B6DDF8"/>
          </a:solidFill>
          <a:ln w="6350">
            <a:solidFill>
              <a:srgbClr val="FFFFFF"/>
            </a:solidFill>
            <a:prstDash val="solid"/>
          </a:ln>
        </p:spPr>
      </p:sp>
      <p:sp>
        <p:nvSpPr>
          <p:cNvPr id="87" name="importance-r6-c0"/>
          <p:cNvSpPr/>
          <p:nvPr/>
        </p:nvSpPr>
        <p:spPr>
          <a:xfrm>
            <a:off x="9471422" y="3024188"/>
            <a:ext cx="107156" cy="107156"/>
          </a:xfrm>
          <a:prstGeom prst="rect">
            <a:avLst/>
          </a:prstGeom>
          <a:solidFill>
            <a:srgbClr val="B6DDF8"/>
          </a:solidFill>
          <a:ln w="6350">
            <a:solidFill>
              <a:srgbClr val="FFFFFF"/>
            </a:solidFill>
            <a:prstDash val="solid"/>
          </a:ln>
        </p:spPr>
      </p:sp>
      <p:sp>
        <p:nvSpPr>
          <p:cNvPr id="88" name="importance-r6-c1"/>
          <p:cNvSpPr/>
          <p:nvPr/>
        </p:nvSpPr>
        <p:spPr>
          <a:xfrm>
            <a:off x="9584531" y="3024188"/>
            <a:ext cx="107156" cy="107156"/>
          </a:xfrm>
          <a:prstGeom prst="rect">
            <a:avLst/>
          </a:prstGeom>
          <a:solidFill>
            <a:srgbClr val="B6DDF8"/>
          </a:solidFill>
          <a:ln w="6350">
            <a:solidFill>
              <a:srgbClr val="FFFFFF"/>
            </a:solidFill>
            <a:prstDash val="solid"/>
          </a:ln>
        </p:spPr>
      </p:sp>
      <p:sp>
        <p:nvSpPr>
          <p:cNvPr id="89" name="importance-r6-c2"/>
          <p:cNvSpPr/>
          <p:nvPr/>
        </p:nvSpPr>
        <p:spPr>
          <a:xfrm>
            <a:off x="9697641" y="3024188"/>
            <a:ext cx="107156" cy="107156"/>
          </a:xfrm>
          <a:prstGeom prst="rect">
            <a:avLst/>
          </a:prstGeom>
          <a:solidFill>
            <a:srgbClr val="D6EAF9"/>
          </a:solidFill>
          <a:ln w="6350">
            <a:solidFill>
              <a:srgbClr val="FFFFFF"/>
            </a:solidFill>
            <a:prstDash val="solid"/>
          </a:ln>
        </p:spPr>
      </p:sp>
      <p:sp>
        <p:nvSpPr>
          <p:cNvPr id="90" name="importance-r6-c3"/>
          <p:cNvSpPr/>
          <p:nvPr/>
        </p:nvSpPr>
        <p:spPr>
          <a:xfrm>
            <a:off x="9816703" y="3024188"/>
            <a:ext cx="107156" cy="107156"/>
          </a:xfrm>
          <a:prstGeom prst="rect">
            <a:avLst/>
          </a:prstGeom>
          <a:solidFill>
            <a:srgbClr val="B6DDF8"/>
          </a:solidFill>
          <a:ln w="6350">
            <a:solidFill>
              <a:srgbClr val="FFFFFF"/>
            </a:solidFill>
            <a:prstDash val="solid"/>
          </a:ln>
        </p:spPr>
      </p:sp>
      <p:sp>
        <p:nvSpPr>
          <p:cNvPr id="91" name="importance-r6-c4"/>
          <p:cNvSpPr/>
          <p:nvPr/>
        </p:nvSpPr>
        <p:spPr>
          <a:xfrm>
            <a:off x="9929813" y="3024188"/>
            <a:ext cx="107156" cy="107156"/>
          </a:xfrm>
          <a:prstGeom prst="rect">
            <a:avLst/>
          </a:prstGeom>
          <a:solidFill>
            <a:srgbClr val="B6DDF8"/>
          </a:solidFill>
          <a:ln w="6350">
            <a:solidFill>
              <a:srgbClr val="FFFFFF"/>
            </a:solidFill>
            <a:prstDash val="solid"/>
          </a:ln>
        </p:spPr>
      </p:sp>
      <p:sp>
        <p:nvSpPr>
          <p:cNvPr id="92" name="importance-r6-c5"/>
          <p:cNvSpPr/>
          <p:nvPr/>
        </p:nvSpPr>
        <p:spPr>
          <a:xfrm>
            <a:off x="10042922" y="3024188"/>
            <a:ext cx="107156" cy="107156"/>
          </a:xfrm>
          <a:prstGeom prst="rect">
            <a:avLst/>
          </a:prstGeom>
          <a:solidFill>
            <a:srgbClr val="B6DDF8"/>
          </a:solidFill>
          <a:ln w="6350">
            <a:solidFill>
              <a:srgbClr val="FFFFFF"/>
            </a:solidFill>
            <a:prstDash val="solid"/>
          </a:ln>
        </p:spPr>
      </p:sp>
      <p:sp>
        <p:nvSpPr>
          <p:cNvPr id="93" name="importance-r6-c6"/>
          <p:cNvSpPr/>
          <p:nvPr/>
        </p:nvSpPr>
        <p:spPr>
          <a:xfrm>
            <a:off x="10156031" y="3024188"/>
            <a:ext cx="107156" cy="107156"/>
          </a:xfrm>
          <a:prstGeom prst="rect">
            <a:avLst/>
          </a:prstGeom>
          <a:solidFill>
            <a:srgbClr val="D6EAF9"/>
          </a:solidFill>
          <a:ln w="6350">
            <a:solidFill>
              <a:srgbClr val="FFFFFF"/>
            </a:solidFill>
            <a:prstDash val="solid"/>
          </a:ln>
        </p:spPr>
      </p:sp>
      <p:sp>
        <p:nvSpPr>
          <p:cNvPr id="94" name="importance-r6-c7"/>
          <p:cNvSpPr/>
          <p:nvPr/>
        </p:nvSpPr>
        <p:spPr>
          <a:xfrm>
            <a:off x="10269141" y="3024188"/>
            <a:ext cx="107156" cy="107156"/>
          </a:xfrm>
          <a:prstGeom prst="rect">
            <a:avLst/>
          </a:prstGeom>
          <a:solidFill>
            <a:srgbClr val="B6DDF8"/>
          </a:solidFill>
          <a:ln w="6350">
            <a:solidFill>
              <a:srgbClr val="FFFFFF"/>
            </a:solidFill>
            <a:prstDash val="solid"/>
          </a:ln>
        </p:spPr>
      </p:sp>
      <p:sp>
        <p:nvSpPr>
          <p:cNvPr id="95" name="importance-r6-c8"/>
          <p:cNvSpPr/>
          <p:nvPr/>
        </p:nvSpPr>
        <p:spPr>
          <a:xfrm>
            <a:off x="10388203" y="3024188"/>
            <a:ext cx="107156" cy="107156"/>
          </a:xfrm>
          <a:prstGeom prst="rect">
            <a:avLst/>
          </a:prstGeom>
          <a:solidFill>
            <a:srgbClr val="1179D9"/>
          </a:solidFill>
          <a:ln w="6350">
            <a:solidFill>
              <a:srgbClr val="FFFFFF"/>
            </a:solidFill>
            <a:prstDash val="solid"/>
          </a:ln>
        </p:spPr>
      </p:sp>
      <p:sp>
        <p:nvSpPr>
          <p:cNvPr id="96" name="importance-r6-c9"/>
          <p:cNvSpPr/>
          <p:nvPr/>
        </p:nvSpPr>
        <p:spPr>
          <a:xfrm>
            <a:off x="10501313" y="3024188"/>
            <a:ext cx="107156" cy="107156"/>
          </a:xfrm>
          <a:prstGeom prst="rect">
            <a:avLst/>
          </a:prstGeom>
          <a:solidFill>
            <a:srgbClr val="B6DDF8"/>
          </a:solidFill>
          <a:ln w="6350">
            <a:solidFill>
              <a:srgbClr val="FFFFFF"/>
            </a:solidFill>
            <a:prstDash val="solid"/>
          </a:ln>
        </p:spPr>
      </p:sp>
      <p:sp>
        <p:nvSpPr>
          <p:cNvPr id="97" name="importance-r7-c0"/>
          <p:cNvSpPr/>
          <p:nvPr/>
        </p:nvSpPr>
        <p:spPr>
          <a:xfrm>
            <a:off x="9471422" y="3143250"/>
            <a:ext cx="107156" cy="107156"/>
          </a:xfrm>
          <a:prstGeom prst="rect">
            <a:avLst/>
          </a:prstGeom>
          <a:solidFill>
            <a:srgbClr val="B6DDF8"/>
          </a:solidFill>
          <a:ln w="6350">
            <a:solidFill>
              <a:srgbClr val="FFFFFF"/>
            </a:solidFill>
            <a:prstDash val="solid"/>
          </a:ln>
        </p:spPr>
      </p:sp>
      <p:sp>
        <p:nvSpPr>
          <p:cNvPr id="98" name="importance-r7-c1"/>
          <p:cNvSpPr/>
          <p:nvPr/>
        </p:nvSpPr>
        <p:spPr>
          <a:xfrm>
            <a:off x="9584531" y="3143250"/>
            <a:ext cx="107156" cy="107156"/>
          </a:xfrm>
          <a:prstGeom prst="rect">
            <a:avLst/>
          </a:prstGeom>
          <a:solidFill>
            <a:srgbClr val="D6EAF9"/>
          </a:solidFill>
          <a:ln w="6350">
            <a:solidFill>
              <a:srgbClr val="FFFFFF"/>
            </a:solidFill>
            <a:prstDash val="solid"/>
          </a:ln>
        </p:spPr>
      </p:sp>
      <p:sp>
        <p:nvSpPr>
          <p:cNvPr id="99" name="importance-r7-c2"/>
          <p:cNvSpPr/>
          <p:nvPr/>
        </p:nvSpPr>
        <p:spPr>
          <a:xfrm>
            <a:off x="9697641" y="3143250"/>
            <a:ext cx="107156" cy="107156"/>
          </a:xfrm>
          <a:prstGeom prst="rect">
            <a:avLst/>
          </a:prstGeom>
          <a:solidFill>
            <a:srgbClr val="B6DDF8"/>
          </a:solidFill>
          <a:ln w="6350">
            <a:solidFill>
              <a:srgbClr val="FFFFFF"/>
            </a:solidFill>
            <a:prstDash val="solid"/>
          </a:ln>
        </p:spPr>
      </p:sp>
      <p:sp>
        <p:nvSpPr>
          <p:cNvPr id="100" name="importance-r7-c3"/>
          <p:cNvSpPr/>
          <p:nvPr/>
        </p:nvSpPr>
        <p:spPr>
          <a:xfrm>
            <a:off x="9816703" y="3143250"/>
            <a:ext cx="107156" cy="107156"/>
          </a:xfrm>
          <a:prstGeom prst="rect">
            <a:avLst/>
          </a:prstGeom>
          <a:solidFill>
            <a:srgbClr val="B6DDF8"/>
          </a:solidFill>
          <a:ln w="6350">
            <a:solidFill>
              <a:srgbClr val="FFFFFF"/>
            </a:solidFill>
            <a:prstDash val="solid"/>
          </a:ln>
        </p:spPr>
      </p:sp>
      <p:sp>
        <p:nvSpPr>
          <p:cNvPr id="101" name="importance-r7-c4"/>
          <p:cNvSpPr/>
          <p:nvPr/>
        </p:nvSpPr>
        <p:spPr>
          <a:xfrm>
            <a:off x="9929813" y="3143250"/>
            <a:ext cx="107156" cy="107156"/>
          </a:xfrm>
          <a:prstGeom prst="rect">
            <a:avLst/>
          </a:prstGeom>
          <a:solidFill>
            <a:srgbClr val="B6DDF8"/>
          </a:solidFill>
          <a:ln w="6350">
            <a:solidFill>
              <a:srgbClr val="FFFFFF"/>
            </a:solidFill>
            <a:prstDash val="solid"/>
          </a:ln>
        </p:spPr>
      </p:sp>
      <p:sp>
        <p:nvSpPr>
          <p:cNvPr id="102" name="importance-r7-c5"/>
          <p:cNvSpPr/>
          <p:nvPr/>
        </p:nvSpPr>
        <p:spPr>
          <a:xfrm>
            <a:off x="10042922" y="3143250"/>
            <a:ext cx="107156" cy="107156"/>
          </a:xfrm>
          <a:prstGeom prst="rect">
            <a:avLst/>
          </a:prstGeom>
          <a:solidFill>
            <a:srgbClr val="D6EAF9"/>
          </a:solidFill>
          <a:ln w="6350">
            <a:solidFill>
              <a:srgbClr val="FFFFFF"/>
            </a:solidFill>
            <a:prstDash val="solid"/>
          </a:ln>
        </p:spPr>
      </p:sp>
      <p:sp>
        <p:nvSpPr>
          <p:cNvPr id="103" name="importance-r7-c6"/>
          <p:cNvSpPr/>
          <p:nvPr/>
        </p:nvSpPr>
        <p:spPr>
          <a:xfrm>
            <a:off x="10156031" y="3143250"/>
            <a:ext cx="107156" cy="107156"/>
          </a:xfrm>
          <a:prstGeom prst="rect">
            <a:avLst/>
          </a:prstGeom>
          <a:solidFill>
            <a:srgbClr val="B6DDF8"/>
          </a:solidFill>
          <a:ln w="6350">
            <a:solidFill>
              <a:srgbClr val="FFFFFF"/>
            </a:solidFill>
            <a:prstDash val="solid"/>
          </a:ln>
        </p:spPr>
      </p:sp>
      <p:sp>
        <p:nvSpPr>
          <p:cNvPr id="104" name="importance-r7-c7"/>
          <p:cNvSpPr/>
          <p:nvPr/>
        </p:nvSpPr>
        <p:spPr>
          <a:xfrm>
            <a:off x="10269141" y="3143250"/>
            <a:ext cx="107156" cy="107156"/>
          </a:xfrm>
          <a:prstGeom prst="rect">
            <a:avLst/>
          </a:prstGeom>
          <a:solidFill>
            <a:srgbClr val="B6DDF8"/>
          </a:solidFill>
          <a:ln w="6350">
            <a:solidFill>
              <a:srgbClr val="FFFFFF"/>
            </a:solidFill>
            <a:prstDash val="solid"/>
          </a:ln>
        </p:spPr>
      </p:sp>
      <p:sp>
        <p:nvSpPr>
          <p:cNvPr id="105" name="importance-r7-c8"/>
          <p:cNvSpPr/>
          <p:nvPr/>
        </p:nvSpPr>
        <p:spPr>
          <a:xfrm>
            <a:off x="10388203" y="3143250"/>
            <a:ext cx="107156" cy="107156"/>
          </a:xfrm>
          <a:prstGeom prst="rect">
            <a:avLst/>
          </a:prstGeom>
          <a:solidFill>
            <a:srgbClr val="B6DDF8"/>
          </a:solidFill>
          <a:ln w="6350">
            <a:solidFill>
              <a:srgbClr val="FFFFFF"/>
            </a:solidFill>
            <a:prstDash val="solid"/>
          </a:ln>
        </p:spPr>
      </p:sp>
      <p:sp>
        <p:nvSpPr>
          <p:cNvPr id="106" name="importance-r7-c9"/>
          <p:cNvSpPr/>
          <p:nvPr/>
        </p:nvSpPr>
        <p:spPr>
          <a:xfrm>
            <a:off x="10501313" y="3143250"/>
            <a:ext cx="107156" cy="107156"/>
          </a:xfrm>
          <a:prstGeom prst="rect">
            <a:avLst/>
          </a:prstGeom>
          <a:solidFill>
            <a:srgbClr val="1179D9"/>
          </a:solidFill>
          <a:ln w="6350">
            <a:solidFill>
              <a:srgbClr val="FFFFFF"/>
            </a:solidFill>
            <a:prstDash val="solid"/>
          </a:ln>
        </p:spPr>
      </p:sp>
      <p:sp>
        <p:nvSpPr>
          <p:cNvPr id="107" name="topk-row-1"/>
          <p:cNvSpPr/>
          <p:nvPr/>
        </p:nvSpPr>
        <p:spPr>
          <a:xfrm>
            <a:off x="11025188" y="2452688"/>
            <a:ext cx="678656" cy="130969"/>
          </a:xfrm>
          <a:prstGeom prst="rect">
            <a:avLst/>
          </a:prstGeom>
          <a:solidFill>
            <a:srgbClr val="E3F3FF"/>
          </a:solidFill>
          <a:ln w="12700">
            <a:solidFill>
              <a:srgbClr val="FFFFFF">
                <a:alpha val="0"/>
              </a:srgbClr>
            </a:solidFill>
            <a:prstDash val="solid"/>
          </a:ln>
        </p:spPr>
      </p:sp>
      <p:sp>
        <p:nvSpPr>
          <p:cNvPr id="108" name="topk-row-2"/>
          <p:cNvSpPr/>
          <p:nvPr/>
        </p:nvSpPr>
        <p:spPr>
          <a:xfrm>
            <a:off x="11025188" y="2643188"/>
            <a:ext cx="678656" cy="130969"/>
          </a:xfrm>
          <a:prstGeom prst="rect">
            <a:avLst/>
          </a:prstGeom>
          <a:solidFill>
            <a:srgbClr val="E3F3FF"/>
          </a:solidFill>
          <a:ln w="12700">
            <a:solidFill>
              <a:srgbClr val="FFFFFF">
                <a:alpha val="0"/>
              </a:srgbClr>
            </a:solidFill>
            <a:prstDash val="solid"/>
          </a:ln>
        </p:spPr>
      </p:sp>
      <p:sp>
        <p:nvSpPr>
          <p:cNvPr id="109" name="topk-row-3"/>
          <p:cNvSpPr/>
          <p:nvPr/>
        </p:nvSpPr>
        <p:spPr>
          <a:xfrm>
            <a:off x="11025188" y="2833688"/>
            <a:ext cx="678656" cy="130969"/>
          </a:xfrm>
          <a:prstGeom prst="rect">
            <a:avLst/>
          </a:prstGeom>
          <a:solidFill>
            <a:srgbClr val="E3F3FF"/>
          </a:solidFill>
          <a:ln w="12700">
            <a:solidFill>
              <a:srgbClr val="FFFFFF">
                <a:alpha val="0"/>
              </a:srgbClr>
            </a:solidFill>
            <a:prstDash val="solid"/>
          </a:ln>
        </p:spPr>
      </p:sp>
      <p:sp>
        <p:nvSpPr>
          <p:cNvPr id="110" name="topk-row-4"/>
          <p:cNvSpPr/>
          <p:nvPr/>
        </p:nvSpPr>
        <p:spPr>
          <a:xfrm>
            <a:off x="11025188" y="3024188"/>
            <a:ext cx="678656" cy="130969"/>
          </a:xfrm>
          <a:prstGeom prst="rect">
            <a:avLst/>
          </a:prstGeom>
          <a:solidFill>
            <a:srgbClr val="E3F3FF"/>
          </a:solidFill>
          <a:ln w="12700">
            <a:solidFill>
              <a:srgbClr val="FFFFFF">
                <a:alpha val="0"/>
              </a:srgbClr>
            </a:solidFill>
            <a:prstDash val="solid"/>
          </a:ln>
        </p:spPr>
      </p:sp>
      <p:sp>
        <p:nvSpPr>
          <p:cNvPr id="111" name="topk-row-5"/>
          <p:cNvSpPr/>
          <p:nvPr/>
        </p:nvSpPr>
        <p:spPr>
          <a:xfrm>
            <a:off x="11025188" y="3214688"/>
            <a:ext cx="678656" cy="130969"/>
          </a:xfrm>
          <a:prstGeom prst="rect">
            <a:avLst/>
          </a:prstGeom>
          <a:solidFill>
            <a:srgbClr val="E3F3FF"/>
          </a:solidFill>
          <a:ln w="12700">
            <a:solidFill>
              <a:srgbClr val="FFFFFF">
                <a:alpha val="0"/>
              </a:srgbClr>
            </a:solidFill>
            <a:prstDash val="solid"/>
          </a:ln>
        </p:spPr>
      </p:sp>
      <p:sp>
        <p:nvSpPr>
          <p:cNvPr id="112" name="topk-mark-1"/>
          <p:cNvSpPr/>
          <p:nvPr/>
        </p:nvSpPr>
        <p:spPr>
          <a:xfrm>
            <a:off x="11025188" y="2452688"/>
            <a:ext cx="434578" cy="130969"/>
          </a:xfrm>
          <a:prstGeom prst="rect">
            <a:avLst/>
          </a:prstGeom>
          <a:solidFill>
            <a:srgbClr val="1686E1"/>
          </a:solidFill>
          <a:ln w="12700">
            <a:solidFill>
              <a:srgbClr val="FFFFFF">
                <a:alpha val="0"/>
              </a:srgbClr>
            </a:solidFill>
            <a:prstDash val="solid"/>
          </a:ln>
        </p:spPr>
      </p:sp>
      <p:sp>
        <p:nvSpPr>
          <p:cNvPr id="113" name="topk-mark-2"/>
          <p:cNvSpPr/>
          <p:nvPr/>
        </p:nvSpPr>
        <p:spPr>
          <a:xfrm>
            <a:off x="11025188" y="2643188"/>
            <a:ext cx="398859" cy="130969"/>
          </a:xfrm>
          <a:prstGeom prst="rect">
            <a:avLst/>
          </a:prstGeom>
          <a:solidFill>
            <a:srgbClr val="1686E1"/>
          </a:solidFill>
          <a:ln w="12700">
            <a:solidFill>
              <a:srgbClr val="FFFFFF">
                <a:alpha val="0"/>
              </a:srgbClr>
            </a:solidFill>
            <a:prstDash val="solid"/>
          </a:ln>
        </p:spPr>
      </p:sp>
      <p:sp>
        <p:nvSpPr>
          <p:cNvPr id="114" name="topk-mark-3"/>
          <p:cNvSpPr/>
          <p:nvPr/>
        </p:nvSpPr>
        <p:spPr>
          <a:xfrm>
            <a:off x="11025188" y="2833688"/>
            <a:ext cx="541734" cy="130969"/>
          </a:xfrm>
          <a:prstGeom prst="rect">
            <a:avLst/>
          </a:prstGeom>
          <a:solidFill>
            <a:srgbClr val="9CCEF3"/>
          </a:solidFill>
          <a:ln w="12700">
            <a:solidFill>
              <a:srgbClr val="FFFFFF">
                <a:alpha val="0"/>
              </a:srgbClr>
            </a:solidFill>
            <a:prstDash val="solid"/>
          </a:ln>
        </p:spPr>
      </p:sp>
      <p:sp>
        <p:nvSpPr>
          <p:cNvPr id="115" name="topk-mark-4"/>
          <p:cNvSpPr/>
          <p:nvPr/>
        </p:nvSpPr>
        <p:spPr>
          <a:xfrm>
            <a:off x="11025188" y="3024188"/>
            <a:ext cx="404813" cy="130969"/>
          </a:xfrm>
          <a:prstGeom prst="rect">
            <a:avLst/>
          </a:prstGeom>
          <a:solidFill>
            <a:srgbClr val="1686E1"/>
          </a:solidFill>
          <a:ln w="12700">
            <a:solidFill>
              <a:srgbClr val="FFFFFF">
                <a:alpha val="0"/>
              </a:srgbClr>
            </a:solidFill>
            <a:prstDash val="solid"/>
          </a:ln>
        </p:spPr>
      </p:sp>
      <p:sp>
        <p:nvSpPr>
          <p:cNvPr id="116" name="topk-mark-5"/>
          <p:cNvSpPr/>
          <p:nvPr/>
        </p:nvSpPr>
        <p:spPr>
          <a:xfrm>
            <a:off x="11025188" y="3214688"/>
            <a:ext cx="464344" cy="130969"/>
          </a:xfrm>
          <a:prstGeom prst="rect">
            <a:avLst/>
          </a:prstGeom>
          <a:solidFill>
            <a:srgbClr val="9CCEF3"/>
          </a:solidFill>
          <a:ln w="12700">
            <a:solidFill>
              <a:srgbClr val="FFFFFF">
                <a:alpha val="0"/>
              </a:srgbClr>
            </a:solidFill>
            <a:prstDash val="solid"/>
          </a:ln>
        </p:spPr>
      </p:sp>
      <p:sp>
        <p:nvSpPr>
          <p:cNvPr id="117" name="static-block-1-0"/>
          <p:cNvSpPr/>
          <p:nvPr/>
        </p:nvSpPr>
        <p:spPr>
          <a:xfrm>
            <a:off x="3815953" y="2321719"/>
            <a:ext cx="113109" cy="232172"/>
          </a:xfrm>
          <a:prstGeom prst="rect">
            <a:avLst/>
          </a:prstGeom>
          <a:solidFill>
            <a:srgbClr val="6DB7ED"/>
          </a:solidFill>
          <a:ln w="12700">
            <a:solidFill>
              <a:srgbClr val="FFFFFF">
                <a:alpha val="0"/>
              </a:srgbClr>
            </a:solidFill>
            <a:prstDash val="solid"/>
          </a:ln>
        </p:spPr>
      </p:sp>
      <p:sp>
        <p:nvSpPr>
          <p:cNvPr id="118" name="static-block-1-1"/>
          <p:cNvSpPr/>
          <p:nvPr/>
        </p:nvSpPr>
        <p:spPr>
          <a:xfrm>
            <a:off x="3946922" y="2321719"/>
            <a:ext cx="113109" cy="232172"/>
          </a:xfrm>
          <a:prstGeom prst="rect">
            <a:avLst/>
          </a:prstGeom>
          <a:solidFill>
            <a:srgbClr val="6DB7ED"/>
          </a:solidFill>
          <a:ln w="12700">
            <a:solidFill>
              <a:srgbClr val="FFFFFF">
                <a:alpha val="0"/>
              </a:srgbClr>
            </a:solidFill>
            <a:prstDash val="solid"/>
          </a:ln>
        </p:spPr>
      </p:sp>
      <p:sp>
        <p:nvSpPr>
          <p:cNvPr id="119" name="static-block-1-2"/>
          <p:cNvSpPr/>
          <p:nvPr/>
        </p:nvSpPr>
        <p:spPr>
          <a:xfrm>
            <a:off x="4077891" y="2321719"/>
            <a:ext cx="113109" cy="232172"/>
          </a:xfrm>
          <a:prstGeom prst="rect">
            <a:avLst/>
          </a:prstGeom>
          <a:solidFill>
            <a:srgbClr val="6DB7ED"/>
          </a:solidFill>
          <a:ln w="12700">
            <a:solidFill>
              <a:srgbClr val="FFFFFF">
                <a:alpha val="0"/>
              </a:srgbClr>
            </a:solidFill>
            <a:prstDash val="solid"/>
          </a:ln>
        </p:spPr>
      </p:sp>
      <p:sp>
        <p:nvSpPr>
          <p:cNvPr id="120" name="static-block-1-3"/>
          <p:cNvSpPr/>
          <p:nvPr/>
        </p:nvSpPr>
        <p:spPr>
          <a:xfrm>
            <a:off x="4208859" y="2321719"/>
            <a:ext cx="113109" cy="232172"/>
          </a:xfrm>
          <a:prstGeom prst="rect">
            <a:avLst/>
          </a:prstGeom>
          <a:solidFill>
            <a:srgbClr val="AFD9F4"/>
          </a:solidFill>
          <a:ln w="12700">
            <a:solidFill>
              <a:srgbClr val="FFFFFF">
                <a:alpha val="0"/>
              </a:srgbClr>
            </a:solidFill>
            <a:prstDash val="solid"/>
          </a:ln>
        </p:spPr>
      </p:sp>
      <p:sp>
        <p:nvSpPr>
          <p:cNvPr id="121" name="static-block-1-4"/>
          <p:cNvSpPr/>
          <p:nvPr/>
        </p:nvSpPr>
        <p:spPr>
          <a:xfrm>
            <a:off x="4339828" y="2321719"/>
            <a:ext cx="113109" cy="232172"/>
          </a:xfrm>
          <a:prstGeom prst="rect">
            <a:avLst/>
          </a:prstGeom>
          <a:solidFill>
            <a:srgbClr val="AFD9F4"/>
          </a:solidFill>
          <a:ln w="12700">
            <a:solidFill>
              <a:srgbClr val="FFFFFF">
                <a:alpha val="0"/>
              </a:srgbClr>
            </a:solidFill>
            <a:prstDash val="solid"/>
          </a:ln>
        </p:spPr>
      </p:sp>
      <p:sp>
        <p:nvSpPr>
          <p:cNvPr id="122" name="static-block-1-5"/>
          <p:cNvSpPr/>
          <p:nvPr/>
        </p:nvSpPr>
        <p:spPr>
          <a:xfrm>
            <a:off x="4470797" y="2321719"/>
            <a:ext cx="113109" cy="232172"/>
          </a:xfrm>
          <a:prstGeom prst="rect">
            <a:avLst/>
          </a:prstGeom>
          <a:solidFill>
            <a:srgbClr val="AFD9F4"/>
          </a:solidFill>
          <a:ln w="12700">
            <a:solidFill>
              <a:srgbClr val="FFFFFF">
                <a:alpha val="0"/>
              </a:srgbClr>
            </a:solidFill>
            <a:prstDash val="solid"/>
          </a:ln>
        </p:spPr>
      </p:sp>
      <p:sp>
        <p:nvSpPr>
          <p:cNvPr id="123" name="static-block-2-0"/>
          <p:cNvSpPr/>
          <p:nvPr/>
        </p:nvSpPr>
        <p:spPr>
          <a:xfrm>
            <a:off x="3815953" y="2678906"/>
            <a:ext cx="113109" cy="232172"/>
          </a:xfrm>
          <a:prstGeom prst="rect">
            <a:avLst/>
          </a:prstGeom>
          <a:solidFill>
            <a:srgbClr val="6DB7ED"/>
          </a:solidFill>
          <a:ln w="12700">
            <a:solidFill>
              <a:srgbClr val="FFFFFF">
                <a:alpha val="0"/>
              </a:srgbClr>
            </a:solidFill>
            <a:prstDash val="solid"/>
          </a:ln>
        </p:spPr>
      </p:sp>
      <p:sp>
        <p:nvSpPr>
          <p:cNvPr id="124" name="static-block-2-1"/>
          <p:cNvSpPr/>
          <p:nvPr/>
        </p:nvSpPr>
        <p:spPr>
          <a:xfrm>
            <a:off x="3946922" y="2678906"/>
            <a:ext cx="113109" cy="232172"/>
          </a:xfrm>
          <a:prstGeom prst="rect">
            <a:avLst/>
          </a:prstGeom>
          <a:solidFill>
            <a:srgbClr val="6DB7ED"/>
          </a:solidFill>
          <a:ln w="12700">
            <a:solidFill>
              <a:srgbClr val="FFFFFF">
                <a:alpha val="0"/>
              </a:srgbClr>
            </a:solidFill>
            <a:prstDash val="solid"/>
          </a:ln>
        </p:spPr>
      </p:sp>
      <p:sp>
        <p:nvSpPr>
          <p:cNvPr id="125" name="static-block-2-2"/>
          <p:cNvSpPr/>
          <p:nvPr/>
        </p:nvSpPr>
        <p:spPr>
          <a:xfrm>
            <a:off x="4077891" y="2678906"/>
            <a:ext cx="113109" cy="232172"/>
          </a:xfrm>
          <a:prstGeom prst="rect">
            <a:avLst/>
          </a:prstGeom>
          <a:solidFill>
            <a:srgbClr val="6DB7ED"/>
          </a:solidFill>
          <a:ln w="12700">
            <a:solidFill>
              <a:srgbClr val="FFFFFF">
                <a:alpha val="0"/>
              </a:srgbClr>
            </a:solidFill>
            <a:prstDash val="solid"/>
          </a:ln>
        </p:spPr>
      </p:sp>
      <p:sp>
        <p:nvSpPr>
          <p:cNvPr id="126" name="static-block-2-3"/>
          <p:cNvSpPr/>
          <p:nvPr/>
        </p:nvSpPr>
        <p:spPr>
          <a:xfrm>
            <a:off x="4208859" y="2678906"/>
            <a:ext cx="113109" cy="232172"/>
          </a:xfrm>
          <a:prstGeom prst="rect">
            <a:avLst/>
          </a:prstGeom>
          <a:solidFill>
            <a:srgbClr val="AFD9F4"/>
          </a:solidFill>
          <a:ln w="12700">
            <a:solidFill>
              <a:srgbClr val="FFFFFF">
                <a:alpha val="0"/>
              </a:srgbClr>
            </a:solidFill>
            <a:prstDash val="solid"/>
          </a:ln>
        </p:spPr>
      </p:sp>
      <p:sp>
        <p:nvSpPr>
          <p:cNvPr id="127" name="static-block-2-4"/>
          <p:cNvSpPr/>
          <p:nvPr/>
        </p:nvSpPr>
        <p:spPr>
          <a:xfrm>
            <a:off x="4339828" y="2678906"/>
            <a:ext cx="113109" cy="232172"/>
          </a:xfrm>
          <a:prstGeom prst="rect">
            <a:avLst/>
          </a:prstGeom>
          <a:solidFill>
            <a:srgbClr val="AFD9F4"/>
          </a:solidFill>
          <a:ln w="12700">
            <a:solidFill>
              <a:srgbClr val="FFFFFF">
                <a:alpha val="0"/>
              </a:srgbClr>
            </a:solidFill>
            <a:prstDash val="solid"/>
          </a:ln>
        </p:spPr>
      </p:sp>
      <p:sp>
        <p:nvSpPr>
          <p:cNvPr id="128" name="static-block-2-5"/>
          <p:cNvSpPr/>
          <p:nvPr/>
        </p:nvSpPr>
        <p:spPr>
          <a:xfrm>
            <a:off x="4470797" y="2678906"/>
            <a:ext cx="113109" cy="232172"/>
          </a:xfrm>
          <a:prstGeom prst="rect">
            <a:avLst/>
          </a:prstGeom>
          <a:solidFill>
            <a:srgbClr val="AFD9F4"/>
          </a:solidFill>
          <a:ln w="12700">
            <a:solidFill>
              <a:srgbClr val="FFFFFF">
                <a:alpha val="0"/>
              </a:srgbClr>
            </a:solidFill>
            <a:prstDash val="solid"/>
          </a:ln>
        </p:spPr>
      </p:sp>
      <p:sp>
        <p:nvSpPr>
          <p:cNvPr id="129" name="static-block-3-0"/>
          <p:cNvSpPr/>
          <p:nvPr/>
        </p:nvSpPr>
        <p:spPr>
          <a:xfrm>
            <a:off x="3815953" y="3036094"/>
            <a:ext cx="113109" cy="232172"/>
          </a:xfrm>
          <a:prstGeom prst="rect">
            <a:avLst/>
          </a:prstGeom>
          <a:solidFill>
            <a:srgbClr val="6DB7ED"/>
          </a:solidFill>
          <a:ln w="12700">
            <a:solidFill>
              <a:srgbClr val="FFFFFF">
                <a:alpha val="0"/>
              </a:srgbClr>
            </a:solidFill>
            <a:prstDash val="solid"/>
          </a:ln>
        </p:spPr>
      </p:sp>
      <p:sp>
        <p:nvSpPr>
          <p:cNvPr id="130" name="static-block-3-1"/>
          <p:cNvSpPr/>
          <p:nvPr/>
        </p:nvSpPr>
        <p:spPr>
          <a:xfrm>
            <a:off x="3946922" y="3036094"/>
            <a:ext cx="113109" cy="232172"/>
          </a:xfrm>
          <a:prstGeom prst="rect">
            <a:avLst/>
          </a:prstGeom>
          <a:solidFill>
            <a:srgbClr val="6DB7ED"/>
          </a:solidFill>
          <a:ln w="12700">
            <a:solidFill>
              <a:srgbClr val="FFFFFF">
                <a:alpha val="0"/>
              </a:srgbClr>
            </a:solidFill>
            <a:prstDash val="solid"/>
          </a:ln>
        </p:spPr>
      </p:sp>
      <p:sp>
        <p:nvSpPr>
          <p:cNvPr id="131" name="static-block-3-2"/>
          <p:cNvSpPr/>
          <p:nvPr/>
        </p:nvSpPr>
        <p:spPr>
          <a:xfrm>
            <a:off x="4077891" y="3036094"/>
            <a:ext cx="113109" cy="232172"/>
          </a:xfrm>
          <a:prstGeom prst="rect">
            <a:avLst/>
          </a:prstGeom>
          <a:solidFill>
            <a:srgbClr val="6DB7ED"/>
          </a:solidFill>
          <a:ln w="12700">
            <a:solidFill>
              <a:srgbClr val="FFFFFF">
                <a:alpha val="0"/>
              </a:srgbClr>
            </a:solidFill>
            <a:prstDash val="solid"/>
          </a:ln>
        </p:spPr>
      </p:sp>
      <p:sp>
        <p:nvSpPr>
          <p:cNvPr id="132" name="static-block-3-3"/>
          <p:cNvSpPr/>
          <p:nvPr/>
        </p:nvSpPr>
        <p:spPr>
          <a:xfrm>
            <a:off x="4208859" y="3036094"/>
            <a:ext cx="113109" cy="232172"/>
          </a:xfrm>
          <a:prstGeom prst="rect">
            <a:avLst/>
          </a:prstGeom>
          <a:solidFill>
            <a:srgbClr val="AFD9F4"/>
          </a:solidFill>
          <a:ln w="12700">
            <a:solidFill>
              <a:srgbClr val="FFFFFF">
                <a:alpha val="0"/>
              </a:srgbClr>
            </a:solidFill>
            <a:prstDash val="solid"/>
          </a:ln>
        </p:spPr>
      </p:sp>
      <p:sp>
        <p:nvSpPr>
          <p:cNvPr id="133" name="static-block-3-4"/>
          <p:cNvSpPr/>
          <p:nvPr/>
        </p:nvSpPr>
        <p:spPr>
          <a:xfrm>
            <a:off x="4339828" y="3036094"/>
            <a:ext cx="113109" cy="232172"/>
          </a:xfrm>
          <a:prstGeom prst="rect">
            <a:avLst/>
          </a:prstGeom>
          <a:solidFill>
            <a:srgbClr val="AFD9F4"/>
          </a:solidFill>
          <a:ln w="12700">
            <a:solidFill>
              <a:srgbClr val="FFFFFF">
                <a:alpha val="0"/>
              </a:srgbClr>
            </a:solidFill>
            <a:prstDash val="solid"/>
          </a:ln>
        </p:spPr>
      </p:sp>
      <p:sp>
        <p:nvSpPr>
          <p:cNvPr id="134" name="static-block-3-5"/>
          <p:cNvSpPr/>
          <p:nvPr/>
        </p:nvSpPr>
        <p:spPr>
          <a:xfrm>
            <a:off x="4470797" y="3036094"/>
            <a:ext cx="113109" cy="232172"/>
          </a:xfrm>
          <a:prstGeom prst="rect">
            <a:avLst/>
          </a:prstGeom>
          <a:solidFill>
            <a:srgbClr val="AFD9F4"/>
          </a:solidFill>
          <a:ln w="12700">
            <a:solidFill>
              <a:srgbClr val="FFFFFF">
                <a:alpha val="0"/>
              </a:srgbClr>
            </a:solidFill>
            <a:prstDash val="solid"/>
          </a:ln>
        </p:spPr>
      </p:sp>
      <p:sp>
        <p:nvSpPr>
          <p:cNvPr id="135" name="blue-bar-1"/>
          <p:cNvSpPr/>
          <p:nvPr/>
        </p:nvSpPr>
        <p:spPr>
          <a:xfrm>
            <a:off x="291703" y="1178719"/>
            <a:ext cx="5720953" cy="416719"/>
          </a:xfrm>
          <a:prstGeom prst="roundRect">
            <a:avLst>
              <a:gd name="adj" fmla="val 11429"/>
            </a:avLst>
          </a:prstGeom>
          <a:solidFill>
            <a:srgbClr val="1769B1"/>
          </a:solidFill>
          <a:ln w="12700">
            <a:solidFill>
              <a:srgbClr val="FFFFFF">
                <a:alpha val="0"/>
              </a:srgbClr>
            </a:solidFill>
            <a:prstDash val="solid"/>
          </a:ln>
        </p:spPr>
      </p:sp>
      <p:sp>
        <p:nvSpPr>
          <p:cNvPr id="136" name="blue-bar-2"/>
          <p:cNvSpPr/>
          <p:nvPr/>
        </p:nvSpPr>
        <p:spPr>
          <a:xfrm>
            <a:off x="6203156" y="1178719"/>
            <a:ext cx="5715000" cy="422672"/>
          </a:xfrm>
          <a:prstGeom prst="roundRect">
            <a:avLst>
              <a:gd name="adj" fmla="val 11268"/>
            </a:avLst>
          </a:prstGeom>
          <a:solidFill>
            <a:srgbClr val="1769B1"/>
          </a:solidFill>
          <a:ln w="12700">
            <a:solidFill>
              <a:srgbClr val="FFFFFF">
                <a:alpha val="0"/>
              </a:srgbClr>
            </a:solidFill>
            <a:prstDash val="solid"/>
          </a:ln>
        </p:spPr>
      </p:sp>
      <p:sp>
        <p:nvSpPr>
          <p:cNvPr id="137" name="SC_FREEFORM_ROUTE__prompt-to-split__0"/>
          <p:cNvSpPr/>
          <p:nvPr/>
        </p:nvSpPr>
        <p:spPr>
          <a:xfrm>
            <a:off x="1565672" y="2693789"/>
            <a:ext cx="238125" cy="14883"/>
          </a:xfrm>
          <a:custGeom>
            <a:avLst/>
            <a:gdLst/>
            <a:ahLst/>
            <a:cxnLst/>
            <a:rect l="l" t="t" r="r" b="b"/>
            <a:pathLst>
              <a:path w="238125" h="14883">
                <a:moveTo>
                  <a:pt x="0" y="14883"/>
                </a:moveTo>
                <a:lnTo>
                  <a:pt x="119062" y="14883"/>
                </a:lnTo>
                <a:lnTo>
                  <a:pt x="119062" y="0"/>
                </a:lnTo>
                <a:lnTo>
                  <a:pt x="238125" y="0"/>
                </a:lnTo>
              </a:path>
            </a:pathLst>
          </a:custGeom>
          <a:solidFill>
            <a:srgbClr val="FFFFFF">
              <a:alpha val="0"/>
            </a:srgbClr>
          </a:solidFill>
          <a:ln w="17859">
            <a:solidFill>
              <a:srgbClr val="2473B6"/>
            </a:solidFill>
            <a:prstDash val="solid"/>
            <a:round/>
            <a:headEnd type="none"/>
            <a:tailEnd type="triangle" w="med" len="med"/>
          </a:ln>
        </p:spPr>
      </p:sp>
      <p:sp>
        <p:nvSpPr>
          <p:cNvPr id="138" name="SC_FREEFORM_ROUTE__split-to-cache__0"/>
          <p:cNvSpPr/>
          <p:nvPr/>
        </p:nvSpPr>
        <p:spPr>
          <a:xfrm>
            <a:off x="2613422" y="2291953"/>
            <a:ext cx="369094" cy="401836"/>
          </a:xfrm>
          <a:custGeom>
            <a:avLst/>
            <a:gdLst/>
            <a:ahLst/>
            <a:cxnLst/>
            <a:rect l="l" t="t" r="r" b="b"/>
            <a:pathLst>
              <a:path w="369094" h="401836">
                <a:moveTo>
                  <a:pt x="0" y="401836"/>
                </a:moveTo>
                <a:lnTo>
                  <a:pt x="184547" y="401836"/>
                </a:lnTo>
                <a:lnTo>
                  <a:pt x="184547" y="0"/>
                </a:lnTo>
                <a:lnTo>
                  <a:pt x="369094" y="0"/>
                </a:lnTo>
              </a:path>
            </a:pathLst>
          </a:custGeom>
          <a:solidFill>
            <a:srgbClr val="FFFFFF">
              <a:alpha val="0"/>
            </a:srgbClr>
          </a:solidFill>
          <a:ln w="17859">
            <a:solidFill>
              <a:srgbClr val="2473B6"/>
            </a:solidFill>
            <a:prstDash val="solid"/>
            <a:round/>
            <a:headEnd type="none"/>
            <a:tailEnd type="triangle" w="med" len="med"/>
          </a:ln>
        </p:spPr>
      </p:sp>
      <p:sp>
        <p:nvSpPr>
          <p:cNvPr id="139" name="SC_FREEFORM_ROUTE__topk-to-cpu__0"/>
          <p:cNvSpPr/>
          <p:nvPr/>
        </p:nvSpPr>
        <p:spPr>
          <a:xfrm>
            <a:off x="7179469" y="4461867"/>
            <a:ext cx="261938" cy="113109"/>
          </a:xfrm>
          <a:custGeom>
            <a:avLst/>
            <a:gdLst/>
            <a:ahLst/>
            <a:cxnLst/>
            <a:rect l="l" t="t" r="r" b="b"/>
            <a:pathLst>
              <a:path w="261938" h="113109">
                <a:moveTo>
                  <a:pt x="0" y="113109"/>
                </a:moveTo>
                <a:lnTo>
                  <a:pt x="130969" y="113109"/>
                </a:lnTo>
                <a:lnTo>
                  <a:pt x="130969" y="0"/>
                </a:lnTo>
                <a:lnTo>
                  <a:pt x="261938" y="0"/>
                </a:lnTo>
              </a:path>
            </a:pathLst>
          </a:custGeom>
          <a:solidFill>
            <a:srgbClr val="FFFFFF">
              <a:alpha val="0"/>
            </a:srgbClr>
          </a:solidFill>
          <a:ln w="17859">
            <a:solidFill>
              <a:srgbClr val="2473B6"/>
            </a:solidFill>
            <a:prstDash val="solid"/>
            <a:round/>
            <a:headEnd type="none"/>
            <a:tailEnd type="triangle" w="med" len="med"/>
          </a:ln>
        </p:spPr>
      </p:sp>
      <p:sp>
        <p:nvSpPr>
          <p:cNvPr id="140" name="SC_FREEFORM_ROUTE__npu-to-importance__0"/>
          <p:cNvSpPr/>
          <p:nvPr/>
        </p:nvSpPr>
        <p:spPr>
          <a:xfrm>
            <a:off x="8959453" y="2669977"/>
            <a:ext cx="476250" cy="127992"/>
          </a:xfrm>
          <a:custGeom>
            <a:avLst/>
            <a:gdLst/>
            <a:ahLst/>
            <a:cxnLst/>
            <a:rect l="l" t="t" r="r" b="b"/>
            <a:pathLst>
              <a:path w="476250" h="127992">
                <a:moveTo>
                  <a:pt x="0" y="0"/>
                </a:moveTo>
                <a:lnTo>
                  <a:pt x="238125" y="0"/>
                </a:lnTo>
                <a:lnTo>
                  <a:pt x="238125" y="127992"/>
                </a:lnTo>
                <a:lnTo>
                  <a:pt x="476250" y="127992"/>
                </a:lnTo>
              </a:path>
            </a:pathLst>
          </a:custGeom>
          <a:solidFill>
            <a:srgbClr val="FFFFFF">
              <a:alpha val="0"/>
            </a:srgbClr>
          </a:solidFill>
          <a:ln w="17859">
            <a:solidFill>
              <a:srgbClr val="2473B6"/>
            </a:solidFill>
            <a:prstDash val="solid"/>
            <a:round/>
            <a:headEnd type="none"/>
            <a:tailEnd type="triangle" w="med" len="med"/>
          </a:ln>
        </p:spPr>
      </p:sp>
      <p:sp>
        <p:nvSpPr>
          <p:cNvPr id="141" name="SC_FREEFORM_ROUTE__importance-to-topk__0"/>
          <p:cNvSpPr/>
          <p:nvPr/>
        </p:nvSpPr>
        <p:spPr>
          <a:xfrm>
            <a:off x="10668000" y="2797969"/>
            <a:ext cx="357188" cy="101203"/>
          </a:xfrm>
          <a:custGeom>
            <a:avLst/>
            <a:gdLst/>
            <a:ahLst/>
            <a:cxnLst/>
            <a:rect l="l" t="t" r="r" b="b"/>
            <a:pathLst>
              <a:path w="357188" h="101203">
                <a:moveTo>
                  <a:pt x="0" y="0"/>
                </a:moveTo>
                <a:lnTo>
                  <a:pt x="178594" y="0"/>
                </a:lnTo>
                <a:lnTo>
                  <a:pt x="178594" y="101203"/>
                </a:lnTo>
                <a:lnTo>
                  <a:pt x="357188" y="101203"/>
                </a:lnTo>
              </a:path>
            </a:pathLst>
          </a:custGeom>
          <a:solidFill>
            <a:srgbClr val="FFFFFF">
              <a:alpha val="0"/>
            </a:srgbClr>
          </a:solidFill>
          <a:ln w="17859">
            <a:solidFill>
              <a:srgbClr val="2473B6"/>
            </a:solidFill>
            <a:prstDash val="solid"/>
            <a:round/>
            <a:headEnd type="none"/>
            <a:tailEnd type="triangle" w="med" len="med"/>
          </a:ln>
        </p:spPr>
      </p:sp>
      <p:pic>
        <p:nvPicPr>
          <p:cNvPr id="142" name="art-1" descr="decorative_illustration">    </p:cNvPr>
          <p:cNvPicPr>
            <a:picLocks noChangeAspect="1"/>
          </p:cNvPicPr>
          <p:nvPr/>
        </p:nvPicPr>
        <p:blipFill>
          <a:blip r:embed="rId1"/>
          <a:stretch>
            <a:fillRect/>
          </a:stretch>
        </p:blipFill>
        <p:spPr>
          <a:xfrm>
            <a:off x="7649766" y="2208609"/>
            <a:ext cx="1309688" cy="922734"/>
          </a:xfrm>
          <a:prstGeom prst="rect">
            <a:avLst/>
          </a:prstGeom>
        </p:spPr>
      </p:pic>
      <p:pic>
        <p:nvPicPr>
          <p:cNvPr id="143" name="art-2" descr="decorative_illustration">    </p:cNvPr>
          <p:cNvPicPr>
            <a:picLocks noChangeAspect="1"/>
          </p:cNvPicPr>
          <p:nvPr/>
        </p:nvPicPr>
        <p:blipFill>
          <a:blip r:embed="rId2"/>
          <a:stretch>
            <a:fillRect/>
          </a:stretch>
        </p:blipFill>
        <p:spPr>
          <a:xfrm>
            <a:off x="1821656" y="3982641"/>
            <a:ext cx="1381125" cy="1131094"/>
          </a:xfrm>
          <a:prstGeom prst="rect">
            <a:avLst/>
          </a:prstGeom>
        </p:spPr>
      </p:pic>
      <p:sp>
        <p:nvSpPr>
          <p:cNvPr id="144" name="ocr-001"/>
          <p:cNvSpPr txBox="1"/>
          <p:nvPr/>
        </p:nvSpPr>
        <p:spPr>
          <a:xfrm>
            <a:off x="464344" y="381000"/>
            <a:ext cx="11090672" cy="345281"/>
          </a:xfrm>
          <a:prstGeom prst="rect">
            <a:avLst/>
          </a:prstGeom>
          <a:noFill/>
          <a:ln/>
        </p:spPr>
        <p:txBody>
          <a:bodyPr wrap="square" lIns="0" tIns="0" rIns="0" bIns="0" rtlCol="0" anchor="ctr">
            <a:noAutofit/>
          </a:bodyPr>
          <a:lstStyle/>
          <a:p>
            <a:pPr algn="l" indent="0" marL="0">
              <a:lnSpc>
                <a:spcPct val="100000"/>
              </a:lnSpc>
              <a:buNone/>
              <a:defRPr spc="0"/>
            </a:pPr>
            <a:r>
              <a:rPr lang="en-US" sz="2400" b="1" dirty="0" spc="0">
                <a:solidFill>
                  <a:srgbClr val="102C55"/>
                </a:solidFill>
                <a:latin typeface="Microsoft YaHei" pitchFamily="34" charset="0"/>
                <a:ea typeface="Microsoft YaHei" pitchFamily="34" charset="-122"/>
                <a:cs typeface="Microsoft YaHei" pitchFamily="34" charset="-120"/>
              </a:rPr>
              <a:t>NPU软件优化正在缩小传统CPU/GPU回退工作的范围</a:t>
            </a:r>
            <a:endParaRPr lang="en-US" sz="2400" dirty="0" spc="0"/>
          </a:p>
        </p:txBody>
      </p:sp>
      <p:sp>
        <p:nvSpPr>
          <p:cNvPr id="145" name="ocr-002"/>
          <p:cNvSpPr txBox="1"/>
          <p:nvPr/>
        </p:nvSpPr>
        <p:spPr>
          <a:xfrm>
            <a:off x="452438" y="767953"/>
            <a:ext cx="898921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dirty="0" spc="0">
                <a:solidFill>
                  <a:srgbClr val="58738A"/>
                </a:solidFill>
                <a:latin typeface="Microsoft YaHei" pitchFamily="34" charset="0"/>
                <a:ea typeface="Microsoft YaHei" pitchFamily="34" charset="-122"/>
                <a:cs typeface="Microsoft YaHei" pitchFamily="34" charset="-120"/>
              </a:rPr>
              <a:t>必须与优化后的异构NPU 软件栈竞争，不能把未经优化的NPU 路径当永久基线。</a:t>
            </a:r>
            <a:endParaRPr lang="en-US" sz="1350" dirty="0" spc="0"/>
          </a:p>
        </p:txBody>
      </p:sp>
      <p:sp>
        <p:nvSpPr>
          <p:cNvPr id="146" name="ocr-003"/>
          <p:cNvSpPr txBox="1"/>
          <p:nvPr/>
        </p:nvSpPr>
        <p:spPr>
          <a:xfrm>
            <a:off x="726281" y="1262063"/>
            <a:ext cx="3309938"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FFFFFF"/>
                </a:solidFill>
                <a:latin typeface="Microsoft YaHei" pitchFamily="34" charset="0"/>
                <a:ea typeface="Microsoft YaHei" pitchFamily="34" charset="-122"/>
                <a:cs typeface="Microsoft YaHei" pitchFamily="34" charset="-120"/>
              </a:rPr>
              <a:t>Ulm.npu I 优化 NPU Prefill 执行</a:t>
            </a:r>
            <a:endParaRPr lang="en-US" sz="1450" dirty="0" spc="0"/>
          </a:p>
        </p:txBody>
      </p:sp>
      <p:sp>
        <p:nvSpPr>
          <p:cNvPr id="147" name="ocr-004"/>
          <p:cNvSpPr txBox="1"/>
          <p:nvPr/>
        </p:nvSpPr>
        <p:spPr>
          <a:xfrm>
            <a:off x="4071938" y="1226344"/>
            <a:ext cx="188118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通过静态图复用与异构分工，</a:t>
            </a:r>
            <a:endParaRPr lang="en-US" sz="800" dirty="0" spc="0"/>
          </a:p>
        </p:txBody>
      </p:sp>
      <p:sp>
        <p:nvSpPr>
          <p:cNvPr id="148" name="ocr-005"/>
          <p:cNvSpPr txBox="1"/>
          <p:nvPr/>
        </p:nvSpPr>
        <p:spPr>
          <a:xfrm>
            <a:off x="6667500" y="1273969"/>
            <a:ext cx="3381375"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FFFFFF"/>
                </a:solidFill>
                <a:latin typeface="Microsoft YaHei" pitchFamily="34" charset="0"/>
                <a:ea typeface="Microsoft YaHei" pitchFamily="34" charset="-122"/>
                <a:cs typeface="Microsoft YaHei" pitchFamily="34" charset="-120"/>
              </a:rPr>
              <a:t>ShadowNPU|PrefillAttention异构分解</a:t>
            </a:r>
            <a:endParaRPr lang="en-US" sz="1200" dirty="0" spc="0"/>
          </a:p>
        </p:txBody>
      </p:sp>
      <p:sp>
        <p:nvSpPr>
          <p:cNvPr id="149" name="ocr-006"/>
          <p:cNvSpPr txBox="1"/>
          <p:nvPr/>
        </p:nvSpPr>
        <p:spPr>
          <a:xfrm>
            <a:off x="10084594" y="1220391"/>
            <a:ext cx="2024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面向Prefill阶段的注意力计算，</a:t>
            </a:r>
            <a:endParaRPr lang="en-US" sz="800" dirty="0" spc="0"/>
          </a:p>
        </p:txBody>
      </p:sp>
      <p:sp>
        <p:nvSpPr>
          <p:cNvPr id="150" name="ocr-007"/>
          <p:cNvSpPr txBox="1"/>
          <p:nvPr/>
        </p:nvSpPr>
        <p:spPr>
          <a:xfrm>
            <a:off x="4083844" y="1387078"/>
            <a:ext cx="243482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FFFFFF"/>
                </a:solidFill>
                <a:latin typeface="Microsoft YaHei" pitchFamily="34" charset="0"/>
                <a:ea typeface="Microsoft YaHei" pitchFamily="34" charset="-122"/>
                <a:cs typeface="Microsoft YaHei" pitchFamily="34" charset="-120"/>
              </a:rPr>
              <a:t>最大化NPU在Prefill阶段的有效计算</a:t>
            </a:r>
            <a:endParaRPr lang="en-US" sz="750" dirty="0" spc="0"/>
          </a:p>
        </p:txBody>
      </p:sp>
      <p:sp>
        <p:nvSpPr>
          <p:cNvPr id="151" name="ocr-008"/>
          <p:cNvSpPr txBox="1"/>
          <p:nvPr/>
        </p:nvSpPr>
        <p:spPr>
          <a:xfrm>
            <a:off x="10090547" y="1387078"/>
            <a:ext cx="177998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FFFFFF"/>
                </a:solidFill>
                <a:latin typeface="Microsoft YaHei" pitchFamily="34" charset="0"/>
                <a:ea typeface="Microsoft YaHei" pitchFamily="34" charset="-122"/>
                <a:cs typeface="Microsoft YaHei" pitchFamily="34" charset="-120"/>
              </a:rPr>
              <a:t>基于重要性分解的异构协同</a:t>
            </a:r>
            <a:endParaRPr lang="en-US" sz="750" dirty="0" spc="0"/>
          </a:p>
        </p:txBody>
      </p:sp>
      <p:sp>
        <p:nvSpPr>
          <p:cNvPr id="152" name="ocr-009"/>
          <p:cNvSpPr txBox="1"/>
          <p:nvPr/>
        </p:nvSpPr>
        <p:spPr>
          <a:xfrm>
            <a:off x="678656" y="1696641"/>
            <a:ext cx="3512344"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动态Prompt长度切分为可复用的静态图块</a:t>
            </a:r>
            <a:endParaRPr lang="en-US" sz="950" dirty="0" spc="0"/>
          </a:p>
        </p:txBody>
      </p:sp>
      <p:sp>
        <p:nvSpPr>
          <p:cNvPr id="153" name="ocr-010"/>
          <p:cNvSpPr txBox="1"/>
          <p:nvPr/>
        </p:nvSpPr>
        <p:spPr>
          <a:xfrm>
            <a:off x="6584156" y="1684734"/>
            <a:ext cx="287535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NPU进行低精度的重要Token估计</a:t>
            </a:r>
            <a:endParaRPr lang="en-US" sz="950" dirty="0" spc="0"/>
          </a:p>
        </p:txBody>
      </p:sp>
      <p:sp>
        <p:nvSpPr>
          <p:cNvPr id="154" name="ocr-011"/>
          <p:cNvSpPr txBox="1"/>
          <p:nvPr/>
        </p:nvSpPr>
        <p:spPr>
          <a:xfrm>
            <a:off x="672703" y="1899047"/>
            <a:ext cx="45362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将不同长度的输入划分为少量静态图块，提升图编译和调度复用率。</a:t>
            </a:r>
            <a:endParaRPr lang="en-US" sz="800" dirty="0" spc="0"/>
          </a:p>
        </p:txBody>
      </p:sp>
      <p:sp>
        <p:nvSpPr>
          <p:cNvPr id="155" name="ocr-012"/>
          <p:cNvSpPr txBox="1"/>
          <p:nvPr/>
        </p:nvSpPr>
        <p:spPr>
          <a:xfrm>
            <a:off x="6578203" y="1863328"/>
            <a:ext cx="559593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在PrefillAttention中，使用低精度计算快速为每个Query估计重要性分布，识别少量关键位置。</a:t>
            </a:r>
            <a:endParaRPr lang="en-US" sz="850" dirty="0" spc="0"/>
          </a:p>
        </p:txBody>
      </p:sp>
      <p:sp>
        <p:nvSpPr>
          <p:cNvPr id="156" name="ocr-013"/>
          <p:cNvSpPr txBox="1"/>
          <p:nvPr/>
        </p:nvSpPr>
        <p:spPr>
          <a:xfrm>
            <a:off x="3053953" y="2143125"/>
            <a:ext cx="714375"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静态图块A</a:t>
            </a:r>
            <a:endParaRPr lang="en-US" sz="750" dirty="0" spc="0"/>
          </a:p>
        </p:txBody>
      </p:sp>
      <p:sp>
        <p:nvSpPr>
          <p:cNvPr id="157" name="ocr-015"/>
          <p:cNvSpPr txBox="1"/>
          <p:nvPr/>
        </p:nvSpPr>
        <p:spPr>
          <a:xfrm>
            <a:off x="9566672" y="2143125"/>
            <a:ext cx="116085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重要性分布（示意）</a:t>
            </a:r>
            <a:endParaRPr lang="en-US" sz="750" dirty="0" spc="0"/>
          </a:p>
        </p:txBody>
      </p:sp>
      <p:sp>
        <p:nvSpPr>
          <p:cNvPr id="158" name="ocr-016"/>
          <p:cNvSpPr txBox="1"/>
          <p:nvPr/>
        </p:nvSpPr>
        <p:spPr>
          <a:xfrm>
            <a:off x="10918031" y="2137172"/>
            <a:ext cx="1000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Top-k关键位置</a:t>
            </a:r>
            <a:endParaRPr lang="en-US" sz="800" dirty="0" spc="0"/>
          </a:p>
        </p:txBody>
      </p:sp>
      <p:sp>
        <p:nvSpPr>
          <p:cNvPr id="159" name="ocr-017"/>
          <p:cNvSpPr txBox="1"/>
          <p:nvPr/>
        </p:nvSpPr>
        <p:spPr>
          <a:xfrm>
            <a:off x="3196828" y="2280047"/>
            <a:ext cx="375047"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（短）</a:t>
            </a:r>
            <a:endParaRPr lang="en-US" sz="800" dirty="0" spc="0"/>
          </a:p>
        </p:txBody>
      </p:sp>
      <p:sp>
        <p:nvSpPr>
          <p:cNvPr id="160" name="ocr-018"/>
          <p:cNvSpPr txBox="1"/>
          <p:nvPr/>
        </p:nvSpPr>
        <p:spPr>
          <a:xfrm>
            <a:off x="863203" y="2351484"/>
            <a:ext cx="64293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动态长度</a:t>
            </a:r>
            <a:endParaRPr lang="en-US" sz="850" dirty="0" spc="0"/>
          </a:p>
        </p:txBody>
      </p:sp>
      <p:sp>
        <p:nvSpPr>
          <p:cNvPr id="161" name="ocr-019"/>
          <p:cNvSpPr txBox="1"/>
          <p:nvPr/>
        </p:nvSpPr>
        <p:spPr>
          <a:xfrm>
            <a:off x="5238750" y="2363391"/>
            <a:ext cx="613172"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可复用的</a:t>
            </a:r>
            <a:endParaRPr lang="en-US" sz="750" dirty="0" spc="0"/>
          </a:p>
        </p:txBody>
      </p:sp>
      <p:sp>
        <p:nvSpPr>
          <p:cNvPr id="162" name="ocr-020"/>
          <p:cNvSpPr txBox="1"/>
          <p:nvPr/>
        </p:nvSpPr>
        <p:spPr>
          <a:xfrm>
            <a:off x="6488906" y="2315766"/>
            <a:ext cx="77390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输入 Token</a:t>
            </a:r>
            <a:endParaRPr lang="en-US" sz="950" dirty="0" spc="0"/>
          </a:p>
        </p:txBody>
      </p:sp>
      <p:sp>
        <p:nvSpPr>
          <p:cNvPr id="163" name="ocr-022"/>
          <p:cNvSpPr txBox="1"/>
          <p:nvPr/>
        </p:nvSpPr>
        <p:spPr>
          <a:xfrm>
            <a:off x="863203" y="2500313"/>
            <a:ext cx="8453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Prompt输入</a:t>
            </a:r>
            <a:endParaRPr lang="en-US" sz="800" dirty="0" spc="0"/>
          </a:p>
        </p:txBody>
      </p:sp>
      <p:sp>
        <p:nvSpPr>
          <p:cNvPr id="164" name="ocr-023"/>
          <p:cNvSpPr txBox="1"/>
          <p:nvPr/>
        </p:nvSpPr>
        <p:spPr>
          <a:xfrm>
            <a:off x="1857375" y="2530078"/>
            <a:ext cx="904875"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按长度与结构</a:t>
            </a:r>
            <a:endParaRPr lang="en-US" sz="850" dirty="0" spc="0"/>
          </a:p>
        </p:txBody>
      </p:sp>
      <p:sp>
        <p:nvSpPr>
          <p:cNvPr id="165" name="ocr-024"/>
          <p:cNvSpPr txBox="1"/>
          <p:nvPr/>
        </p:nvSpPr>
        <p:spPr>
          <a:xfrm>
            <a:off x="5250656" y="2500313"/>
            <a:ext cx="511969"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静态图</a:t>
            </a:r>
            <a:endParaRPr lang="en-US" sz="900" dirty="0" spc="0"/>
          </a:p>
        </p:txBody>
      </p:sp>
      <p:sp>
        <p:nvSpPr>
          <p:cNvPr id="166" name="ocr-025"/>
          <p:cNvSpPr txBox="1"/>
          <p:nvPr/>
        </p:nvSpPr>
        <p:spPr>
          <a:xfrm>
            <a:off x="6572250" y="2476500"/>
            <a:ext cx="55959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(Prefill)</a:t>
            </a:r>
            <a:endParaRPr lang="en-US" sz="750" dirty="0" spc="0"/>
          </a:p>
        </p:txBody>
      </p:sp>
      <p:sp>
        <p:nvSpPr>
          <p:cNvPr id="167" name="ocr-026"/>
          <p:cNvSpPr txBox="1"/>
          <p:nvPr/>
        </p:nvSpPr>
        <p:spPr>
          <a:xfrm>
            <a:off x="3053953" y="2541984"/>
            <a:ext cx="714375"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静态图块B</a:t>
            </a:r>
            <a:endParaRPr lang="en-US" sz="750" dirty="0" spc="0"/>
          </a:p>
        </p:txBody>
      </p:sp>
      <p:sp>
        <p:nvSpPr>
          <p:cNvPr id="168" name="ocr-028"/>
          <p:cNvSpPr txBox="1"/>
          <p:nvPr/>
        </p:nvSpPr>
        <p:spPr>
          <a:xfrm>
            <a:off x="2065734" y="2667000"/>
            <a:ext cx="38695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切分</a:t>
            </a:r>
            <a:endParaRPr lang="en-US" sz="950" dirty="0" spc="0"/>
          </a:p>
        </p:txBody>
      </p:sp>
      <p:sp>
        <p:nvSpPr>
          <p:cNvPr id="169" name="ocr-029"/>
          <p:cNvSpPr txBox="1"/>
          <p:nvPr/>
        </p:nvSpPr>
        <p:spPr>
          <a:xfrm>
            <a:off x="3190875" y="2661047"/>
            <a:ext cx="39290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(中)</a:t>
            </a:r>
            <a:endParaRPr lang="en-US" sz="950" dirty="0" spc="0"/>
          </a:p>
        </p:txBody>
      </p:sp>
      <p:sp>
        <p:nvSpPr>
          <p:cNvPr id="170" name="ocr-030"/>
          <p:cNvSpPr txBox="1"/>
          <p:nvPr/>
        </p:nvSpPr>
        <p:spPr>
          <a:xfrm>
            <a:off x="5197078" y="2667000"/>
            <a:ext cx="73223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(离线编译)</a:t>
            </a:r>
            <a:endParaRPr lang="en-US" sz="850" dirty="0" spc="0"/>
          </a:p>
        </p:txBody>
      </p:sp>
      <p:sp>
        <p:nvSpPr>
          <p:cNvPr id="171" name="ocr-031"/>
          <p:cNvSpPr txBox="1"/>
          <p:nvPr/>
        </p:nvSpPr>
        <p:spPr>
          <a:xfrm>
            <a:off x="3053953" y="2952750"/>
            <a:ext cx="702469"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静态图块C</a:t>
            </a:r>
            <a:endParaRPr lang="en-US" sz="750" dirty="0" spc="0"/>
          </a:p>
        </p:txBody>
      </p:sp>
      <p:sp>
        <p:nvSpPr>
          <p:cNvPr id="172" name="ocr-032"/>
          <p:cNvSpPr txBox="1"/>
          <p:nvPr/>
        </p:nvSpPr>
        <p:spPr>
          <a:xfrm>
            <a:off x="3196828" y="3077766"/>
            <a:ext cx="37504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（长）</a:t>
            </a:r>
            <a:endParaRPr lang="en-US" sz="800" dirty="0" spc="0"/>
          </a:p>
        </p:txBody>
      </p:sp>
      <p:sp>
        <p:nvSpPr>
          <p:cNvPr id="173" name="ocr-033"/>
          <p:cNvSpPr txBox="1"/>
          <p:nvPr/>
        </p:nvSpPr>
        <p:spPr>
          <a:xfrm>
            <a:off x="7518797" y="3250406"/>
            <a:ext cx="205978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重要性估计/粗粒度注意力分布</a:t>
            </a:r>
            <a:endParaRPr lang="en-US" sz="750" dirty="0" spc="0"/>
          </a:p>
        </p:txBody>
      </p:sp>
      <p:sp>
        <p:nvSpPr>
          <p:cNvPr id="174" name="ocr-034"/>
          <p:cNvSpPr txBox="1"/>
          <p:nvPr/>
        </p:nvSpPr>
        <p:spPr>
          <a:xfrm>
            <a:off x="10054828" y="3286125"/>
            <a:ext cx="1071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重要位置(Top-k)</a:t>
            </a:r>
            <a:endParaRPr lang="en-US" sz="800" dirty="0" spc="0"/>
          </a:p>
        </p:txBody>
      </p:sp>
      <p:sp>
        <p:nvSpPr>
          <p:cNvPr id="175" name="ocr-035"/>
          <p:cNvSpPr txBox="1"/>
          <p:nvPr/>
        </p:nvSpPr>
        <p:spPr>
          <a:xfrm>
            <a:off x="11179969" y="3292078"/>
            <a:ext cx="666750"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低重要位置</a:t>
            </a:r>
            <a:endParaRPr lang="en-US" sz="750" dirty="0" spc="0"/>
          </a:p>
        </p:txBody>
      </p:sp>
      <p:sp>
        <p:nvSpPr>
          <p:cNvPr id="176" name="ocr-036"/>
          <p:cNvSpPr txBox="1"/>
          <p:nvPr/>
        </p:nvSpPr>
        <p:spPr>
          <a:xfrm>
            <a:off x="702469" y="3470672"/>
            <a:ext cx="328017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按后端亲和性放置模型子模块，异构执行</a:t>
            </a:r>
            <a:endParaRPr lang="en-US" sz="800" dirty="0" spc="0"/>
          </a:p>
        </p:txBody>
      </p:sp>
      <p:sp>
        <p:nvSpPr>
          <p:cNvPr id="177" name="ocr-037"/>
          <p:cNvSpPr txBox="1"/>
          <p:nvPr/>
        </p:nvSpPr>
        <p:spPr>
          <a:xfrm>
            <a:off x="678656" y="3637359"/>
            <a:ext cx="588168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INT8核心计算在NPU上执行，异常值或敏感子图交由CPU/GPU处理，并在末端合并结果。</a:t>
            </a:r>
            <a:endParaRPr lang="en-US" sz="1000" dirty="0" spc="0"/>
          </a:p>
        </p:txBody>
      </p:sp>
      <p:sp>
        <p:nvSpPr>
          <p:cNvPr id="178" name="ocr-038"/>
          <p:cNvSpPr txBox="1"/>
          <p:nvPr/>
        </p:nvSpPr>
        <p:spPr>
          <a:xfrm>
            <a:off x="6596063" y="3607594"/>
            <a:ext cx="2559844"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CPU/GPU计算高精度稀疏残差</a:t>
            </a:r>
            <a:endParaRPr lang="en-US" sz="950" dirty="0" spc="0"/>
          </a:p>
        </p:txBody>
      </p:sp>
      <p:sp>
        <p:nvSpPr>
          <p:cNvPr id="179" name="ocr-039"/>
          <p:cNvSpPr txBox="1"/>
          <p:nvPr/>
        </p:nvSpPr>
        <p:spPr>
          <a:xfrm>
            <a:off x="6584156" y="3804047"/>
            <a:ext cx="55899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仅对Top-k的重要位置进行高精度的稀疏注意力计算，其他位置保持低精度或跳过，从而降低整体计算开销。</a:t>
            </a:r>
            <a:endParaRPr lang="en-US" sz="800" dirty="0" spc="0"/>
          </a:p>
        </p:txBody>
      </p:sp>
      <p:sp>
        <p:nvSpPr>
          <p:cNvPr id="180" name="ocr-040"/>
          <p:cNvSpPr txBox="1"/>
          <p:nvPr/>
        </p:nvSpPr>
        <p:spPr>
          <a:xfrm>
            <a:off x="642938" y="3976687"/>
            <a:ext cx="779859"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模型层划分</a:t>
            </a:r>
            <a:endParaRPr lang="en-US" sz="750" dirty="0" spc="0"/>
          </a:p>
        </p:txBody>
      </p:sp>
      <p:sp>
        <p:nvSpPr>
          <p:cNvPr id="181" name="ocr-041"/>
          <p:cNvSpPr txBox="1"/>
          <p:nvPr/>
        </p:nvSpPr>
        <p:spPr>
          <a:xfrm>
            <a:off x="3774281" y="3970734"/>
            <a:ext cx="66079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CPU路径</a:t>
            </a:r>
            <a:endParaRPr lang="en-US" sz="750" dirty="0" spc="0"/>
          </a:p>
        </p:txBody>
      </p:sp>
      <p:sp>
        <p:nvSpPr>
          <p:cNvPr id="182" name="ocr-043"/>
          <p:cNvSpPr txBox="1"/>
          <p:nvPr/>
        </p:nvSpPr>
        <p:spPr>
          <a:xfrm>
            <a:off x="6429375" y="4077891"/>
            <a:ext cx="83343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来自NPU的</a:t>
            </a:r>
            <a:endParaRPr lang="en-US" sz="950" dirty="0" spc="0"/>
          </a:p>
        </p:txBody>
      </p:sp>
      <p:sp>
        <p:nvSpPr>
          <p:cNvPr id="183" name="ocr-044"/>
          <p:cNvSpPr txBox="1"/>
          <p:nvPr/>
        </p:nvSpPr>
        <p:spPr>
          <a:xfrm>
            <a:off x="7810500" y="4060031"/>
            <a:ext cx="410766"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CPU</a:t>
            </a:r>
            <a:endParaRPr lang="en-US" sz="900" dirty="0" spc="0"/>
          </a:p>
        </p:txBody>
      </p:sp>
      <p:sp>
        <p:nvSpPr>
          <p:cNvPr id="184" name="ocr-045"/>
          <p:cNvSpPr txBox="1"/>
          <p:nvPr/>
        </p:nvSpPr>
        <p:spPr>
          <a:xfrm>
            <a:off x="9530953" y="4054078"/>
            <a:ext cx="428625"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GPU</a:t>
            </a:r>
            <a:endParaRPr lang="en-US" sz="950" dirty="0" spc="0"/>
          </a:p>
        </p:txBody>
      </p:sp>
      <p:sp>
        <p:nvSpPr>
          <p:cNvPr id="185" name="ocr-046"/>
          <p:cNvSpPr txBox="1"/>
          <p:nvPr/>
        </p:nvSpPr>
        <p:spPr>
          <a:xfrm>
            <a:off x="3768328" y="4137422"/>
            <a:ext cx="839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·异常值处理</a:t>
            </a:r>
            <a:endParaRPr lang="en-US" sz="800" dirty="0" spc="0"/>
          </a:p>
        </p:txBody>
      </p:sp>
      <p:sp>
        <p:nvSpPr>
          <p:cNvPr id="186" name="ocr-047"/>
          <p:cNvSpPr txBox="1"/>
          <p:nvPr/>
        </p:nvSpPr>
        <p:spPr>
          <a:xfrm>
            <a:off x="10989469" y="4131469"/>
            <a:ext cx="952500"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输出注意力结果</a:t>
            </a:r>
            <a:endParaRPr lang="en-US" sz="750" dirty="0" spc="0"/>
          </a:p>
        </p:txBody>
      </p:sp>
      <p:sp>
        <p:nvSpPr>
          <p:cNvPr id="187" name="ocr-048"/>
          <p:cNvSpPr txBox="1"/>
          <p:nvPr/>
        </p:nvSpPr>
        <p:spPr>
          <a:xfrm>
            <a:off x="631031" y="4226719"/>
            <a:ext cx="797719"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Embedding</a:t>
            </a:r>
            <a:endParaRPr lang="en-US" sz="900" dirty="0" spc="0"/>
          </a:p>
        </p:txBody>
      </p:sp>
      <p:sp>
        <p:nvSpPr>
          <p:cNvPr id="188" name="ocr-049"/>
          <p:cNvSpPr txBox="1"/>
          <p:nvPr/>
        </p:nvSpPr>
        <p:spPr>
          <a:xfrm>
            <a:off x="5232797" y="4208859"/>
            <a:ext cx="62507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结果合并</a:t>
            </a:r>
            <a:endParaRPr lang="en-US" sz="850" dirty="0" spc="0"/>
          </a:p>
        </p:txBody>
      </p:sp>
      <p:sp>
        <p:nvSpPr>
          <p:cNvPr id="189" name="ocr-050"/>
          <p:cNvSpPr txBox="1"/>
          <p:nvPr/>
        </p:nvSpPr>
        <p:spPr>
          <a:xfrm>
            <a:off x="6459141" y="4244578"/>
            <a:ext cx="73818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Top-k位置</a:t>
            </a:r>
            <a:endParaRPr lang="en-US" sz="850" dirty="0" spc="0"/>
          </a:p>
        </p:txBody>
      </p:sp>
      <p:sp>
        <p:nvSpPr>
          <p:cNvPr id="190" name="ocr-051"/>
          <p:cNvSpPr txBox="1"/>
          <p:nvPr/>
        </p:nvSpPr>
        <p:spPr>
          <a:xfrm>
            <a:off x="7804547" y="4226719"/>
            <a:ext cx="81557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高精度计算</a:t>
            </a:r>
            <a:endParaRPr lang="en-US" sz="850" dirty="0" spc="0"/>
          </a:p>
        </p:txBody>
      </p:sp>
      <p:sp>
        <p:nvSpPr>
          <p:cNvPr id="191" name="ocr-052"/>
          <p:cNvSpPr txBox="1"/>
          <p:nvPr/>
        </p:nvSpPr>
        <p:spPr>
          <a:xfrm>
            <a:off x="9530953" y="4226719"/>
            <a:ext cx="91678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并行稀疏计算</a:t>
            </a:r>
            <a:endParaRPr lang="en-US" sz="850" dirty="0" spc="0"/>
          </a:p>
        </p:txBody>
      </p:sp>
      <p:sp>
        <p:nvSpPr>
          <p:cNvPr id="192" name="ocr-054"/>
          <p:cNvSpPr txBox="1"/>
          <p:nvPr/>
        </p:nvSpPr>
        <p:spPr>
          <a:xfrm>
            <a:off x="3774281" y="4292203"/>
            <a:ext cx="124420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·敏感子图（高精度）</a:t>
            </a:r>
            <a:endParaRPr lang="en-US" sz="750" dirty="0" spc="0"/>
          </a:p>
        </p:txBody>
      </p:sp>
      <p:sp>
        <p:nvSpPr>
          <p:cNvPr id="193" name="ocr-055"/>
          <p:cNvSpPr txBox="1"/>
          <p:nvPr/>
        </p:nvSpPr>
        <p:spPr>
          <a:xfrm>
            <a:off x="11054953" y="4274344"/>
            <a:ext cx="779859"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（用于后续层）</a:t>
            </a:r>
            <a:endParaRPr lang="en-US" sz="750" dirty="0" spc="0"/>
          </a:p>
        </p:txBody>
      </p:sp>
      <p:sp>
        <p:nvSpPr>
          <p:cNvPr id="194" name="ocr-056"/>
          <p:cNvSpPr txBox="1"/>
          <p:nvPr/>
        </p:nvSpPr>
        <p:spPr>
          <a:xfrm>
            <a:off x="3768328" y="4429125"/>
            <a:ext cx="1095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·控制与轻量算子</a:t>
            </a:r>
            <a:endParaRPr lang="en-US" sz="800" dirty="0" spc="0"/>
          </a:p>
        </p:txBody>
      </p:sp>
      <p:sp>
        <p:nvSpPr>
          <p:cNvPr id="195" name="ocr-057"/>
          <p:cNvSpPr txBox="1"/>
          <p:nvPr/>
        </p:nvSpPr>
        <p:spPr>
          <a:xfrm>
            <a:off x="7798594" y="4441031"/>
            <a:ext cx="1375172"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重要位置的精确注意力</a:t>
            </a:r>
            <a:endParaRPr lang="en-US" sz="750" dirty="0" spc="0"/>
          </a:p>
        </p:txBody>
      </p:sp>
      <p:sp>
        <p:nvSpPr>
          <p:cNvPr id="196" name="ocr-058"/>
          <p:cNvSpPr txBox="1"/>
          <p:nvPr/>
        </p:nvSpPr>
        <p:spPr>
          <a:xfrm>
            <a:off x="9483328" y="4423172"/>
            <a:ext cx="1321594"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·Top-k的稀疏注意力</a:t>
            </a:r>
            <a:endParaRPr lang="en-US" sz="900" dirty="0" spc="0"/>
          </a:p>
        </p:txBody>
      </p:sp>
      <p:sp>
        <p:nvSpPr>
          <p:cNvPr id="197" name="ocr-059"/>
          <p:cNvSpPr txBox="1"/>
          <p:nvPr/>
        </p:nvSpPr>
        <p:spPr>
          <a:xfrm>
            <a:off x="696516" y="4530328"/>
            <a:ext cx="63698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Attention</a:t>
            </a:r>
            <a:endParaRPr lang="en-US" sz="750" dirty="0" spc="0"/>
          </a:p>
        </p:txBody>
      </p:sp>
      <p:sp>
        <p:nvSpPr>
          <p:cNvPr id="198" name="ocr-060"/>
          <p:cNvSpPr txBox="1"/>
          <p:nvPr/>
        </p:nvSpPr>
        <p:spPr>
          <a:xfrm>
            <a:off x="7750969" y="4589859"/>
            <a:ext cx="132159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·数值敏感的残差计算</a:t>
            </a:r>
            <a:endParaRPr lang="en-US" sz="750" dirty="0" spc="0"/>
          </a:p>
        </p:txBody>
      </p:sp>
      <p:sp>
        <p:nvSpPr>
          <p:cNvPr id="199" name="ocr-061"/>
          <p:cNvSpPr txBox="1"/>
          <p:nvPr/>
        </p:nvSpPr>
        <p:spPr>
          <a:xfrm>
            <a:off x="9489281" y="4589859"/>
            <a:ext cx="153590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·部分矩除乘鸽与融合算子</a:t>
            </a:r>
            <a:endParaRPr lang="en-US" sz="750" dirty="0" spc="0"/>
          </a:p>
        </p:txBody>
      </p:sp>
      <p:sp>
        <p:nvSpPr>
          <p:cNvPr id="200" name="ocr-062"/>
          <p:cNvSpPr txBox="1"/>
          <p:nvPr/>
        </p:nvSpPr>
        <p:spPr>
          <a:xfrm>
            <a:off x="3774281" y="4744641"/>
            <a:ext cx="73818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GPU路径</a:t>
            </a:r>
            <a:endParaRPr lang="en-US" sz="850" dirty="0" spc="0"/>
          </a:p>
        </p:txBody>
      </p:sp>
      <p:sp>
        <p:nvSpPr>
          <p:cNvPr id="201" name="ocr-063"/>
          <p:cNvSpPr txBox="1"/>
          <p:nvPr/>
        </p:nvSpPr>
        <p:spPr>
          <a:xfrm>
            <a:off x="5155406" y="4768453"/>
            <a:ext cx="8453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生成下一阶段</a:t>
            </a:r>
            <a:endParaRPr lang="en-US" sz="800" dirty="0" spc="0"/>
          </a:p>
        </p:txBody>
      </p:sp>
      <p:sp>
        <p:nvSpPr>
          <p:cNvPr id="202" name="ocr-064"/>
          <p:cNvSpPr txBox="1"/>
          <p:nvPr/>
        </p:nvSpPr>
        <p:spPr>
          <a:xfrm>
            <a:off x="7745016" y="4720828"/>
            <a:ext cx="1339453"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·复杂算子与控制辑</a:t>
            </a:r>
            <a:endParaRPr lang="en-US" sz="900" dirty="0" spc="0"/>
          </a:p>
        </p:txBody>
      </p:sp>
      <p:sp>
        <p:nvSpPr>
          <p:cNvPr id="203" name="ocr-065"/>
          <p:cNvSpPr txBox="1"/>
          <p:nvPr/>
        </p:nvSpPr>
        <p:spPr>
          <a:xfrm>
            <a:off x="9477375" y="4720828"/>
            <a:ext cx="982266"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·提升并行效率</a:t>
            </a:r>
            <a:endParaRPr lang="en-US" sz="900" dirty="0" spc="0"/>
          </a:p>
        </p:txBody>
      </p:sp>
      <p:sp>
        <p:nvSpPr>
          <p:cNvPr id="204" name="ocr-066"/>
          <p:cNvSpPr txBox="1"/>
          <p:nvPr/>
        </p:nvSpPr>
        <p:spPr>
          <a:xfrm>
            <a:off x="809625" y="4816078"/>
            <a:ext cx="369094"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FFN</a:t>
            </a:r>
            <a:endParaRPr lang="en-US" sz="800" dirty="0" spc="0"/>
          </a:p>
        </p:txBody>
      </p:sp>
      <p:sp>
        <p:nvSpPr>
          <p:cNvPr id="205" name="ocr-067"/>
          <p:cNvSpPr txBox="1"/>
          <p:nvPr/>
        </p:nvSpPr>
        <p:spPr>
          <a:xfrm>
            <a:off x="3768328" y="4917281"/>
            <a:ext cx="129182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·不适合NPU的算子</a:t>
            </a:r>
            <a:endParaRPr lang="en-US" sz="800" dirty="0" spc="0"/>
          </a:p>
        </p:txBody>
      </p:sp>
      <p:sp>
        <p:nvSpPr>
          <p:cNvPr id="206" name="ocr-068"/>
          <p:cNvSpPr txBox="1"/>
          <p:nvPr/>
        </p:nvSpPr>
        <p:spPr>
          <a:xfrm>
            <a:off x="5113734" y="4917281"/>
            <a:ext cx="964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所需的隐藏状态</a:t>
            </a:r>
            <a:endParaRPr lang="en-US" sz="800" dirty="0" spc="0"/>
          </a:p>
        </p:txBody>
      </p:sp>
      <p:sp>
        <p:nvSpPr>
          <p:cNvPr id="207" name="ocr-069"/>
          <p:cNvSpPr txBox="1"/>
          <p:nvPr/>
        </p:nvSpPr>
        <p:spPr>
          <a:xfrm>
            <a:off x="3762375" y="5066109"/>
            <a:ext cx="964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·动态形状子图</a:t>
            </a:r>
            <a:endParaRPr lang="en-US" sz="800" dirty="0" spc="0"/>
          </a:p>
        </p:txBody>
      </p:sp>
      <p:sp>
        <p:nvSpPr>
          <p:cNvPr id="208" name="ocr-070"/>
          <p:cNvSpPr txBox="1"/>
          <p:nvPr/>
        </p:nvSpPr>
        <p:spPr>
          <a:xfrm>
            <a:off x="6584156" y="5018484"/>
            <a:ext cx="756047"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适用范围</a:t>
            </a:r>
            <a:endParaRPr lang="en-US" sz="1000" dirty="0" spc="0"/>
          </a:p>
        </p:txBody>
      </p:sp>
      <p:sp>
        <p:nvSpPr>
          <p:cNvPr id="209" name="ocr-071"/>
          <p:cNvSpPr txBox="1"/>
          <p:nvPr/>
        </p:nvSpPr>
        <p:spPr>
          <a:xfrm>
            <a:off x="642938" y="5113734"/>
            <a:ext cx="785813"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Norm/其他</a:t>
            </a:r>
            <a:endParaRPr lang="en-US" sz="750" dirty="0" spc="0"/>
          </a:p>
        </p:txBody>
      </p:sp>
      <p:sp>
        <p:nvSpPr>
          <p:cNvPr id="210" name="ocr-072"/>
          <p:cNvSpPr txBox="1"/>
          <p:nvPr/>
        </p:nvSpPr>
        <p:spPr>
          <a:xfrm>
            <a:off x="2018109" y="5125641"/>
            <a:ext cx="1071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大部分规整计算</a:t>
            </a:r>
            <a:endParaRPr lang="en-US" sz="800" dirty="0" spc="0"/>
          </a:p>
        </p:txBody>
      </p:sp>
      <p:sp>
        <p:nvSpPr>
          <p:cNvPr id="211" name="ocr-073"/>
          <p:cNvSpPr txBox="1"/>
          <p:nvPr/>
        </p:nvSpPr>
        <p:spPr>
          <a:xfrm>
            <a:off x="9513094" y="5095875"/>
            <a:ext cx="2661047"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完整的DecodeAttention并未完全迁移到NPU</a:t>
            </a:r>
            <a:endParaRPr lang="en-US" sz="900" dirty="0" spc="0"/>
          </a:p>
        </p:txBody>
      </p:sp>
      <p:sp>
        <p:nvSpPr>
          <p:cNvPr id="212" name="ocr-074"/>
          <p:cNvSpPr txBox="1"/>
          <p:nvPr/>
        </p:nvSpPr>
        <p:spPr>
          <a:xfrm>
            <a:off x="3768328" y="5214938"/>
            <a:ext cx="964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·部分并行计算</a:t>
            </a:r>
            <a:endParaRPr lang="en-US" sz="800" dirty="0" spc="0"/>
          </a:p>
        </p:txBody>
      </p:sp>
      <p:sp>
        <p:nvSpPr>
          <p:cNvPr id="213" name="ocr-075"/>
          <p:cNvSpPr txBox="1"/>
          <p:nvPr/>
        </p:nvSpPr>
        <p:spPr>
          <a:xfrm>
            <a:off x="2041922" y="5274469"/>
            <a:ext cx="10179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在NPU上执行</a:t>
            </a:r>
            <a:endParaRPr lang="en-US" sz="800" dirty="0" spc="0"/>
          </a:p>
        </p:txBody>
      </p:sp>
      <p:sp>
        <p:nvSpPr>
          <p:cNvPr id="214" name="ocr-076"/>
          <p:cNvSpPr txBox="1"/>
          <p:nvPr/>
        </p:nvSpPr>
        <p:spPr>
          <a:xfrm>
            <a:off x="6941344" y="5250656"/>
            <a:ext cx="2541984"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主要针对PrefillAttention的加速与分解</a:t>
            </a:r>
            <a:endParaRPr lang="en-US" sz="800" dirty="0" spc="0"/>
          </a:p>
        </p:txBody>
      </p:sp>
      <p:sp>
        <p:nvSpPr>
          <p:cNvPr id="215" name="ocr-077"/>
          <p:cNvSpPr txBox="1"/>
          <p:nvPr/>
        </p:nvSpPr>
        <p:spPr>
          <a:xfrm>
            <a:off x="9513094" y="5262563"/>
            <a:ext cx="1797844"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仍需CPU/GPU的参与与优化</a:t>
            </a:r>
            <a:endParaRPr lang="en-US" sz="800" dirty="0" spc="0"/>
          </a:p>
        </p:txBody>
      </p:sp>
      <p:sp>
        <p:nvSpPr>
          <p:cNvPr id="216" name="ocr-078"/>
          <p:cNvSpPr txBox="1"/>
          <p:nvPr/>
        </p:nvSpPr>
        <p:spPr>
          <a:xfrm>
            <a:off x="988219" y="5732859"/>
            <a:ext cx="167878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两者共同的判断</a:t>
            </a:r>
            <a:endParaRPr lang="en-US" sz="1100" dirty="0" spc="0"/>
          </a:p>
        </p:txBody>
      </p:sp>
      <p:sp>
        <p:nvSpPr>
          <p:cNvPr id="217" name="ocr-079"/>
          <p:cNvSpPr txBox="1"/>
          <p:nvPr/>
        </p:nvSpPr>
        <p:spPr>
          <a:xfrm>
            <a:off x="9239250" y="5726906"/>
            <a:ext cx="875109"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173753"/>
                </a:solidFill>
                <a:latin typeface="Microsoft YaHei" pitchFamily="34" charset="0"/>
                <a:ea typeface="Microsoft YaHei" pitchFamily="34" charset="-122"/>
                <a:cs typeface="Microsoft YaHei" pitchFamily="34" charset="-120"/>
              </a:rPr>
              <a:t>研究关系</a:t>
            </a:r>
            <a:endParaRPr lang="en-US" sz="1150" dirty="0" spc="0"/>
          </a:p>
        </p:txBody>
      </p:sp>
      <p:sp>
        <p:nvSpPr>
          <p:cNvPr id="218" name="ocr-080"/>
          <p:cNvSpPr txBox="1"/>
          <p:nvPr/>
        </p:nvSpPr>
        <p:spPr>
          <a:xfrm>
            <a:off x="4274344" y="5851922"/>
            <a:ext cx="881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NPU持续扩大</a:t>
            </a:r>
            <a:endParaRPr lang="en-US" sz="800" dirty="0" spc="0"/>
          </a:p>
        </p:txBody>
      </p:sp>
      <p:sp>
        <p:nvSpPr>
          <p:cNvPr id="219" name="ocr-081"/>
          <p:cNvSpPr txBox="1"/>
          <p:nvPr/>
        </p:nvSpPr>
        <p:spPr>
          <a:xfrm>
            <a:off x="5750719" y="5851922"/>
            <a:ext cx="105370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CPU/GPU仍承担</a:t>
            </a:r>
            <a:endParaRPr lang="en-US" sz="800" dirty="0" spc="0"/>
          </a:p>
        </p:txBody>
      </p:sp>
      <p:sp>
        <p:nvSpPr>
          <p:cNvPr id="220" name="ocr-082"/>
          <p:cNvSpPr txBox="1"/>
          <p:nvPr/>
        </p:nvSpPr>
        <p:spPr>
          <a:xfrm>
            <a:off x="7578328" y="5851922"/>
            <a:ext cx="1000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最终是异构协同，</a:t>
            </a:r>
            <a:endParaRPr lang="en-US" sz="800" dirty="0" spc="0"/>
          </a:p>
        </p:txBody>
      </p:sp>
      <p:sp>
        <p:nvSpPr>
          <p:cNvPr id="221" name="ocr-083"/>
          <p:cNvSpPr txBox="1"/>
          <p:nvPr/>
        </p:nvSpPr>
        <p:spPr>
          <a:xfrm>
            <a:off x="976313" y="5947172"/>
            <a:ext cx="3256359"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NPU软件持续改进，CPU机会空间被更强基线压缩，</a:t>
            </a:r>
            <a:endParaRPr lang="en-US" sz="900" dirty="0" spc="0"/>
          </a:p>
        </p:txBody>
      </p:sp>
      <p:sp>
        <p:nvSpPr>
          <p:cNvPr id="222" name="ocr-084"/>
          <p:cNvSpPr txBox="1"/>
          <p:nvPr/>
        </p:nvSpPr>
        <p:spPr>
          <a:xfrm>
            <a:off x="9245203" y="5947172"/>
            <a:ext cx="292893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两项工作属于相近研究谱系，不能把它们视为</a:t>
            </a:r>
            <a:endParaRPr lang="en-US" sz="800" dirty="0" spc="0"/>
          </a:p>
        </p:txBody>
      </p:sp>
      <p:sp>
        <p:nvSpPr>
          <p:cNvPr id="223" name="ocr-085"/>
          <p:cNvSpPr txBox="1"/>
          <p:nvPr/>
        </p:nvSpPr>
        <p:spPr>
          <a:xfrm>
            <a:off x="4274344" y="6006703"/>
            <a:ext cx="1095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可接管的计算范围</a:t>
            </a:r>
            <a:endParaRPr lang="en-US" sz="800" dirty="0" spc="0"/>
          </a:p>
        </p:txBody>
      </p:sp>
      <p:sp>
        <p:nvSpPr>
          <p:cNvPr id="224" name="ocr-086"/>
          <p:cNvSpPr txBox="1"/>
          <p:nvPr/>
        </p:nvSpPr>
        <p:spPr>
          <a:xfrm>
            <a:off x="5738813" y="6000750"/>
            <a:ext cx="16132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控制、精确残差与异常处理</a:t>
            </a:r>
            <a:endParaRPr lang="en-US" sz="850" dirty="0" spc="0"/>
          </a:p>
        </p:txBody>
      </p:sp>
      <p:sp>
        <p:nvSpPr>
          <p:cNvPr id="225" name="ocr-087"/>
          <p:cNvSpPr txBox="1"/>
          <p:nvPr/>
        </p:nvSpPr>
        <p:spPr>
          <a:xfrm>
            <a:off x="7566422" y="6018609"/>
            <a:ext cx="857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而非完全替代</a:t>
            </a:r>
            <a:endParaRPr lang="en-US" sz="800" dirty="0" spc="0"/>
          </a:p>
        </p:txBody>
      </p:sp>
      <p:sp>
        <p:nvSpPr>
          <p:cNvPr id="226" name="ocr-088"/>
          <p:cNvSpPr txBox="1"/>
          <p:nvPr/>
        </p:nvSpPr>
        <p:spPr>
          <a:xfrm>
            <a:off x="994172" y="6125766"/>
            <a:ext cx="341114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但CPU控制、必要精确残差与fallback仍然重要。</a:t>
            </a:r>
            <a:endParaRPr lang="en-US" sz="750" dirty="0" spc="0"/>
          </a:p>
        </p:txBody>
      </p:sp>
      <p:sp>
        <p:nvSpPr>
          <p:cNvPr id="227" name="ocr-089"/>
          <p:cNvSpPr txBox="1"/>
          <p:nvPr/>
        </p:nvSpPr>
        <p:spPr>
          <a:xfrm>
            <a:off x="9245203" y="6113859"/>
            <a:ext cx="27503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两次完全独立证明，也不能相乘收益。</a:t>
            </a:r>
            <a:endParaRPr lang="en-US" sz="800" dirty="0" spc="0"/>
          </a:p>
        </p:txBody>
      </p:sp>
      <p:sp>
        <p:nvSpPr>
          <p:cNvPr id="228" name="ocr-090"/>
          <p:cNvSpPr txBox="1"/>
          <p:nvPr/>
        </p:nvSpPr>
        <p:spPr>
          <a:xfrm>
            <a:off x="3982641" y="6399609"/>
            <a:ext cx="278010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来源：PAPER-059lIlm.npu（ASPLOS2025)</a:t>
            </a:r>
            <a:endParaRPr lang="en-US" sz="750" dirty="0" spc="0"/>
          </a:p>
        </p:txBody>
      </p:sp>
      <p:sp>
        <p:nvSpPr>
          <p:cNvPr id="229" name="ocr-091"/>
          <p:cNvSpPr txBox="1"/>
          <p:nvPr/>
        </p:nvSpPr>
        <p:spPr>
          <a:xfrm>
            <a:off x="5959078" y="6399609"/>
            <a:ext cx="295870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|PAPER-057ShadowNPU（MobiSys2026)</a:t>
            </a:r>
            <a:endParaRPr lang="en-US" sz="750" dirty="0" spc="0"/>
          </a:p>
        </p:txBody>
      </p:sp>
      <p:sp>
        <p:nvSpPr>
          <p:cNvPr id="230"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accent"/>
          <p:cNvSpPr/>
          <p:nvPr/>
        </p:nvSpPr>
        <p:spPr>
          <a:xfrm>
            <a:off x="381000" y="500063"/>
            <a:ext cx="53578" cy="702469"/>
          </a:xfrm>
          <a:prstGeom prst="rect">
            <a:avLst/>
          </a:prstGeom>
          <a:solidFill>
            <a:srgbClr val="2473B6"/>
          </a:solidFill>
          <a:ln w="12700">
            <a:solidFill>
              <a:srgbClr val="FFFFFF">
                <a:alpha val="0"/>
              </a:srgbClr>
            </a:solidFill>
            <a:prstDash val="solid"/>
          </a:ln>
        </p:spPr>
      </p:sp>
      <p:sp>
        <p:nvSpPr>
          <p:cNvPr id="3" name="title-rule"/>
          <p:cNvSpPr/>
          <p:nvPr/>
        </p:nvSpPr>
        <p:spPr>
          <a:xfrm>
            <a:off x="398859" y="1315641"/>
            <a:ext cx="11400234" cy="11906"/>
          </a:xfrm>
          <a:prstGeom prst="rect">
            <a:avLst/>
          </a:prstGeom>
          <a:solidFill>
            <a:srgbClr val="C9DBEA"/>
          </a:solidFill>
          <a:ln w="12700">
            <a:solidFill>
              <a:srgbClr val="FFFFFF">
                <a:alpha val="0"/>
              </a:srgbClr>
            </a:solidFill>
            <a:prstDash val="solid"/>
          </a:ln>
        </p:spPr>
      </p:sp>
      <p:sp>
        <p:nvSpPr>
          <p:cNvPr id="4" name="mechanism-panel"/>
          <p:cNvSpPr/>
          <p:nvPr/>
        </p:nvSpPr>
        <p:spPr>
          <a:xfrm>
            <a:off x="392906" y="1482328"/>
            <a:ext cx="6310313" cy="3548063"/>
          </a:xfrm>
          <a:prstGeom prst="roundRect">
            <a:avLst>
              <a:gd name="adj" fmla="val 2349"/>
            </a:avLst>
          </a:prstGeom>
          <a:solidFill>
            <a:srgbClr val="FFFFFF"/>
          </a:solidFill>
          <a:ln w="9525">
            <a:solidFill>
              <a:srgbClr val="C9DBEA"/>
            </a:solidFill>
            <a:prstDash val="solid"/>
          </a:ln>
        </p:spPr>
      </p:sp>
      <p:sp>
        <p:nvSpPr>
          <p:cNvPr id="5" name="measurement-panel"/>
          <p:cNvSpPr/>
          <p:nvPr/>
        </p:nvSpPr>
        <p:spPr>
          <a:xfrm>
            <a:off x="6816328" y="1482328"/>
            <a:ext cx="4958953" cy="3548063"/>
          </a:xfrm>
          <a:prstGeom prst="roundRect">
            <a:avLst>
              <a:gd name="adj" fmla="val 2349"/>
            </a:avLst>
          </a:prstGeom>
          <a:solidFill>
            <a:srgbClr val="FFFFFF"/>
          </a:solidFill>
          <a:ln w="9525">
            <a:solidFill>
              <a:srgbClr val="C9DBEA"/>
            </a:solidFill>
            <a:prstDash val="solid"/>
          </a:ln>
        </p:spPr>
      </p:sp>
      <p:sp>
        <p:nvSpPr>
          <p:cNvPr id="6" name="implication-panel"/>
          <p:cNvSpPr/>
          <p:nvPr/>
        </p:nvSpPr>
        <p:spPr>
          <a:xfrm>
            <a:off x="392906" y="5143500"/>
            <a:ext cx="11382375" cy="857250"/>
          </a:xfrm>
          <a:prstGeom prst="roundRect">
            <a:avLst>
              <a:gd name="adj" fmla="val 9722"/>
            </a:avLst>
          </a:prstGeom>
          <a:solidFill>
            <a:srgbClr val="FFFFFF"/>
          </a:solidFill>
          <a:ln w="9525">
            <a:solidFill>
              <a:srgbClr val="C9DBEA"/>
            </a:solidFill>
            <a:prstDash val="solid"/>
          </a:ln>
        </p:spPr>
      </p:sp>
      <p:sp>
        <p:nvSpPr>
          <p:cNvPr id="7" name="path-field"/>
          <p:cNvSpPr/>
          <p:nvPr/>
        </p:nvSpPr>
        <p:spPr>
          <a:xfrm>
            <a:off x="547688" y="2143125"/>
            <a:ext cx="3446859" cy="970359"/>
          </a:xfrm>
          <a:prstGeom prst="roundRect">
            <a:avLst>
              <a:gd name="adj" fmla="val 7362"/>
            </a:avLst>
          </a:prstGeom>
          <a:solidFill>
            <a:srgbClr val="E7F2FD"/>
          </a:solidFill>
          <a:ln w="8930">
            <a:solidFill>
              <a:srgbClr val="BED5E8"/>
            </a:solidFill>
            <a:prstDash val="solid"/>
          </a:ln>
        </p:spPr>
      </p:sp>
      <p:sp>
        <p:nvSpPr>
          <p:cNvPr id="8" name="chip-art-field"/>
          <p:cNvSpPr/>
          <p:nvPr/>
        </p:nvSpPr>
        <p:spPr>
          <a:xfrm>
            <a:off x="4191000" y="1934766"/>
            <a:ext cx="2434828" cy="1440656"/>
          </a:xfrm>
          <a:prstGeom prst="roundRect">
            <a:avLst>
              <a:gd name="adj" fmla="val 5372"/>
            </a:avLst>
          </a:prstGeom>
          <a:solidFill>
            <a:srgbClr val="F6FBFF"/>
          </a:solidFill>
          <a:ln w="8930">
            <a:solidFill>
              <a:srgbClr val="B6D3E8"/>
            </a:solidFill>
            <a:prstDash val="solid"/>
          </a:ln>
        </p:spPr>
      </p:sp>
      <p:sp>
        <p:nvSpPr>
          <p:cNvPr id="9" name="path-1"/>
          <p:cNvSpPr/>
          <p:nvPr/>
        </p:nvSpPr>
        <p:spPr>
          <a:xfrm>
            <a:off x="636984" y="2357438"/>
            <a:ext cx="976313" cy="494109"/>
          </a:xfrm>
          <a:prstGeom prst="roundRect">
            <a:avLst>
              <a:gd name="adj" fmla="val 10843"/>
            </a:avLst>
          </a:prstGeom>
          <a:solidFill>
            <a:srgbClr val="E4F1FB"/>
          </a:solidFill>
          <a:ln w="8930">
            <a:solidFill>
              <a:srgbClr val="B5D4EC"/>
            </a:solidFill>
            <a:prstDash val="solid"/>
          </a:ln>
        </p:spPr>
      </p:sp>
      <p:sp>
        <p:nvSpPr>
          <p:cNvPr id="10" name="path-2"/>
          <p:cNvSpPr/>
          <p:nvPr/>
        </p:nvSpPr>
        <p:spPr>
          <a:xfrm>
            <a:off x="1785938" y="2357438"/>
            <a:ext cx="976313" cy="494109"/>
          </a:xfrm>
          <a:prstGeom prst="roundRect">
            <a:avLst>
              <a:gd name="adj" fmla="val 10843"/>
            </a:avLst>
          </a:prstGeom>
          <a:solidFill>
            <a:srgbClr val="E4F1FB"/>
          </a:solidFill>
          <a:ln w="8930">
            <a:solidFill>
              <a:srgbClr val="B5D4EC"/>
            </a:solidFill>
            <a:prstDash val="solid"/>
          </a:ln>
        </p:spPr>
      </p:sp>
      <p:sp>
        <p:nvSpPr>
          <p:cNvPr id="11" name="path-3"/>
          <p:cNvSpPr/>
          <p:nvPr/>
        </p:nvSpPr>
        <p:spPr>
          <a:xfrm>
            <a:off x="2934891" y="2357438"/>
            <a:ext cx="976313" cy="494109"/>
          </a:xfrm>
          <a:prstGeom prst="roundRect">
            <a:avLst>
              <a:gd name="adj" fmla="val 10843"/>
            </a:avLst>
          </a:prstGeom>
          <a:solidFill>
            <a:srgbClr val="E4F1FB"/>
          </a:solidFill>
          <a:ln w="8930">
            <a:solidFill>
              <a:srgbClr val="B5D4EC"/>
            </a:solidFill>
            <a:prstDash val="solid"/>
          </a:ln>
        </p:spPr>
      </p:sp>
      <p:sp>
        <p:nvSpPr>
          <p:cNvPr id="12" name="cpu-boundary"/>
          <p:cNvSpPr/>
          <p:nvPr/>
        </p:nvSpPr>
        <p:spPr>
          <a:xfrm>
            <a:off x="553641" y="3399234"/>
            <a:ext cx="5970984" cy="1488281"/>
          </a:xfrm>
          <a:prstGeom prst="roundRect">
            <a:avLst>
              <a:gd name="adj" fmla="val 5200"/>
            </a:avLst>
          </a:prstGeom>
          <a:solidFill>
            <a:srgbClr val="FFFFFF"/>
          </a:solidFill>
          <a:ln w="11906">
            <a:solidFill>
              <a:srgbClr val="9BC0DF"/>
            </a:solidFill>
            <a:prstDash val="solid"/>
          </a:ln>
        </p:spPr>
      </p:sp>
      <p:sp>
        <p:nvSpPr>
          <p:cNvPr id="13" name="cpu-heading-bg"/>
          <p:cNvSpPr/>
          <p:nvPr/>
        </p:nvSpPr>
        <p:spPr>
          <a:xfrm>
            <a:off x="654844" y="3494484"/>
            <a:ext cx="5774531" cy="279797"/>
          </a:xfrm>
          <a:prstGeom prst="roundRect">
            <a:avLst>
              <a:gd name="adj" fmla="val 19149"/>
            </a:avLst>
          </a:prstGeom>
          <a:solidFill>
            <a:srgbClr val="E7F2FD"/>
          </a:solidFill>
          <a:ln w="12700">
            <a:solidFill>
              <a:srgbClr val="FFFFFF">
                <a:alpha val="0"/>
              </a:srgbClr>
            </a:solidFill>
            <a:prstDash val="solid"/>
          </a:ln>
        </p:spPr>
      </p:sp>
      <p:sp>
        <p:nvSpPr>
          <p:cNvPr id="14" name="cpu-cap-1"/>
          <p:cNvSpPr/>
          <p:nvPr/>
        </p:nvSpPr>
        <p:spPr>
          <a:xfrm>
            <a:off x="654844" y="3881438"/>
            <a:ext cx="1845469" cy="696516"/>
          </a:xfrm>
          <a:prstGeom prst="roundRect">
            <a:avLst>
              <a:gd name="adj" fmla="val 10256"/>
            </a:avLst>
          </a:prstGeom>
          <a:solidFill>
            <a:srgbClr val="E4F1FB"/>
          </a:solidFill>
          <a:ln w="8930">
            <a:solidFill>
              <a:srgbClr val="A8C8E2"/>
            </a:solidFill>
            <a:prstDash val="solid"/>
          </a:ln>
        </p:spPr>
      </p:sp>
      <p:sp>
        <p:nvSpPr>
          <p:cNvPr id="15" name="cpu-cap-2"/>
          <p:cNvSpPr/>
          <p:nvPr/>
        </p:nvSpPr>
        <p:spPr>
          <a:xfrm>
            <a:off x="2571750" y="3881438"/>
            <a:ext cx="1845469" cy="696516"/>
          </a:xfrm>
          <a:prstGeom prst="roundRect">
            <a:avLst>
              <a:gd name="adj" fmla="val 10256"/>
            </a:avLst>
          </a:prstGeom>
          <a:solidFill>
            <a:srgbClr val="E4F1FB"/>
          </a:solidFill>
          <a:ln w="8930">
            <a:solidFill>
              <a:srgbClr val="A8C8E2"/>
            </a:solidFill>
            <a:prstDash val="solid"/>
          </a:ln>
        </p:spPr>
      </p:sp>
      <p:sp>
        <p:nvSpPr>
          <p:cNvPr id="16" name="cpu-cap-3"/>
          <p:cNvSpPr/>
          <p:nvPr/>
        </p:nvSpPr>
        <p:spPr>
          <a:xfrm>
            <a:off x="4488656" y="3881438"/>
            <a:ext cx="1845469" cy="696516"/>
          </a:xfrm>
          <a:prstGeom prst="roundRect">
            <a:avLst>
              <a:gd name="adj" fmla="val 10256"/>
            </a:avLst>
          </a:prstGeom>
          <a:solidFill>
            <a:srgbClr val="E4F1FB"/>
          </a:solidFill>
          <a:ln w="8930">
            <a:solidFill>
              <a:srgbClr val="A8C8E2"/>
            </a:solidFill>
            <a:prstDash val="solid"/>
          </a:ln>
        </p:spPr>
      </p:sp>
      <p:sp>
        <p:nvSpPr>
          <p:cNvPr id="17" name="other-engine-bg"/>
          <p:cNvSpPr/>
          <p:nvPr/>
        </p:nvSpPr>
        <p:spPr>
          <a:xfrm>
            <a:off x="660797" y="4655344"/>
            <a:ext cx="5756672" cy="172641"/>
          </a:xfrm>
          <a:prstGeom prst="roundRect">
            <a:avLst>
              <a:gd name="adj" fmla="val 20690"/>
            </a:avLst>
          </a:prstGeom>
          <a:solidFill>
            <a:srgbClr val="E7F2FD"/>
          </a:solidFill>
          <a:ln w="12700">
            <a:solidFill>
              <a:srgbClr val="FFFFFF">
                <a:alpha val="0"/>
              </a:srgbClr>
            </a:solidFill>
            <a:prstDash val="solid"/>
          </a:ln>
        </p:spPr>
      </p:sp>
      <p:sp>
        <p:nvSpPr>
          <p:cNvPr id="18" name="study-band"/>
          <p:cNvSpPr/>
          <p:nvPr/>
        </p:nvSpPr>
        <p:spPr>
          <a:xfrm>
            <a:off x="6959203" y="1899047"/>
            <a:ext cx="4655344" cy="285750"/>
          </a:xfrm>
          <a:prstGeom prst="roundRect">
            <a:avLst>
              <a:gd name="adj" fmla="val 20833"/>
            </a:avLst>
          </a:prstGeom>
          <a:solidFill>
            <a:srgbClr val="E7F2FD"/>
          </a:solidFill>
          <a:ln w="8930">
            <a:solidFill>
              <a:srgbClr val="BED8EB"/>
            </a:solidFill>
            <a:prstDash val="solid"/>
          </a:ln>
        </p:spPr>
      </p:sp>
      <p:sp>
        <p:nvSpPr>
          <p:cNvPr id="19" name="grid-0"/>
          <p:cNvSpPr/>
          <p:nvPr/>
        </p:nvSpPr>
        <p:spPr>
          <a:xfrm>
            <a:off x="8495109" y="2649141"/>
            <a:ext cx="5953" cy="1869281"/>
          </a:xfrm>
          <a:prstGeom prst="rect">
            <a:avLst/>
          </a:prstGeom>
          <a:solidFill>
            <a:srgbClr val="E0EBF4"/>
          </a:solidFill>
          <a:ln w="12700">
            <a:solidFill>
              <a:srgbClr val="FFFFFF">
                <a:alpha val="0"/>
              </a:srgbClr>
            </a:solidFill>
            <a:prstDash val="solid"/>
          </a:ln>
        </p:spPr>
      </p:sp>
      <p:sp>
        <p:nvSpPr>
          <p:cNvPr id="20" name="grid-400"/>
          <p:cNvSpPr/>
          <p:nvPr/>
        </p:nvSpPr>
        <p:spPr>
          <a:xfrm>
            <a:off x="9322594" y="2649141"/>
            <a:ext cx="5953" cy="1869281"/>
          </a:xfrm>
          <a:prstGeom prst="rect">
            <a:avLst/>
          </a:prstGeom>
          <a:solidFill>
            <a:srgbClr val="E0EBF4"/>
          </a:solidFill>
          <a:ln w="12700">
            <a:solidFill>
              <a:srgbClr val="FFFFFF">
                <a:alpha val="0"/>
              </a:srgbClr>
            </a:solidFill>
            <a:prstDash val="solid"/>
          </a:ln>
        </p:spPr>
      </p:sp>
      <p:sp>
        <p:nvSpPr>
          <p:cNvPr id="21" name="grid-800"/>
          <p:cNvSpPr/>
          <p:nvPr/>
        </p:nvSpPr>
        <p:spPr>
          <a:xfrm>
            <a:off x="10150078" y="2649141"/>
            <a:ext cx="5953" cy="1869281"/>
          </a:xfrm>
          <a:prstGeom prst="rect">
            <a:avLst/>
          </a:prstGeom>
          <a:solidFill>
            <a:srgbClr val="E0EBF4"/>
          </a:solidFill>
          <a:ln w="12700">
            <a:solidFill>
              <a:srgbClr val="FFFFFF">
                <a:alpha val="0"/>
              </a:srgbClr>
            </a:solidFill>
            <a:prstDash val="solid"/>
          </a:ln>
        </p:spPr>
      </p:sp>
      <p:sp>
        <p:nvSpPr>
          <p:cNvPr id="22" name="grid-1200"/>
          <p:cNvSpPr/>
          <p:nvPr/>
        </p:nvSpPr>
        <p:spPr>
          <a:xfrm>
            <a:off x="10977563" y="2649141"/>
            <a:ext cx="5953" cy="1869281"/>
          </a:xfrm>
          <a:prstGeom prst="rect">
            <a:avLst/>
          </a:prstGeom>
          <a:solidFill>
            <a:srgbClr val="E0EBF4"/>
          </a:solidFill>
          <a:ln w="12700">
            <a:solidFill>
              <a:srgbClr val="FFFFFF">
                <a:alpha val="0"/>
              </a:srgbClr>
            </a:solidFill>
            <a:prstDash val="solid"/>
          </a:ln>
        </p:spPr>
      </p:sp>
      <p:sp>
        <p:nvSpPr>
          <p:cNvPr id="23" name="data-int8-badge"/>
          <p:cNvSpPr/>
          <p:nvPr/>
        </p:nvSpPr>
        <p:spPr>
          <a:xfrm>
            <a:off x="6965156" y="2553891"/>
            <a:ext cx="654844" cy="208359"/>
          </a:xfrm>
          <a:prstGeom prst="roundRect">
            <a:avLst>
              <a:gd name="adj" fmla="val 22857"/>
            </a:avLst>
          </a:prstGeom>
          <a:solidFill>
            <a:srgbClr val="E7F2FD"/>
          </a:solidFill>
          <a:ln w="8930">
            <a:solidFill>
              <a:srgbClr val="B4D5ED"/>
            </a:solidFill>
            <a:prstDash val="solid"/>
          </a:ln>
        </p:spPr>
      </p:sp>
      <p:sp>
        <p:nvSpPr>
          <p:cNvPr id="24" name="data-int8-ratio-bg"/>
          <p:cNvSpPr/>
          <p:nvPr/>
        </p:nvSpPr>
        <p:spPr>
          <a:xfrm>
            <a:off x="10989469" y="2547938"/>
            <a:ext cx="631031" cy="214313"/>
          </a:xfrm>
          <a:prstGeom prst="roundRect">
            <a:avLst>
              <a:gd name="adj" fmla="val 22222"/>
            </a:avLst>
          </a:prstGeom>
          <a:solidFill>
            <a:srgbClr val="E7F2FD"/>
          </a:solidFill>
          <a:ln w="12700">
            <a:solidFill>
              <a:srgbClr val="FFFFFF">
                <a:alpha val="0"/>
              </a:srgbClr>
            </a:solidFill>
            <a:prstDash val="solid"/>
          </a:ln>
        </p:spPr>
      </p:sp>
      <p:sp>
        <p:nvSpPr>
          <p:cNvPr id="25" name="data-int8-off-bar"/>
          <p:cNvSpPr/>
          <p:nvPr/>
        </p:nvSpPr>
        <p:spPr>
          <a:xfrm>
            <a:off x="8495109" y="2833688"/>
            <a:ext cx="1148953" cy="184547"/>
          </a:xfrm>
          <a:prstGeom prst="roundRect">
            <a:avLst>
              <a:gd name="adj" fmla="val 16129"/>
            </a:avLst>
          </a:prstGeom>
          <a:solidFill>
            <a:srgbClr val="A6C6DD"/>
          </a:solidFill>
          <a:ln w="12700">
            <a:solidFill>
              <a:srgbClr val="FFFFFF">
                <a:alpha val="0"/>
              </a:srgbClr>
            </a:solidFill>
            <a:prstDash val="solid"/>
          </a:ln>
        </p:spPr>
      </p:sp>
      <p:sp>
        <p:nvSpPr>
          <p:cNvPr id="26" name="data-int8-on-bar"/>
          <p:cNvSpPr/>
          <p:nvPr/>
        </p:nvSpPr>
        <p:spPr>
          <a:xfrm>
            <a:off x="8495109" y="3119438"/>
            <a:ext cx="631031" cy="184547"/>
          </a:xfrm>
          <a:prstGeom prst="roundRect">
            <a:avLst>
              <a:gd name="adj" fmla="val 16129"/>
            </a:avLst>
          </a:prstGeom>
          <a:solidFill>
            <a:srgbClr val="2473B6"/>
          </a:solidFill>
          <a:ln w="12700">
            <a:solidFill>
              <a:srgbClr val="FFFFFF">
                <a:alpha val="0"/>
              </a:srgbClr>
            </a:solidFill>
            <a:prstDash val="solid"/>
          </a:ln>
        </p:spPr>
      </p:sp>
      <p:sp>
        <p:nvSpPr>
          <p:cNvPr id="27" name="data-fp16-badge"/>
          <p:cNvSpPr/>
          <p:nvPr/>
        </p:nvSpPr>
        <p:spPr>
          <a:xfrm>
            <a:off x="6965156" y="3542109"/>
            <a:ext cx="654844" cy="208359"/>
          </a:xfrm>
          <a:prstGeom prst="roundRect">
            <a:avLst>
              <a:gd name="adj" fmla="val 22857"/>
            </a:avLst>
          </a:prstGeom>
          <a:solidFill>
            <a:srgbClr val="E7F2FD"/>
          </a:solidFill>
          <a:ln w="8930">
            <a:solidFill>
              <a:srgbClr val="B4D5ED"/>
            </a:solidFill>
            <a:prstDash val="solid"/>
          </a:ln>
        </p:spPr>
      </p:sp>
      <p:sp>
        <p:nvSpPr>
          <p:cNvPr id="28" name="data-fp16-ratio-bg"/>
          <p:cNvSpPr/>
          <p:nvPr/>
        </p:nvSpPr>
        <p:spPr>
          <a:xfrm>
            <a:off x="10989469" y="3536156"/>
            <a:ext cx="631031" cy="214313"/>
          </a:xfrm>
          <a:prstGeom prst="roundRect">
            <a:avLst>
              <a:gd name="adj" fmla="val 22222"/>
            </a:avLst>
          </a:prstGeom>
          <a:solidFill>
            <a:srgbClr val="E7F2FD"/>
          </a:solidFill>
          <a:ln w="12700">
            <a:solidFill>
              <a:srgbClr val="FFFFFF">
                <a:alpha val="0"/>
              </a:srgbClr>
            </a:solidFill>
            <a:prstDash val="solid"/>
          </a:ln>
        </p:spPr>
      </p:sp>
      <p:sp>
        <p:nvSpPr>
          <p:cNvPr id="29" name="data-fp16-off-bar"/>
          <p:cNvSpPr/>
          <p:nvPr/>
        </p:nvSpPr>
        <p:spPr>
          <a:xfrm>
            <a:off x="8495109" y="3821906"/>
            <a:ext cx="2405063" cy="184547"/>
          </a:xfrm>
          <a:prstGeom prst="roundRect">
            <a:avLst>
              <a:gd name="adj" fmla="val 16129"/>
            </a:avLst>
          </a:prstGeom>
          <a:solidFill>
            <a:srgbClr val="A6C6DD"/>
          </a:solidFill>
          <a:ln w="12700">
            <a:solidFill>
              <a:srgbClr val="FFFFFF">
                <a:alpha val="0"/>
              </a:srgbClr>
            </a:solidFill>
            <a:prstDash val="solid"/>
          </a:ln>
        </p:spPr>
      </p:sp>
      <p:sp>
        <p:nvSpPr>
          <p:cNvPr id="30" name="data-fp16-on-bar"/>
          <p:cNvSpPr/>
          <p:nvPr/>
        </p:nvSpPr>
        <p:spPr>
          <a:xfrm>
            <a:off x="8495109" y="4107656"/>
            <a:ext cx="619125" cy="184547"/>
          </a:xfrm>
          <a:prstGeom prst="roundRect">
            <a:avLst>
              <a:gd name="adj" fmla="val 16129"/>
            </a:avLst>
          </a:prstGeom>
          <a:solidFill>
            <a:srgbClr val="2473B6"/>
          </a:solidFill>
          <a:ln w="12700">
            <a:solidFill>
              <a:srgbClr val="FFFFFF">
                <a:alpha val="0"/>
              </a:srgbClr>
            </a:solidFill>
            <a:prstDash val="solid"/>
          </a:ln>
        </p:spPr>
      </p:sp>
      <p:sp>
        <p:nvSpPr>
          <p:cNvPr id="31" name="movement-rule"/>
          <p:cNvSpPr/>
          <p:nvPr/>
        </p:nvSpPr>
        <p:spPr>
          <a:xfrm>
            <a:off x="6994922" y="4708922"/>
            <a:ext cx="4607719" cy="11906"/>
          </a:xfrm>
          <a:prstGeom prst="rect">
            <a:avLst/>
          </a:prstGeom>
          <a:solidFill>
            <a:srgbClr val="C9DBEA"/>
          </a:solidFill>
          <a:ln w="12700">
            <a:solidFill>
              <a:srgbClr val="FFFFFF">
                <a:alpha val="0"/>
              </a:srgbClr>
            </a:solidFill>
            <a:prstDash val="solid"/>
          </a:ln>
        </p:spPr>
      </p:sp>
      <p:sp>
        <p:nvSpPr>
          <p:cNvPr id="32" name="outcome-1"/>
          <p:cNvSpPr/>
          <p:nvPr/>
        </p:nvSpPr>
        <p:spPr>
          <a:xfrm>
            <a:off x="506016" y="5554266"/>
            <a:ext cx="3589734" cy="351234"/>
          </a:xfrm>
          <a:prstGeom prst="roundRect">
            <a:avLst>
              <a:gd name="adj" fmla="val 16949"/>
            </a:avLst>
          </a:prstGeom>
          <a:solidFill>
            <a:srgbClr val="EDF6FC"/>
          </a:solidFill>
          <a:ln w="8930">
            <a:solidFill>
              <a:srgbClr val="BAD5EA"/>
            </a:solidFill>
            <a:prstDash val="solid"/>
          </a:ln>
        </p:spPr>
      </p:sp>
      <p:sp>
        <p:nvSpPr>
          <p:cNvPr id="33" name="outcome-1-badge"/>
          <p:cNvSpPr/>
          <p:nvPr/>
        </p:nvSpPr>
        <p:spPr>
          <a:xfrm>
            <a:off x="577453" y="5613797"/>
            <a:ext cx="226219" cy="226219"/>
          </a:xfrm>
          <a:prstGeom prst="roundRect">
            <a:avLst>
              <a:gd name="adj" fmla="val 50000"/>
            </a:avLst>
          </a:prstGeom>
          <a:solidFill>
            <a:srgbClr val="2473B6"/>
          </a:solidFill>
          <a:ln w="12700">
            <a:solidFill>
              <a:srgbClr val="FFFFFF">
                <a:alpha val="0"/>
              </a:srgbClr>
            </a:solidFill>
            <a:prstDash val="solid"/>
          </a:ln>
        </p:spPr>
      </p:sp>
      <p:sp>
        <p:nvSpPr>
          <p:cNvPr id="34" name="outcome-2"/>
          <p:cNvSpPr/>
          <p:nvPr/>
        </p:nvSpPr>
        <p:spPr>
          <a:xfrm>
            <a:off x="4244578" y="5554266"/>
            <a:ext cx="3589734" cy="351234"/>
          </a:xfrm>
          <a:prstGeom prst="roundRect">
            <a:avLst>
              <a:gd name="adj" fmla="val 16949"/>
            </a:avLst>
          </a:prstGeom>
          <a:solidFill>
            <a:srgbClr val="E7F2FD"/>
          </a:solidFill>
          <a:ln w="8930">
            <a:solidFill>
              <a:srgbClr val="BAD5EA"/>
            </a:solidFill>
            <a:prstDash val="solid"/>
          </a:ln>
        </p:spPr>
      </p:sp>
      <p:sp>
        <p:nvSpPr>
          <p:cNvPr id="35" name="outcome-2-badge"/>
          <p:cNvSpPr/>
          <p:nvPr/>
        </p:nvSpPr>
        <p:spPr>
          <a:xfrm>
            <a:off x="4316016" y="5613797"/>
            <a:ext cx="226219" cy="226219"/>
          </a:xfrm>
          <a:prstGeom prst="roundRect">
            <a:avLst>
              <a:gd name="adj" fmla="val 50000"/>
            </a:avLst>
          </a:prstGeom>
          <a:solidFill>
            <a:srgbClr val="2473B6"/>
          </a:solidFill>
          <a:ln w="12700">
            <a:solidFill>
              <a:srgbClr val="FFFFFF">
                <a:alpha val="0"/>
              </a:srgbClr>
            </a:solidFill>
            <a:prstDash val="solid"/>
          </a:ln>
        </p:spPr>
      </p:sp>
      <p:sp>
        <p:nvSpPr>
          <p:cNvPr id="36" name="outcome-3"/>
          <p:cNvSpPr/>
          <p:nvPr/>
        </p:nvSpPr>
        <p:spPr>
          <a:xfrm>
            <a:off x="7983141" y="5554266"/>
            <a:ext cx="3649266" cy="351234"/>
          </a:xfrm>
          <a:prstGeom prst="roundRect">
            <a:avLst>
              <a:gd name="adj" fmla="val 16949"/>
            </a:avLst>
          </a:prstGeom>
          <a:solidFill>
            <a:srgbClr val="EDF6FC"/>
          </a:solidFill>
          <a:ln w="8930">
            <a:solidFill>
              <a:srgbClr val="BAD5EA"/>
            </a:solidFill>
            <a:prstDash val="solid"/>
          </a:ln>
        </p:spPr>
      </p:sp>
      <p:sp>
        <p:nvSpPr>
          <p:cNvPr id="37" name="outcome-3-badge"/>
          <p:cNvSpPr/>
          <p:nvPr/>
        </p:nvSpPr>
        <p:spPr>
          <a:xfrm>
            <a:off x="8054578" y="5613797"/>
            <a:ext cx="226219" cy="226219"/>
          </a:xfrm>
          <a:prstGeom prst="roundRect">
            <a:avLst>
              <a:gd name="adj" fmla="val 50000"/>
            </a:avLst>
          </a:prstGeom>
          <a:solidFill>
            <a:srgbClr val="2473B6"/>
          </a:solidFill>
          <a:ln w="12700">
            <a:solidFill>
              <a:srgbClr val="FFFFFF">
                <a:alpha val="0"/>
              </a:srgbClr>
            </a:solidFill>
            <a:prstDash val="solid"/>
          </a:ln>
        </p:spPr>
      </p:sp>
      <p:sp>
        <p:nvSpPr>
          <p:cNvPr id="38" name="source-rule"/>
          <p:cNvSpPr/>
          <p:nvPr/>
        </p:nvSpPr>
        <p:spPr>
          <a:xfrm>
            <a:off x="422672" y="6101953"/>
            <a:ext cx="11358563" cy="11906"/>
          </a:xfrm>
          <a:prstGeom prst="rect">
            <a:avLst/>
          </a:prstGeom>
          <a:solidFill>
            <a:srgbClr val="C9DBEA"/>
          </a:solidFill>
          <a:ln w="12700">
            <a:solidFill>
              <a:srgbClr val="FFFFFF">
                <a:alpha val="0"/>
              </a:srgbClr>
            </a:solidFill>
            <a:prstDash val="solid"/>
          </a:ln>
        </p:spPr>
      </p:sp>
      <p:sp>
        <p:nvSpPr>
          <p:cNvPr id="39" name="mechanism-bar"/>
          <p:cNvSpPr/>
          <p:nvPr/>
        </p:nvSpPr>
        <p:spPr>
          <a:xfrm>
            <a:off x="392906" y="1482328"/>
            <a:ext cx="6310313" cy="351234"/>
          </a:xfrm>
          <a:prstGeom prst="roundRect">
            <a:avLst>
              <a:gd name="adj" fmla="val 16949"/>
            </a:avLst>
          </a:prstGeom>
          <a:solidFill>
            <a:srgbClr val="174478"/>
          </a:solidFill>
          <a:ln w="12700">
            <a:solidFill>
              <a:srgbClr val="FFFFFF">
                <a:alpha val="0"/>
              </a:srgbClr>
            </a:solidFill>
            <a:prstDash val="solid"/>
          </a:ln>
        </p:spPr>
      </p:sp>
      <p:sp>
        <p:nvSpPr>
          <p:cNvPr id="40" name="measurement-bar"/>
          <p:cNvSpPr/>
          <p:nvPr/>
        </p:nvSpPr>
        <p:spPr>
          <a:xfrm>
            <a:off x="6816328" y="1482328"/>
            <a:ext cx="4958953" cy="351234"/>
          </a:xfrm>
          <a:prstGeom prst="roundRect">
            <a:avLst>
              <a:gd name="adj" fmla="val 16949"/>
            </a:avLst>
          </a:prstGeom>
          <a:solidFill>
            <a:srgbClr val="174478"/>
          </a:solidFill>
          <a:ln w="12700">
            <a:solidFill>
              <a:srgbClr val="FFFFFF">
                <a:alpha val="0"/>
              </a:srgbClr>
            </a:solidFill>
            <a:prstDash val="solid"/>
          </a:ln>
        </p:spPr>
      </p:sp>
      <p:sp>
        <p:nvSpPr>
          <p:cNvPr id="41" name="implication-bar"/>
          <p:cNvSpPr/>
          <p:nvPr/>
        </p:nvSpPr>
        <p:spPr>
          <a:xfrm>
            <a:off x="392906" y="5143500"/>
            <a:ext cx="11382375" cy="351234"/>
          </a:xfrm>
          <a:prstGeom prst="roundRect">
            <a:avLst>
              <a:gd name="adj" fmla="val 16949"/>
            </a:avLst>
          </a:prstGeom>
          <a:solidFill>
            <a:srgbClr val="174478"/>
          </a:solidFill>
          <a:ln w="12700">
            <a:solidFill>
              <a:srgbClr val="FFFFFF">
                <a:alpha val="0"/>
              </a:srgbClr>
            </a:solidFill>
            <a:prstDash val="solid"/>
          </a:ln>
        </p:spPr>
      </p:sp>
      <p:cxnSp>
        <p:nvCxnSpPr>
          <p:cNvPr id="42" name="SC_CONNECTOR__path-flow-1__0"/>
          <p:cNvCxnSpPr/>
          <p:nvPr/>
        </p:nvCxnSpPr>
        <p:spPr>
          <a:xfrm>
            <a:off x="1613297" y="2604492"/>
            <a:ext cx="172641" cy="0"/>
          </a:xfrm>
          <a:prstGeom prst="line">
            <a:avLst/>
          </a:prstGeom>
          <a:noFill/>
          <a:ln w="17859">
            <a:solidFill>
              <a:srgbClr val="2473B6"/>
            </a:solidFill>
            <a:prstDash val="solid"/>
            <a:round/>
            <a:headEnd type="none"/>
            <a:tailEnd type="triangle" w="med" len="med"/>
          </a:ln>
        </p:spPr>
      </p:cxnSp>
      <p:cxnSp>
        <p:nvCxnSpPr>
          <p:cNvPr id="43" name="SC_CONNECTOR__path-flow-2__0"/>
          <p:cNvCxnSpPr/>
          <p:nvPr/>
        </p:nvCxnSpPr>
        <p:spPr>
          <a:xfrm>
            <a:off x="2762250" y="2604492"/>
            <a:ext cx="172641" cy="0"/>
          </a:xfrm>
          <a:prstGeom prst="line">
            <a:avLst/>
          </a:prstGeom>
          <a:noFill/>
          <a:ln w="17859">
            <a:solidFill>
              <a:srgbClr val="2473B6"/>
            </a:solidFill>
            <a:prstDash val="solid"/>
            <a:round/>
            <a:headEnd type="none"/>
            <a:tailEnd type="triangle" w="med" len="med"/>
          </a:ln>
        </p:spPr>
      </p:cxnSp>
      <p:pic>
        <p:nvPicPr>
          <p:cNvPr id="44" name="chip-illustration" descr="decorative_illustration">    </p:cNvPr>
          <p:cNvPicPr>
            <a:picLocks noChangeAspect="1"/>
          </p:cNvPicPr>
          <p:nvPr/>
        </p:nvPicPr>
        <p:blipFill>
          <a:blip r:embed="rId1"/>
          <a:stretch>
            <a:fillRect/>
          </a:stretch>
        </p:blipFill>
        <p:spPr>
          <a:xfrm>
            <a:off x="4244578" y="1970484"/>
            <a:ext cx="2327672" cy="1160859"/>
          </a:xfrm>
          <a:prstGeom prst="rect">
            <a:avLst/>
          </a:prstGeom>
        </p:spPr>
      </p:pic>
      <p:sp>
        <p:nvSpPr>
          <p:cNvPr id="45" name="headline"/>
          <p:cNvSpPr txBox="1"/>
          <p:nvPr/>
        </p:nvSpPr>
        <p:spPr>
          <a:xfrm>
            <a:off x="559594" y="506016"/>
            <a:ext cx="11072813" cy="446484"/>
          </a:xfrm>
          <a:prstGeom prst="rect">
            <a:avLst/>
          </a:prstGeom>
          <a:noFill/>
          <a:ln/>
        </p:spPr>
        <p:txBody>
          <a:bodyPr wrap="square" lIns="0" tIns="0" rIns="0" bIns="0" rtlCol="0" anchor="ctr">
            <a:noAutofit/>
          </a:bodyPr>
          <a:lstStyle/>
          <a:p>
            <a:pPr algn="l" indent="0" marL="0">
              <a:lnSpc>
                <a:spcPct val="100000"/>
              </a:lnSpc>
              <a:buNone/>
              <a:defRPr spc="0"/>
            </a:pPr>
            <a:r>
              <a:rPr lang="en-US" sz="2250" b="1" dirty="0" spc="0">
                <a:solidFill>
                  <a:srgbClr val="102C55"/>
                </a:solidFill>
                <a:latin typeface="Microsoft YaHei" pitchFamily="34" charset="0"/>
                <a:ea typeface="Microsoft YaHei" pitchFamily="34" charset="-122"/>
                <a:cs typeface="Microsoft YaHei" pitchFamily="34" charset="-120"/>
              </a:rPr>
              <a:t>SME2 是 CPU 内部矩阵能力，编译与布局协同仍有优化空间</a:t>
            </a:r>
            <a:endParaRPr lang="en-US" sz="2250" dirty="0" spc="0"/>
          </a:p>
        </p:txBody>
      </p:sp>
      <p:sp>
        <p:nvSpPr>
          <p:cNvPr id="46" name="subtitle"/>
          <p:cNvSpPr txBox="1"/>
          <p:nvPr/>
        </p:nvSpPr>
        <p:spPr>
          <a:xfrm>
            <a:off x="565547" y="964406"/>
            <a:ext cx="10953750"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dirty="0" spc="0">
                <a:solidFill>
                  <a:srgbClr val="58738A"/>
                </a:solidFill>
                <a:latin typeface="Microsoft YaHei" pitchFamily="34" charset="0"/>
                <a:ea typeface="Microsoft YaHei" pitchFamily="34" charset="-122"/>
                <a:cs typeface="Microsoft YaHei" pitchFamily="34" charset="-120"/>
              </a:rPr>
              <a:t>手机实测验证现有 ISA 的加速潜力；算力瓶颈转移后，布局与数据搬运变得更加重要。</a:t>
            </a:r>
            <a:endParaRPr lang="en-US" sz="1150" dirty="0" spc="0"/>
          </a:p>
        </p:txBody>
      </p:sp>
      <p:sp>
        <p:nvSpPr>
          <p:cNvPr id="47" name="mechanism-title"/>
          <p:cNvSpPr txBox="1"/>
          <p:nvPr/>
        </p:nvSpPr>
        <p:spPr>
          <a:xfrm>
            <a:off x="547688" y="1535906"/>
            <a:ext cx="6012656"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① CPU 内部架构关系与优化机理</a:t>
            </a:r>
            <a:endParaRPr lang="en-US" sz="1250" dirty="0" spc="0"/>
          </a:p>
        </p:txBody>
      </p:sp>
      <p:sp>
        <p:nvSpPr>
          <p:cNvPr id="48" name="measurement-title"/>
          <p:cNvSpPr txBox="1"/>
          <p:nvPr/>
        </p:nvSpPr>
        <p:spPr>
          <a:xfrm>
            <a:off x="6971109" y="1535906"/>
            <a:ext cx="4661297"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② vivo X300：单核 CPU 实测对照</a:t>
            </a:r>
            <a:endParaRPr lang="en-US" sz="1250" dirty="0" spc="0"/>
          </a:p>
        </p:txBody>
      </p:sp>
      <p:sp>
        <p:nvSpPr>
          <p:cNvPr id="49" name="implication-title"/>
          <p:cNvSpPr txBox="1"/>
          <p:nvPr/>
        </p:nvSpPr>
        <p:spPr>
          <a:xfrm>
            <a:off x="547688" y="5197078"/>
            <a:ext cx="11084719"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③ 算力优化后，下一步应关注数据布局与交接成本</a:t>
            </a:r>
            <a:endParaRPr lang="en-US" sz="1250" dirty="0" spc="0"/>
          </a:p>
        </p:txBody>
      </p:sp>
      <p:sp>
        <p:nvSpPr>
          <p:cNvPr id="50" name="path-heading"/>
          <p:cNvSpPr txBox="1"/>
          <p:nvPr/>
        </p:nvSpPr>
        <p:spPr>
          <a:xfrm>
            <a:off x="577453" y="1863328"/>
            <a:ext cx="3214688"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现有软件 / ISA 路径</a:t>
            </a:r>
            <a:endParaRPr lang="en-US" sz="1050" dirty="0" spc="0"/>
          </a:p>
        </p:txBody>
      </p:sp>
      <p:sp>
        <p:nvSpPr>
          <p:cNvPr id="51" name="chip-art-caption"/>
          <p:cNvSpPr txBox="1"/>
          <p:nvPr/>
        </p:nvSpPr>
        <p:spPr>
          <a:xfrm>
            <a:off x="4244578" y="3149203"/>
            <a:ext cx="2327672" cy="190500"/>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Image2.5 科技插画 · 非真实 CPU 布局</a:t>
            </a:r>
            <a:endParaRPr lang="en-US" sz="750" dirty="0" spc="0"/>
          </a:p>
        </p:txBody>
      </p:sp>
      <p:sp>
        <p:nvSpPr>
          <p:cNvPr id="52" name="path-1-head"/>
          <p:cNvSpPr txBox="1"/>
          <p:nvPr/>
        </p:nvSpPr>
        <p:spPr>
          <a:xfrm>
            <a:off x="678656" y="2434828"/>
            <a:ext cx="892969" cy="178594"/>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173753"/>
                </a:solidFill>
                <a:latin typeface="Microsoft YaHei" pitchFamily="34" charset="0"/>
                <a:ea typeface="Microsoft YaHei" pitchFamily="34" charset="-122"/>
                <a:cs typeface="Microsoft YaHei" pitchFamily="34" charset="-120"/>
              </a:rPr>
              <a:t>算子形状 / 精度</a:t>
            </a:r>
            <a:endParaRPr lang="en-US" sz="800" dirty="0" spc="0"/>
          </a:p>
        </p:txBody>
      </p:sp>
      <p:sp>
        <p:nvSpPr>
          <p:cNvPr id="53" name="path-1-sub"/>
          <p:cNvSpPr txBox="1"/>
          <p:nvPr/>
        </p:nvSpPr>
        <p:spPr>
          <a:xfrm>
            <a:off x="678656" y="2607469"/>
            <a:ext cx="892969" cy="17264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需求与布局</a:t>
            </a:r>
            <a:endParaRPr lang="en-US" sz="850" dirty="0" spc="0"/>
          </a:p>
        </p:txBody>
      </p:sp>
      <p:sp>
        <p:nvSpPr>
          <p:cNvPr id="54" name="path-2-head"/>
          <p:cNvSpPr txBox="1"/>
          <p:nvPr/>
        </p:nvSpPr>
        <p:spPr>
          <a:xfrm>
            <a:off x="1827609" y="2434828"/>
            <a:ext cx="892969" cy="178594"/>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173753"/>
                </a:solidFill>
                <a:latin typeface="Microsoft YaHei" pitchFamily="34" charset="0"/>
                <a:ea typeface="Microsoft YaHei" pitchFamily="34" charset="-122"/>
                <a:cs typeface="Microsoft YaHei" pitchFamily="34" charset="-120"/>
              </a:rPr>
              <a:t>tile 与 packing</a:t>
            </a:r>
            <a:endParaRPr lang="en-US" sz="800" dirty="0" spc="0"/>
          </a:p>
        </p:txBody>
      </p:sp>
      <p:sp>
        <p:nvSpPr>
          <p:cNvPr id="55" name="path-2-sub"/>
          <p:cNvSpPr txBox="1"/>
          <p:nvPr/>
        </p:nvSpPr>
        <p:spPr>
          <a:xfrm>
            <a:off x="1827609" y="2607469"/>
            <a:ext cx="892969" cy="17264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减少重排</a:t>
            </a:r>
            <a:endParaRPr lang="en-US" sz="850" dirty="0" spc="0"/>
          </a:p>
        </p:txBody>
      </p:sp>
      <p:sp>
        <p:nvSpPr>
          <p:cNvPr id="56" name="path-3-head"/>
          <p:cNvSpPr txBox="1"/>
          <p:nvPr/>
        </p:nvSpPr>
        <p:spPr>
          <a:xfrm>
            <a:off x="2976563" y="2434828"/>
            <a:ext cx="892969" cy="178594"/>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173753"/>
                </a:solidFill>
                <a:latin typeface="Microsoft YaHei" pitchFamily="34" charset="0"/>
                <a:ea typeface="Microsoft YaHei" pitchFamily="34" charset="-122"/>
                <a:cs typeface="Microsoft YaHei" pitchFamily="34" charset="-120"/>
              </a:rPr>
              <a:t>AArch64 / SME2</a:t>
            </a:r>
            <a:endParaRPr lang="en-US" sz="800" dirty="0" spc="0"/>
          </a:p>
        </p:txBody>
      </p:sp>
      <p:sp>
        <p:nvSpPr>
          <p:cNvPr id="57" name="path-3-sub"/>
          <p:cNvSpPr txBox="1"/>
          <p:nvPr/>
        </p:nvSpPr>
        <p:spPr>
          <a:xfrm>
            <a:off x="2976563" y="2607469"/>
            <a:ext cx="892969" cy="17264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CPU 指令路径</a:t>
            </a:r>
            <a:endParaRPr lang="en-US" sz="850" dirty="0" spc="0"/>
          </a:p>
        </p:txBody>
      </p:sp>
      <p:sp>
        <p:nvSpPr>
          <p:cNvPr id="58" name="path-caveat"/>
          <p:cNvSpPr txBox="1"/>
          <p:nvPr/>
        </p:nvSpPr>
        <p:spPr>
          <a:xfrm>
            <a:off x="631031" y="2893219"/>
            <a:ext cx="5857875"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编译 / 内核选择是机制示意，并非下面手机实验的专用 LLVM 流程。</a:t>
            </a:r>
            <a:endParaRPr lang="en-US" sz="850" dirty="0" spc="0"/>
          </a:p>
        </p:txBody>
      </p:sp>
      <p:sp>
        <p:nvSpPr>
          <p:cNvPr id="59" name="cpu-heading"/>
          <p:cNvSpPr txBox="1"/>
          <p:nvPr/>
        </p:nvSpPr>
        <p:spPr>
          <a:xfrm>
            <a:off x="654844" y="3518297"/>
            <a:ext cx="5774531" cy="232172"/>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AArch64 CPU core：标量 / SIMD / SME2 均属于 CPU 能力</a:t>
            </a:r>
            <a:endParaRPr lang="en-US" sz="1100" dirty="0" spc="0"/>
          </a:p>
        </p:txBody>
      </p:sp>
      <p:sp>
        <p:nvSpPr>
          <p:cNvPr id="60" name="cpu-cap-1-head"/>
          <p:cNvSpPr txBox="1"/>
          <p:nvPr/>
        </p:nvSpPr>
        <p:spPr>
          <a:xfrm>
            <a:off x="744141" y="3970734"/>
            <a:ext cx="1666875"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73753"/>
                </a:solidFill>
                <a:latin typeface="Microsoft YaHei" pitchFamily="34" charset="0"/>
                <a:ea typeface="Microsoft YaHei" pitchFamily="34" charset="-122"/>
                <a:cs typeface="Microsoft YaHei" pitchFamily="34" charset="-120"/>
              </a:rPr>
              <a:t>标量与控制</a:t>
            </a:r>
            <a:endParaRPr lang="en-US" sz="1150" dirty="0" spc="0"/>
          </a:p>
        </p:txBody>
      </p:sp>
      <p:sp>
        <p:nvSpPr>
          <p:cNvPr id="61" name="cpu-cap-1-sub"/>
          <p:cNvSpPr txBox="1"/>
          <p:nvPr/>
        </p:nvSpPr>
        <p:spPr>
          <a:xfrm>
            <a:off x="744141" y="4238625"/>
            <a:ext cx="1666875"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调度 / 分支 / 状态</a:t>
            </a:r>
            <a:endParaRPr lang="en-US" sz="850" dirty="0" spc="0"/>
          </a:p>
        </p:txBody>
      </p:sp>
      <p:sp>
        <p:nvSpPr>
          <p:cNvPr id="62" name="cpu-cap-2-head"/>
          <p:cNvSpPr txBox="1"/>
          <p:nvPr/>
        </p:nvSpPr>
        <p:spPr>
          <a:xfrm>
            <a:off x="2661047" y="3970734"/>
            <a:ext cx="1666875"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73753"/>
                </a:solidFill>
                <a:latin typeface="Microsoft YaHei" pitchFamily="34" charset="0"/>
                <a:ea typeface="Microsoft YaHei" pitchFamily="34" charset="-122"/>
                <a:cs typeface="Microsoft YaHei" pitchFamily="34" charset="-120"/>
              </a:rPr>
              <a:t>SIMD / 向量</a:t>
            </a:r>
            <a:endParaRPr lang="en-US" sz="1150" dirty="0" spc="0"/>
          </a:p>
        </p:txBody>
      </p:sp>
      <p:sp>
        <p:nvSpPr>
          <p:cNvPr id="63" name="cpu-cap-2-sub"/>
          <p:cNvSpPr txBox="1"/>
          <p:nvPr/>
        </p:nvSpPr>
        <p:spPr>
          <a:xfrm>
            <a:off x="2661047" y="4238625"/>
            <a:ext cx="1666875"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向量运算 / 归约</a:t>
            </a:r>
            <a:endParaRPr lang="en-US" sz="850" dirty="0" spc="0"/>
          </a:p>
        </p:txBody>
      </p:sp>
      <p:sp>
        <p:nvSpPr>
          <p:cNvPr id="64" name="cpu-cap-3-head"/>
          <p:cNvSpPr txBox="1"/>
          <p:nvPr/>
        </p:nvSpPr>
        <p:spPr>
          <a:xfrm>
            <a:off x="4577953" y="3970734"/>
            <a:ext cx="1666875"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150" b="1" dirty="0" spc="0">
                <a:solidFill>
                  <a:srgbClr val="173753"/>
                </a:solidFill>
                <a:latin typeface="Microsoft YaHei" pitchFamily="34" charset="0"/>
                <a:ea typeface="Microsoft YaHei" pitchFamily="34" charset="-122"/>
                <a:cs typeface="Microsoft YaHei" pitchFamily="34" charset="-120"/>
              </a:rPr>
              <a:t>SME / SME2</a:t>
            </a:r>
            <a:endParaRPr lang="en-US" sz="1150" dirty="0" spc="0"/>
          </a:p>
        </p:txBody>
      </p:sp>
      <p:sp>
        <p:nvSpPr>
          <p:cNvPr id="65" name="cpu-cap-3-sub"/>
          <p:cNvSpPr txBox="1"/>
          <p:nvPr/>
        </p:nvSpPr>
        <p:spPr>
          <a:xfrm>
            <a:off x="4577953" y="4238625"/>
            <a:ext cx="1666875"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矩阵 tile · ZA 状态</a:t>
            </a:r>
            <a:endParaRPr lang="en-US" sz="850" dirty="0" spc="0"/>
          </a:p>
        </p:txBody>
      </p:sp>
      <p:sp>
        <p:nvSpPr>
          <p:cNvPr id="66" name="other-engine"/>
          <p:cNvSpPr txBox="1"/>
          <p:nvPr/>
        </p:nvSpPr>
        <p:spPr>
          <a:xfrm>
            <a:off x="660797" y="4655344"/>
            <a:ext cx="5756672" cy="17264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SoC 的 GPU/NPU 是其他异构计算引擎；SME2 不等于一颗独立 NPU。</a:t>
            </a:r>
            <a:endParaRPr lang="en-US" sz="800" dirty="0" spc="0"/>
          </a:p>
        </p:txBody>
      </p:sp>
      <p:sp>
        <p:nvSpPr>
          <p:cNvPr id="67" name="study-label"/>
          <p:cNvSpPr txBox="1"/>
          <p:nvPr/>
        </p:nvSpPr>
        <p:spPr>
          <a:xfrm>
            <a:off x="7072313" y="1928813"/>
            <a:ext cx="446484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3753"/>
                </a:solidFill>
                <a:latin typeface="Microsoft YaHei" pitchFamily="34" charset="0"/>
                <a:ea typeface="Microsoft YaHei" pitchFamily="34" charset="-122"/>
                <a:cs typeface="Microsoft YaHei" pitchFamily="34" charset="-120"/>
              </a:rPr>
              <a:t>SqueezeSAM 视觉分割 · ExecuTorch / XNNPACK / KleidiAI</a:t>
            </a:r>
            <a:endParaRPr lang="en-US" sz="1000" dirty="0" spc="0"/>
          </a:p>
        </p:txBody>
      </p:sp>
      <p:sp>
        <p:nvSpPr>
          <p:cNvPr id="68" name="study-context"/>
          <p:cNvSpPr txBox="1"/>
          <p:nvPr/>
        </p:nvSpPr>
        <p:spPr>
          <a:xfrm>
            <a:off x="6959203" y="2238375"/>
            <a:ext cx="4643438" cy="25598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正常功耗设置（Normal） · 单个 CPU 核 · 模型推理延迟（ms，越低越好）</a:t>
            </a:r>
            <a:endParaRPr lang="en-US" sz="900" dirty="0" spc="0"/>
          </a:p>
        </p:txBody>
      </p:sp>
      <p:sp>
        <p:nvSpPr>
          <p:cNvPr id="69" name="axis-0"/>
          <p:cNvSpPr txBox="1"/>
          <p:nvPr/>
        </p:nvSpPr>
        <p:spPr>
          <a:xfrm>
            <a:off x="8352234" y="4518422"/>
            <a:ext cx="285750"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0</a:t>
            </a:r>
            <a:endParaRPr lang="en-US" sz="800" dirty="0" spc="0"/>
          </a:p>
        </p:txBody>
      </p:sp>
      <p:sp>
        <p:nvSpPr>
          <p:cNvPr id="70" name="axis-400"/>
          <p:cNvSpPr txBox="1"/>
          <p:nvPr/>
        </p:nvSpPr>
        <p:spPr>
          <a:xfrm>
            <a:off x="9179719" y="4518422"/>
            <a:ext cx="285750"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400</a:t>
            </a:r>
            <a:endParaRPr lang="en-US" sz="800" dirty="0" spc="0"/>
          </a:p>
        </p:txBody>
      </p:sp>
      <p:sp>
        <p:nvSpPr>
          <p:cNvPr id="71" name="axis-800"/>
          <p:cNvSpPr txBox="1"/>
          <p:nvPr/>
        </p:nvSpPr>
        <p:spPr>
          <a:xfrm>
            <a:off x="10007203" y="4518422"/>
            <a:ext cx="285750"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800</a:t>
            </a:r>
            <a:endParaRPr lang="en-US" sz="800" dirty="0" spc="0"/>
          </a:p>
        </p:txBody>
      </p:sp>
      <p:sp>
        <p:nvSpPr>
          <p:cNvPr id="72" name="axis-1200"/>
          <p:cNvSpPr txBox="1"/>
          <p:nvPr/>
        </p:nvSpPr>
        <p:spPr>
          <a:xfrm>
            <a:off x="10834688" y="4518422"/>
            <a:ext cx="285750"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1200</a:t>
            </a:r>
            <a:endParaRPr lang="en-US" sz="800" dirty="0" spc="0"/>
          </a:p>
        </p:txBody>
      </p:sp>
      <p:sp>
        <p:nvSpPr>
          <p:cNvPr id="73" name="axis-unit"/>
          <p:cNvSpPr txBox="1"/>
          <p:nvPr/>
        </p:nvSpPr>
        <p:spPr>
          <a:xfrm>
            <a:off x="11340703" y="4518422"/>
            <a:ext cx="250031" cy="202406"/>
          </a:xfrm>
          <a:prstGeom prst="rect">
            <a:avLst/>
          </a:prstGeom>
          <a:noFill/>
          <a:ln/>
        </p:spPr>
        <p:txBody>
          <a:bodyPr wrap="square" lIns="11906" tIns="11906" rIns="11906" bIns="11906" rtlCol="0" anchor="ctr">
            <a:noAutofit/>
          </a:bodyPr>
          <a:lstStyle/>
          <a:p>
            <a:pPr algn="r"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ms</a:t>
            </a:r>
            <a:endParaRPr lang="en-US" sz="800" dirty="0" spc="0"/>
          </a:p>
        </p:txBody>
      </p:sp>
      <p:sp>
        <p:nvSpPr>
          <p:cNvPr id="74" name="data-int8-type"/>
          <p:cNvSpPr txBox="1"/>
          <p:nvPr/>
        </p:nvSpPr>
        <p:spPr>
          <a:xfrm>
            <a:off x="6965156" y="2553891"/>
            <a:ext cx="654844" cy="208359"/>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173753"/>
                </a:solidFill>
                <a:latin typeface="Microsoft YaHei" pitchFamily="34" charset="0"/>
                <a:ea typeface="Microsoft YaHei" pitchFamily="34" charset="-122"/>
                <a:cs typeface="Microsoft YaHei" pitchFamily="34" charset="-120"/>
              </a:rPr>
              <a:t>INT8</a:t>
            </a:r>
            <a:endParaRPr lang="en-US" sz="800" dirty="0" spc="0"/>
          </a:p>
        </p:txBody>
      </p:sp>
      <p:sp>
        <p:nvSpPr>
          <p:cNvPr id="75" name="data-int8-context"/>
          <p:cNvSpPr txBox="1"/>
          <p:nvPr/>
        </p:nvSpPr>
        <p:spPr>
          <a:xfrm>
            <a:off x="7637859" y="2553891"/>
            <a:ext cx="178593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单核 / 模型端到端</a:t>
            </a:r>
            <a:endParaRPr lang="en-US" sz="800" dirty="0" spc="0"/>
          </a:p>
        </p:txBody>
      </p:sp>
      <p:sp>
        <p:nvSpPr>
          <p:cNvPr id="76" name="data-int8-ratio"/>
          <p:cNvSpPr txBox="1"/>
          <p:nvPr/>
        </p:nvSpPr>
        <p:spPr>
          <a:xfrm>
            <a:off x="10989469" y="2547938"/>
            <a:ext cx="631031" cy="21431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1.83×</a:t>
            </a:r>
            <a:endParaRPr lang="en-US" sz="950" dirty="0" spc="0"/>
          </a:p>
        </p:txBody>
      </p:sp>
      <p:sp>
        <p:nvSpPr>
          <p:cNvPr id="77" name="data-int8-off-label"/>
          <p:cNvSpPr txBox="1"/>
          <p:nvPr/>
        </p:nvSpPr>
        <p:spPr>
          <a:xfrm>
            <a:off x="7000875" y="2827734"/>
            <a:ext cx="125015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SME2 关</a:t>
            </a:r>
            <a:endParaRPr lang="en-US" sz="850" dirty="0" spc="0"/>
          </a:p>
        </p:txBody>
      </p:sp>
      <p:sp>
        <p:nvSpPr>
          <p:cNvPr id="78" name="data-int8-on-label"/>
          <p:cNvSpPr txBox="1"/>
          <p:nvPr/>
        </p:nvSpPr>
        <p:spPr>
          <a:xfrm>
            <a:off x="7000875" y="3113484"/>
            <a:ext cx="125015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SME2 开</a:t>
            </a:r>
            <a:endParaRPr lang="en-US" sz="850" dirty="0" spc="0"/>
          </a:p>
        </p:txBody>
      </p:sp>
      <p:sp>
        <p:nvSpPr>
          <p:cNvPr id="79" name="data-int8-off-value"/>
          <p:cNvSpPr txBox="1"/>
          <p:nvPr/>
        </p:nvSpPr>
        <p:spPr>
          <a:xfrm>
            <a:off x="9727406" y="2821781"/>
            <a:ext cx="803672"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b="1" dirty="0" spc="0">
                <a:solidFill>
                  <a:srgbClr val="173753"/>
                </a:solidFill>
                <a:latin typeface="Microsoft YaHei" pitchFamily="34" charset="0"/>
                <a:ea typeface="Microsoft YaHei" pitchFamily="34" charset="-122"/>
                <a:cs typeface="Microsoft YaHei" pitchFamily="34" charset="-120"/>
              </a:rPr>
              <a:t>555.8 ms</a:t>
            </a:r>
            <a:endParaRPr lang="en-US" sz="900" dirty="0" spc="0"/>
          </a:p>
        </p:txBody>
      </p:sp>
      <p:sp>
        <p:nvSpPr>
          <p:cNvPr id="80" name="data-int8-on-value"/>
          <p:cNvSpPr txBox="1"/>
          <p:nvPr/>
        </p:nvSpPr>
        <p:spPr>
          <a:xfrm>
            <a:off x="9209484" y="3107531"/>
            <a:ext cx="803672"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b="1" dirty="0" spc="0">
                <a:solidFill>
                  <a:srgbClr val="173753"/>
                </a:solidFill>
                <a:latin typeface="Microsoft YaHei" pitchFamily="34" charset="0"/>
                <a:ea typeface="Microsoft YaHei" pitchFamily="34" charset="-122"/>
                <a:cs typeface="Microsoft YaHei" pitchFamily="34" charset="-120"/>
              </a:rPr>
              <a:t>304.1 ms</a:t>
            </a:r>
            <a:endParaRPr lang="en-US" sz="900" dirty="0" spc="0"/>
          </a:p>
        </p:txBody>
      </p:sp>
      <p:sp>
        <p:nvSpPr>
          <p:cNvPr id="81" name="data-fp16-type"/>
          <p:cNvSpPr txBox="1"/>
          <p:nvPr/>
        </p:nvSpPr>
        <p:spPr>
          <a:xfrm>
            <a:off x="6965156" y="3542109"/>
            <a:ext cx="654844" cy="208359"/>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173753"/>
                </a:solidFill>
                <a:latin typeface="Microsoft YaHei" pitchFamily="34" charset="0"/>
                <a:ea typeface="Microsoft YaHei" pitchFamily="34" charset="-122"/>
                <a:cs typeface="Microsoft YaHei" pitchFamily="34" charset="-120"/>
              </a:rPr>
              <a:t>FP16</a:t>
            </a:r>
            <a:endParaRPr lang="en-US" sz="800" dirty="0" spc="0"/>
          </a:p>
        </p:txBody>
      </p:sp>
      <p:sp>
        <p:nvSpPr>
          <p:cNvPr id="82" name="data-fp16-context"/>
          <p:cNvSpPr txBox="1"/>
          <p:nvPr/>
        </p:nvSpPr>
        <p:spPr>
          <a:xfrm>
            <a:off x="7637859" y="3542109"/>
            <a:ext cx="178593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单核 / 模型端到端</a:t>
            </a:r>
            <a:endParaRPr lang="en-US" sz="800" dirty="0" spc="0"/>
          </a:p>
        </p:txBody>
      </p:sp>
      <p:sp>
        <p:nvSpPr>
          <p:cNvPr id="83" name="data-fp16-ratio"/>
          <p:cNvSpPr txBox="1"/>
          <p:nvPr/>
        </p:nvSpPr>
        <p:spPr>
          <a:xfrm>
            <a:off x="10989469" y="3536156"/>
            <a:ext cx="631031" cy="21431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3.90×</a:t>
            </a:r>
            <a:endParaRPr lang="en-US" sz="950" dirty="0" spc="0"/>
          </a:p>
        </p:txBody>
      </p:sp>
      <p:sp>
        <p:nvSpPr>
          <p:cNvPr id="84" name="data-fp16-off-label"/>
          <p:cNvSpPr txBox="1"/>
          <p:nvPr/>
        </p:nvSpPr>
        <p:spPr>
          <a:xfrm>
            <a:off x="7000875" y="3815953"/>
            <a:ext cx="125015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SME2 关</a:t>
            </a:r>
            <a:endParaRPr lang="en-US" sz="850" dirty="0" spc="0"/>
          </a:p>
        </p:txBody>
      </p:sp>
      <p:sp>
        <p:nvSpPr>
          <p:cNvPr id="85" name="data-fp16-on-label"/>
          <p:cNvSpPr txBox="1"/>
          <p:nvPr/>
        </p:nvSpPr>
        <p:spPr>
          <a:xfrm>
            <a:off x="7000875" y="4101703"/>
            <a:ext cx="125015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SME2 开</a:t>
            </a:r>
            <a:endParaRPr lang="en-US" sz="850" dirty="0" spc="0"/>
          </a:p>
        </p:txBody>
      </p:sp>
      <p:sp>
        <p:nvSpPr>
          <p:cNvPr id="86" name="data-fp16-off-value"/>
          <p:cNvSpPr txBox="1"/>
          <p:nvPr/>
        </p:nvSpPr>
        <p:spPr>
          <a:xfrm>
            <a:off x="10983516" y="3810000"/>
            <a:ext cx="803672"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b="1" dirty="0" spc="0">
                <a:solidFill>
                  <a:srgbClr val="173753"/>
                </a:solidFill>
                <a:latin typeface="Microsoft YaHei" pitchFamily="34" charset="0"/>
                <a:ea typeface="Microsoft YaHei" pitchFamily="34" charset="-122"/>
                <a:cs typeface="Microsoft YaHei" pitchFamily="34" charset="-120"/>
              </a:rPr>
              <a:t>1163.0 ms</a:t>
            </a:r>
            <a:endParaRPr lang="en-US" sz="900" dirty="0" spc="0"/>
          </a:p>
        </p:txBody>
      </p:sp>
      <p:sp>
        <p:nvSpPr>
          <p:cNvPr id="87" name="data-fp16-on-value"/>
          <p:cNvSpPr txBox="1"/>
          <p:nvPr/>
        </p:nvSpPr>
        <p:spPr>
          <a:xfrm>
            <a:off x="9197578" y="4095750"/>
            <a:ext cx="803672"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b="1" dirty="0" spc="0">
                <a:solidFill>
                  <a:srgbClr val="173753"/>
                </a:solidFill>
                <a:latin typeface="Microsoft YaHei" pitchFamily="34" charset="0"/>
                <a:ea typeface="Microsoft YaHei" pitchFamily="34" charset="-122"/>
                <a:cs typeface="Microsoft YaHei" pitchFamily="34" charset="-120"/>
              </a:rPr>
              <a:t>298.2 ms</a:t>
            </a:r>
            <a:endParaRPr lang="en-US" sz="900" dirty="0" spc="0"/>
          </a:p>
        </p:txBody>
      </p:sp>
      <p:sp>
        <p:nvSpPr>
          <p:cNvPr id="88" name="movement-share"/>
          <p:cNvSpPr txBox="1"/>
          <p:nvPr/>
        </p:nvSpPr>
        <p:spPr>
          <a:xfrm>
            <a:off x="7006828" y="4738688"/>
            <a:ext cx="4583906"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b="1" dirty="0" spc="0">
                <a:solidFill>
                  <a:srgbClr val="173753"/>
                </a:solidFill>
                <a:latin typeface="Microsoft YaHei" pitchFamily="34" charset="0"/>
                <a:ea typeface="Microsoft YaHei" pitchFamily="34" charset="-122"/>
                <a:cs typeface="Microsoft YaHei" pitchFamily="34" charset="-120"/>
              </a:rPr>
              <a:t>数据搬运占比：SME2 开启后 INT8 41.4%，FP16 39.9%。</a:t>
            </a:r>
            <a:endParaRPr lang="en-US" sz="900" dirty="0" spc="0"/>
          </a:p>
        </p:txBody>
      </p:sp>
      <p:sp>
        <p:nvSpPr>
          <p:cNvPr id="89" name="outcome-1-num"/>
          <p:cNvSpPr txBox="1"/>
          <p:nvPr/>
        </p:nvSpPr>
        <p:spPr>
          <a:xfrm>
            <a:off x="577453" y="5619750"/>
            <a:ext cx="226219" cy="21431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FFFFFF"/>
                </a:solidFill>
                <a:latin typeface="Microsoft YaHei" pitchFamily="34" charset="0"/>
                <a:ea typeface="Microsoft YaHei" pitchFamily="34" charset="-122"/>
                <a:cs typeface="Microsoft YaHei" pitchFamily="34" charset="-120"/>
              </a:rPr>
              <a:t>1</a:t>
            </a:r>
            <a:endParaRPr lang="en-US" sz="800" dirty="0" spc="0"/>
          </a:p>
        </p:txBody>
      </p:sp>
      <p:sp>
        <p:nvSpPr>
          <p:cNvPr id="90" name="outcome-1-head"/>
          <p:cNvSpPr txBox="1"/>
          <p:nvPr/>
        </p:nvSpPr>
        <p:spPr>
          <a:xfrm>
            <a:off x="869156" y="5566172"/>
            <a:ext cx="317301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SME2 计算路径</a:t>
            </a:r>
            <a:endParaRPr lang="en-US" sz="950" dirty="0" spc="0"/>
          </a:p>
        </p:txBody>
      </p:sp>
      <p:sp>
        <p:nvSpPr>
          <p:cNvPr id="91" name="outcome-1-sub"/>
          <p:cNvSpPr txBox="1"/>
          <p:nvPr/>
        </p:nvSpPr>
        <p:spPr>
          <a:xfrm>
            <a:off x="869156" y="5726906"/>
            <a:ext cx="3173016"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按形状复用 tile、pipeline 与 packing</a:t>
            </a:r>
            <a:endParaRPr lang="en-US" sz="850" dirty="0" spc="0"/>
          </a:p>
        </p:txBody>
      </p:sp>
      <p:sp>
        <p:nvSpPr>
          <p:cNvPr id="92" name="outcome-2-num"/>
          <p:cNvSpPr txBox="1"/>
          <p:nvPr/>
        </p:nvSpPr>
        <p:spPr>
          <a:xfrm>
            <a:off x="4316016" y="5619750"/>
            <a:ext cx="226219" cy="21431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FFFFFF"/>
                </a:solidFill>
                <a:latin typeface="Microsoft YaHei" pitchFamily="34" charset="0"/>
                <a:ea typeface="Microsoft YaHei" pitchFamily="34" charset="-122"/>
                <a:cs typeface="Microsoft YaHei" pitchFamily="34" charset="-120"/>
              </a:rPr>
              <a:t>2</a:t>
            </a:r>
            <a:endParaRPr lang="en-US" sz="800" dirty="0" spc="0"/>
          </a:p>
        </p:txBody>
      </p:sp>
      <p:sp>
        <p:nvSpPr>
          <p:cNvPr id="93" name="outcome-2-head"/>
          <p:cNvSpPr txBox="1"/>
          <p:nvPr/>
        </p:nvSpPr>
        <p:spPr>
          <a:xfrm>
            <a:off x="4607719" y="5566172"/>
            <a:ext cx="317301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布局转换与内存搬运</a:t>
            </a:r>
            <a:endParaRPr lang="en-US" sz="950" dirty="0" spc="0"/>
          </a:p>
        </p:txBody>
      </p:sp>
      <p:sp>
        <p:nvSpPr>
          <p:cNvPr id="94" name="outcome-2-sub"/>
          <p:cNvSpPr txBox="1"/>
          <p:nvPr/>
        </p:nvSpPr>
        <p:spPr>
          <a:xfrm>
            <a:off x="4607719" y="5726906"/>
            <a:ext cx="3173016"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重点看布局转换与非矩阵算子</a:t>
            </a:r>
            <a:endParaRPr lang="en-US" sz="850" dirty="0" spc="0"/>
          </a:p>
        </p:txBody>
      </p:sp>
      <p:sp>
        <p:nvSpPr>
          <p:cNvPr id="95" name="outcome-3-num"/>
          <p:cNvSpPr txBox="1"/>
          <p:nvPr/>
        </p:nvSpPr>
        <p:spPr>
          <a:xfrm>
            <a:off x="8054578" y="5619750"/>
            <a:ext cx="226219" cy="21431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00" b="1" dirty="0" spc="0">
                <a:solidFill>
                  <a:srgbClr val="FFFFFF"/>
                </a:solidFill>
                <a:latin typeface="Microsoft YaHei" pitchFamily="34" charset="0"/>
                <a:ea typeface="Microsoft YaHei" pitchFamily="34" charset="-122"/>
                <a:cs typeface="Microsoft YaHei" pitchFamily="34" charset="-120"/>
              </a:rPr>
              <a:t>3</a:t>
            </a:r>
            <a:endParaRPr lang="en-US" sz="800" dirty="0" spc="0"/>
          </a:p>
        </p:txBody>
      </p:sp>
      <p:sp>
        <p:nvSpPr>
          <p:cNvPr id="96" name="outcome-3-head"/>
          <p:cNvSpPr txBox="1"/>
          <p:nvPr/>
        </p:nvSpPr>
        <p:spPr>
          <a:xfrm>
            <a:off x="8346281" y="5566172"/>
            <a:ext cx="323254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性能剖析驱动优化</a:t>
            </a:r>
            <a:endParaRPr lang="en-US" sz="950" dirty="0" spc="0"/>
          </a:p>
        </p:txBody>
      </p:sp>
      <p:sp>
        <p:nvSpPr>
          <p:cNvPr id="97" name="outcome-3-sub"/>
          <p:cNvSpPr txBox="1"/>
          <p:nvPr/>
        </p:nvSpPr>
        <p:spPr>
          <a:xfrm>
            <a:off x="8346281" y="5726906"/>
            <a:ext cx="3232547"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用 ETDump 归因新的时延瓶颈</a:t>
            </a:r>
            <a:endParaRPr lang="en-US" sz="850" dirty="0" spc="0"/>
          </a:p>
        </p:txBody>
      </p:sp>
      <p:sp>
        <p:nvSpPr>
          <p:cNvPr id="98" name="source-line"/>
          <p:cNvSpPr txBox="1"/>
          <p:nvPr/>
        </p:nvSpPr>
        <p:spPr>
          <a:xfrm>
            <a:off x="482203" y="6125766"/>
            <a:ext cx="1077515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证据：PyTorch / Arm ExecuTorch + SME2（vivo X300 / SqueezeSAM，2026）；SMEPilot（CPU 内 SME 机制，2026）。</a:t>
            </a:r>
            <a:endParaRPr lang="en-US" sz="850" dirty="0" spc="0"/>
          </a:p>
        </p:txBody>
      </p:sp>
      <p:sp>
        <p:nvSpPr>
          <p:cNvPr id="99" name="boundary-line"/>
          <p:cNvSpPr txBox="1"/>
          <p:nvPr/>
        </p:nvSpPr>
        <p:spPr>
          <a:xfrm>
            <a:off x="482203" y="6322219"/>
            <a:ext cx="1077515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58738A"/>
                </a:solidFill>
                <a:latin typeface="Microsoft YaHei" pitchFamily="34" charset="0"/>
                <a:ea typeface="Microsoft YaHei" pitchFamily="34" charset="-122"/>
                <a:cs typeface="Microsoft YaHei" pitchFamily="34" charset="-120"/>
              </a:rPr>
              <a:t>边界：第一方视觉模型 CPU 测量；不是 Agent 端到端、CPU 对 NPU 比较或手机电池能耗结论。</a:t>
            </a:r>
            <a:endParaRPr lang="en-US" sz="850" dirty="0" spc="0"/>
          </a:p>
        </p:txBody>
      </p:sp>
      <p:sp>
        <p:nvSpPr>
          <p:cNvPr id="100"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285750" y="1143000"/>
            <a:ext cx="5709047" cy="4804172"/>
          </a:xfrm>
          <a:prstGeom prst="roundRect">
            <a:avLst>
              <a:gd name="adj" fmla="val 1611"/>
            </a:avLst>
          </a:prstGeom>
          <a:solidFill>
            <a:srgbClr val="FFFFFF"/>
          </a:solidFill>
          <a:ln w="8930">
            <a:solidFill>
              <a:srgbClr val="BCD6EC"/>
            </a:solidFill>
            <a:prstDash val="solid"/>
          </a:ln>
        </p:spPr>
      </p:sp>
      <p:sp>
        <p:nvSpPr>
          <p:cNvPr id="3" name="panel-2"/>
          <p:cNvSpPr/>
          <p:nvPr/>
        </p:nvSpPr>
        <p:spPr>
          <a:xfrm>
            <a:off x="6185297" y="1143000"/>
            <a:ext cx="5720953" cy="4804172"/>
          </a:xfrm>
          <a:prstGeom prst="roundRect">
            <a:avLst>
              <a:gd name="adj" fmla="val 1611"/>
            </a:avLst>
          </a:prstGeom>
          <a:solidFill>
            <a:srgbClr val="F7F9FD"/>
          </a:solidFill>
          <a:ln w="8930">
            <a:solidFill>
              <a:srgbClr val="BCD6EC"/>
            </a:solidFill>
            <a:prstDash val="solid"/>
          </a:ln>
        </p:spPr>
      </p:sp>
      <p:sp>
        <p:nvSpPr>
          <p:cNvPr id="4" name="detail-card-1"/>
          <p:cNvSpPr/>
          <p:nvPr/>
        </p:nvSpPr>
        <p:spPr>
          <a:xfrm>
            <a:off x="416719" y="1631156"/>
            <a:ext cx="5857875" cy="2857500"/>
          </a:xfrm>
          <a:prstGeom prst="roundRect">
            <a:avLst>
              <a:gd name="adj" fmla="val 2292"/>
            </a:avLst>
          </a:prstGeom>
          <a:solidFill>
            <a:srgbClr val="F7FBFF"/>
          </a:solidFill>
          <a:ln w="7144">
            <a:solidFill>
              <a:srgbClr val="C7E0F3"/>
            </a:solidFill>
            <a:prstDash val="solid"/>
          </a:ln>
        </p:spPr>
      </p:sp>
      <p:sp>
        <p:nvSpPr>
          <p:cNvPr id="5" name="detail-card-2"/>
          <p:cNvSpPr/>
          <p:nvPr/>
        </p:nvSpPr>
        <p:spPr>
          <a:xfrm>
            <a:off x="6548438" y="1631156"/>
            <a:ext cx="5208984" cy="2857500"/>
          </a:xfrm>
          <a:prstGeom prst="roundRect">
            <a:avLst>
              <a:gd name="adj" fmla="val 2292"/>
            </a:avLst>
          </a:prstGeom>
          <a:solidFill>
            <a:srgbClr val="F7FBFF"/>
          </a:solidFill>
          <a:ln w="7144">
            <a:solidFill>
              <a:srgbClr val="C7E0F3"/>
            </a:solidFill>
            <a:prstDash val="solid"/>
          </a:ln>
        </p:spPr>
      </p:sp>
      <p:sp>
        <p:nvSpPr>
          <p:cNvPr id="6" name="resource-lane-1"/>
          <p:cNvSpPr/>
          <p:nvPr/>
        </p:nvSpPr>
        <p:spPr>
          <a:xfrm>
            <a:off x="1202531" y="3958828"/>
            <a:ext cx="5048250" cy="250031"/>
          </a:xfrm>
          <a:prstGeom prst="rect">
            <a:avLst/>
          </a:prstGeom>
          <a:solidFill>
            <a:srgbClr val="EAF4FB"/>
          </a:solidFill>
          <a:ln w="12700">
            <a:solidFill>
              <a:srgbClr val="FFFFFF">
                <a:alpha val="0"/>
              </a:srgbClr>
            </a:solidFill>
            <a:prstDash val="solid"/>
          </a:ln>
        </p:spPr>
      </p:sp>
      <p:sp>
        <p:nvSpPr>
          <p:cNvPr id="7" name="resource-lane-2"/>
          <p:cNvSpPr/>
          <p:nvPr/>
        </p:nvSpPr>
        <p:spPr>
          <a:xfrm>
            <a:off x="1202531" y="4268391"/>
            <a:ext cx="5048250" cy="250031"/>
          </a:xfrm>
          <a:prstGeom prst="rect">
            <a:avLst/>
          </a:prstGeom>
          <a:solidFill>
            <a:srgbClr val="EAF4FB"/>
          </a:solidFill>
          <a:ln w="12700">
            <a:solidFill>
              <a:srgbClr val="FFFFFF">
                <a:alpha val="0"/>
              </a:srgbClr>
            </a:solidFill>
            <a:prstDash val="solid"/>
          </a:ln>
        </p:spPr>
      </p:sp>
      <p:sp>
        <p:nvSpPr>
          <p:cNvPr id="8" name="resource-lane-3"/>
          <p:cNvSpPr/>
          <p:nvPr/>
        </p:nvSpPr>
        <p:spPr>
          <a:xfrm>
            <a:off x="1202531" y="4583906"/>
            <a:ext cx="5048250" cy="250031"/>
          </a:xfrm>
          <a:prstGeom prst="rect">
            <a:avLst/>
          </a:prstGeom>
          <a:solidFill>
            <a:srgbClr val="EAF4FB"/>
          </a:solidFill>
          <a:ln w="12700">
            <a:solidFill>
              <a:srgbClr val="FFFFFF">
                <a:alpha val="0"/>
              </a:srgbClr>
            </a:solidFill>
            <a:prstDash val="solid"/>
          </a:ln>
        </p:spPr>
      </p:sp>
      <p:sp>
        <p:nvSpPr>
          <p:cNvPr id="9" name="memory-foreground"/>
          <p:cNvSpPr/>
          <p:nvPr/>
        </p:nvSpPr>
        <p:spPr>
          <a:xfrm>
            <a:off x="6625828" y="2488406"/>
            <a:ext cx="1768078" cy="1905000"/>
          </a:xfrm>
          <a:prstGeom prst="roundRect">
            <a:avLst>
              <a:gd name="adj" fmla="val 4377"/>
            </a:avLst>
          </a:prstGeom>
          <a:solidFill>
            <a:srgbClr val="E5F5FF"/>
          </a:solidFill>
          <a:ln w="8930">
            <a:solidFill>
              <a:srgbClr val="BBDCED"/>
            </a:solidFill>
            <a:prstDash val="solid"/>
          </a:ln>
        </p:spPr>
      </p:sp>
      <p:sp>
        <p:nvSpPr>
          <p:cNvPr id="10" name="memory-shared"/>
          <p:cNvSpPr/>
          <p:nvPr/>
        </p:nvSpPr>
        <p:spPr>
          <a:xfrm>
            <a:off x="8649891" y="2488406"/>
            <a:ext cx="1095375" cy="1905000"/>
          </a:xfrm>
          <a:prstGeom prst="roundRect">
            <a:avLst>
              <a:gd name="adj" fmla="val 7065"/>
            </a:avLst>
          </a:prstGeom>
          <a:solidFill>
            <a:srgbClr val="D5ECFA"/>
          </a:solidFill>
          <a:ln w="8930">
            <a:solidFill>
              <a:srgbClr val="BBDCED"/>
            </a:solidFill>
            <a:prstDash val="solid"/>
          </a:ln>
        </p:spPr>
      </p:sp>
      <p:sp>
        <p:nvSpPr>
          <p:cNvPr id="11" name="memory-background"/>
          <p:cNvSpPr/>
          <p:nvPr/>
        </p:nvSpPr>
        <p:spPr>
          <a:xfrm>
            <a:off x="9959578" y="2488406"/>
            <a:ext cx="1821656" cy="1905000"/>
          </a:xfrm>
          <a:prstGeom prst="roundRect">
            <a:avLst>
              <a:gd name="adj" fmla="val 4248"/>
            </a:avLst>
          </a:prstGeom>
          <a:solidFill>
            <a:srgbClr val="FFF1F2"/>
          </a:solidFill>
          <a:ln w="8930">
            <a:solidFill>
              <a:srgbClr val="BBDCED"/>
            </a:solidFill>
            <a:prstDash val="solid"/>
          </a:ln>
        </p:spPr>
      </p:sp>
      <p:sp>
        <p:nvSpPr>
          <p:cNvPr id="12"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13"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14" name="dag-query"/>
          <p:cNvSpPr/>
          <p:nvPr/>
        </p:nvSpPr>
        <p:spPr>
          <a:xfrm>
            <a:off x="476250" y="2428875"/>
            <a:ext cx="1119188" cy="601266"/>
          </a:xfrm>
          <a:prstGeom prst="roundRect">
            <a:avLst>
              <a:gd name="adj" fmla="val 13861"/>
            </a:avLst>
          </a:prstGeom>
          <a:solidFill>
            <a:srgbClr val="E9F5FE"/>
          </a:solidFill>
          <a:ln w="10120">
            <a:solidFill>
              <a:srgbClr val="9FCCEC"/>
            </a:solidFill>
            <a:prstDash val="solid"/>
          </a:ln>
        </p:spPr>
      </p:sp>
      <p:sp>
        <p:nvSpPr>
          <p:cNvPr id="15" name="dag-retrieval"/>
          <p:cNvSpPr/>
          <p:nvPr/>
        </p:nvSpPr>
        <p:spPr>
          <a:xfrm>
            <a:off x="1803797" y="2428875"/>
            <a:ext cx="1178719" cy="541734"/>
          </a:xfrm>
          <a:prstGeom prst="roundRect">
            <a:avLst>
              <a:gd name="adj" fmla="val 15385"/>
            </a:avLst>
          </a:prstGeom>
          <a:solidFill>
            <a:srgbClr val="E9F5FE"/>
          </a:solidFill>
          <a:ln w="10120">
            <a:solidFill>
              <a:srgbClr val="9FCCEC"/>
            </a:solidFill>
            <a:prstDash val="solid"/>
          </a:ln>
        </p:spPr>
      </p:sp>
      <p:sp>
        <p:nvSpPr>
          <p:cNvPr id="16" name="dag-rerank"/>
          <p:cNvSpPr/>
          <p:nvPr/>
        </p:nvSpPr>
        <p:spPr>
          <a:xfrm>
            <a:off x="1922859" y="3065859"/>
            <a:ext cx="1131094" cy="541734"/>
          </a:xfrm>
          <a:prstGeom prst="roundRect">
            <a:avLst>
              <a:gd name="adj" fmla="val 15385"/>
            </a:avLst>
          </a:prstGeom>
          <a:solidFill>
            <a:srgbClr val="E9F5FE"/>
          </a:solidFill>
          <a:ln w="10120">
            <a:solidFill>
              <a:srgbClr val="9FCCEC"/>
            </a:solidFill>
            <a:prstDash val="solid"/>
          </a:ln>
        </p:spPr>
      </p:sp>
      <p:sp>
        <p:nvSpPr>
          <p:cNvPr id="17" name="dag-summary"/>
          <p:cNvSpPr/>
          <p:nvPr/>
        </p:nvSpPr>
        <p:spPr>
          <a:xfrm>
            <a:off x="3458766" y="2428875"/>
            <a:ext cx="1369219" cy="541734"/>
          </a:xfrm>
          <a:prstGeom prst="roundRect">
            <a:avLst>
              <a:gd name="adj" fmla="val 15385"/>
            </a:avLst>
          </a:prstGeom>
          <a:solidFill>
            <a:srgbClr val="E9F5FE"/>
          </a:solidFill>
          <a:ln w="10120">
            <a:solidFill>
              <a:srgbClr val="9FCCEC"/>
            </a:solidFill>
            <a:prstDash val="solid"/>
          </a:ln>
        </p:spPr>
      </p:sp>
      <p:sp>
        <p:nvSpPr>
          <p:cNvPr id="18" name="dag-verify"/>
          <p:cNvSpPr/>
          <p:nvPr/>
        </p:nvSpPr>
        <p:spPr>
          <a:xfrm>
            <a:off x="3571875" y="3065859"/>
            <a:ext cx="1196578" cy="541734"/>
          </a:xfrm>
          <a:prstGeom prst="roundRect">
            <a:avLst>
              <a:gd name="adj" fmla="val 15385"/>
            </a:avLst>
          </a:prstGeom>
          <a:solidFill>
            <a:srgbClr val="E9F5FE"/>
          </a:solidFill>
          <a:ln w="10120">
            <a:solidFill>
              <a:srgbClr val="9FCCEC"/>
            </a:solidFill>
            <a:prstDash val="solid"/>
          </a:ln>
        </p:spPr>
      </p:sp>
      <p:sp>
        <p:nvSpPr>
          <p:cNvPr id="19" name="dag-answer"/>
          <p:cNvSpPr/>
          <p:nvPr/>
        </p:nvSpPr>
        <p:spPr>
          <a:xfrm>
            <a:off x="5185172" y="2649141"/>
            <a:ext cx="1077516" cy="541734"/>
          </a:xfrm>
          <a:prstGeom prst="roundRect">
            <a:avLst>
              <a:gd name="adj" fmla="val 15385"/>
            </a:avLst>
          </a:prstGeom>
          <a:solidFill>
            <a:srgbClr val="E9F5FE"/>
          </a:solidFill>
          <a:ln w="10120">
            <a:solidFill>
              <a:srgbClr val="9FCCEC"/>
            </a:solidFill>
            <a:prstDash val="solid"/>
          </a:ln>
        </p:spPr>
      </p:sp>
      <p:sp>
        <p:nvSpPr>
          <p:cNvPr id="20" name="resource-phase-1"/>
          <p:cNvSpPr/>
          <p:nvPr/>
        </p:nvSpPr>
        <p:spPr>
          <a:xfrm>
            <a:off x="1202531" y="3976687"/>
            <a:ext cx="1059656" cy="214313"/>
          </a:xfrm>
          <a:prstGeom prst="roundRect">
            <a:avLst>
              <a:gd name="adj" fmla="val 13889"/>
            </a:avLst>
          </a:prstGeom>
          <a:solidFill>
            <a:srgbClr val="B6DDF6"/>
          </a:solidFill>
          <a:ln w="6350">
            <a:solidFill>
              <a:srgbClr val="91C8EB"/>
            </a:solidFill>
            <a:prstDash val="solid"/>
          </a:ln>
        </p:spPr>
      </p:sp>
      <p:sp>
        <p:nvSpPr>
          <p:cNvPr id="21" name="resource-phase-2"/>
          <p:cNvSpPr/>
          <p:nvPr/>
        </p:nvSpPr>
        <p:spPr>
          <a:xfrm>
            <a:off x="3726656" y="3976687"/>
            <a:ext cx="1107281" cy="214313"/>
          </a:xfrm>
          <a:prstGeom prst="roundRect">
            <a:avLst>
              <a:gd name="adj" fmla="val 13889"/>
            </a:avLst>
          </a:prstGeom>
          <a:solidFill>
            <a:srgbClr val="B6DDF6"/>
          </a:solidFill>
          <a:ln w="6350">
            <a:solidFill>
              <a:srgbClr val="91C8EB"/>
            </a:solidFill>
            <a:prstDash val="solid"/>
          </a:ln>
        </p:spPr>
      </p:sp>
      <p:sp>
        <p:nvSpPr>
          <p:cNvPr id="22" name="resource-phase-3"/>
          <p:cNvSpPr/>
          <p:nvPr/>
        </p:nvSpPr>
        <p:spPr>
          <a:xfrm>
            <a:off x="2351484" y="4292203"/>
            <a:ext cx="976313" cy="214313"/>
          </a:xfrm>
          <a:prstGeom prst="roundRect">
            <a:avLst>
              <a:gd name="adj" fmla="val 13889"/>
            </a:avLst>
          </a:prstGeom>
          <a:solidFill>
            <a:srgbClr val="B6DDF6"/>
          </a:solidFill>
          <a:ln w="6350">
            <a:solidFill>
              <a:srgbClr val="91C8EB"/>
            </a:solidFill>
            <a:prstDash val="solid"/>
          </a:ln>
        </p:spPr>
      </p:sp>
      <p:sp>
        <p:nvSpPr>
          <p:cNvPr id="23" name="resource-phase-4"/>
          <p:cNvSpPr/>
          <p:nvPr/>
        </p:nvSpPr>
        <p:spPr>
          <a:xfrm>
            <a:off x="3476625" y="4292203"/>
            <a:ext cx="1160859" cy="214313"/>
          </a:xfrm>
          <a:prstGeom prst="roundRect">
            <a:avLst>
              <a:gd name="adj" fmla="val 13889"/>
            </a:avLst>
          </a:prstGeom>
          <a:solidFill>
            <a:srgbClr val="B6DDF6"/>
          </a:solidFill>
          <a:ln w="6350">
            <a:solidFill>
              <a:srgbClr val="91C8EB"/>
            </a:solidFill>
            <a:prstDash val="solid"/>
          </a:ln>
        </p:spPr>
      </p:sp>
      <p:sp>
        <p:nvSpPr>
          <p:cNvPr id="24" name="resource-phase-5"/>
          <p:cNvSpPr/>
          <p:nvPr/>
        </p:nvSpPr>
        <p:spPr>
          <a:xfrm>
            <a:off x="5060156" y="4292203"/>
            <a:ext cx="1190625" cy="214313"/>
          </a:xfrm>
          <a:prstGeom prst="roundRect">
            <a:avLst>
              <a:gd name="adj" fmla="val 13889"/>
            </a:avLst>
          </a:prstGeom>
          <a:solidFill>
            <a:srgbClr val="B6DDF6"/>
          </a:solidFill>
          <a:ln w="6350">
            <a:solidFill>
              <a:srgbClr val="91C8EB"/>
            </a:solidFill>
            <a:prstDash val="solid"/>
          </a:ln>
        </p:spPr>
      </p:sp>
      <p:sp>
        <p:nvSpPr>
          <p:cNvPr id="25" name="resource-phase-6"/>
          <p:cNvSpPr/>
          <p:nvPr/>
        </p:nvSpPr>
        <p:spPr>
          <a:xfrm>
            <a:off x="1518047" y="4607719"/>
            <a:ext cx="1202531" cy="214313"/>
          </a:xfrm>
          <a:prstGeom prst="roundRect">
            <a:avLst>
              <a:gd name="adj" fmla="val 13889"/>
            </a:avLst>
          </a:prstGeom>
          <a:solidFill>
            <a:srgbClr val="B6DDF6"/>
          </a:solidFill>
          <a:ln w="6350">
            <a:solidFill>
              <a:srgbClr val="91C8EB"/>
            </a:solidFill>
            <a:prstDash val="solid"/>
          </a:ln>
        </p:spPr>
      </p:sp>
      <p:sp>
        <p:nvSpPr>
          <p:cNvPr id="26" name="memory-stage-1"/>
          <p:cNvSpPr/>
          <p:nvPr/>
        </p:nvSpPr>
        <p:spPr>
          <a:xfrm>
            <a:off x="6697266" y="2958703"/>
            <a:ext cx="1214438" cy="333375"/>
          </a:xfrm>
          <a:prstGeom prst="roundRect">
            <a:avLst>
              <a:gd name="adj" fmla="val 14286"/>
            </a:avLst>
          </a:prstGeom>
          <a:solidFill>
            <a:srgbClr val="FFFFFF"/>
          </a:solidFill>
          <a:ln w="6350">
            <a:solidFill>
              <a:srgbClr val="A9D5EE"/>
            </a:solidFill>
            <a:prstDash val="solid"/>
          </a:ln>
        </p:spPr>
      </p:sp>
      <p:sp>
        <p:nvSpPr>
          <p:cNvPr id="27" name="memory-stage-2"/>
          <p:cNvSpPr/>
          <p:nvPr/>
        </p:nvSpPr>
        <p:spPr>
          <a:xfrm>
            <a:off x="6697266" y="3417094"/>
            <a:ext cx="1214438" cy="333375"/>
          </a:xfrm>
          <a:prstGeom prst="roundRect">
            <a:avLst>
              <a:gd name="adj" fmla="val 14286"/>
            </a:avLst>
          </a:prstGeom>
          <a:solidFill>
            <a:srgbClr val="FFFFFF"/>
          </a:solidFill>
          <a:ln w="6350">
            <a:solidFill>
              <a:srgbClr val="A9D5EE"/>
            </a:solidFill>
            <a:prstDash val="solid"/>
          </a:ln>
        </p:spPr>
      </p:sp>
      <p:sp>
        <p:nvSpPr>
          <p:cNvPr id="28" name="memory-stage-3"/>
          <p:cNvSpPr/>
          <p:nvPr/>
        </p:nvSpPr>
        <p:spPr>
          <a:xfrm>
            <a:off x="6697266" y="3875484"/>
            <a:ext cx="1214438" cy="333375"/>
          </a:xfrm>
          <a:prstGeom prst="roundRect">
            <a:avLst>
              <a:gd name="adj" fmla="val 14286"/>
            </a:avLst>
          </a:prstGeom>
          <a:solidFill>
            <a:srgbClr val="FFFFFF"/>
          </a:solidFill>
          <a:ln w="6350">
            <a:solidFill>
              <a:srgbClr val="A9D5EE"/>
            </a:solidFill>
            <a:prstDash val="solid"/>
          </a:ln>
        </p:spPr>
      </p:sp>
      <p:sp>
        <p:nvSpPr>
          <p:cNvPr id="29" name="memory-stage-4"/>
          <p:cNvSpPr/>
          <p:nvPr/>
        </p:nvSpPr>
        <p:spPr>
          <a:xfrm>
            <a:off x="8792766" y="3411141"/>
            <a:ext cx="809625" cy="369094"/>
          </a:xfrm>
          <a:prstGeom prst="roundRect">
            <a:avLst>
              <a:gd name="adj" fmla="val 12903"/>
            </a:avLst>
          </a:prstGeom>
          <a:solidFill>
            <a:srgbClr val="0D8BD4"/>
          </a:solidFill>
          <a:ln w="6350">
            <a:solidFill>
              <a:srgbClr val="A9D5EE"/>
            </a:solidFill>
            <a:prstDash val="solid"/>
          </a:ln>
        </p:spPr>
      </p:sp>
      <p:sp>
        <p:nvSpPr>
          <p:cNvPr id="30" name="memory-stage-5"/>
          <p:cNvSpPr/>
          <p:nvPr/>
        </p:nvSpPr>
        <p:spPr>
          <a:xfrm>
            <a:off x="8792766" y="3810000"/>
            <a:ext cx="809625" cy="369094"/>
          </a:xfrm>
          <a:prstGeom prst="roundRect">
            <a:avLst>
              <a:gd name="adj" fmla="val 12903"/>
            </a:avLst>
          </a:prstGeom>
          <a:solidFill>
            <a:srgbClr val="EE5C79"/>
          </a:solidFill>
          <a:ln w="6350">
            <a:solidFill>
              <a:srgbClr val="A9D5EE"/>
            </a:solidFill>
            <a:prstDash val="solid"/>
          </a:ln>
        </p:spPr>
      </p:sp>
      <p:sp>
        <p:nvSpPr>
          <p:cNvPr id="31" name="memory-stage-6"/>
          <p:cNvSpPr/>
          <p:nvPr/>
        </p:nvSpPr>
        <p:spPr>
          <a:xfrm>
            <a:off x="10596563" y="2952750"/>
            <a:ext cx="1047750" cy="333375"/>
          </a:xfrm>
          <a:prstGeom prst="roundRect">
            <a:avLst>
              <a:gd name="adj" fmla="val 14286"/>
            </a:avLst>
          </a:prstGeom>
          <a:solidFill>
            <a:srgbClr val="FFFFFF"/>
          </a:solidFill>
          <a:ln w="6350">
            <a:solidFill>
              <a:srgbClr val="A9D5EE"/>
            </a:solidFill>
            <a:prstDash val="solid"/>
          </a:ln>
        </p:spPr>
      </p:sp>
      <p:sp>
        <p:nvSpPr>
          <p:cNvPr id="32" name="memory-stage-7"/>
          <p:cNvSpPr/>
          <p:nvPr/>
        </p:nvSpPr>
        <p:spPr>
          <a:xfrm>
            <a:off x="10596563" y="3417094"/>
            <a:ext cx="1047750" cy="333375"/>
          </a:xfrm>
          <a:prstGeom prst="roundRect">
            <a:avLst>
              <a:gd name="adj" fmla="val 14286"/>
            </a:avLst>
          </a:prstGeom>
          <a:solidFill>
            <a:srgbClr val="FFFFFF"/>
          </a:solidFill>
          <a:ln w="6350">
            <a:solidFill>
              <a:srgbClr val="A9D5EE"/>
            </a:solidFill>
            <a:prstDash val="solid"/>
          </a:ln>
        </p:spPr>
      </p:sp>
      <p:sp>
        <p:nvSpPr>
          <p:cNvPr id="33" name="memory-stage-8"/>
          <p:cNvSpPr/>
          <p:nvPr/>
        </p:nvSpPr>
        <p:spPr>
          <a:xfrm>
            <a:off x="10596563" y="3875484"/>
            <a:ext cx="1047750" cy="333375"/>
          </a:xfrm>
          <a:prstGeom prst="roundRect">
            <a:avLst>
              <a:gd name="adj" fmla="val 14286"/>
            </a:avLst>
          </a:prstGeom>
          <a:solidFill>
            <a:srgbClr val="FFFFFF"/>
          </a:solidFill>
          <a:ln w="6350">
            <a:solidFill>
              <a:srgbClr val="A9D5EE"/>
            </a:solidFill>
            <a:prstDash val="solid"/>
          </a:ln>
        </p:spPr>
      </p:sp>
      <p:sp>
        <p:nvSpPr>
          <p:cNvPr id="34" name="blue-bar-1"/>
          <p:cNvSpPr/>
          <p:nvPr/>
        </p:nvSpPr>
        <p:spPr>
          <a:xfrm>
            <a:off x="321469" y="1244203"/>
            <a:ext cx="6090047" cy="333375"/>
          </a:xfrm>
          <a:prstGeom prst="roundRect">
            <a:avLst>
              <a:gd name="adj" fmla="val 14286"/>
            </a:avLst>
          </a:prstGeom>
          <a:solidFill>
            <a:srgbClr val="1769B1"/>
          </a:solidFill>
          <a:ln w="12700">
            <a:solidFill>
              <a:srgbClr val="FFFFFF">
                <a:alpha val="0"/>
              </a:srgbClr>
            </a:solidFill>
            <a:prstDash val="solid"/>
          </a:ln>
        </p:spPr>
      </p:sp>
      <p:sp>
        <p:nvSpPr>
          <p:cNvPr id="35" name="blue-bar-2"/>
          <p:cNvSpPr/>
          <p:nvPr/>
        </p:nvSpPr>
        <p:spPr>
          <a:xfrm>
            <a:off x="6500813" y="1244203"/>
            <a:ext cx="5399484" cy="339328"/>
          </a:xfrm>
          <a:prstGeom prst="roundRect">
            <a:avLst>
              <a:gd name="adj" fmla="val 14035"/>
            </a:avLst>
          </a:prstGeom>
          <a:solidFill>
            <a:srgbClr val="1769B1"/>
          </a:solidFill>
          <a:ln w="12700">
            <a:solidFill>
              <a:srgbClr val="FFFFFF">
                <a:alpha val="0"/>
              </a:srgbClr>
            </a:solidFill>
            <a:prstDash val="solid"/>
          </a:ln>
        </p:spPr>
      </p:sp>
      <p:sp>
        <p:nvSpPr>
          <p:cNvPr id="36" name="blue-bar-3"/>
          <p:cNvSpPr/>
          <p:nvPr/>
        </p:nvSpPr>
        <p:spPr>
          <a:xfrm>
            <a:off x="4685109" y="4893469"/>
            <a:ext cx="2845594" cy="511969"/>
          </a:xfrm>
          <a:prstGeom prst="roundRect">
            <a:avLst>
              <a:gd name="adj" fmla="val 9302"/>
            </a:avLst>
          </a:prstGeom>
          <a:solidFill>
            <a:srgbClr val="1769B1"/>
          </a:solidFill>
          <a:ln w="12700">
            <a:solidFill>
              <a:srgbClr val="FFFFFF">
                <a:alpha val="0"/>
              </a:srgbClr>
            </a:solidFill>
            <a:prstDash val="solid"/>
          </a:ln>
        </p:spPr>
      </p:sp>
      <p:cxnSp>
        <p:nvCxnSpPr>
          <p:cNvPr id="37" name="SC_CONNECTOR__dag-to-qoe__0"/>
          <p:cNvCxnSpPr/>
          <p:nvPr/>
        </p:nvCxnSpPr>
        <p:spPr>
          <a:xfrm>
            <a:off x="5994797" y="3545086"/>
            <a:ext cx="190500" cy="0"/>
          </a:xfrm>
          <a:prstGeom prst="line">
            <a:avLst/>
          </a:prstGeom>
          <a:noFill/>
          <a:ln w="17859">
            <a:solidFill>
              <a:srgbClr val="2473B6"/>
            </a:solidFill>
            <a:prstDash val="solid"/>
            <a:round/>
            <a:headEnd type="none"/>
            <a:tailEnd type="triangle" w="med" len="med"/>
          </a:ln>
        </p:spPr>
      </p:cxnSp>
      <p:sp>
        <p:nvSpPr>
          <p:cNvPr id="38" name="SC_FREEFORM_ROUTE__dag-query-to-retrieval__0"/>
          <p:cNvSpPr/>
          <p:nvPr/>
        </p:nvSpPr>
        <p:spPr>
          <a:xfrm>
            <a:off x="1595438" y="2699742"/>
            <a:ext cx="208359" cy="29766"/>
          </a:xfrm>
          <a:custGeom>
            <a:avLst/>
            <a:gdLst/>
            <a:ahLst/>
            <a:cxnLst/>
            <a:rect l="l" t="t" r="r" b="b"/>
            <a:pathLst>
              <a:path w="208359" h="29766">
                <a:moveTo>
                  <a:pt x="0" y="29766"/>
                </a:moveTo>
                <a:lnTo>
                  <a:pt x="104180" y="29766"/>
                </a:lnTo>
                <a:lnTo>
                  <a:pt x="104180" y="0"/>
                </a:lnTo>
                <a:lnTo>
                  <a:pt x="208359" y="0"/>
                </a:lnTo>
              </a:path>
            </a:pathLst>
          </a:custGeom>
          <a:solidFill>
            <a:srgbClr val="FFFFFF">
              <a:alpha val="0"/>
            </a:srgbClr>
          </a:solidFill>
          <a:ln w="17859">
            <a:solidFill>
              <a:srgbClr val="2473B6"/>
            </a:solidFill>
            <a:prstDash val="solid"/>
            <a:round/>
            <a:headEnd type="none"/>
            <a:tailEnd type="triangle" w="med" len="med"/>
          </a:ln>
        </p:spPr>
      </p:sp>
      <p:sp>
        <p:nvSpPr>
          <p:cNvPr id="39" name="SC_FREEFORM_ROUTE__dag-query-to-rerank__0"/>
          <p:cNvSpPr/>
          <p:nvPr/>
        </p:nvSpPr>
        <p:spPr>
          <a:xfrm>
            <a:off x="1595438" y="2729508"/>
            <a:ext cx="327422" cy="607219"/>
          </a:xfrm>
          <a:custGeom>
            <a:avLst/>
            <a:gdLst/>
            <a:ahLst/>
            <a:cxnLst/>
            <a:rect l="l" t="t" r="r" b="b"/>
            <a:pathLst>
              <a:path w="327422" h="607219">
                <a:moveTo>
                  <a:pt x="0" y="0"/>
                </a:moveTo>
                <a:lnTo>
                  <a:pt x="163711" y="0"/>
                </a:lnTo>
                <a:lnTo>
                  <a:pt x="163711" y="607219"/>
                </a:lnTo>
                <a:lnTo>
                  <a:pt x="327422" y="607219"/>
                </a:lnTo>
              </a:path>
            </a:pathLst>
          </a:custGeom>
          <a:solidFill>
            <a:srgbClr val="FFFFFF">
              <a:alpha val="0"/>
            </a:srgbClr>
          </a:solidFill>
          <a:ln w="17859">
            <a:solidFill>
              <a:srgbClr val="2473B6"/>
            </a:solidFill>
            <a:prstDash val="solid"/>
            <a:round/>
            <a:headEnd type="none"/>
            <a:tailEnd type="triangle" w="med" len="med"/>
          </a:ln>
        </p:spPr>
      </p:sp>
      <p:cxnSp>
        <p:nvCxnSpPr>
          <p:cNvPr id="40" name="SC_CONNECTOR__dag-retrieval-to-summary__0"/>
          <p:cNvCxnSpPr/>
          <p:nvPr/>
        </p:nvCxnSpPr>
        <p:spPr>
          <a:xfrm>
            <a:off x="2982516" y="2699742"/>
            <a:ext cx="476250" cy="0"/>
          </a:xfrm>
          <a:prstGeom prst="line">
            <a:avLst/>
          </a:prstGeom>
          <a:noFill/>
          <a:ln w="17859">
            <a:solidFill>
              <a:srgbClr val="2473B6"/>
            </a:solidFill>
            <a:prstDash val="solid"/>
            <a:round/>
            <a:headEnd type="none"/>
            <a:tailEnd type="triangle" w="med" len="med"/>
          </a:ln>
        </p:spPr>
      </p:cxnSp>
      <p:cxnSp>
        <p:nvCxnSpPr>
          <p:cNvPr id="41" name="SC_CONNECTOR__dag-rerank-to-verify__0"/>
          <p:cNvCxnSpPr/>
          <p:nvPr/>
        </p:nvCxnSpPr>
        <p:spPr>
          <a:xfrm>
            <a:off x="3053953" y="3336727"/>
            <a:ext cx="517922" cy="0"/>
          </a:xfrm>
          <a:prstGeom prst="line">
            <a:avLst/>
          </a:prstGeom>
          <a:noFill/>
          <a:ln w="17859">
            <a:solidFill>
              <a:srgbClr val="2473B6"/>
            </a:solidFill>
            <a:prstDash val="solid"/>
            <a:round/>
            <a:headEnd type="none"/>
            <a:tailEnd type="triangle" w="med" len="med"/>
          </a:ln>
        </p:spPr>
      </p:cxnSp>
      <p:sp>
        <p:nvSpPr>
          <p:cNvPr id="42" name="SC_FREEFORM_ROUTE__dag-summary-to-answer__0"/>
          <p:cNvSpPr/>
          <p:nvPr/>
        </p:nvSpPr>
        <p:spPr>
          <a:xfrm>
            <a:off x="4827984" y="2699742"/>
            <a:ext cx="357188" cy="220266"/>
          </a:xfrm>
          <a:custGeom>
            <a:avLst/>
            <a:gdLst/>
            <a:ahLst/>
            <a:cxnLst/>
            <a:rect l="l" t="t" r="r" b="b"/>
            <a:pathLst>
              <a:path w="357188" h="220266">
                <a:moveTo>
                  <a:pt x="0" y="0"/>
                </a:moveTo>
                <a:lnTo>
                  <a:pt x="178594" y="0"/>
                </a:lnTo>
                <a:lnTo>
                  <a:pt x="178594" y="220266"/>
                </a:lnTo>
                <a:lnTo>
                  <a:pt x="357188" y="220266"/>
                </a:lnTo>
              </a:path>
            </a:pathLst>
          </a:custGeom>
          <a:solidFill>
            <a:srgbClr val="FFFFFF">
              <a:alpha val="0"/>
            </a:srgbClr>
          </a:solidFill>
          <a:ln w="17859">
            <a:solidFill>
              <a:srgbClr val="2473B6"/>
            </a:solidFill>
            <a:prstDash val="solid"/>
            <a:round/>
            <a:headEnd type="none"/>
            <a:tailEnd type="triangle" w="med" len="med"/>
          </a:ln>
        </p:spPr>
      </p:sp>
      <p:sp>
        <p:nvSpPr>
          <p:cNvPr id="43" name="SC_FREEFORM_ROUTE__dag-verify-to-answer__0"/>
          <p:cNvSpPr/>
          <p:nvPr/>
        </p:nvSpPr>
        <p:spPr>
          <a:xfrm>
            <a:off x="4768453" y="2920008"/>
            <a:ext cx="416719" cy="416719"/>
          </a:xfrm>
          <a:custGeom>
            <a:avLst/>
            <a:gdLst/>
            <a:ahLst/>
            <a:cxnLst/>
            <a:rect l="l" t="t" r="r" b="b"/>
            <a:pathLst>
              <a:path w="416719" h="416719">
                <a:moveTo>
                  <a:pt x="0" y="416719"/>
                </a:moveTo>
                <a:lnTo>
                  <a:pt x="208359" y="416719"/>
                </a:lnTo>
                <a:lnTo>
                  <a:pt x="208359" y="0"/>
                </a:lnTo>
                <a:lnTo>
                  <a:pt x="416719" y="0"/>
                </a:lnTo>
              </a:path>
            </a:pathLst>
          </a:custGeom>
          <a:solidFill>
            <a:srgbClr val="FFFFFF">
              <a:alpha val="0"/>
            </a:srgbClr>
          </a:solidFill>
          <a:ln w="17859">
            <a:solidFill>
              <a:srgbClr val="2473B6"/>
            </a:solidFill>
            <a:prstDash val="solid"/>
            <a:round/>
            <a:headEnd type="none"/>
            <a:tailEnd type="triangle" w="med" len="med"/>
          </a:ln>
        </p:spPr>
      </p:sp>
      <p:sp>
        <p:nvSpPr>
          <p:cNvPr id="44" name="ocr-001"/>
          <p:cNvSpPr txBox="1"/>
          <p:nvPr/>
        </p:nvSpPr>
        <p:spPr>
          <a:xfrm>
            <a:off x="559594" y="410766"/>
            <a:ext cx="10673953" cy="369094"/>
          </a:xfrm>
          <a:prstGeom prst="rect">
            <a:avLst/>
          </a:prstGeom>
          <a:noFill/>
          <a:ln/>
        </p:spPr>
        <p:txBody>
          <a:bodyPr wrap="square" lIns="0" tIns="0" rIns="0" bIns="0" rtlCol="0" anchor="ctr">
            <a:noAutofit/>
          </a:bodyPr>
          <a:lstStyle/>
          <a:p>
            <a:pPr algn="l" indent="0" marL="0">
              <a:lnSpc>
                <a:spcPct val="100000"/>
              </a:lnSpc>
              <a:buNone/>
              <a:defRPr spc="0"/>
            </a:pPr>
            <a:r>
              <a:rPr lang="en-US" sz="2500" b="1" dirty="0" spc="0">
                <a:solidFill>
                  <a:srgbClr val="102C55"/>
                </a:solidFill>
                <a:latin typeface="Microsoft YaHei" pitchFamily="34" charset="0"/>
                <a:ea typeface="Microsoft YaHei" pitchFamily="34" charset="-122"/>
                <a:cs typeface="Microsoft YaHei" pitchFamily="34" charset="-120"/>
              </a:rPr>
              <a:t>Agent工作流调度与前台内存争用应由Runtime/OS协同管理</a:t>
            </a:r>
            <a:endParaRPr lang="en-US" sz="2500" dirty="0" spc="0"/>
          </a:p>
        </p:txBody>
      </p:sp>
      <p:sp>
        <p:nvSpPr>
          <p:cNvPr id="45" name="ocr-002"/>
          <p:cNvSpPr txBox="1"/>
          <p:nvPr/>
        </p:nvSpPr>
        <p:spPr>
          <a:xfrm>
            <a:off x="553641" y="791766"/>
            <a:ext cx="7506891"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00" dirty="0" spc="0">
                <a:solidFill>
                  <a:srgbClr val="58738A"/>
                </a:solidFill>
                <a:latin typeface="Microsoft YaHei" pitchFamily="34" charset="0"/>
                <a:ea typeface="Microsoft YaHei" pitchFamily="34" charset="-122"/>
                <a:cs typeface="Microsoft YaHei" pitchFamily="34" charset="-120"/>
              </a:rPr>
              <a:t>HeRo优化任务依赖与资源放置；SERENO 约束后台计算对前台交互的影响。</a:t>
            </a:r>
            <a:endParaRPr lang="en-US" sz="1300" dirty="0" spc="0"/>
          </a:p>
        </p:txBody>
      </p:sp>
      <p:sp>
        <p:nvSpPr>
          <p:cNvPr id="46" name="ocr-003"/>
          <p:cNvSpPr txBox="1"/>
          <p:nvPr/>
        </p:nvSpPr>
        <p:spPr>
          <a:xfrm>
            <a:off x="756047" y="1309688"/>
            <a:ext cx="4113609"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FFFFFF"/>
                </a:solidFill>
                <a:latin typeface="Microsoft YaHei" pitchFamily="34" charset="0"/>
                <a:ea typeface="Microsoft YaHei" pitchFamily="34" charset="-122"/>
                <a:cs typeface="Microsoft YaHei" pitchFamily="34" charset="-120"/>
              </a:rPr>
              <a:t>HeRo：面向AgenticRAG的动态工作流调度</a:t>
            </a:r>
            <a:endParaRPr lang="en-US" sz="1050" dirty="0" spc="0"/>
          </a:p>
        </p:txBody>
      </p:sp>
      <p:sp>
        <p:nvSpPr>
          <p:cNvPr id="47" name="ocr-004"/>
          <p:cNvSpPr txBox="1"/>
          <p:nvPr/>
        </p:nvSpPr>
        <p:spPr>
          <a:xfrm>
            <a:off x="4905375" y="1327547"/>
            <a:ext cx="17442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HeRo (arXiv 2603.01661)</a:t>
            </a:r>
            <a:endParaRPr lang="en-US" sz="800" dirty="0" spc="0"/>
          </a:p>
        </p:txBody>
      </p:sp>
      <p:sp>
        <p:nvSpPr>
          <p:cNvPr id="48" name="ocr-005"/>
          <p:cNvSpPr txBox="1"/>
          <p:nvPr/>
        </p:nvSpPr>
        <p:spPr>
          <a:xfrm>
            <a:off x="6929438" y="1309688"/>
            <a:ext cx="3720703"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FFFFFF"/>
                </a:solidFill>
                <a:latin typeface="Microsoft YaHei" pitchFamily="34" charset="0"/>
                <a:ea typeface="Microsoft YaHei" pitchFamily="34" charset="-122"/>
                <a:cs typeface="Microsoft YaHei" pitchFamily="34" charset="-120"/>
              </a:rPr>
              <a:t>SERENO：约束后台计算对前台交互的内存影响</a:t>
            </a:r>
            <a:endParaRPr lang="en-US" sz="1000" dirty="0" spc="0"/>
          </a:p>
        </p:txBody>
      </p:sp>
      <p:sp>
        <p:nvSpPr>
          <p:cNvPr id="49" name="ocr-006"/>
          <p:cNvSpPr txBox="1"/>
          <p:nvPr/>
        </p:nvSpPr>
        <p:spPr>
          <a:xfrm>
            <a:off x="10679906" y="1309688"/>
            <a:ext cx="145851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FFFFFF"/>
                </a:solidFill>
                <a:latin typeface="Microsoft YaHei" pitchFamily="34" charset="0"/>
                <a:ea typeface="Microsoft YaHei" pitchFamily="34" charset="-122"/>
                <a:cs typeface="Microsoft YaHei" pitchFamily="34" charset="-120"/>
              </a:rPr>
              <a:t>SERENO(OSDI2026)</a:t>
            </a:r>
            <a:endParaRPr lang="en-US" sz="950" dirty="0" spc="0"/>
          </a:p>
        </p:txBody>
      </p:sp>
      <p:sp>
        <p:nvSpPr>
          <p:cNvPr id="50" name="ocr-007"/>
          <p:cNvSpPr txBox="1"/>
          <p:nvPr/>
        </p:nvSpPr>
        <p:spPr>
          <a:xfrm>
            <a:off x="976313" y="1684734"/>
            <a:ext cx="61257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将复杂的RAG任务表示为有向无环图（DAG），在运行时根据依赖、数据量和资源状态</a:t>
            </a:r>
            <a:endParaRPr lang="en-US" sz="800" dirty="0" spc="0"/>
          </a:p>
        </p:txBody>
      </p:sp>
      <p:sp>
        <p:nvSpPr>
          <p:cNvPr id="51" name="ocr-008"/>
          <p:cNvSpPr txBox="1"/>
          <p:nvPr/>
        </p:nvSpPr>
        <p:spPr>
          <a:xfrm>
            <a:off x="7143750" y="1720453"/>
            <a:ext cx="5030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检测并限制后台LLM计算对前台应用的内存带宽占用，通过Runtime/OS的内存资源</a:t>
            </a:r>
            <a:endParaRPr lang="en-US" sz="800" dirty="0" spc="0"/>
          </a:p>
        </p:txBody>
      </p:sp>
      <p:sp>
        <p:nvSpPr>
          <p:cNvPr id="52" name="ocr-009"/>
          <p:cNvSpPr txBox="1"/>
          <p:nvPr/>
        </p:nvSpPr>
        <p:spPr>
          <a:xfrm>
            <a:off x="976313" y="1839516"/>
            <a:ext cx="49530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动态调度与放置各阶段到CPU/GPU/NPU，最小化端到端完成时间。</a:t>
            </a:r>
            <a:endParaRPr lang="en-US" sz="800" dirty="0" spc="0"/>
          </a:p>
        </p:txBody>
      </p:sp>
      <p:sp>
        <p:nvSpPr>
          <p:cNvPr id="53" name="ocr-010"/>
          <p:cNvSpPr txBox="1"/>
          <p:nvPr/>
        </p:nvSpPr>
        <p:spPr>
          <a:xfrm>
            <a:off x="7143750" y="1887141"/>
            <a:ext cx="37087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调度与QoS策略，保障前台交互的流畅性与可用性。</a:t>
            </a:r>
            <a:endParaRPr lang="en-US" sz="800" dirty="0" spc="0"/>
          </a:p>
        </p:txBody>
      </p:sp>
      <p:sp>
        <p:nvSpPr>
          <p:cNvPr id="54" name="ocr-011"/>
          <p:cNvSpPr txBox="1"/>
          <p:nvPr/>
        </p:nvSpPr>
        <p:spPr>
          <a:xfrm>
            <a:off x="464344" y="2166938"/>
            <a:ext cx="3292078"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AgenticRAG任务DAG与资源放置示意</a:t>
            </a:r>
            <a:endParaRPr lang="en-US" sz="1050" dirty="0" spc="0"/>
          </a:p>
        </p:txBody>
      </p:sp>
      <p:sp>
        <p:nvSpPr>
          <p:cNvPr id="55" name="ocr-012"/>
          <p:cNvSpPr txBox="1"/>
          <p:nvPr/>
        </p:nvSpPr>
        <p:spPr>
          <a:xfrm>
            <a:off x="3940969" y="2184797"/>
            <a:ext cx="55959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关键路径</a:t>
            </a:r>
            <a:endParaRPr lang="en-US" sz="750" dirty="0" spc="0"/>
          </a:p>
        </p:txBody>
      </p:sp>
      <p:sp>
        <p:nvSpPr>
          <p:cNvPr id="56" name="ocr-013"/>
          <p:cNvSpPr txBox="1"/>
          <p:nvPr/>
        </p:nvSpPr>
        <p:spPr>
          <a:xfrm>
            <a:off x="4833938" y="2184797"/>
            <a:ext cx="55959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任务依赖</a:t>
            </a:r>
            <a:endParaRPr lang="en-US" sz="750" dirty="0" spc="0"/>
          </a:p>
        </p:txBody>
      </p:sp>
      <p:sp>
        <p:nvSpPr>
          <p:cNvPr id="57" name="ocr-014"/>
          <p:cNvSpPr txBox="1"/>
          <p:nvPr/>
        </p:nvSpPr>
        <p:spPr>
          <a:xfrm>
            <a:off x="5703094" y="2184797"/>
            <a:ext cx="5655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动态调度</a:t>
            </a:r>
            <a:endParaRPr lang="en-US" sz="750" dirty="0" spc="0"/>
          </a:p>
        </p:txBody>
      </p:sp>
      <p:sp>
        <p:nvSpPr>
          <p:cNvPr id="58" name="ocr-015"/>
          <p:cNvSpPr txBox="1"/>
          <p:nvPr/>
        </p:nvSpPr>
        <p:spPr>
          <a:xfrm>
            <a:off x="6619875" y="2208609"/>
            <a:ext cx="325635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前台与后台在共享内存带宽上的竞争关系</a:t>
            </a:r>
            <a:endParaRPr lang="en-US" sz="1000" dirty="0" spc="0"/>
          </a:p>
        </p:txBody>
      </p:sp>
      <p:sp>
        <p:nvSpPr>
          <p:cNvPr id="59" name="ocr-016"/>
          <p:cNvSpPr txBox="1"/>
          <p:nvPr/>
        </p:nvSpPr>
        <p:spPr>
          <a:xfrm>
            <a:off x="2184797" y="2482453"/>
            <a:ext cx="77390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2检素召回</a:t>
            </a:r>
            <a:endParaRPr lang="en-US" sz="750" dirty="0" spc="0"/>
          </a:p>
        </p:txBody>
      </p:sp>
      <p:sp>
        <p:nvSpPr>
          <p:cNvPr id="60" name="ocr-017"/>
          <p:cNvSpPr txBox="1"/>
          <p:nvPr/>
        </p:nvSpPr>
        <p:spPr>
          <a:xfrm>
            <a:off x="4006453" y="2476500"/>
            <a:ext cx="625078"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证据汇总</a:t>
            </a:r>
            <a:endParaRPr lang="en-US" sz="750" dirty="0" spc="0"/>
          </a:p>
        </p:txBody>
      </p:sp>
      <p:sp>
        <p:nvSpPr>
          <p:cNvPr id="61" name="ocr-018"/>
          <p:cNvSpPr txBox="1"/>
          <p:nvPr/>
        </p:nvSpPr>
        <p:spPr>
          <a:xfrm>
            <a:off x="7030641" y="2541984"/>
            <a:ext cx="150018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前台应用（交互/QoE）</a:t>
            </a:r>
            <a:endParaRPr lang="en-US" sz="750" dirty="0" spc="0"/>
          </a:p>
        </p:txBody>
      </p:sp>
      <p:sp>
        <p:nvSpPr>
          <p:cNvPr id="62" name="ocr-019"/>
          <p:cNvSpPr txBox="1"/>
          <p:nvPr/>
        </p:nvSpPr>
        <p:spPr>
          <a:xfrm>
            <a:off x="10287000" y="2518172"/>
            <a:ext cx="1887141"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后台LLM计算（批处理/生成）</a:t>
            </a:r>
            <a:endParaRPr lang="en-US" sz="900" dirty="0" spc="0"/>
          </a:p>
        </p:txBody>
      </p:sp>
      <p:sp>
        <p:nvSpPr>
          <p:cNvPr id="63" name="ocr-020"/>
          <p:cNvSpPr txBox="1"/>
          <p:nvPr/>
        </p:nvSpPr>
        <p:spPr>
          <a:xfrm>
            <a:off x="2286000" y="2625328"/>
            <a:ext cx="63698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(Retrieval)</a:t>
            </a:r>
            <a:endParaRPr lang="en-US" sz="750" dirty="0" spc="0"/>
          </a:p>
        </p:txBody>
      </p:sp>
      <p:sp>
        <p:nvSpPr>
          <p:cNvPr id="64" name="ocr-021"/>
          <p:cNvSpPr txBox="1"/>
          <p:nvPr/>
        </p:nvSpPr>
        <p:spPr>
          <a:xfrm>
            <a:off x="3982641" y="2625328"/>
            <a:ext cx="7560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(Summarize)</a:t>
            </a:r>
            <a:endParaRPr lang="en-US" sz="750" dirty="0" spc="0"/>
          </a:p>
        </p:txBody>
      </p:sp>
      <p:sp>
        <p:nvSpPr>
          <p:cNvPr id="65" name="ocr-022"/>
          <p:cNvSpPr txBox="1"/>
          <p:nvPr/>
        </p:nvSpPr>
        <p:spPr>
          <a:xfrm>
            <a:off x="8798719" y="2583656"/>
            <a:ext cx="1000125"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共享内存带宽</a:t>
            </a:r>
            <a:endParaRPr lang="en-US" sz="850" dirty="0" spc="0"/>
          </a:p>
        </p:txBody>
      </p:sp>
      <p:sp>
        <p:nvSpPr>
          <p:cNvPr id="66" name="ocr-023"/>
          <p:cNvSpPr txBox="1"/>
          <p:nvPr/>
        </p:nvSpPr>
        <p:spPr>
          <a:xfrm>
            <a:off x="857250" y="2655094"/>
            <a:ext cx="83939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1查询理解</a:t>
            </a:r>
            <a:endParaRPr lang="en-US" sz="950" dirty="0" spc="0"/>
          </a:p>
        </p:txBody>
      </p:sp>
      <p:sp>
        <p:nvSpPr>
          <p:cNvPr id="67" name="ocr-024"/>
          <p:cNvSpPr txBox="1"/>
          <p:nvPr/>
        </p:nvSpPr>
        <p:spPr>
          <a:xfrm>
            <a:off x="5542359" y="2678906"/>
            <a:ext cx="78581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6生成回答</a:t>
            </a:r>
            <a:endParaRPr lang="en-US" sz="850" dirty="0" spc="0"/>
          </a:p>
        </p:txBody>
      </p:sp>
      <p:sp>
        <p:nvSpPr>
          <p:cNvPr id="68" name="ocr-025"/>
          <p:cNvSpPr txBox="1"/>
          <p:nvPr/>
        </p:nvSpPr>
        <p:spPr>
          <a:xfrm>
            <a:off x="7006828" y="2690813"/>
            <a:ext cx="175021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用户交互、界面汇染、输入响应等</a:t>
            </a:r>
            <a:endParaRPr lang="en-US" sz="850" dirty="0" spc="0"/>
          </a:p>
        </p:txBody>
      </p:sp>
      <p:sp>
        <p:nvSpPr>
          <p:cNvPr id="69" name="ocr-026"/>
          <p:cNvSpPr txBox="1"/>
          <p:nvPr/>
        </p:nvSpPr>
        <p:spPr>
          <a:xfrm>
            <a:off x="8792766" y="2732484"/>
            <a:ext cx="101798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(DRAM / LLC)</a:t>
            </a:r>
            <a:endParaRPr lang="en-US" sz="850" dirty="0" spc="0"/>
          </a:p>
        </p:txBody>
      </p:sp>
      <p:sp>
        <p:nvSpPr>
          <p:cNvPr id="70" name="ocr-027"/>
          <p:cNvSpPr txBox="1"/>
          <p:nvPr/>
        </p:nvSpPr>
        <p:spPr>
          <a:xfrm>
            <a:off x="10287000" y="2708672"/>
            <a:ext cx="188714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大模型推理、向量检索、离线任务等</a:t>
            </a:r>
            <a:endParaRPr lang="en-US" sz="750" dirty="0" spc="0"/>
          </a:p>
        </p:txBody>
      </p:sp>
      <p:sp>
        <p:nvSpPr>
          <p:cNvPr id="71" name="ocr-028"/>
          <p:cNvSpPr txBox="1"/>
          <p:nvPr/>
        </p:nvSpPr>
        <p:spPr>
          <a:xfrm>
            <a:off x="1000125" y="2809875"/>
            <a:ext cx="51196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(Query)</a:t>
            </a:r>
            <a:endParaRPr lang="en-US" sz="850" dirty="0" spc="0"/>
          </a:p>
        </p:txBody>
      </p:sp>
      <p:sp>
        <p:nvSpPr>
          <p:cNvPr id="72" name="ocr-029"/>
          <p:cNvSpPr txBox="1"/>
          <p:nvPr/>
        </p:nvSpPr>
        <p:spPr>
          <a:xfrm>
            <a:off x="2291953" y="2803922"/>
            <a:ext cx="398859"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NPU</a:t>
            </a:r>
            <a:endParaRPr lang="en-US" sz="750" dirty="0" spc="0"/>
          </a:p>
        </p:txBody>
      </p:sp>
      <p:sp>
        <p:nvSpPr>
          <p:cNvPr id="73" name="ocr-030"/>
          <p:cNvSpPr txBox="1"/>
          <p:nvPr/>
        </p:nvSpPr>
        <p:spPr>
          <a:xfrm>
            <a:off x="4024313" y="2809875"/>
            <a:ext cx="381000"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GPU</a:t>
            </a:r>
            <a:endParaRPr lang="en-US" sz="750" dirty="0" spc="0"/>
          </a:p>
        </p:txBody>
      </p:sp>
      <p:sp>
        <p:nvSpPr>
          <p:cNvPr id="74" name="ocr-031"/>
          <p:cNvSpPr txBox="1"/>
          <p:nvPr/>
        </p:nvSpPr>
        <p:spPr>
          <a:xfrm>
            <a:off x="5667375" y="2839641"/>
            <a:ext cx="565547"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(Answer)</a:t>
            </a:r>
            <a:endParaRPr lang="en-US" sz="750" dirty="0" spc="0"/>
          </a:p>
        </p:txBody>
      </p:sp>
      <p:sp>
        <p:nvSpPr>
          <p:cNvPr id="75" name="ocr-032"/>
          <p:cNvSpPr txBox="1"/>
          <p:nvPr/>
        </p:nvSpPr>
        <p:spPr>
          <a:xfrm>
            <a:off x="7072313" y="3000375"/>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用户输入</a:t>
            </a:r>
            <a:endParaRPr lang="en-US" sz="850" dirty="0" spc="0"/>
          </a:p>
        </p:txBody>
      </p:sp>
      <p:sp>
        <p:nvSpPr>
          <p:cNvPr id="76" name="ocr-033"/>
          <p:cNvSpPr txBox="1"/>
          <p:nvPr/>
        </p:nvSpPr>
        <p:spPr>
          <a:xfrm>
            <a:off x="10846594" y="2976563"/>
            <a:ext cx="69651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Token生成</a:t>
            </a:r>
            <a:endParaRPr lang="en-US" sz="750" dirty="0" spc="0"/>
          </a:p>
        </p:txBody>
      </p:sp>
      <p:sp>
        <p:nvSpPr>
          <p:cNvPr id="77" name="ocr-034"/>
          <p:cNvSpPr txBox="1"/>
          <p:nvPr/>
        </p:nvSpPr>
        <p:spPr>
          <a:xfrm>
            <a:off x="892969" y="3036094"/>
            <a:ext cx="38695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CPU</a:t>
            </a:r>
            <a:endParaRPr lang="en-US" sz="850" dirty="0" spc="0"/>
          </a:p>
        </p:txBody>
      </p:sp>
      <p:sp>
        <p:nvSpPr>
          <p:cNvPr id="78" name="ocr-035"/>
          <p:cNvSpPr txBox="1"/>
          <p:nvPr/>
        </p:nvSpPr>
        <p:spPr>
          <a:xfrm>
            <a:off x="2291953" y="3101578"/>
            <a:ext cx="82153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3结果重排</a:t>
            </a:r>
            <a:endParaRPr lang="en-US" sz="850" dirty="0" spc="0"/>
          </a:p>
        </p:txBody>
      </p:sp>
      <p:sp>
        <p:nvSpPr>
          <p:cNvPr id="79" name="ocr-036"/>
          <p:cNvSpPr txBox="1"/>
          <p:nvPr/>
        </p:nvSpPr>
        <p:spPr>
          <a:xfrm>
            <a:off x="5560219" y="3042047"/>
            <a:ext cx="392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GPU</a:t>
            </a:r>
            <a:endParaRPr lang="en-US" sz="800" dirty="0" spc="0"/>
          </a:p>
        </p:txBody>
      </p:sp>
      <p:sp>
        <p:nvSpPr>
          <p:cNvPr id="80" name="ocr-037"/>
          <p:cNvSpPr txBox="1"/>
          <p:nvPr/>
        </p:nvSpPr>
        <p:spPr>
          <a:xfrm>
            <a:off x="3988594" y="3113484"/>
            <a:ext cx="93464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5可信性验证</a:t>
            </a:r>
            <a:endParaRPr lang="en-US" sz="850" dirty="0" spc="0"/>
          </a:p>
        </p:txBody>
      </p:sp>
      <p:sp>
        <p:nvSpPr>
          <p:cNvPr id="81" name="ocr-038"/>
          <p:cNvSpPr txBox="1"/>
          <p:nvPr/>
        </p:nvSpPr>
        <p:spPr>
          <a:xfrm>
            <a:off x="7947422" y="3143250"/>
            <a:ext cx="839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前台内存访问</a:t>
            </a:r>
            <a:endParaRPr lang="en-US" sz="800" dirty="0" spc="0"/>
          </a:p>
        </p:txBody>
      </p:sp>
      <p:sp>
        <p:nvSpPr>
          <p:cNvPr id="82" name="ocr-039"/>
          <p:cNvSpPr txBox="1"/>
          <p:nvPr/>
        </p:nvSpPr>
        <p:spPr>
          <a:xfrm>
            <a:off x="9810750" y="3143250"/>
            <a:ext cx="857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后台内存访问</a:t>
            </a:r>
            <a:endParaRPr lang="en-US" sz="800" dirty="0" spc="0"/>
          </a:p>
        </p:txBody>
      </p:sp>
      <p:sp>
        <p:nvSpPr>
          <p:cNvPr id="83" name="ocr-040"/>
          <p:cNvSpPr txBox="1"/>
          <p:nvPr/>
        </p:nvSpPr>
        <p:spPr>
          <a:xfrm>
            <a:off x="10793016" y="3107531"/>
            <a:ext cx="84534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KVCache读写</a:t>
            </a:r>
            <a:endParaRPr lang="en-US" sz="750" dirty="0" spc="0"/>
          </a:p>
        </p:txBody>
      </p:sp>
      <p:sp>
        <p:nvSpPr>
          <p:cNvPr id="84" name="ocr-041"/>
          <p:cNvSpPr txBox="1"/>
          <p:nvPr/>
        </p:nvSpPr>
        <p:spPr>
          <a:xfrm>
            <a:off x="2434828" y="3262313"/>
            <a:ext cx="523875"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(Rerank)</a:t>
            </a:r>
            <a:endParaRPr lang="en-US" sz="750" dirty="0" spc="0"/>
          </a:p>
        </p:txBody>
      </p:sp>
      <p:sp>
        <p:nvSpPr>
          <p:cNvPr id="85" name="ocr-042"/>
          <p:cNvSpPr txBox="1"/>
          <p:nvPr/>
        </p:nvSpPr>
        <p:spPr>
          <a:xfrm>
            <a:off x="4095750" y="3262313"/>
            <a:ext cx="50006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(Verify)</a:t>
            </a:r>
            <a:endParaRPr lang="en-US" sz="850" dirty="0" spc="0"/>
          </a:p>
        </p:txBody>
      </p:sp>
      <p:sp>
        <p:nvSpPr>
          <p:cNvPr id="86" name="ocr-043"/>
          <p:cNvSpPr txBox="1"/>
          <p:nvPr/>
        </p:nvSpPr>
        <p:spPr>
          <a:xfrm>
            <a:off x="8042672" y="3298031"/>
            <a:ext cx="5655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高优先级</a:t>
            </a:r>
            <a:endParaRPr lang="en-US" sz="750" dirty="0" spc="0"/>
          </a:p>
        </p:txBody>
      </p:sp>
      <p:sp>
        <p:nvSpPr>
          <p:cNvPr id="87" name="ocr-044"/>
          <p:cNvSpPr txBox="1"/>
          <p:nvPr/>
        </p:nvSpPr>
        <p:spPr>
          <a:xfrm>
            <a:off x="9906000" y="3286125"/>
            <a:ext cx="59531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低优先级</a:t>
            </a:r>
            <a:endParaRPr lang="en-US" sz="850" dirty="0" spc="0"/>
          </a:p>
        </p:txBody>
      </p:sp>
      <p:sp>
        <p:nvSpPr>
          <p:cNvPr id="88" name="ocr-045"/>
          <p:cNvSpPr txBox="1"/>
          <p:nvPr/>
        </p:nvSpPr>
        <p:spPr>
          <a:xfrm>
            <a:off x="11049000" y="3286125"/>
            <a:ext cx="238125"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a:t>
            </a:r>
            <a:endParaRPr lang="en-US" sz="750" dirty="0" spc="0"/>
          </a:p>
        </p:txBody>
      </p:sp>
      <p:sp>
        <p:nvSpPr>
          <p:cNvPr id="89" name="ocr-046"/>
          <p:cNvSpPr txBox="1"/>
          <p:nvPr/>
        </p:nvSpPr>
        <p:spPr>
          <a:xfrm>
            <a:off x="2387203" y="3458766"/>
            <a:ext cx="363141"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GPU</a:t>
            </a:r>
            <a:endParaRPr lang="en-US" sz="750" dirty="0" spc="0"/>
          </a:p>
        </p:txBody>
      </p:sp>
      <p:sp>
        <p:nvSpPr>
          <p:cNvPr id="90" name="ocr-047"/>
          <p:cNvSpPr txBox="1"/>
          <p:nvPr/>
        </p:nvSpPr>
        <p:spPr>
          <a:xfrm>
            <a:off x="4125516" y="3458766"/>
            <a:ext cx="369094"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CPU</a:t>
            </a:r>
            <a:endParaRPr lang="en-US" sz="750" dirty="0" spc="0"/>
          </a:p>
        </p:txBody>
      </p:sp>
      <p:sp>
        <p:nvSpPr>
          <p:cNvPr id="91" name="ocr-048"/>
          <p:cNvSpPr txBox="1"/>
          <p:nvPr/>
        </p:nvSpPr>
        <p:spPr>
          <a:xfrm>
            <a:off x="7072313" y="3423047"/>
            <a:ext cx="60126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交互处理</a:t>
            </a:r>
            <a:endParaRPr lang="en-US" sz="750" dirty="0" spc="0"/>
          </a:p>
        </p:txBody>
      </p:sp>
      <p:sp>
        <p:nvSpPr>
          <p:cNvPr id="92" name="ocr-049"/>
          <p:cNvSpPr txBox="1"/>
          <p:nvPr/>
        </p:nvSpPr>
        <p:spPr>
          <a:xfrm>
            <a:off x="8036719" y="3429000"/>
            <a:ext cx="577453"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时延敏感</a:t>
            </a:r>
            <a:endParaRPr lang="en-US" sz="750" dirty="0" spc="0"/>
          </a:p>
        </p:txBody>
      </p:sp>
      <p:sp>
        <p:nvSpPr>
          <p:cNvPr id="93" name="ocr-050"/>
          <p:cNvSpPr txBox="1"/>
          <p:nvPr/>
        </p:nvSpPr>
        <p:spPr>
          <a:xfrm>
            <a:off x="8864203" y="3434953"/>
            <a:ext cx="86320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前台带宽配额</a:t>
            </a:r>
            <a:endParaRPr lang="en-US" sz="850" dirty="0" spc="0"/>
          </a:p>
        </p:txBody>
      </p:sp>
      <p:sp>
        <p:nvSpPr>
          <p:cNvPr id="94" name="ocr-051"/>
          <p:cNvSpPr txBox="1"/>
          <p:nvPr/>
        </p:nvSpPr>
        <p:spPr>
          <a:xfrm>
            <a:off x="9906000" y="3434953"/>
            <a:ext cx="58340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可被限制</a:t>
            </a:r>
            <a:endParaRPr lang="en-US" sz="750" dirty="0" spc="0"/>
          </a:p>
        </p:txBody>
      </p:sp>
      <p:sp>
        <p:nvSpPr>
          <p:cNvPr id="95" name="ocr-052"/>
          <p:cNvSpPr txBox="1"/>
          <p:nvPr/>
        </p:nvSpPr>
        <p:spPr>
          <a:xfrm>
            <a:off x="10769203" y="3446859"/>
            <a:ext cx="9346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大规横内存访问</a:t>
            </a:r>
            <a:endParaRPr lang="en-US" sz="800" dirty="0" spc="0"/>
          </a:p>
        </p:txBody>
      </p:sp>
      <p:sp>
        <p:nvSpPr>
          <p:cNvPr id="96" name="ocr-053"/>
          <p:cNvSpPr txBox="1"/>
          <p:nvPr/>
        </p:nvSpPr>
        <p:spPr>
          <a:xfrm>
            <a:off x="6977063" y="3554016"/>
            <a:ext cx="87510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UI/应用逻辑</a:t>
            </a:r>
            <a:endParaRPr lang="en-US" sz="800" dirty="0" spc="0"/>
          </a:p>
        </p:txBody>
      </p:sp>
      <p:sp>
        <p:nvSpPr>
          <p:cNvPr id="97" name="ocr-054"/>
          <p:cNvSpPr txBox="1"/>
          <p:nvPr/>
        </p:nvSpPr>
        <p:spPr>
          <a:xfrm>
            <a:off x="8959453" y="3571875"/>
            <a:ext cx="59531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优先保障</a:t>
            </a:r>
            <a:endParaRPr lang="en-US" sz="850" dirty="0" spc="0"/>
          </a:p>
        </p:txBody>
      </p:sp>
      <p:sp>
        <p:nvSpPr>
          <p:cNvPr id="98" name="ocr-055"/>
          <p:cNvSpPr txBox="1"/>
          <p:nvPr/>
        </p:nvSpPr>
        <p:spPr>
          <a:xfrm>
            <a:off x="10679906" y="3577828"/>
            <a:ext cx="11727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模型权重/中间激活</a:t>
            </a:r>
            <a:endParaRPr lang="en-US" sz="800" dirty="0" spc="0"/>
          </a:p>
        </p:txBody>
      </p:sp>
      <p:sp>
        <p:nvSpPr>
          <p:cNvPr id="99" name="ocr-056"/>
          <p:cNvSpPr txBox="1"/>
          <p:nvPr/>
        </p:nvSpPr>
        <p:spPr>
          <a:xfrm>
            <a:off x="470297" y="3738563"/>
            <a:ext cx="169664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资源执行泳道 (示意)</a:t>
            </a:r>
            <a:endParaRPr lang="en-US" sz="950" dirty="0" spc="0"/>
          </a:p>
        </p:txBody>
      </p:sp>
      <p:sp>
        <p:nvSpPr>
          <p:cNvPr id="100" name="ocr-057"/>
          <p:cNvSpPr txBox="1"/>
          <p:nvPr/>
        </p:nvSpPr>
        <p:spPr>
          <a:xfrm>
            <a:off x="8864203" y="3851672"/>
            <a:ext cx="85725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后台带宽受限</a:t>
            </a:r>
            <a:endParaRPr lang="en-US" sz="850" dirty="0" spc="0"/>
          </a:p>
        </p:txBody>
      </p:sp>
      <p:sp>
        <p:nvSpPr>
          <p:cNvPr id="101" name="ocr-058"/>
          <p:cNvSpPr txBox="1"/>
          <p:nvPr/>
        </p:nvSpPr>
        <p:spPr>
          <a:xfrm>
            <a:off x="797719" y="3970734"/>
            <a:ext cx="39885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CPU</a:t>
            </a:r>
            <a:endParaRPr lang="en-US" sz="950" dirty="0" spc="0"/>
          </a:p>
        </p:txBody>
      </p:sp>
      <p:sp>
        <p:nvSpPr>
          <p:cNvPr id="102" name="ocr-059"/>
          <p:cNvSpPr txBox="1"/>
          <p:nvPr/>
        </p:nvSpPr>
        <p:spPr>
          <a:xfrm>
            <a:off x="7078266" y="3923109"/>
            <a:ext cx="58340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界面渣染</a:t>
            </a:r>
            <a:endParaRPr lang="en-US" sz="750" dirty="0" spc="0"/>
          </a:p>
        </p:txBody>
      </p:sp>
      <p:sp>
        <p:nvSpPr>
          <p:cNvPr id="103" name="ocr-060"/>
          <p:cNvSpPr txBox="1"/>
          <p:nvPr/>
        </p:nvSpPr>
        <p:spPr>
          <a:xfrm>
            <a:off x="1488281" y="3994547"/>
            <a:ext cx="55959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查询理解</a:t>
            </a:r>
            <a:endParaRPr lang="en-US" sz="750" dirty="0" spc="0"/>
          </a:p>
        </p:txBody>
      </p:sp>
      <p:sp>
        <p:nvSpPr>
          <p:cNvPr id="104" name="ocr-061"/>
          <p:cNvSpPr txBox="1"/>
          <p:nvPr/>
        </p:nvSpPr>
        <p:spPr>
          <a:xfrm>
            <a:off x="4012406" y="3994547"/>
            <a:ext cx="67865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可信性验证</a:t>
            </a:r>
            <a:endParaRPr lang="en-US" sz="750" dirty="0" spc="0"/>
          </a:p>
        </p:txBody>
      </p:sp>
      <p:sp>
        <p:nvSpPr>
          <p:cNvPr id="105" name="ocr-062"/>
          <p:cNvSpPr txBox="1"/>
          <p:nvPr/>
        </p:nvSpPr>
        <p:spPr>
          <a:xfrm>
            <a:off x="8953500" y="3988594"/>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受控使用</a:t>
            </a:r>
            <a:endParaRPr lang="en-US" sz="850" dirty="0" spc="0"/>
          </a:p>
        </p:txBody>
      </p:sp>
      <p:sp>
        <p:nvSpPr>
          <p:cNvPr id="106" name="ocr-063"/>
          <p:cNvSpPr txBox="1"/>
          <p:nvPr/>
        </p:nvSpPr>
        <p:spPr>
          <a:xfrm>
            <a:off x="10816828" y="3940969"/>
            <a:ext cx="797719"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后台计算任务</a:t>
            </a:r>
            <a:endParaRPr lang="en-US" sz="750" dirty="0" spc="0"/>
          </a:p>
        </p:txBody>
      </p:sp>
      <p:sp>
        <p:nvSpPr>
          <p:cNvPr id="107" name="ocr-064"/>
          <p:cNvSpPr txBox="1"/>
          <p:nvPr/>
        </p:nvSpPr>
        <p:spPr>
          <a:xfrm>
            <a:off x="7036594" y="4060031"/>
            <a:ext cx="714375"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显示与反馈</a:t>
            </a:r>
            <a:endParaRPr lang="en-US" sz="750" dirty="0" spc="0"/>
          </a:p>
        </p:txBody>
      </p:sp>
      <p:sp>
        <p:nvSpPr>
          <p:cNvPr id="108" name="ocr-065"/>
          <p:cNvSpPr txBox="1"/>
          <p:nvPr/>
        </p:nvSpPr>
        <p:spPr>
          <a:xfrm>
            <a:off x="10703719" y="4065984"/>
            <a:ext cx="110132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持续计算、批处理</a:t>
            </a:r>
            <a:endParaRPr lang="en-US" sz="800" dirty="0" spc="0"/>
          </a:p>
        </p:txBody>
      </p:sp>
      <p:sp>
        <p:nvSpPr>
          <p:cNvPr id="109" name="ocr-066"/>
          <p:cNvSpPr txBox="1"/>
          <p:nvPr/>
        </p:nvSpPr>
        <p:spPr>
          <a:xfrm>
            <a:off x="809625" y="4298156"/>
            <a:ext cx="392906"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GPU</a:t>
            </a:r>
            <a:endParaRPr lang="en-US" sz="800" dirty="0" spc="0"/>
          </a:p>
        </p:txBody>
      </p:sp>
      <p:sp>
        <p:nvSpPr>
          <p:cNvPr id="110" name="ocr-067"/>
          <p:cNvSpPr txBox="1"/>
          <p:nvPr/>
        </p:nvSpPr>
        <p:spPr>
          <a:xfrm>
            <a:off x="2631281" y="4304109"/>
            <a:ext cx="5655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结果重排</a:t>
            </a:r>
            <a:endParaRPr lang="en-US" sz="750" dirty="0" spc="0"/>
          </a:p>
        </p:txBody>
      </p:sp>
      <p:sp>
        <p:nvSpPr>
          <p:cNvPr id="111" name="ocr-068"/>
          <p:cNvSpPr txBox="1"/>
          <p:nvPr/>
        </p:nvSpPr>
        <p:spPr>
          <a:xfrm>
            <a:off x="3988594" y="4292203"/>
            <a:ext cx="57745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证据汇总</a:t>
            </a:r>
            <a:endParaRPr lang="en-US" sz="850" dirty="0" spc="0"/>
          </a:p>
        </p:txBody>
      </p:sp>
      <p:sp>
        <p:nvSpPr>
          <p:cNvPr id="112" name="ocr-069"/>
          <p:cNvSpPr txBox="1"/>
          <p:nvPr/>
        </p:nvSpPr>
        <p:spPr>
          <a:xfrm>
            <a:off x="5429250" y="4298156"/>
            <a:ext cx="58340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生成回答</a:t>
            </a:r>
            <a:endParaRPr lang="en-US" sz="850" dirty="0" spc="0"/>
          </a:p>
        </p:txBody>
      </p:sp>
      <p:sp>
        <p:nvSpPr>
          <p:cNvPr id="113" name="ocr-070"/>
          <p:cNvSpPr txBox="1"/>
          <p:nvPr/>
        </p:nvSpPr>
        <p:spPr>
          <a:xfrm>
            <a:off x="8126016" y="4441031"/>
            <a:ext cx="28575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Runtime/OS内存资源调度与QoS策略</a:t>
            </a:r>
            <a:endParaRPr lang="en-US" sz="800" dirty="0" spc="0"/>
          </a:p>
        </p:txBody>
      </p:sp>
      <p:sp>
        <p:nvSpPr>
          <p:cNvPr id="114" name="ocr-071"/>
          <p:cNvSpPr txBox="1"/>
          <p:nvPr/>
        </p:nvSpPr>
        <p:spPr>
          <a:xfrm>
            <a:off x="803672" y="4601766"/>
            <a:ext cx="3988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NPU</a:t>
            </a:r>
            <a:endParaRPr lang="en-US" sz="800" dirty="0" spc="0"/>
          </a:p>
        </p:txBody>
      </p:sp>
      <p:sp>
        <p:nvSpPr>
          <p:cNvPr id="115" name="ocr-072"/>
          <p:cNvSpPr txBox="1"/>
          <p:nvPr/>
        </p:nvSpPr>
        <p:spPr>
          <a:xfrm>
            <a:off x="1893094" y="4613672"/>
            <a:ext cx="55959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检素召回</a:t>
            </a:r>
            <a:endParaRPr lang="en-US" sz="750" dirty="0" spc="0"/>
          </a:p>
        </p:txBody>
      </p:sp>
      <p:sp>
        <p:nvSpPr>
          <p:cNvPr id="116" name="ocr-073"/>
          <p:cNvSpPr txBox="1"/>
          <p:nvPr/>
        </p:nvSpPr>
        <p:spPr>
          <a:xfrm>
            <a:off x="7745016" y="4631531"/>
            <a:ext cx="3851672"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检测内存占用、设置带宽配、限制后台计算、保护前台QoE</a:t>
            </a:r>
            <a:endParaRPr lang="en-US" sz="750" dirty="0" spc="0"/>
          </a:p>
        </p:txBody>
      </p:sp>
      <p:sp>
        <p:nvSpPr>
          <p:cNvPr id="117" name="ocr-074"/>
          <p:cNvSpPr txBox="1"/>
          <p:nvPr/>
        </p:nvSpPr>
        <p:spPr>
          <a:xfrm>
            <a:off x="5542359" y="5018484"/>
            <a:ext cx="2137172"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FFFFFF"/>
                </a:solidFill>
                <a:latin typeface="Microsoft YaHei" pitchFamily="34" charset="0"/>
                <a:ea typeface="Microsoft YaHei" pitchFamily="34" charset="-122"/>
                <a:cs typeface="Microsoft YaHei" pitchFamily="34" charset="-120"/>
              </a:rPr>
              <a:t>Runtime/OS协同管理</a:t>
            </a:r>
            <a:endParaRPr lang="en-US" sz="950" dirty="0" spc="0"/>
          </a:p>
        </p:txBody>
      </p:sp>
      <p:sp>
        <p:nvSpPr>
          <p:cNvPr id="118" name="ocr-075"/>
          <p:cNvSpPr txBox="1"/>
          <p:nvPr/>
        </p:nvSpPr>
        <p:spPr>
          <a:xfrm>
            <a:off x="5536406" y="5203031"/>
            <a:ext cx="2321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面向任务调度与共享资源的统一控制</a:t>
            </a:r>
            <a:endParaRPr lang="en-US" sz="800" dirty="0" spc="0"/>
          </a:p>
        </p:txBody>
      </p:sp>
      <p:sp>
        <p:nvSpPr>
          <p:cNvPr id="119" name="ocr-076"/>
          <p:cNvSpPr txBox="1"/>
          <p:nvPr/>
        </p:nvSpPr>
        <p:spPr>
          <a:xfrm>
            <a:off x="1083469" y="5512594"/>
            <a:ext cx="73818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阶段调度</a:t>
            </a:r>
            <a:endParaRPr lang="en-US" sz="1000" dirty="0" spc="0"/>
          </a:p>
        </p:txBody>
      </p:sp>
      <p:sp>
        <p:nvSpPr>
          <p:cNvPr id="120" name="ocr-077"/>
          <p:cNvSpPr txBox="1"/>
          <p:nvPr/>
        </p:nvSpPr>
        <p:spPr>
          <a:xfrm>
            <a:off x="3946922" y="5518547"/>
            <a:ext cx="72032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资源放置</a:t>
            </a:r>
            <a:endParaRPr lang="en-US" sz="850" dirty="0" spc="0"/>
          </a:p>
        </p:txBody>
      </p:sp>
      <p:sp>
        <p:nvSpPr>
          <p:cNvPr id="121" name="ocr-078"/>
          <p:cNvSpPr txBox="1"/>
          <p:nvPr/>
        </p:nvSpPr>
        <p:spPr>
          <a:xfrm>
            <a:off x="6840141" y="5518547"/>
            <a:ext cx="105370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共享带宽仲裁</a:t>
            </a:r>
            <a:endParaRPr lang="en-US" sz="850" dirty="0" spc="0"/>
          </a:p>
        </p:txBody>
      </p:sp>
      <p:sp>
        <p:nvSpPr>
          <p:cNvPr id="122" name="ocr-079"/>
          <p:cNvSpPr txBox="1"/>
          <p:nvPr/>
        </p:nvSpPr>
        <p:spPr>
          <a:xfrm>
            <a:off x="9650016" y="5512594"/>
            <a:ext cx="1143000"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前台QoE保护</a:t>
            </a:r>
            <a:endParaRPr lang="en-US" sz="1000" dirty="0" spc="0"/>
          </a:p>
        </p:txBody>
      </p:sp>
      <p:sp>
        <p:nvSpPr>
          <p:cNvPr id="123" name="ocr-080"/>
          <p:cNvSpPr txBox="1"/>
          <p:nvPr/>
        </p:nvSpPr>
        <p:spPr>
          <a:xfrm>
            <a:off x="1089422" y="5691188"/>
            <a:ext cx="182165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按依赖与资源状态动态排程</a:t>
            </a:r>
            <a:endParaRPr lang="en-US" sz="800" dirty="0" spc="0"/>
          </a:p>
        </p:txBody>
      </p:sp>
      <p:sp>
        <p:nvSpPr>
          <p:cNvPr id="124" name="ocr-081"/>
          <p:cNvSpPr txBox="1"/>
          <p:nvPr/>
        </p:nvSpPr>
        <p:spPr>
          <a:xfrm>
            <a:off x="3935016" y="5679281"/>
            <a:ext cx="1910953"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选择CPU/GPU/NPU执行</a:t>
            </a:r>
            <a:endParaRPr lang="en-US" sz="900" dirty="0" spc="0"/>
          </a:p>
        </p:txBody>
      </p:sp>
      <p:sp>
        <p:nvSpPr>
          <p:cNvPr id="125" name="ocr-082"/>
          <p:cNvSpPr txBox="1"/>
          <p:nvPr/>
        </p:nvSpPr>
        <p:spPr>
          <a:xfrm>
            <a:off x="6840141" y="5691188"/>
            <a:ext cx="197643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分配内存带宽、限制后台占用</a:t>
            </a:r>
            <a:endParaRPr lang="en-US" sz="800" dirty="0" spc="0"/>
          </a:p>
        </p:txBody>
      </p:sp>
      <p:sp>
        <p:nvSpPr>
          <p:cNvPr id="126" name="ocr-083"/>
          <p:cNvSpPr txBox="1"/>
          <p:nvPr/>
        </p:nvSpPr>
        <p:spPr>
          <a:xfrm>
            <a:off x="9655969" y="5697141"/>
            <a:ext cx="167282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保障交互时延与系统响应</a:t>
            </a:r>
            <a:endParaRPr lang="en-US" sz="750" dirty="0" spc="0"/>
          </a:p>
        </p:txBody>
      </p:sp>
      <p:sp>
        <p:nvSpPr>
          <p:cNvPr id="127" name="ocr-084"/>
          <p:cNvSpPr txBox="1"/>
          <p:nvPr/>
        </p:nvSpPr>
        <p:spPr>
          <a:xfrm>
            <a:off x="887016" y="6149578"/>
            <a:ext cx="501253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任务完成时间优化与前台体验保护是两类不同但互补的系统责任</a:t>
            </a:r>
            <a:endParaRPr lang="en-US" sz="1100" dirty="0" spc="0"/>
          </a:p>
        </p:txBody>
      </p:sp>
      <p:sp>
        <p:nvSpPr>
          <p:cNvPr id="128" name="ocr-085"/>
          <p:cNvSpPr txBox="1"/>
          <p:nvPr/>
        </p:nvSpPr>
        <p:spPr>
          <a:xfrm>
            <a:off x="5929313" y="6173391"/>
            <a:ext cx="6244828"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前者优化Agent任务的整体效率，是者保障用户交互的实时体验，均需通过Runtime/OS的协同调度实现。</a:t>
            </a:r>
            <a:endParaRPr lang="en-US" sz="900" dirty="0" spc="0"/>
          </a:p>
        </p:txBody>
      </p:sp>
      <p:sp>
        <p:nvSpPr>
          <p:cNvPr id="129"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285750" y="1107281"/>
            <a:ext cx="3631406" cy="5000625"/>
          </a:xfrm>
          <a:prstGeom prst="roundRect">
            <a:avLst>
              <a:gd name="adj" fmla="val 2131"/>
            </a:avLst>
          </a:prstGeom>
          <a:solidFill>
            <a:srgbClr val="FFFFFF"/>
          </a:solidFill>
          <a:ln w="8930">
            <a:solidFill>
              <a:srgbClr val="BCD6EC"/>
            </a:solidFill>
            <a:prstDash val="solid"/>
          </a:ln>
        </p:spPr>
      </p:sp>
      <p:sp>
        <p:nvSpPr>
          <p:cNvPr id="3" name="panel-2"/>
          <p:cNvSpPr/>
          <p:nvPr/>
        </p:nvSpPr>
        <p:spPr>
          <a:xfrm>
            <a:off x="4054078" y="1107281"/>
            <a:ext cx="4060031" cy="5000625"/>
          </a:xfrm>
          <a:prstGeom prst="roundRect">
            <a:avLst>
              <a:gd name="adj" fmla="val 1906"/>
            </a:avLst>
          </a:prstGeom>
          <a:solidFill>
            <a:srgbClr val="F7F9FD"/>
          </a:solidFill>
          <a:ln w="8930">
            <a:solidFill>
              <a:srgbClr val="BCD6EC"/>
            </a:solidFill>
            <a:prstDash val="solid"/>
          </a:ln>
        </p:spPr>
      </p:sp>
      <p:sp>
        <p:nvSpPr>
          <p:cNvPr id="4" name="panel-3"/>
          <p:cNvSpPr/>
          <p:nvPr/>
        </p:nvSpPr>
        <p:spPr>
          <a:xfrm>
            <a:off x="8274844" y="1107281"/>
            <a:ext cx="3631406" cy="5000625"/>
          </a:xfrm>
          <a:prstGeom prst="roundRect">
            <a:avLst>
              <a:gd name="adj" fmla="val 2131"/>
            </a:avLst>
          </a:prstGeom>
          <a:solidFill>
            <a:srgbClr val="FFFFFF"/>
          </a:solidFill>
          <a:ln w="8930">
            <a:solidFill>
              <a:srgbClr val="BCD6EC"/>
            </a:solidFill>
            <a:prstDash val="solid"/>
          </a:ln>
        </p:spPr>
      </p:sp>
      <p:sp>
        <p:nvSpPr>
          <p:cNvPr id="5" name="detail-card-1"/>
          <p:cNvSpPr/>
          <p:nvPr/>
        </p:nvSpPr>
        <p:spPr>
          <a:xfrm>
            <a:off x="446484" y="1637109"/>
            <a:ext cx="3262313" cy="2143125"/>
          </a:xfrm>
          <a:prstGeom prst="roundRect">
            <a:avLst>
              <a:gd name="adj" fmla="val 3056"/>
            </a:avLst>
          </a:prstGeom>
          <a:solidFill>
            <a:srgbClr val="F7FBFF"/>
          </a:solidFill>
          <a:ln w="7144">
            <a:solidFill>
              <a:srgbClr val="C7E0F3"/>
            </a:solidFill>
            <a:prstDash val="solid"/>
          </a:ln>
        </p:spPr>
      </p:sp>
      <p:sp>
        <p:nvSpPr>
          <p:cNvPr id="6" name="detail-card-2"/>
          <p:cNvSpPr/>
          <p:nvPr/>
        </p:nvSpPr>
        <p:spPr>
          <a:xfrm>
            <a:off x="4167188" y="1631156"/>
            <a:ext cx="3619500" cy="2143125"/>
          </a:xfrm>
          <a:prstGeom prst="roundRect">
            <a:avLst>
              <a:gd name="adj" fmla="val 3056"/>
            </a:avLst>
          </a:prstGeom>
          <a:solidFill>
            <a:srgbClr val="F7FBFF"/>
          </a:solidFill>
          <a:ln w="7144">
            <a:solidFill>
              <a:srgbClr val="C7E0F3"/>
            </a:solidFill>
            <a:prstDash val="solid"/>
          </a:ln>
        </p:spPr>
      </p:sp>
      <p:sp>
        <p:nvSpPr>
          <p:cNvPr id="7" name="detail-card-3"/>
          <p:cNvSpPr/>
          <p:nvPr/>
        </p:nvSpPr>
        <p:spPr>
          <a:xfrm>
            <a:off x="8518922" y="1631156"/>
            <a:ext cx="3143250" cy="2143125"/>
          </a:xfrm>
          <a:prstGeom prst="roundRect">
            <a:avLst>
              <a:gd name="adj" fmla="val 3056"/>
            </a:avLst>
          </a:prstGeom>
          <a:solidFill>
            <a:srgbClr val="F7FBFF"/>
          </a:solidFill>
          <a:ln w="7144">
            <a:solidFill>
              <a:srgbClr val="C7E0F3"/>
            </a:solidFill>
            <a:prstDash val="solid"/>
          </a:ln>
        </p:spPr>
      </p:sp>
      <p:sp>
        <p:nvSpPr>
          <p:cNvPr id="8" name="detail-card-4"/>
          <p:cNvSpPr/>
          <p:nvPr/>
        </p:nvSpPr>
        <p:spPr>
          <a:xfrm>
            <a:off x="440531" y="3881438"/>
            <a:ext cx="3268266" cy="2024062"/>
          </a:xfrm>
          <a:prstGeom prst="roundRect">
            <a:avLst>
              <a:gd name="adj" fmla="val 3235"/>
            </a:avLst>
          </a:prstGeom>
          <a:solidFill>
            <a:srgbClr val="F7FBFF"/>
          </a:solidFill>
          <a:ln w="7144">
            <a:solidFill>
              <a:srgbClr val="C7E0F3"/>
            </a:solidFill>
            <a:prstDash val="solid"/>
          </a:ln>
        </p:spPr>
      </p:sp>
      <p:sp>
        <p:nvSpPr>
          <p:cNvPr id="9" name="detail-card-5"/>
          <p:cNvSpPr/>
          <p:nvPr/>
        </p:nvSpPr>
        <p:spPr>
          <a:xfrm>
            <a:off x="4161234" y="3881438"/>
            <a:ext cx="3625453" cy="2024062"/>
          </a:xfrm>
          <a:prstGeom prst="roundRect">
            <a:avLst>
              <a:gd name="adj" fmla="val 3235"/>
            </a:avLst>
          </a:prstGeom>
          <a:solidFill>
            <a:srgbClr val="F7FBFF"/>
          </a:solidFill>
          <a:ln w="7144">
            <a:solidFill>
              <a:srgbClr val="C7E0F3"/>
            </a:solidFill>
            <a:prstDash val="solid"/>
          </a:ln>
        </p:spPr>
      </p:sp>
      <p:sp>
        <p:nvSpPr>
          <p:cNvPr id="10" name="detail-card-6"/>
          <p:cNvSpPr/>
          <p:nvPr/>
        </p:nvSpPr>
        <p:spPr>
          <a:xfrm>
            <a:off x="8518922" y="3881438"/>
            <a:ext cx="3137297" cy="2024062"/>
          </a:xfrm>
          <a:prstGeom prst="roundRect">
            <a:avLst>
              <a:gd name="adj" fmla="val 3235"/>
            </a:avLst>
          </a:prstGeom>
          <a:solidFill>
            <a:srgbClr val="F7FBFF"/>
          </a:solidFill>
          <a:ln w="7144">
            <a:solidFill>
              <a:srgbClr val="C7E0F3"/>
            </a:solidFill>
            <a:prstDash val="solid"/>
          </a:ln>
        </p:spPr>
      </p:sp>
      <p:sp>
        <p:nvSpPr>
          <p:cNvPr id="11" name="agent-platform"/>
          <p:cNvSpPr/>
          <p:nvPr/>
        </p:nvSpPr>
        <p:spPr>
          <a:xfrm>
            <a:off x="4161234" y="1887141"/>
            <a:ext cx="3756422" cy="1684734"/>
          </a:xfrm>
          <a:prstGeom prst="ellipse">
            <a:avLst/>
          </a:prstGeom>
          <a:solidFill>
            <a:srgbClr val="EAF6FF"/>
          </a:solidFill>
          <a:ln w="7144">
            <a:solidFill>
              <a:srgbClr val="C0DFF4"/>
            </a:solidFill>
            <a:prstDash val="solid"/>
          </a:ln>
        </p:spPr>
      </p:sp>
      <p:sp>
        <p:nvSpPr>
          <p:cNvPr id="12" name="outcome-circle"/>
          <p:cNvSpPr/>
          <p:nvPr/>
        </p:nvSpPr>
        <p:spPr>
          <a:xfrm>
            <a:off x="4702969" y="3935016"/>
            <a:ext cx="2488406" cy="1702594"/>
          </a:xfrm>
          <a:prstGeom prst="ellipse">
            <a:avLst/>
          </a:prstGeom>
          <a:solidFill>
            <a:srgbClr val="E9F6FF"/>
          </a:solidFill>
          <a:ln w="14288">
            <a:solidFill>
              <a:srgbClr val="7DBEF0"/>
            </a:solidFill>
            <a:prstDash val="solid"/>
          </a:ln>
        </p:spPr>
      </p:sp>
      <p:sp>
        <p:nvSpPr>
          <p:cNvPr id="13"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14"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15" name="authorization-card-1"/>
          <p:cNvSpPr/>
          <p:nvPr/>
        </p:nvSpPr>
        <p:spPr>
          <a:xfrm>
            <a:off x="1250156" y="2047875"/>
            <a:ext cx="1994297" cy="452438"/>
          </a:xfrm>
          <a:prstGeom prst="roundRect">
            <a:avLst>
              <a:gd name="adj" fmla="val 14474"/>
            </a:avLst>
          </a:prstGeom>
          <a:solidFill>
            <a:srgbClr val="F3FAFF"/>
          </a:solidFill>
          <a:ln w="7739">
            <a:solidFill>
              <a:srgbClr val="B6DDF4"/>
            </a:solidFill>
            <a:prstDash val="solid"/>
          </a:ln>
        </p:spPr>
      </p:sp>
      <p:sp>
        <p:nvSpPr>
          <p:cNvPr id="16" name="authorization-card-2"/>
          <p:cNvSpPr/>
          <p:nvPr/>
        </p:nvSpPr>
        <p:spPr>
          <a:xfrm>
            <a:off x="1250156" y="2547938"/>
            <a:ext cx="1994297" cy="452438"/>
          </a:xfrm>
          <a:prstGeom prst="roundRect">
            <a:avLst>
              <a:gd name="adj" fmla="val 14474"/>
            </a:avLst>
          </a:prstGeom>
          <a:solidFill>
            <a:srgbClr val="F3FAFF"/>
          </a:solidFill>
          <a:ln w="7739">
            <a:solidFill>
              <a:srgbClr val="B6DDF4"/>
            </a:solidFill>
            <a:prstDash val="solid"/>
          </a:ln>
        </p:spPr>
      </p:sp>
      <p:sp>
        <p:nvSpPr>
          <p:cNvPr id="17" name="authorization-card-3"/>
          <p:cNvSpPr/>
          <p:nvPr/>
        </p:nvSpPr>
        <p:spPr>
          <a:xfrm>
            <a:off x="1250156" y="3042047"/>
            <a:ext cx="1994297" cy="452438"/>
          </a:xfrm>
          <a:prstGeom prst="roundRect">
            <a:avLst>
              <a:gd name="adj" fmla="val 14474"/>
            </a:avLst>
          </a:prstGeom>
          <a:solidFill>
            <a:srgbClr val="F3FAFF"/>
          </a:solidFill>
          <a:ln w="7739">
            <a:solidFill>
              <a:srgbClr val="B6DDF4"/>
            </a:solidFill>
            <a:prstDash val="solid"/>
          </a:ln>
        </p:spPr>
      </p:sp>
      <p:sp>
        <p:nvSpPr>
          <p:cNvPr id="18" name="execution-card-1"/>
          <p:cNvSpPr/>
          <p:nvPr/>
        </p:nvSpPr>
        <p:spPr>
          <a:xfrm>
            <a:off x="4262438" y="2446734"/>
            <a:ext cx="1131094" cy="756047"/>
          </a:xfrm>
          <a:prstGeom prst="roundRect">
            <a:avLst>
              <a:gd name="adj" fmla="val 9449"/>
            </a:avLst>
          </a:prstGeom>
          <a:solidFill>
            <a:srgbClr val="F5FAFF"/>
          </a:solidFill>
          <a:ln w="7739">
            <a:solidFill>
              <a:srgbClr val="A9D6F0"/>
            </a:solidFill>
            <a:prstDash val="solid"/>
          </a:ln>
        </p:spPr>
      </p:sp>
      <p:sp>
        <p:nvSpPr>
          <p:cNvPr id="19" name="execution-card-2"/>
          <p:cNvSpPr/>
          <p:nvPr/>
        </p:nvSpPr>
        <p:spPr>
          <a:xfrm>
            <a:off x="5506641" y="2446734"/>
            <a:ext cx="1131094" cy="756047"/>
          </a:xfrm>
          <a:prstGeom prst="roundRect">
            <a:avLst>
              <a:gd name="adj" fmla="val 9449"/>
            </a:avLst>
          </a:prstGeom>
          <a:solidFill>
            <a:srgbClr val="F5FAFF"/>
          </a:solidFill>
          <a:ln w="7739">
            <a:solidFill>
              <a:srgbClr val="A9D6F0"/>
            </a:solidFill>
            <a:prstDash val="solid"/>
          </a:ln>
        </p:spPr>
      </p:sp>
      <p:sp>
        <p:nvSpPr>
          <p:cNvPr id="20" name="execution-card-3"/>
          <p:cNvSpPr/>
          <p:nvPr/>
        </p:nvSpPr>
        <p:spPr>
          <a:xfrm>
            <a:off x="6750844" y="2446734"/>
            <a:ext cx="1131094" cy="756047"/>
          </a:xfrm>
          <a:prstGeom prst="roundRect">
            <a:avLst>
              <a:gd name="adj" fmla="val 9449"/>
            </a:avLst>
          </a:prstGeom>
          <a:solidFill>
            <a:srgbClr val="F5FAFF"/>
          </a:solidFill>
          <a:ln w="7739">
            <a:solidFill>
              <a:srgbClr val="A9D6F0"/>
            </a:solidFill>
            <a:prstDash val="solid"/>
          </a:ln>
        </p:spPr>
      </p:sp>
      <p:sp>
        <p:nvSpPr>
          <p:cNvPr id="21" name="external-world-card-1"/>
          <p:cNvSpPr/>
          <p:nvPr/>
        </p:nvSpPr>
        <p:spPr>
          <a:xfrm>
            <a:off x="9108281" y="2012156"/>
            <a:ext cx="2708672" cy="440531"/>
          </a:xfrm>
          <a:prstGeom prst="roundRect">
            <a:avLst>
              <a:gd name="adj" fmla="val 16216"/>
            </a:avLst>
          </a:prstGeom>
          <a:solidFill>
            <a:srgbClr val="F6FAFE"/>
          </a:solidFill>
          <a:ln w="7739">
            <a:solidFill>
              <a:srgbClr val="B6DDF4"/>
            </a:solidFill>
            <a:prstDash val="solid"/>
          </a:ln>
        </p:spPr>
      </p:sp>
      <p:sp>
        <p:nvSpPr>
          <p:cNvPr id="22" name="external-world-card-2"/>
          <p:cNvSpPr/>
          <p:nvPr/>
        </p:nvSpPr>
        <p:spPr>
          <a:xfrm>
            <a:off x="9108281" y="2518172"/>
            <a:ext cx="2708672" cy="440531"/>
          </a:xfrm>
          <a:prstGeom prst="roundRect">
            <a:avLst>
              <a:gd name="adj" fmla="val 16216"/>
            </a:avLst>
          </a:prstGeom>
          <a:solidFill>
            <a:srgbClr val="F6FAFE"/>
          </a:solidFill>
          <a:ln w="7739">
            <a:solidFill>
              <a:srgbClr val="B6DDF4"/>
            </a:solidFill>
            <a:prstDash val="solid"/>
          </a:ln>
        </p:spPr>
      </p:sp>
      <p:sp>
        <p:nvSpPr>
          <p:cNvPr id="23" name="external-world-card-3"/>
          <p:cNvSpPr/>
          <p:nvPr/>
        </p:nvSpPr>
        <p:spPr>
          <a:xfrm>
            <a:off x="9108281" y="3024188"/>
            <a:ext cx="2708672" cy="440531"/>
          </a:xfrm>
          <a:prstGeom prst="roundRect">
            <a:avLst>
              <a:gd name="adj" fmla="val 16216"/>
            </a:avLst>
          </a:prstGeom>
          <a:solidFill>
            <a:srgbClr val="F6FAFE"/>
          </a:solidFill>
          <a:ln w="7739">
            <a:solidFill>
              <a:srgbClr val="B6DDF4"/>
            </a:solidFill>
            <a:prstDash val="solid"/>
          </a:ln>
        </p:spPr>
      </p:sp>
      <p:sp>
        <p:nvSpPr>
          <p:cNvPr id="24" name="external-world-card-4"/>
          <p:cNvSpPr/>
          <p:nvPr/>
        </p:nvSpPr>
        <p:spPr>
          <a:xfrm>
            <a:off x="9108281" y="3530203"/>
            <a:ext cx="2708672" cy="440531"/>
          </a:xfrm>
          <a:prstGeom prst="roundRect">
            <a:avLst>
              <a:gd name="adj" fmla="val 16216"/>
            </a:avLst>
          </a:prstGeom>
          <a:solidFill>
            <a:srgbClr val="F6FAFE"/>
          </a:solidFill>
          <a:ln w="7739">
            <a:solidFill>
              <a:srgbClr val="B6DDF4"/>
            </a:solidFill>
            <a:prstDash val="solid"/>
          </a:ln>
        </p:spPr>
      </p:sp>
      <p:sp>
        <p:nvSpPr>
          <p:cNvPr id="25" name="success-result"/>
          <p:cNvSpPr/>
          <p:nvPr/>
        </p:nvSpPr>
        <p:spPr>
          <a:xfrm>
            <a:off x="8215313" y="4196953"/>
            <a:ext cx="3595688" cy="666750"/>
          </a:xfrm>
          <a:prstGeom prst="roundRect">
            <a:avLst>
              <a:gd name="adj" fmla="val 12500"/>
            </a:avLst>
          </a:prstGeom>
          <a:solidFill>
            <a:srgbClr val="F0FFF5"/>
          </a:solidFill>
          <a:ln w="9525">
            <a:solidFill>
              <a:srgbClr val="76D5A3"/>
            </a:solidFill>
            <a:prstDash val="solid"/>
          </a:ln>
        </p:spPr>
      </p:sp>
      <p:sp>
        <p:nvSpPr>
          <p:cNvPr id="26" name="recovery-result"/>
          <p:cNvSpPr/>
          <p:nvPr/>
        </p:nvSpPr>
        <p:spPr>
          <a:xfrm>
            <a:off x="8215313" y="4941094"/>
            <a:ext cx="3595688" cy="732234"/>
          </a:xfrm>
          <a:prstGeom prst="roundRect">
            <a:avLst>
              <a:gd name="adj" fmla="val 11382"/>
            </a:avLst>
          </a:prstGeom>
          <a:solidFill>
            <a:srgbClr val="FFF3F4"/>
          </a:solidFill>
          <a:ln w="9525">
            <a:solidFill>
              <a:srgbClr val="F0A9B3"/>
            </a:solidFill>
            <a:prstDash val="solid"/>
          </a:ln>
        </p:spPr>
      </p:sp>
      <p:sp>
        <p:nvSpPr>
          <p:cNvPr id="27" name="blue-bar-1"/>
          <p:cNvSpPr/>
          <p:nvPr/>
        </p:nvSpPr>
        <p:spPr>
          <a:xfrm>
            <a:off x="345281" y="1172766"/>
            <a:ext cx="2946797" cy="404813"/>
          </a:xfrm>
          <a:prstGeom prst="roundRect">
            <a:avLst>
              <a:gd name="adj" fmla="val 11765"/>
            </a:avLst>
          </a:prstGeom>
          <a:solidFill>
            <a:srgbClr val="1769B1"/>
          </a:solidFill>
          <a:ln w="12700">
            <a:solidFill>
              <a:srgbClr val="FFFFFF">
                <a:alpha val="0"/>
              </a:srgbClr>
            </a:solidFill>
            <a:prstDash val="solid"/>
          </a:ln>
        </p:spPr>
      </p:sp>
      <p:sp>
        <p:nvSpPr>
          <p:cNvPr id="28" name="blue-bar-2"/>
          <p:cNvSpPr/>
          <p:nvPr/>
        </p:nvSpPr>
        <p:spPr>
          <a:xfrm>
            <a:off x="3952875" y="1166813"/>
            <a:ext cx="4018359" cy="381000"/>
          </a:xfrm>
          <a:prstGeom prst="roundRect">
            <a:avLst>
              <a:gd name="adj" fmla="val 12500"/>
            </a:avLst>
          </a:prstGeom>
          <a:solidFill>
            <a:srgbClr val="1769B1"/>
          </a:solidFill>
          <a:ln w="12700">
            <a:solidFill>
              <a:srgbClr val="FFFFFF">
                <a:alpha val="0"/>
              </a:srgbClr>
            </a:solidFill>
            <a:prstDash val="solid"/>
          </a:ln>
        </p:spPr>
      </p:sp>
      <p:sp>
        <p:nvSpPr>
          <p:cNvPr id="29" name="blue-bar-3"/>
          <p:cNvSpPr/>
          <p:nvPr/>
        </p:nvSpPr>
        <p:spPr>
          <a:xfrm>
            <a:off x="9013031" y="1178719"/>
            <a:ext cx="2851547" cy="375047"/>
          </a:xfrm>
          <a:prstGeom prst="roundRect">
            <a:avLst>
              <a:gd name="adj" fmla="val 12698"/>
            </a:avLst>
          </a:prstGeom>
          <a:solidFill>
            <a:srgbClr val="1769B1"/>
          </a:solidFill>
          <a:ln w="12700">
            <a:solidFill>
              <a:srgbClr val="FFFFFF">
                <a:alpha val="0"/>
              </a:srgbClr>
            </a:solidFill>
            <a:prstDash val="solid"/>
          </a:ln>
        </p:spPr>
      </p:sp>
      <p:cxnSp>
        <p:nvCxnSpPr>
          <p:cNvPr id="30" name="SC_CONNECTOR__authorize-to-execute__0"/>
          <p:cNvCxnSpPr/>
          <p:nvPr/>
        </p:nvCxnSpPr>
        <p:spPr>
          <a:xfrm>
            <a:off x="3917156" y="3607594"/>
            <a:ext cx="136922" cy="0"/>
          </a:xfrm>
          <a:prstGeom prst="line">
            <a:avLst/>
          </a:prstGeom>
          <a:noFill/>
          <a:ln w="17859">
            <a:solidFill>
              <a:srgbClr val="2473B6"/>
            </a:solidFill>
            <a:prstDash val="solid"/>
            <a:round/>
            <a:headEnd type="none"/>
            <a:tailEnd type="triangle" w="med" len="med"/>
          </a:ln>
        </p:spPr>
      </p:cxnSp>
      <p:cxnSp>
        <p:nvCxnSpPr>
          <p:cNvPr id="31" name="SC_CONNECTOR__receipt-to-verify__0"/>
          <p:cNvCxnSpPr/>
          <p:nvPr/>
        </p:nvCxnSpPr>
        <p:spPr>
          <a:xfrm>
            <a:off x="8114109" y="3607594"/>
            <a:ext cx="160734" cy="0"/>
          </a:xfrm>
          <a:prstGeom prst="line">
            <a:avLst/>
          </a:prstGeom>
          <a:noFill/>
          <a:ln w="17859">
            <a:solidFill>
              <a:srgbClr val="2473B6"/>
            </a:solidFill>
            <a:prstDash val="solid"/>
            <a:round/>
            <a:headEnd type="none"/>
            <a:tailEnd type="triangle" w="med" len="med"/>
          </a:ln>
        </p:spPr>
      </p:cxnSp>
      <p:sp>
        <p:nvSpPr>
          <p:cNvPr id="32" name="SC_FREEFORM_ROUTE__execution-to-outcome__0"/>
          <p:cNvSpPr/>
          <p:nvPr/>
        </p:nvSpPr>
        <p:spPr>
          <a:xfrm>
            <a:off x="5947172" y="3571875"/>
            <a:ext cx="92273" cy="363141"/>
          </a:xfrm>
          <a:custGeom>
            <a:avLst/>
            <a:gdLst/>
            <a:ahLst/>
            <a:cxnLst/>
            <a:rect l="l" t="t" r="r" b="b"/>
            <a:pathLst>
              <a:path w="92273" h="363141">
                <a:moveTo>
                  <a:pt x="92273" y="0"/>
                </a:moveTo>
                <a:lnTo>
                  <a:pt x="92273" y="181570"/>
                </a:lnTo>
                <a:lnTo>
                  <a:pt x="0" y="181570"/>
                </a:lnTo>
                <a:lnTo>
                  <a:pt x="0" y="363141"/>
                </a:lnTo>
              </a:path>
            </a:pathLst>
          </a:custGeom>
          <a:solidFill>
            <a:srgbClr val="FFFFFF">
              <a:alpha val="0"/>
            </a:srgbClr>
          </a:solidFill>
          <a:ln w="17859">
            <a:solidFill>
              <a:srgbClr val="2473B6"/>
            </a:solidFill>
            <a:prstDash val="solid"/>
            <a:round/>
            <a:headEnd type="none"/>
            <a:tailEnd type="triangle" w="med" len="med"/>
          </a:ln>
        </p:spPr>
      </p:sp>
      <p:sp>
        <p:nvSpPr>
          <p:cNvPr id="33" name="SC_FREEFORM_ROUTE__outcome-to-success__0"/>
          <p:cNvSpPr/>
          <p:nvPr/>
        </p:nvSpPr>
        <p:spPr>
          <a:xfrm>
            <a:off x="7191375" y="4530328"/>
            <a:ext cx="1023937" cy="255984"/>
          </a:xfrm>
          <a:custGeom>
            <a:avLst/>
            <a:gdLst/>
            <a:ahLst/>
            <a:cxnLst/>
            <a:rect l="l" t="t" r="r" b="b"/>
            <a:pathLst>
              <a:path w="1023937" h="255984">
                <a:moveTo>
                  <a:pt x="0" y="255984"/>
                </a:moveTo>
                <a:lnTo>
                  <a:pt x="511969" y="255984"/>
                </a:lnTo>
                <a:lnTo>
                  <a:pt x="511969" y="0"/>
                </a:lnTo>
                <a:lnTo>
                  <a:pt x="1023937" y="0"/>
                </a:lnTo>
              </a:path>
            </a:pathLst>
          </a:custGeom>
          <a:solidFill>
            <a:srgbClr val="FFFFFF">
              <a:alpha val="0"/>
            </a:srgbClr>
          </a:solidFill>
          <a:ln w="17859">
            <a:solidFill>
              <a:srgbClr val="2473B6"/>
            </a:solidFill>
            <a:prstDash val="solid"/>
            <a:round/>
            <a:headEnd type="none"/>
            <a:tailEnd type="triangle" w="med" len="med"/>
          </a:ln>
        </p:spPr>
      </p:sp>
      <p:sp>
        <p:nvSpPr>
          <p:cNvPr id="34" name="SC_FREEFORM_ROUTE__outcome-to-recovery__0"/>
          <p:cNvSpPr/>
          <p:nvPr/>
        </p:nvSpPr>
        <p:spPr>
          <a:xfrm>
            <a:off x="7191375" y="4786313"/>
            <a:ext cx="1023937" cy="520898"/>
          </a:xfrm>
          <a:custGeom>
            <a:avLst/>
            <a:gdLst/>
            <a:ahLst/>
            <a:cxnLst/>
            <a:rect l="l" t="t" r="r" b="b"/>
            <a:pathLst>
              <a:path w="1023937" h="520898">
                <a:moveTo>
                  <a:pt x="0" y="0"/>
                </a:moveTo>
                <a:lnTo>
                  <a:pt x="511969" y="0"/>
                </a:lnTo>
                <a:lnTo>
                  <a:pt x="511969" y="520898"/>
                </a:lnTo>
                <a:lnTo>
                  <a:pt x="1023937" y="520898"/>
                </a:lnTo>
              </a:path>
            </a:pathLst>
          </a:custGeom>
          <a:solidFill>
            <a:srgbClr val="FFFFFF">
              <a:alpha val="0"/>
            </a:srgbClr>
          </a:solidFill>
          <a:ln w="17859">
            <a:solidFill>
              <a:srgbClr val="2473B6"/>
            </a:solidFill>
            <a:prstDash val="solid"/>
            <a:round/>
            <a:headEnd type="none"/>
            <a:tailEnd type="triangle" w="med" len="med"/>
          </a:ln>
        </p:spPr>
      </p:sp>
      <p:sp>
        <p:nvSpPr>
          <p:cNvPr id="35" name="ocr-001"/>
          <p:cNvSpPr txBox="1"/>
          <p:nvPr/>
        </p:nvSpPr>
        <p:spPr>
          <a:xfrm>
            <a:off x="541734" y="363141"/>
            <a:ext cx="11632406" cy="375047"/>
          </a:xfrm>
          <a:prstGeom prst="rect">
            <a:avLst/>
          </a:prstGeom>
          <a:noFill/>
          <a:ln/>
        </p:spPr>
        <p:txBody>
          <a:bodyPr wrap="square" lIns="0" tIns="0" rIns="0" bIns="0" rtlCol="0" anchor="ctr">
            <a:noAutofit/>
          </a:bodyPr>
          <a:lstStyle/>
          <a:p>
            <a:pPr algn="l" indent="0" marL="0">
              <a:lnSpc>
                <a:spcPct val="100000"/>
              </a:lnSpc>
              <a:buNone/>
              <a:defRPr spc="0"/>
            </a:pPr>
            <a:r>
              <a:rPr lang="en-US" sz="2500" b="1" dirty="0" spc="0">
                <a:solidFill>
                  <a:srgbClr val="102C55"/>
                </a:solidFill>
                <a:latin typeface="Microsoft YaHei" pitchFamily="34" charset="0"/>
                <a:ea typeface="Microsoft YaHei" pitchFamily="34" charset="-122"/>
                <a:cs typeface="Microsoft YaHei" pitchFamily="34" charset="-120"/>
              </a:rPr>
              <a:t>可信Agent动作需要验证真实效果，而不是只确认工具调用成功</a:t>
            </a:r>
            <a:endParaRPr lang="en-US" sz="2500" dirty="0" spc="0"/>
          </a:p>
        </p:txBody>
      </p:sp>
      <p:sp>
        <p:nvSpPr>
          <p:cNvPr id="36" name="ocr-002"/>
          <p:cNvSpPr txBox="1"/>
          <p:nvPr/>
        </p:nvSpPr>
        <p:spPr>
          <a:xfrm>
            <a:off x="559594" y="756047"/>
            <a:ext cx="7328297"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500" dirty="0" spc="0">
                <a:solidFill>
                  <a:srgbClr val="58738A"/>
                </a:solidFill>
                <a:latin typeface="Microsoft YaHei" pitchFamily="34" charset="0"/>
                <a:ea typeface="Microsoft YaHei" pitchFamily="34" charset="-122"/>
                <a:cs typeface="Microsoft YaHei" pitchFamily="34" charset="-120"/>
              </a:rPr>
              <a:t>从用户授权到可观察真实结果，工具成功响应不等于任务完成。</a:t>
            </a:r>
            <a:endParaRPr lang="en-US" sz="1500" dirty="0" spc="0"/>
          </a:p>
        </p:txBody>
      </p:sp>
      <p:sp>
        <p:nvSpPr>
          <p:cNvPr id="37" name="ocr-003"/>
          <p:cNvSpPr txBox="1"/>
          <p:nvPr/>
        </p:nvSpPr>
        <p:spPr>
          <a:xfrm>
            <a:off x="809625" y="1238250"/>
            <a:ext cx="2172891"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00" b="1" dirty="0" spc="0">
                <a:solidFill>
                  <a:srgbClr val="FFFFFF"/>
                </a:solidFill>
                <a:latin typeface="Microsoft YaHei" pitchFamily="34" charset="0"/>
                <a:ea typeface="Microsoft YaHei" pitchFamily="34" charset="-122"/>
                <a:cs typeface="Microsoft YaHei" pitchFamily="34" charset="-120"/>
              </a:rPr>
              <a:t>步骤1丨目标与授权</a:t>
            </a:r>
            <a:endParaRPr lang="en-US" sz="1300" dirty="0" spc="0"/>
          </a:p>
        </p:txBody>
      </p:sp>
      <p:sp>
        <p:nvSpPr>
          <p:cNvPr id="38" name="ocr-004"/>
          <p:cNvSpPr txBox="1"/>
          <p:nvPr/>
        </p:nvSpPr>
        <p:spPr>
          <a:xfrm>
            <a:off x="4518422" y="1226344"/>
            <a:ext cx="1976438"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FFFFFF"/>
                </a:solidFill>
                <a:latin typeface="Microsoft YaHei" pitchFamily="34" charset="0"/>
                <a:ea typeface="Microsoft YaHei" pitchFamily="34" charset="-122"/>
                <a:cs typeface="Microsoft YaHei" pitchFamily="34" charset="-120"/>
              </a:rPr>
              <a:t>步骤2丨受限执行</a:t>
            </a:r>
            <a:endParaRPr lang="en-US" sz="1200" dirty="0" spc="0"/>
          </a:p>
        </p:txBody>
      </p:sp>
      <p:sp>
        <p:nvSpPr>
          <p:cNvPr id="39" name="ocr-005"/>
          <p:cNvSpPr txBox="1"/>
          <p:nvPr/>
        </p:nvSpPr>
        <p:spPr>
          <a:xfrm>
            <a:off x="9483328" y="1244203"/>
            <a:ext cx="2690813"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FFFFFF"/>
                </a:solidFill>
                <a:latin typeface="Microsoft YaHei" pitchFamily="34" charset="0"/>
                <a:ea typeface="Microsoft YaHei" pitchFamily="34" charset="-122"/>
                <a:cs typeface="Microsoft YaHei" pitchFamily="34" charset="-120"/>
              </a:rPr>
              <a:t>外部世界/ App/ 系统状态</a:t>
            </a:r>
            <a:endParaRPr lang="en-US" sz="1350" dirty="0" spc="0"/>
          </a:p>
        </p:txBody>
      </p:sp>
      <p:sp>
        <p:nvSpPr>
          <p:cNvPr id="40" name="ocr-006"/>
          <p:cNvSpPr txBox="1"/>
          <p:nvPr/>
        </p:nvSpPr>
        <p:spPr>
          <a:xfrm>
            <a:off x="821531" y="1601391"/>
            <a:ext cx="211931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用户目的、身份/权限边界、</a:t>
            </a:r>
            <a:endParaRPr lang="en-US" sz="950" dirty="0" spc="0"/>
          </a:p>
        </p:txBody>
      </p:sp>
      <p:sp>
        <p:nvSpPr>
          <p:cNvPr id="41" name="ocr-007"/>
          <p:cNvSpPr txBox="1"/>
          <p:nvPr/>
        </p:nvSpPr>
        <p:spPr>
          <a:xfrm>
            <a:off x="4524375" y="1547813"/>
            <a:ext cx="492918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选择合适工具/App并带必要参数调用；记录请求/期望外部效果。</a:t>
            </a:r>
            <a:endParaRPr lang="en-US" sz="950" dirty="0" spc="0"/>
          </a:p>
        </p:txBody>
      </p:sp>
      <p:sp>
        <p:nvSpPr>
          <p:cNvPr id="42" name="ocr-008"/>
          <p:cNvSpPr txBox="1"/>
          <p:nvPr/>
        </p:nvSpPr>
        <p:spPr>
          <a:xfrm>
            <a:off x="9489281" y="1583531"/>
            <a:ext cx="26848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工具调用会改变外部世界的真实状态，</a:t>
            </a:r>
            <a:endParaRPr lang="en-US" sz="800" dirty="0" spc="0"/>
          </a:p>
        </p:txBody>
      </p:sp>
      <p:sp>
        <p:nvSpPr>
          <p:cNvPr id="43" name="ocr-009"/>
          <p:cNvSpPr txBox="1"/>
          <p:nvPr/>
        </p:nvSpPr>
        <p:spPr>
          <a:xfrm>
            <a:off x="833438" y="1785938"/>
            <a:ext cx="16787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目标对象的新鲜绑定。</a:t>
            </a:r>
            <a:endParaRPr lang="en-US" sz="800" dirty="0" spc="0"/>
          </a:p>
        </p:txBody>
      </p:sp>
      <p:sp>
        <p:nvSpPr>
          <p:cNvPr id="44" name="ocr-010"/>
          <p:cNvSpPr txBox="1"/>
          <p:nvPr/>
        </p:nvSpPr>
        <p:spPr>
          <a:xfrm>
            <a:off x="9489281" y="1756172"/>
            <a:ext cx="21550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需要独立回读验证实际结果。</a:t>
            </a:r>
            <a:endParaRPr lang="en-US" sz="800" dirty="0" spc="0"/>
          </a:p>
        </p:txBody>
      </p:sp>
      <p:sp>
        <p:nvSpPr>
          <p:cNvPr id="45" name="ocr-011"/>
          <p:cNvSpPr txBox="1"/>
          <p:nvPr/>
        </p:nvSpPr>
        <p:spPr>
          <a:xfrm>
            <a:off x="5703094" y="1887141"/>
            <a:ext cx="1815703"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Agent 编排与执行层</a:t>
            </a:r>
            <a:endParaRPr lang="en-US" sz="1200" dirty="0" spc="0"/>
          </a:p>
        </p:txBody>
      </p:sp>
      <p:sp>
        <p:nvSpPr>
          <p:cNvPr id="46" name="ocr-012"/>
          <p:cNvSpPr txBox="1"/>
          <p:nvPr/>
        </p:nvSpPr>
        <p:spPr>
          <a:xfrm>
            <a:off x="6054328" y="2089547"/>
            <a:ext cx="84534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(受限环境)</a:t>
            </a:r>
            <a:endParaRPr lang="en-US" sz="850" dirty="0" spc="0"/>
          </a:p>
        </p:txBody>
      </p:sp>
      <p:sp>
        <p:nvSpPr>
          <p:cNvPr id="47" name="ocr-013"/>
          <p:cNvSpPr txBox="1"/>
          <p:nvPr/>
        </p:nvSpPr>
        <p:spPr>
          <a:xfrm>
            <a:off x="9822656" y="2059781"/>
            <a:ext cx="83343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应用/服务</a:t>
            </a:r>
            <a:endParaRPr lang="en-US" sz="850" dirty="0" spc="0"/>
          </a:p>
        </p:txBody>
      </p:sp>
      <p:sp>
        <p:nvSpPr>
          <p:cNvPr id="48" name="ocr-014"/>
          <p:cNvSpPr txBox="1"/>
          <p:nvPr/>
        </p:nvSpPr>
        <p:spPr>
          <a:xfrm>
            <a:off x="1726406" y="2113359"/>
            <a:ext cx="756047"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用户目的</a:t>
            </a:r>
            <a:endParaRPr lang="en-US" sz="1100" dirty="0" spc="0"/>
          </a:p>
        </p:txBody>
      </p:sp>
      <p:sp>
        <p:nvSpPr>
          <p:cNvPr id="49" name="ocr-015"/>
          <p:cNvSpPr txBox="1"/>
          <p:nvPr/>
        </p:nvSpPr>
        <p:spPr>
          <a:xfrm>
            <a:off x="3417094" y="2244328"/>
            <a:ext cx="67865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授权通过</a:t>
            </a:r>
            <a:endParaRPr lang="en-US" sz="850" dirty="0" spc="0"/>
          </a:p>
        </p:txBody>
      </p:sp>
      <p:sp>
        <p:nvSpPr>
          <p:cNvPr id="50" name="ocr-016"/>
          <p:cNvSpPr txBox="1"/>
          <p:nvPr/>
        </p:nvSpPr>
        <p:spPr>
          <a:xfrm>
            <a:off x="8423672" y="2196703"/>
            <a:ext cx="523875"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作用于</a:t>
            </a:r>
            <a:endParaRPr lang="en-US" sz="900" dirty="0" spc="0"/>
          </a:p>
        </p:txBody>
      </p:sp>
      <p:sp>
        <p:nvSpPr>
          <p:cNvPr id="51" name="ocr-017"/>
          <p:cNvSpPr txBox="1"/>
          <p:nvPr/>
        </p:nvSpPr>
        <p:spPr>
          <a:xfrm>
            <a:off x="9822656" y="2238375"/>
            <a:ext cx="22740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邮件、日历、文件、支付、出行等</a:t>
            </a:r>
            <a:endParaRPr lang="en-US" sz="800" dirty="0" spc="0"/>
          </a:p>
        </p:txBody>
      </p:sp>
      <p:sp>
        <p:nvSpPr>
          <p:cNvPr id="52" name="ocr-018"/>
          <p:cNvSpPr txBox="1"/>
          <p:nvPr/>
        </p:nvSpPr>
        <p:spPr>
          <a:xfrm>
            <a:off x="1732359" y="2309813"/>
            <a:ext cx="108346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我希望完成什么</a:t>
            </a:r>
            <a:endParaRPr lang="en-US" sz="850" dirty="0" spc="0"/>
          </a:p>
        </p:txBody>
      </p:sp>
      <p:sp>
        <p:nvSpPr>
          <p:cNvPr id="53" name="ocr-019"/>
          <p:cNvSpPr txBox="1"/>
          <p:nvPr/>
        </p:nvSpPr>
        <p:spPr>
          <a:xfrm>
            <a:off x="3333750" y="2405063"/>
            <a:ext cx="93464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进入受限执行</a:t>
            </a:r>
            <a:endParaRPr lang="en-US" sz="850" dirty="0" spc="0"/>
          </a:p>
        </p:txBody>
      </p:sp>
      <p:sp>
        <p:nvSpPr>
          <p:cNvPr id="54" name="ocr-020"/>
          <p:cNvSpPr txBox="1"/>
          <p:nvPr/>
        </p:nvSpPr>
        <p:spPr>
          <a:xfrm>
            <a:off x="8370094" y="2351484"/>
            <a:ext cx="66675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外部世界</a:t>
            </a:r>
            <a:endParaRPr lang="en-US" sz="850" dirty="0" spc="0"/>
          </a:p>
        </p:txBody>
      </p:sp>
      <p:sp>
        <p:nvSpPr>
          <p:cNvPr id="55" name="ocr-021"/>
          <p:cNvSpPr txBox="1"/>
          <p:nvPr/>
        </p:nvSpPr>
        <p:spPr>
          <a:xfrm>
            <a:off x="1738313" y="2601516"/>
            <a:ext cx="1232297"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身份/权限边界</a:t>
            </a:r>
            <a:endParaRPr lang="en-US" sz="1000" dirty="0" spc="0"/>
          </a:p>
        </p:txBody>
      </p:sp>
      <p:sp>
        <p:nvSpPr>
          <p:cNvPr id="56" name="ocr-022"/>
          <p:cNvSpPr txBox="1"/>
          <p:nvPr/>
        </p:nvSpPr>
        <p:spPr>
          <a:xfrm>
            <a:off x="9834563" y="2559844"/>
            <a:ext cx="87510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数据与内容</a:t>
            </a:r>
            <a:endParaRPr lang="en-US" sz="850" dirty="0" spc="0"/>
          </a:p>
        </p:txBody>
      </p:sp>
      <p:sp>
        <p:nvSpPr>
          <p:cNvPr id="57" name="ocr-023"/>
          <p:cNvSpPr txBox="1"/>
          <p:nvPr/>
        </p:nvSpPr>
        <p:spPr>
          <a:xfrm>
            <a:off x="1738313" y="2792016"/>
            <a:ext cx="107751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我被允许做什么</a:t>
            </a:r>
            <a:endParaRPr lang="en-US" sz="850" dirty="0" spc="0"/>
          </a:p>
        </p:txBody>
      </p:sp>
      <p:sp>
        <p:nvSpPr>
          <p:cNvPr id="58" name="ocr-024"/>
          <p:cNvSpPr txBox="1"/>
          <p:nvPr/>
        </p:nvSpPr>
        <p:spPr>
          <a:xfrm>
            <a:off x="4411266" y="2803922"/>
            <a:ext cx="116085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工具/App选择</a:t>
            </a:r>
            <a:endParaRPr lang="en-US" sz="1000" dirty="0" spc="0"/>
          </a:p>
        </p:txBody>
      </p:sp>
      <p:sp>
        <p:nvSpPr>
          <p:cNvPr id="59" name="ocr-025"/>
          <p:cNvSpPr txBox="1"/>
          <p:nvPr/>
        </p:nvSpPr>
        <p:spPr>
          <a:xfrm>
            <a:off x="9834563" y="2744391"/>
            <a:ext cx="184546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文件、消息、订单、记录等</a:t>
            </a:r>
            <a:endParaRPr lang="en-US" sz="800" dirty="0" spc="0"/>
          </a:p>
        </p:txBody>
      </p:sp>
      <p:sp>
        <p:nvSpPr>
          <p:cNvPr id="60" name="ocr-026"/>
          <p:cNvSpPr txBox="1"/>
          <p:nvPr/>
        </p:nvSpPr>
        <p:spPr>
          <a:xfrm>
            <a:off x="5691188" y="2815828"/>
            <a:ext cx="115490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构造参数并调用</a:t>
            </a:r>
            <a:endParaRPr lang="en-US" sz="850" dirty="0" spc="0"/>
          </a:p>
        </p:txBody>
      </p:sp>
      <p:sp>
        <p:nvSpPr>
          <p:cNvPr id="61" name="ocr-027"/>
          <p:cNvSpPr txBox="1"/>
          <p:nvPr/>
        </p:nvSpPr>
        <p:spPr>
          <a:xfrm>
            <a:off x="6988969" y="2809875"/>
            <a:ext cx="113704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记录请求与期望</a:t>
            </a:r>
            <a:endParaRPr lang="en-US" sz="850" dirty="0" spc="0"/>
          </a:p>
        </p:txBody>
      </p:sp>
      <p:sp>
        <p:nvSpPr>
          <p:cNvPr id="62" name="ocr-028"/>
          <p:cNvSpPr txBox="1"/>
          <p:nvPr/>
        </p:nvSpPr>
        <p:spPr>
          <a:xfrm>
            <a:off x="607219" y="2875359"/>
            <a:ext cx="494109"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00" b="1" dirty="0" spc="0">
                <a:solidFill>
                  <a:srgbClr val="173753"/>
                </a:solidFill>
                <a:latin typeface="Microsoft YaHei" pitchFamily="34" charset="0"/>
                <a:ea typeface="Microsoft YaHei" pitchFamily="34" charset="-122"/>
                <a:cs typeface="Microsoft YaHei" pitchFamily="34" charset="-120"/>
              </a:rPr>
              <a:t>用户</a:t>
            </a:r>
            <a:endParaRPr lang="en-US" sz="1300" dirty="0" spc="0"/>
          </a:p>
        </p:txBody>
      </p:sp>
      <p:sp>
        <p:nvSpPr>
          <p:cNvPr id="63" name="ocr-029"/>
          <p:cNvSpPr txBox="1"/>
          <p:nvPr/>
        </p:nvSpPr>
        <p:spPr>
          <a:xfrm>
            <a:off x="4429125" y="2982516"/>
            <a:ext cx="111323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（按目标与权限）</a:t>
            </a:r>
            <a:endParaRPr lang="en-US" sz="850" dirty="0" spc="0"/>
          </a:p>
        </p:txBody>
      </p:sp>
      <p:sp>
        <p:nvSpPr>
          <p:cNvPr id="64" name="ocr-030"/>
          <p:cNvSpPr txBox="1"/>
          <p:nvPr/>
        </p:nvSpPr>
        <p:spPr>
          <a:xfrm>
            <a:off x="5816203" y="2976563"/>
            <a:ext cx="821531"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(受限执行)</a:t>
            </a:r>
            <a:endParaRPr lang="en-US" sz="1000" dirty="0" spc="0"/>
          </a:p>
        </p:txBody>
      </p:sp>
      <p:sp>
        <p:nvSpPr>
          <p:cNvPr id="65" name="ocr-031"/>
          <p:cNvSpPr txBox="1"/>
          <p:nvPr/>
        </p:nvSpPr>
        <p:spPr>
          <a:xfrm>
            <a:off x="6988969" y="2982516"/>
            <a:ext cx="111918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(便于后续验证)</a:t>
            </a:r>
            <a:endParaRPr lang="en-US" sz="850" dirty="0" spc="0"/>
          </a:p>
        </p:txBody>
      </p:sp>
      <p:sp>
        <p:nvSpPr>
          <p:cNvPr id="66" name="ocr-032"/>
          <p:cNvSpPr txBox="1"/>
          <p:nvPr/>
        </p:nvSpPr>
        <p:spPr>
          <a:xfrm>
            <a:off x="1744266" y="3071813"/>
            <a:ext cx="1613297"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目标对象的新鲜绑定</a:t>
            </a:r>
            <a:endParaRPr lang="en-US" sz="950" dirty="0" spc="0"/>
          </a:p>
        </p:txBody>
      </p:sp>
      <p:sp>
        <p:nvSpPr>
          <p:cNvPr id="67" name="ocr-033"/>
          <p:cNvSpPr txBox="1"/>
          <p:nvPr/>
        </p:nvSpPr>
        <p:spPr>
          <a:xfrm>
            <a:off x="8393906" y="3083719"/>
            <a:ext cx="69651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独立回读</a:t>
            </a:r>
            <a:endParaRPr lang="en-US" sz="1000" dirty="0" spc="0"/>
          </a:p>
        </p:txBody>
      </p:sp>
      <p:sp>
        <p:nvSpPr>
          <p:cNvPr id="68" name="ocr-034"/>
          <p:cNvSpPr txBox="1"/>
          <p:nvPr/>
        </p:nvSpPr>
        <p:spPr>
          <a:xfrm>
            <a:off x="9840516" y="3053953"/>
            <a:ext cx="73818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云端系统</a:t>
            </a:r>
            <a:endParaRPr lang="en-US" sz="1000" dirty="0" spc="0"/>
          </a:p>
        </p:txBody>
      </p:sp>
      <p:sp>
        <p:nvSpPr>
          <p:cNvPr id="69" name="ocr-035"/>
          <p:cNvSpPr txBox="1"/>
          <p:nvPr/>
        </p:nvSpPr>
        <p:spPr>
          <a:xfrm>
            <a:off x="1732359" y="3274219"/>
            <a:ext cx="144065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对谁/哪个资源操作</a:t>
            </a:r>
            <a:endParaRPr lang="en-US" sz="800" dirty="0" spc="0"/>
          </a:p>
        </p:txBody>
      </p:sp>
      <p:sp>
        <p:nvSpPr>
          <p:cNvPr id="70" name="ocr-036"/>
          <p:cNvSpPr txBox="1"/>
          <p:nvPr/>
        </p:nvSpPr>
        <p:spPr>
          <a:xfrm>
            <a:off x="8393906" y="3244453"/>
            <a:ext cx="70246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外部状态</a:t>
            </a:r>
            <a:endParaRPr lang="en-US" sz="1000" dirty="0" spc="0"/>
          </a:p>
        </p:txBody>
      </p:sp>
      <p:sp>
        <p:nvSpPr>
          <p:cNvPr id="71" name="ocr-037"/>
          <p:cNvSpPr txBox="1"/>
          <p:nvPr/>
        </p:nvSpPr>
        <p:spPr>
          <a:xfrm>
            <a:off x="9846469" y="3256359"/>
            <a:ext cx="1535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第三方服务与在线平台</a:t>
            </a:r>
            <a:endParaRPr lang="en-US" sz="800" dirty="0" spc="0"/>
          </a:p>
        </p:txBody>
      </p:sp>
      <p:sp>
        <p:nvSpPr>
          <p:cNvPr id="72" name="ocr-038"/>
          <p:cNvSpPr txBox="1"/>
          <p:nvPr/>
        </p:nvSpPr>
        <p:spPr>
          <a:xfrm>
            <a:off x="5709047" y="3327797"/>
            <a:ext cx="110132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API/工具调用</a:t>
            </a:r>
            <a:endParaRPr lang="en-US" sz="850" dirty="0" spc="0"/>
          </a:p>
        </p:txBody>
      </p:sp>
      <p:sp>
        <p:nvSpPr>
          <p:cNvPr id="73" name="ocr-039"/>
          <p:cNvSpPr txBox="1"/>
          <p:nvPr/>
        </p:nvSpPr>
        <p:spPr>
          <a:xfrm>
            <a:off x="5435203" y="3494484"/>
            <a:ext cx="189904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（可能返回200/成功响应）</a:t>
            </a:r>
            <a:endParaRPr lang="en-US" sz="800" dirty="0" spc="0"/>
          </a:p>
        </p:txBody>
      </p:sp>
      <p:sp>
        <p:nvSpPr>
          <p:cNvPr id="74" name="ocr-040"/>
          <p:cNvSpPr txBox="1"/>
          <p:nvPr/>
        </p:nvSpPr>
        <p:spPr>
          <a:xfrm>
            <a:off x="1131094" y="3607594"/>
            <a:ext cx="150018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信任与权限校验门</a:t>
            </a:r>
            <a:endParaRPr lang="en-US" sz="950" dirty="0" spc="0"/>
          </a:p>
        </p:txBody>
      </p:sp>
      <p:sp>
        <p:nvSpPr>
          <p:cNvPr id="75" name="ocr-041"/>
          <p:cNvSpPr txBox="1"/>
          <p:nvPr/>
        </p:nvSpPr>
        <p:spPr>
          <a:xfrm>
            <a:off x="9852422" y="3571875"/>
            <a:ext cx="12322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物理世界/设备</a:t>
            </a:r>
            <a:endParaRPr lang="en-US" sz="850" dirty="0" spc="0"/>
          </a:p>
        </p:txBody>
      </p:sp>
      <p:sp>
        <p:nvSpPr>
          <p:cNvPr id="76" name="ocr-042"/>
          <p:cNvSpPr txBox="1"/>
          <p:nvPr/>
        </p:nvSpPr>
        <p:spPr>
          <a:xfrm>
            <a:off x="1131094" y="3810000"/>
            <a:ext cx="23752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在执行前进行身份、权限、作用域</a:t>
            </a:r>
            <a:endParaRPr lang="en-US" sz="800" dirty="0" spc="0"/>
          </a:p>
        </p:txBody>
      </p:sp>
      <p:sp>
        <p:nvSpPr>
          <p:cNvPr id="77" name="ocr-043"/>
          <p:cNvSpPr txBox="1"/>
          <p:nvPr/>
        </p:nvSpPr>
        <p:spPr>
          <a:xfrm>
            <a:off x="9846469" y="3762375"/>
            <a:ext cx="21788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loT设备、车、家居等（如适用）</a:t>
            </a:r>
            <a:endParaRPr lang="en-US" sz="800" dirty="0" spc="0"/>
          </a:p>
        </p:txBody>
      </p:sp>
      <p:sp>
        <p:nvSpPr>
          <p:cNvPr id="78" name="ocr-044"/>
          <p:cNvSpPr txBox="1"/>
          <p:nvPr/>
        </p:nvSpPr>
        <p:spPr>
          <a:xfrm>
            <a:off x="1125141" y="3976687"/>
            <a:ext cx="182165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和目标对象的一致性校验。</a:t>
            </a:r>
            <a:endParaRPr lang="en-US" sz="800" dirty="0" spc="0"/>
          </a:p>
        </p:txBody>
      </p:sp>
      <p:sp>
        <p:nvSpPr>
          <p:cNvPr id="79" name="ocr-045"/>
          <p:cNvSpPr txBox="1"/>
          <p:nvPr/>
        </p:nvSpPr>
        <p:spPr>
          <a:xfrm>
            <a:off x="7572375" y="4298156"/>
            <a:ext cx="6607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结果一致</a:t>
            </a:r>
            <a:endParaRPr lang="en-US" sz="850" dirty="0" spc="0"/>
          </a:p>
        </p:txBody>
      </p:sp>
      <p:sp>
        <p:nvSpPr>
          <p:cNvPr id="80" name="ocr-046"/>
          <p:cNvSpPr txBox="1"/>
          <p:nvPr/>
        </p:nvSpPr>
        <p:spPr>
          <a:xfrm>
            <a:off x="8697516" y="4327922"/>
            <a:ext cx="1857375"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步骤4|判定与完成</a:t>
            </a:r>
            <a:endParaRPr lang="en-US" sz="1000" dirty="0" spc="0"/>
          </a:p>
        </p:txBody>
      </p:sp>
      <p:sp>
        <p:nvSpPr>
          <p:cNvPr id="81" name="ocr-047"/>
          <p:cNvSpPr txBox="1"/>
          <p:nvPr/>
        </p:nvSpPr>
        <p:spPr>
          <a:xfrm>
            <a:off x="10804922" y="4298156"/>
            <a:ext cx="135731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目标已达成且证据一致</a:t>
            </a:r>
            <a:endParaRPr lang="en-US" sz="750" dirty="0" spc="0"/>
          </a:p>
        </p:txBody>
      </p:sp>
      <p:sp>
        <p:nvSpPr>
          <p:cNvPr id="82" name="ocr-048"/>
          <p:cNvSpPr txBox="1"/>
          <p:nvPr/>
        </p:nvSpPr>
        <p:spPr>
          <a:xfrm>
            <a:off x="7566422" y="4429125"/>
            <a:ext cx="6607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达成目标</a:t>
            </a:r>
            <a:endParaRPr lang="en-US" sz="850" dirty="0" spc="0"/>
          </a:p>
        </p:txBody>
      </p:sp>
      <p:sp>
        <p:nvSpPr>
          <p:cNvPr id="83" name="ocr-049"/>
          <p:cNvSpPr txBox="1"/>
          <p:nvPr/>
        </p:nvSpPr>
        <p:spPr>
          <a:xfrm>
            <a:off x="10787063" y="4464844"/>
            <a:ext cx="12977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记录最终状态与证据</a:t>
            </a:r>
            <a:endParaRPr lang="en-US" sz="800" dirty="0" spc="0"/>
          </a:p>
        </p:txBody>
      </p:sp>
      <p:sp>
        <p:nvSpPr>
          <p:cNvPr id="84" name="ocr-050"/>
          <p:cNvSpPr txBox="1"/>
          <p:nvPr/>
        </p:nvSpPr>
        <p:spPr>
          <a:xfrm>
            <a:off x="1238250" y="4542234"/>
            <a:ext cx="244078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效果回执（OutcomeReceipt）</a:t>
            </a:r>
            <a:endParaRPr lang="en-US" sz="950" dirty="0" spc="0"/>
          </a:p>
        </p:txBody>
      </p:sp>
      <p:sp>
        <p:nvSpPr>
          <p:cNvPr id="85" name="ocr-051"/>
          <p:cNvSpPr txBox="1"/>
          <p:nvPr/>
        </p:nvSpPr>
        <p:spPr>
          <a:xfrm>
            <a:off x="8697516" y="4542234"/>
            <a:ext cx="1994297"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与原目标比对→成功确认。</a:t>
            </a:r>
            <a:endParaRPr lang="en-US" sz="950" dirty="0" spc="0"/>
          </a:p>
        </p:txBody>
      </p:sp>
      <p:sp>
        <p:nvSpPr>
          <p:cNvPr id="86" name="ocr-052"/>
          <p:cNvSpPr txBox="1"/>
          <p:nvPr/>
        </p:nvSpPr>
        <p:spPr>
          <a:xfrm>
            <a:off x="5268516" y="4673203"/>
            <a:ext cx="2232422"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步骤3|真实效果回执</a:t>
            </a:r>
            <a:endParaRPr lang="en-US" sz="1000" dirty="0" spc="0"/>
          </a:p>
        </p:txBody>
      </p:sp>
      <p:sp>
        <p:nvSpPr>
          <p:cNvPr id="87" name="ocr-053"/>
          <p:cNvSpPr txBox="1"/>
          <p:nvPr/>
        </p:nvSpPr>
        <p:spPr>
          <a:xfrm>
            <a:off x="10793016" y="4637484"/>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任务完成</a:t>
            </a:r>
            <a:endParaRPr lang="en-US" sz="850" dirty="0" spc="0"/>
          </a:p>
        </p:txBody>
      </p:sp>
      <p:sp>
        <p:nvSpPr>
          <p:cNvPr id="88" name="ocr-054"/>
          <p:cNvSpPr txBox="1"/>
          <p:nvPr/>
        </p:nvSpPr>
        <p:spPr>
          <a:xfrm>
            <a:off x="4060031" y="4702969"/>
            <a:ext cx="67865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回执输入</a:t>
            </a:r>
            <a:endParaRPr lang="en-US" sz="1000" dirty="0" spc="0"/>
          </a:p>
        </p:txBody>
      </p:sp>
      <p:sp>
        <p:nvSpPr>
          <p:cNvPr id="89" name="ocr-055"/>
          <p:cNvSpPr txBox="1"/>
          <p:nvPr/>
        </p:nvSpPr>
        <p:spPr>
          <a:xfrm>
            <a:off x="1518047" y="4827984"/>
            <a:ext cx="1720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独立获取的外部世界状态</a:t>
            </a:r>
            <a:endParaRPr lang="en-US" sz="800" dirty="0" spc="0"/>
          </a:p>
        </p:txBody>
      </p:sp>
      <p:sp>
        <p:nvSpPr>
          <p:cNvPr id="90" name="ocr-056"/>
          <p:cNvSpPr txBox="1"/>
          <p:nvPr/>
        </p:nvSpPr>
        <p:spPr>
          <a:xfrm>
            <a:off x="3952875" y="4869656"/>
            <a:ext cx="97631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进行目标比对</a:t>
            </a:r>
            <a:endParaRPr lang="en-US" sz="850" dirty="0" spc="0"/>
          </a:p>
        </p:txBody>
      </p:sp>
      <p:sp>
        <p:nvSpPr>
          <p:cNvPr id="91" name="ocr-057"/>
          <p:cNvSpPr txBox="1"/>
          <p:nvPr/>
        </p:nvSpPr>
        <p:spPr>
          <a:xfrm>
            <a:off x="5179219" y="4905375"/>
            <a:ext cx="24943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工具响应/API200+实际目标完成；</a:t>
            </a:r>
            <a:endParaRPr lang="en-US" sz="800" dirty="0" spc="0"/>
          </a:p>
        </p:txBody>
      </p:sp>
      <p:sp>
        <p:nvSpPr>
          <p:cNvPr id="92" name="ocr-058"/>
          <p:cNvSpPr txBox="1"/>
          <p:nvPr/>
        </p:nvSpPr>
        <p:spPr>
          <a:xfrm>
            <a:off x="1529953" y="5030391"/>
            <a:ext cx="1857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与原目标相关的证据与结果</a:t>
            </a:r>
            <a:endParaRPr lang="en-US" sz="800" dirty="0" spc="0"/>
          </a:p>
        </p:txBody>
      </p:sp>
      <p:sp>
        <p:nvSpPr>
          <p:cNvPr id="93" name="ocr-059"/>
          <p:cNvSpPr txBox="1"/>
          <p:nvPr/>
        </p:nvSpPr>
        <p:spPr>
          <a:xfrm>
            <a:off x="5304234" y="5089922"/>
            <a:ext cx="2143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独立回读外部世界状态，生成</a:t>
            </a:r>
            <a:endParaRPr lang="en-US" sz="800" dirty="0" spc="0"/>
          </a:p>
        </p:txBody>
      </p:sp>
      <p:sp>
        <p:nvSpPr>
          <p:cNvPr id="94" name="ocr-060"/>
          <p:cNvSpPr txBox="1"/>
          <p:nvPr/>
        </p:nvSpPr>
        <p:spPr>
          <a:xfrm>
            <a:off x="8697516" y="5042297"/>
            <a:ext cx="1714500"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步骤4|有界恢复</a:t>
            </a:r>
            <a:endParaRPr lang="en-US" sz="1000" dirty="0" spc="0"/>
          </a:p>
        </p:txBody>
      </p:sp>
      <p:sp>
        <p:nvSpPr>
          <p:cNvPr id="95" name="ocr-061"/>
          <p:cNvSpPr txBox="1"/>
          <p:nvPr/>
        </p:nvSpPr>
        <p:spPr>
          <a:xfrm>
            <a:off x="10834688" y="5048250"/>
            <a:ext cx="11727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取消未完成的操作</a:t>
            </a:r>
            <a:endParaRPr lang="en-US" sz="800" dirty="0" spc="0"/>
          </a:p>
        </p:txBody>
      </p:sp>
      <p:sp>
        <p:nvSpPr>
          <p:cNvPr id="96" name="ocr-063"/>
          <p:cNvSpPr txBox="1"/>
          <p:nvPr/>
        </p:nvSpPr>
        <p:spPr>
          <a:xfrm>
            <a:off x="1518047" y="5226844"/>
            <a:ext cx="187523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时间、对象、关键字段对比</a:t>
            </a:r>
            <a:endParaRPr lang="en-US" sz="800" dirty="0" spc="0"/>
          </a:p>
        </p:txBody>
      </p:sp>
      <p:sp>
        <p:nvSpPr>
          <p:cNvPr id="97" name="ocr-064"/>
          <p:cNvSpPr txBox="1"/>
          <p:nvPr/>
        </p:nvSpPr>
        <p:spPr>
          <a:xfrm>
            <a:off x="5268516" y="5262563"/>
            <a:ext cx="211335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“效果回执”(研究建议接口)。</a:t>
            </a:r>
            <a:endParaRPr lang="en-US" sz="950" dirty="0" spc="0"/>
          </a:p>
        </p:txBody>
      </p:sp>
      <p:sp>
        <p:nvSpPr>
          <p:cNvPr id="98" name="ocr-065"/>
          <p:cNvSpPr txBox="1"/>
          <p:nvPr/>
        </p:nvSpPr>
        <p:spPr>
          <a:xfrm>
            <a:off x="8697516" y="5262563"/>
            <a:ext cx="19942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若不符/超时/目标失效→</a:t>
            </a:r>
            <a:endParaRPr lang="en-US" sz="800" dirty="0" spc="0"/>
          </a:p>
        </p:txBody>
      </p:sp>
      <p:sp>
        <p:nvSpPr>
          <p:cNvPr id="99" name="ocr-066"/>
          <p:cNvSpPr txBox="1"/>
          <p:nvPr/>
        </p:nvSpPr>
        <p:spPr>
          <a:xfrm>
            <a:off x="10828734" y="5232797"/>
            <a:ext cx="1339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执行补偿或有限重试</a:t>
            </a:r>
            <a:endParaRPr lang="en-US" sz="800" dirty="0" spc="0"/>
          </a:p>
        </p:txBody>
      </p:sp>
      <p:sp>
        <p:nvSpPr>
          <p:cNvPr id="100" name="ocr-067"/>
          <p:cNvSpPr txBox="1"/>
          <p:nvPr/>
        </p:nvSpPr>
        <p:spPr>
          <a:xfrm>
            <a:off x="7417594" y="5339953"/>
            <a:ext cx="9405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不一致/超时</a:t>
            </a:r>
            <a:endParaRPr lang="en-US" sz="800" dirty="0" spc="0"/>
          </a:p>
        </p:txBody>
      </p:sp>
      <p:sp>
        <p:nvSpPr>
          <p:cNvPr id="101" name="ocr-068"/>
          <p:cNvSpPr txBox="1"/>
          <p:nvPr/>
        </p:nvSpPr>
        <p:spPr>
          <a:xfrm>
            <a:off x="1518047" y="5423297"/>
            <a:ext cx="14168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结构化的可验证回执</a:t>
            </a:r>
            <a:endParaRPr lang="en-US" sz="800" dirty="0" spc="0"/>
          </a:p>
        </p:txBody>
      </p:sp>
      <p:sp>
        <p:nvSpPr>
          <p:cNvPr id="102" name="ocr-069"/>
          <p:cNvSpPr txBox="1"/>
          <p:nvPr/>
        </p:nvSpPr>
        <p:spPr>
          <a:xfrm>
            <a:off x="8697516" y="5429250"/>
            <a:ext cx="2107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取消、补偿或有限重试，并记录状态。</a:t>
            </a:r>
            <a:endParaRPr lang="en-US" sz="800" dirty="0" spc="0"/>
          </a:p>
        </p:txBody>
      </p:sp>
      <p:sp>
        <p:nvSpPr>
          <p:cNvPr id="103" name="ocr-070"/>
          <p:cNvSpPr txBox="1"/>
          <p:nvPr/>
        </p:nvSpPr>
        <p:spPr>
          <a:xfrm>
            <a:off x="10840641" y="5411391"/>
            <a:ext cx="13215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记录失败原因与状态</a:t>
            </a:r>
            <a:endParaRPr lang="en-US" sz="800" dirty="0" spc="0"/>
          </a:p>
        </p:txBody>
      </p:sp>
      <p:sp>
        <p:nvSpPr>
          <p:cNvPr id="104" name="ocr-071"/>
          <p:cNvSpPr txBox="1"/>
          <p:nvPr/>
        </p:nvSpPr>
        <p:spPr>
          <a:xfrm>
            <a:off x="7465219" y="5482828"/>
            <a:ext cx="79771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或目标失效</a:t>
            </a:r>
            <a:endParaRPr lang="en-US" sz="850" dirty="0" spc="0"/>
          </a:p>
        </p:txBody>
      </p:sp>
      <p:sp>
        <p:nvSpPr>
          <p:cNvPr id="105" name="ocr-072"/>
          <p:cNvSpPr txBox="1"/>
          <p:nvPr/>
        </p:nvSpPr>
        <p:spPr>
          <a:xfrm>
            <a:off x="869156" y="5822156"/>
            <a:ext cx="1220391"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系统接口条件</a:t>
            </a:r>
            <a:endParaRPr lang="en-US" sz="1200" dirty="0" spc="0"/>
          </a:p>
        </p:txBody>
      </p:sp>
      <p:sp>
        <p:nvSpPr>
          <p:cNvPr id="106" name="ocr-073"/>
          <p:cNvSpPr txBox="1"/>
          <p:nvPr/>
        </p:nvSpPr>
        <p:spPr>
          <a:xfrm>
            <a:off x="6869906" y="5845969"/>
            <a:ext cx="77390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证据边界</a:t>
            </a:r>
            <a:endParaRPr lang="en-US" sz="1000" dirty="0" spc="0"/>
          </a:p>
        </p:txBody>
      </p:sp>
      <p:sp>
        <p:nvSpPr>
          <p:cNvPr id="107" name="ocr-074"/>
          <p:cNvSpPr txBox="1"/>
          <p:nvPr/>
        </p:nvSpPr>
        <p:spPr>
          <a:xfrm>
            <a:off x="875109" y="6048375"/>
            <a:ext cx="4691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权限边界、可验证结果、取消/回滚、有限重试与任务状态留痕。</a:t>
            </a:r>
            <a:endParaRPr lang="en-US" sz="800" dirty="0" spc="0"/>
          </a:p>
        </p:txBody>
      </p:sp>
      <p:sp>
        <p:nvSpPr>
          <p:cNvPr id="108" name="ocr-075"/>
          <p:cNvSpPr txBox="1"/>
          <p:nvPr/>
        </p:nvSpPr>
        <p:spPr>
          <a:xfrm>
            <a:off x="6858000" y="6030516"/>
            <a:ext cx="5316141"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OutcomeReceipt是本研究提出的接口建议，不是Apple/Android已实现的统一标准。</a:t>
            </a:r>
            <a:endParaRPr lang="en-US" sz="1050" dirty="0" spc="0"/>
          </a:p>
        </p:txBody>
      </p:sp>
      <p:sp>
        <p:nvSpPr>
          <p:cNvPr id="109"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285750" y="1226344"/>
            <a:ext cx="8227219" cy="4357688"/>
          </a:xfrm>
          <a:prstGeom prst="roundRect">
            <a:avLst>
              <a:gd name="adj" fmla="val 1776"/>
            </a:avLst>
          </a:prstGeom>
          <a:solidFill>
            <a:srgbClr val="FFFFFF"/>
          </a:solidFill>
          <a:ln w="8930">
            <a:solidFill>
              <a:srgbClr val="BCD6EC"/>
            </a:solidFill>
            <a:prstDash val="solid"/>
          </a:ln>
        </p:spPr>
      </p:sp>
      <p:sp>
        <p:nvSpPr>
          <p:cNvPr id="3" name="panel-2"/>
          <p:cNvSpPr/>
          <p:nvPr/>
        </p:nvSpPr>
        <p:spPr>
          <a:xfrm>
            <a:off x="8632031" y="1226344"/>
            <a:ext cx="3274219" cy="4357688"/>
          </a:xfrm>
          <a:prstGeom prst="roundRect">
            <a:avLst>
              <a:gd name="adj" fmla="val 2364"/>
            </a:avLst>
          </a:prstGeom>
          <a:solidFill>
            <a:srgbClr val="F7F9FD"/>
          </a:solidFill>
          <a:ln w="8930">
            <a:solidFill>
              <a:srgbClr val="BCD6EC"/>
            </a:solidFill>
            <a:prstDash val="solid"/>
          </a:ln>
        </p:spPr>
      </p:sp>
      <p:sp>
        <p:nvSpPr>
          <p:cNvPr id="4" name="task-ledger"/>
          <p:cNvSpPr/>
          <p:nvPr/>
        </p:nvSpPr>
        <p:spPr>
          <a:xfrm>
            <a:off x="3161109" y="2202656"/>
            <a:ext cx="2797969" cy="2422922"/>
          </a:xfrm>
          <a:prstGeom prst="roundRect">
            <a:avLst>
              <a:gd name="adj" fmla="val 4177"/>
            </a:avLst>
          </a:prstGeom>
          <a:solidFill>
            <a:srgbClr val="E6F5FF"/>
          </a:solidFill>
          <a:ln w="11906">
            <a:solidFill>
              <a:srgbClr val="A3D0EF"/>
            </a:solidFill>
            <a:prstDash val="solid"/>
          </a:ln>
        </p:spPr>
      </p:sp>
      <p:sp>
        <p:nvSpPr>
          <p:cNvPr id="5" name="software-evidence-1"/>
          <p:cNvSpPr/>
          <p:nvPr/>
        </p:nvSpPr>
        <p:spPr>
          <a:xfrm>
            <a:off x="541734" y="5280422"/>
            <a:ext cx="3625453" cy="696516"/>
          </a:xfrm>
          <a:prstGeom prst="roundRect">
            <a:avLst>
              <a:gd name="adj" fmla="val 7692"/>
            </a:avLst>
          </a:prstGeom>
          <a:solidFill>
            <a:srgbClr val="F8FBFF"/>
          </a:solidFill>
          <a:ln w="7144">
            <a:solidFill>
              <a:srgbClr val="B6DDF4"/>
            </a:solidFill>
            <a:prstDash val="solid"/>
          </a:ln>
        </p:spPr>
      </p:sp>
      <p:sp>
        <p:nvSpPr>
          <p:cNvPr id="6" name="software-evidence-2"/>
          <p:cNvSpPr/>
          <p:nvPr/>
        </p:nvSpPr>
        <p:spPr>
          <a:xfrm>
            <a:off x="4256484" y="5280422"/>
            <a:ext cx="3625453" cy="696516"/>
          </a:xfrm>
          <a:prstGeom prst="roundRect">
            <a:avLst>
              <a:gd name="adj" fmla="val 7692"/>
            </a:avLst>
          </a:prstGeom>
          <a:solidFill>
            <a:srgbClr val="F8FBFF"/>
          </a:solidFill>
          <a:ln w="7144">
            <a:solidFill>
              <a:srgbClr val="B6DDF4"/>
            </a:solidFill>
            <a:prstDash val="solid"/>
          </a:ln>
        </p:spPr>
      </p:sp>
      <p:sp>
        <p:nvSpPr>
          <p:cNvPr id="7" name="software-evidence-3"/>
          <p:cNvSpPr/>
          <p:nvPr/>
        </p:nvSpPr>
        <p:spPr>
          <a:xfrm>
            <a:off x="7971234" y="5280422"/>
            <a:ext cx="3625453" cy="696516"/>
          </a:xfrm>
          <a:prstGeom prst="roundRect">
            <a:avLst>
              <a:gd name="adj" fmla="val 7692"/>
            </a:avLst>
          </a:prstGeom>
          <a:solidFill>
            <a:srgbClr val="F8FBFF"/>
          </a:solidFill>
          <a:ln w="7144">
            <a:solidFill>
              <a:srgbClr val="B6DDF4"/>
            </a:solidFill>
            <a:prstDash val="solid"/>
          </a:ln>
        </p:spPr>
      </p:sp>
      <p:sp>
        <p:nvSpPr>
          <p:cNvPr id="8"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9"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10" name="observable-input-1"/>
          <p:cNvSpPr/>
          <p:nvPr/>
        </p:nvSpPr>
        <p:spPr>
          <a:xfrm>
            <a:off x="571500" y="2220516"/>
            <a:ext cx="2143125" cy="398859"/>
          </a:xfrm>
          <a:prstGeom prst="roundRect">
            <a:avLst>
              <a:gd name="adj" fmla="val 14925"/>
            </a:avLst>
          </a:prstGeom>
          <a:solidFill>
            <a:srgbClr val="F3FAFF"/>
          </a:solidFill>
          <a:ln w="7739">
            <a:solidFill>
              <a:srgbClr val="B6DDF4"/>
            </a:solidFill>
            <a:prstDash val="solid"/>
          </a:ln>
        </p:spPr>
      </p:sp>
      <p:sp>
        <p:nvSpPr>
          <p:cNvPr id="11" name="observable-input-2"/>
          <p:cNvSpPr/>
          <p:nvPr/>
        </p:nvSpPr>
        <p:spPr>
          <a:xfrm>
            <a:off x="571500" y="2661047"/>
            <a:ext cx="2143125" cy="398859"/>
          </a:xfrm>
          <a:prstGeom prst="roundRect">
            <a:avLst>
              <a:gd name="adj" fmla="val 14925"/>
            </a:avLst>
          </a:prstGeom>
          <a:solidFill>
            <a:srgbClr val="F3FAFF"/>
          </a:solidFill>
          <a:ln w="7739">
            <a:solidFill>
              <a:srgbClr val="B6DDF4"/>
            </a:solidFill>
            <a:prstDash val="solid"/>
          </a:ln>
        </p:spPr>
      </p:sp>
      <p:sp>
        <p:nvSpPr>
          <p:cNvPr id="12" name="observable-input-3"/>
          <p:cNvSpPr/>
          <p:nvPr/>
        </p:nvSpPr>
        <p:spPr>
          <a:xfrm>
            <a:off x="571500" y="3101578"/>
            <a:ext cx="2143125" cy="398859"/>
          </a:xfrm>
          <a:prstGeom prst="roundRect">
            <a:avLst>
              <a:gd name="adj" fmla="val 14925"/>
            </a:avLst>
          </a:prstGeom>
          <a:solidFill>
            <a:srgbClr val="F3FAFF"/>
          </a:solidFill>
          <a:ln w="7739">
            <a:solidFill>
              <a:srgbClr val="B6DDF4"/>
            </a:solidFill>
            <a:prstDash val="solid"/>
          </a:ln>
        </p:spPr>
      </p:sp>
      <p:sp>
        <p:nvSpPr>
          <p:cNvPr id="13" name="observable-input-4"/>
          <p:cNvSpPr/>
          <p:nvPr/>
        </p:nvSpPr>
        <p:spPr>
          <a:xfrm>
            <a:off x="571500" y="3542109"/>
            <a:ext cx="2143125" cy="398859"/>
          </a:xfrm>
          <a:prstGeom prst="roundRect">
            <a:avLst>
              <a:gd name="adj" fmla="val 14925"/>
            </a:avLst>
          </a:prstGeom>
          <a:solidFill>
            <a:srgbClr val="F3FAFF"/>
          </a:solidFill>
          <a:ln w="7739">
            <a:solidFill>
              <a:srgbClr val="B6DDF4"/>
            </a:solidFill>
            <a:prstDash val="solid"/>
          </a:ln>
        </p:spPr>
      </p:sp>
      <p:sp>
        <p:nvSpPr>
          <p:cNvPr id="14" name="observable-input-5"/>
          <p:cNvSpPr/>
          <p:nvPr/>
        </p:nvSpPr>
        <p:spPr>
          <a:xfrm>
            <a:off x="571500" y="3982641"/>
            <a:ext cx="2143125" cy="398859"/>
          </a:xfrm>
          <a:prstGeom prst="roundRect">
            <a:avLst>
              <a:gd name="adj" fmla="val 14925"/>
            </a:avLst>
          </a:prstGeom>
          <a:solidFill>
            <a:srgbClr val="F3FAFF"/>
          </a:solidFill>
          <a:ln w="7739">
            <a:solidFill>
              <a:srgbClr val="B6DDF4"/>
            </a:solidFill>
            <a:prstDash val="solid"/>
          </a:ln>
        </p:spPr>
      </p:sp>
      <p:sp>
        <p:nvSpPr>
          <p:cNvPr id="15" name="observable-input-6"/>
          <p:cNvSpPr/>
          <p:nvPr/>
        </p:nvSpPr>
        <p:spPr>
          <a:xfrm>
            <a:off x="571500" y="4423172"/>
            <a:ext cx="2143125" cy="398859"/>
          </a:xfrm>
          <a:prstGeom prst="roundRect">
            <a:avLst>
              <a:gd name="adj" fmla="val 14925"/>
            </a:avLst>
          </a:prstGeom>
          <a:solidFill>
            <a:srgbClr val="F3FAFF"/>
          </a:solidFill>
          <a:ln w="7739">
            <a:solidFill>
              <a:srgbClr val="B6DDF4"/>
            </a:solidFill>
            <a:prstDash val="solid"/>
          </a:ln>
        </p:spPr>
      </p:sp>
      <p:sp>
        <p:nvSpPr>
          <p:cNvPr id="16" name="ledger-layer-1"/>
          <p:cNvSpPr/>
          <p:nvPr/>
        </p:nvSpPr>
        <p:spPr>
          <a:xfrm>
            <a:off x="3381375" y="2809875"/>
            <a:ext cx="2363391" cy="452438"/>
          </a:xfrm>
          <a:prstGeom prst="roundRect">
            <a:avLst>
              <a:gd name="adj" fmla="val 13158"/>
            </a:avLst>
          </a:prstGeom>
          <a:solidFill>
            <a:srgbClr val="B5DAF5"/>
          </a:solidFill>
          <a:ln w="7144">
            <a:solidFill>
              <a:srgbClr val="7CBDE8"/>
            </a:solidFill>
            <a:prstDash val="solid"/>
          </a:ln>
        </p:spPr>
      </p:sp>
      <p:sp>
        <p:nvSpPr>
          <p:cNvPr id="17" name="ledger-layer-2"/>
          <p:cNvSpPr/>
          <p:nvPr/>
        </p:nvSpPr>
        <p:spPr>
          <a:xfrm>
            <a:off x="3381375" y="3298031"/>
            <a:ext cx="2363391" cy="452438"/>
          </a:xfrm>
          <a:prstGeom prst="roundRect">
            <a:avLst>
              <a:gd name="adj" fmla="val 13158"/>
            </a:avLst>
          </a:prstGeom>
          <a:solidFill>
            <a:srgbClr val="91CBF1"/>
          </a:solidFill>
          <a:ln w="7144">
            <a:solidFill>
              <a:srgbClr val="7CBDE8"/>
            </a:solidFill>
            <a:prstDash val="solid"/>
          </a:ln>
        </p:spPr>
      </p:sp>
      <p:sp>
        <p:nvSpPr>
          <p:cNvPr id="18" name="ledger-layer-3"/>
          <p:cNvSpPr/>
          <p:nvPr/>
        </p:nvSpPr>
        <p:spPr>
          <a:xfrm>
            <a:off x="3381375" y="3786188"/>
            <a:ext cx="2363391" cy="452438"/>
          </a:xfrm>
          <a:prstGeom prst="roundRect">
            <a:avLst>
              <a:gd name="adj" fmla="val 13158"/>
            </a:avLst>
          </a:prstGeom>
          <a:solidFill>
            <a:srgbClr val="91CBF1"/>
          </a:solidFill>
          <a:ln w="7144">
            <a:solidFill>
              <a:srgbClr val="7CBDE8"/>
            </a:solidFill>
            <a:prstDash val="solid"/>
          </a:ln>
        </p:spPr>
      </p:sp>
      <p:sp>
        <p:nvSpPr>
          <p:cNvPr id="19" name="control-action-1"/>
          <p:cNvSpPr/>
          <p:nvPr/>
        </p:nvSpPr>
        <p:spPr>
          <a:xfrm>
            <a:off x="6310313" y="2369344"/>
            <a:ext cx="2041922" cy="488156"/>
          </a:xfrm>
          <a:prstGeom prst="roundRect">
            <a:avLst>
              <a:gd name="adj" fmla="val 12195"/>
            </a:avLst>
          </a:prstGeom>
          <a:solidFill>
            <a:srgbClr val="F4FAFF"/>
          </a:solidFill>
          <a:ln w="7739">
            <a:solidFill>
              <a:srgbClr val="AAD6EF"/>
            </a:solidFill>
            <a:prstDash val="solid"/>
          </a:ln>
        </p:spPr>
      </p:sp>
      <p:sp>
        <p:nvSpPr>
          <p:cNvPr id="20" name="control-action-2"/>
          <p:cNvSpPr/>
          <p:nvPr/>
        </p:nvSpPr>
        <p:spPr>
          <a:xfrm>
            <a:off x="6310313" y="2928938"/>
            <a:ext cx="2041922" cy="488156"/>
          </a:xfrm>
          <a:prstGeom prst="roundRect">
            <a:avLst>
              <a:gd name="adj" fmla="val 12195"/>
            </a:avLst>
          </a:prstGeom>
          <a:solidFill>
            <a:srgbClr val="F4FAFF"/>
          </a:solidFill>
          <a:ln w="7739">
            <a:solidFill>
              <a:srgbClr val="AAD6EF"/>
            </a:solidFill>
            <a:prstDash val="solid"/>
          </a:ln>
        </p:spPr>
      </p:sp>
      <p:sp>
        <p:nvSpPr>
          <p:cNvPr id="21" name="control-action-3"/>
          <p:cNvSpPr/>
          <p:nvPr/>
        </p:nvSpPr>
        <p:spPr>
          <a:xfrm>
            <a:off x="6310313" y="3488531"/>
            <a:ext cx="2041922" cy="488156"/>
          </a:xfrm>
          <a:prstGeom prst="roundRect">
            <a:avLst>
              <a:gd name="adj" fmla="val 12195"/>
            </a:avLst>
          </a:prstGeom>
          <a:solidFill>
            <a:srgbClr val="F4FAFF"/>
          </a:solidFill>
          <a:ln w="7739">
            <a:solidFill>
              <a:srgbClr val="AAD6EF"/>
            </a:solidFill>
            <a:prstDash val="solid"/>
          </a:ln>
        </p:spPr>
      </p:sp>
      <p:sp>
        <p:nvSpPr>
          <p:cNvPr id="22" name="control-action-4"/>
          <p:cNvSpPr/>
          <p:nvPr/>
        </p:nvSpPr>
        <p:spPr>
          <a:xfrm>
            <a:off x="6310313" y="4048125"/>
            <a:ext cx="2041922" cy="488156"/>
          </a:xfrm>
          <a:prstGeom prst="roundRect">
            <a:avLst>
              <a:gd name="adj" fmla="val 12195"/>
            </a:avLst>
          </a:prstGeom>
          <a:solidFill>
            <a:srgbClr val="F4FAFF"/>
          </a:solidFill>
          <a:ln w="7739">
            <a:solidFill>
              <a:srgbClr val="AAD6EF"/>
            </a:solidFill>
            <a:prstDash val="solid"/>
          </a:ln>
        </p:spPr>
      </p:sp>
      <p:sp>
        <p:nvSpPr>
          <p:cNvPr id="23" name="blue-bar-1"/>
          <p:cNvSpPr/>
          <p:nvPr/>
        </p:nvSpPr>
        <p:spPr>
          <a:xfrm>
            <a:off x="392906" y="1381125"/>
            <a:ext cx="8131969" cy="345281"/>
          </a:xfrm>
          <a:prstGeom prst="roundRect">
            <a:avLst>
              <a:gd name="adj" fmla="val 13793"/>
            </a:avLst>
          </a:prstGeom>
          <a:solidFill>
            <a:srgbClr val="1769B1"/>
          </a:solidFill>
          <a:ln w="12700">
            <a:solidFill>
              <a:srgbClr val="FFFFFF">
                <a:alpha val="0"/>
              </a:srgbClr>
            </a:solidFill>
            <a:prstDash val="solid"/>
          </a:ln>
        </p:spPr>
      </p:sp>
      <p:sp>
        <p:nvSpPr>
          <p:cNvPr id="24" name="blue-bar-2"/>
          <p:cNvSpPr/>
          <p:nvPr/>
        </p:nvSpPr>
        <p:spPr>
          <a:xfrm>
            <a:off x="392906" y="4893469"/>
            <a:ext cx="11424047" cy="363141"/>
          </a:xfrm>
          <a:prstGeom prst="roundRect">
            <a:avLst>
              <a:gd name="adj" fmla="val 13115"/>
            </a:avLst>
          </a:prstGeom>
          <a:solidFill>
            <a:srgbClr val="1769B1"/>
          </a:solidFill>
          <a:ln w="12700">
            <a:solidFill>
              <a:srgbClr val="FFFFFF">
                <a:alpha val="0"/>
              </a:srgbClr>
            </a:solidFill>
            <a:prstDash val="solid"/>
          </a:ln>
        </p:spPr>
      </p:sp>
      <p:sp>
        <p:nvSpPr>
          <p:cNvPr id="25" name="SC_FREEFORM_ROUTE__input-1-to-ledger__0"/>
          <p:cNvSpPr/>
          <p:nvPr/>
        </p:nvSpPr>
        <p:spPr>
          <a:xfrm>
            <a:off x="2714625" y="2419945"/>
            <a:ext cx="446484" cy="994172"/>
          </a:xfrm>
          <a:custGeom>
            <a:avLst/>
            <a:gdLst/>
            <a:ahLst/>
            <a:cxnLst/>
            <a:rect l="l" t="t" r="r" b="b"/>
            <a:pathLst>
              <a:path w="446484" h="994172">
                <a:moveTo>
                  <a:pt x="0" y="0"/>
                </a:moveTo>
                <a:lnTo>
                  <a:pt x="223242" y="0"/>
                </a:lnTo>
                <a:lnTo>
                  <a:pt x="223242" y="994172"/>
                </a:lnTo>
                <a:lnTo>
                  <a:pt x="446484" y="994172"/>
                </a:lnTo>
              </a:path>
            </a:pathLst>
          </a:custGeom>
          <a:solidFill>
            <a:srgbClr val="FFFFFF">
              <a:alpha val="0"/>
            </a:srgbClr>
          </a:solidFill>
          <a:ln w="17859">
            <a:solidFill>
              <a:srgbClr val="2473B6"/>
            </a:solidFill>
            <a:prstDash val="solid"/>
            <a:round/>
            <a:headEnd type="none"/>
            <a:tailEnd type="triangle" w="med" len="med"/>
          </a:ln>
        </p:spPr>
      </p:sp>
      <p:sp>
        <p:nvSpPr>
          <p:cNvPr id="26" name="SC_FREEFORM_ROUTE__input-3-to-ledger__0"/>
          <p:cNvSpPr/>
          <p:nvPr/>
        </p:nvSpPr>
        <p:spPr>
          <a:xfrm>
            <a:off x="2714625" y="3301008"/>
            <a:ext cx="446484" cy="113109"/>
          </a:xfrm>
          <a:custGeom>
            <a:avLst/>
            <a:gdLst/>
            <a:ahLst/>
            <a:cxnLst/>
            <a:rect l="l" t="t" r="r" b="b"/>
            <a:pathLst>
              <a:path w="446484" h="113109">
                <a:moveTo>
                  <a:pt x="0" y="0"/>
                </a:moveTo>
                <a:lnTo>
                  <a:pt x="223242" y="0"/>
                </a:lnTo>
                <a:lnTo>
                  <a:pt x="223242" y="113109"/>
                </a:lnTo>
                <a:lnTo>
                  <a:pt x="446484" y="113109"/>
                </a:lnTo>
              </a:path>
            </a:pathLst>
          </a:custGeom>
          <a:solidFill>
            <a:srgbClr val="FFFFFF">
              <a:alpha val="0"/>
            </a:srgbClr>
          </a:solidFill>
          <a:ln w="17859">
            <a:solidFill>
              <a:srgbClr val="2473B6"/>
            </a:solidFill>
            <a:prstDash val="solid"/>
            <a:round/>
            <a:headEnd type="none"/>
            <a:tailEnd type="triangle" w="med" len="med"/>
          </a:ln>
        </p:spPr>
      </p:sp>
      <p:sp>
        <p:nvSpPr>
          <p:cNvPr id="27" name="SC_FREEFORM_ROUTE__input-5-to-ledger__0"/>
          <p:cNvSpPr/>
          <p:nvPr/>
        </p:nvSpPr>
        <p:spPr>
          <a:xfrm>
            <a:off x="2714625" y="3414117"/>
            <a:ext cx="446484" cy="767953"/>
          </a:xfrm>
          <a:custGeom>
            <a:avLst/>
            <a:gdLst/>
            <a:ahLst/>
            <a:cxnLst/>
            <a:rect l="l" t="t" r="r" b="b"/>
            <a:pathLst>
              <a:path w="446484" h="767953">
                <a:moveTo>
                  <a:pt x="0" y="767953"/>
                </a:moveTo>
                <a:lnTo>
                  <a:pt x="223242" y="767953"/>
                </a:lnTo>
                <a:lnTo>
                  <a:pt x="223242" y="0"/>
                </a:lnTo>
                <a:lnTo>
                  <a:pt x="446484" y="0"/>
                </a:lnTo>
              </a:path>
            </a:pathLst>
          </a:custGeom>
          <a:solidFill>
            <a:srgbClr val="FFFFFF">
              <a:alpha val="0"/>
            </a:srgbClr>
          </a:solidFill>
          <a:ln w="17859">
            <a:solidFill>
              <a:srgbClr val="2473B6"/>
            </a:solidFill>
            <a:prstDash val="solid"/>
            <a:round/>
            <a:headEnd type="none"/>
            <a:tailEnd type="triangle" w="med" len="med"/>
          </a:ln>
        </p:spPr>
      </p:sp>
      <p:sp>
        <p:nvSpPr>
          <p:cNvPr id="28" name="SC_FREEFORM_ROUTE__ledger-to-control-1__0"/>
          <p:cNvSpPr/>
          <p:nvPr/>
        </p:nvSpPr>
        <p:spPr>
          <a:xfrm>
            <a:off x="5959078" y="2613422"/>
            <a:ext cx="351234" cy="800695"/>
          </a:xfrm>
          <a:custGeom>
            <a:avLst/>
            <a:gdLst/>
            <a:ahLst/>
            <a:cxnLst/>
            <a:rect l="l" t="t" r="r" b="b"/>
            <a:pathLst>
              <a:path w="351234" h="800695">
                <a:moveTo>
                  <a:pt x="0" y="800695"/>
                </a:moveTo>
                <a:lnTo>
                  <a:pt x="175617" y="800695"/>
                </a:lnTo>
                <a:lnTo>
                  <a:pt x="175617" y="0"/>
                </a:lnTo>
                <a:lnTo>
                  <a:pt x="351234" y="0"/>
                </a:lnTo>
              </a:path>
            </a:pathLst>
          </a:custGeom>
          <a:solidFill>
            <a:srgbClr val="FFFFFF">
              <a:alpha val="0"/>
            </a:srgbClr>
          </a:solidFill>
          <a:ln w="17859">
            <a:solidFill>
              <a:srgbClr val="2473B6"/>
            </a:solidFill>
            <a:prstDash val="solid"/>
            <a:round/>
            <a:headEnd type="none"/>
            <a:tailEnd type="triangle" w="med" len="med"/>
          </a:ln>
        </p:spPr>
      </p:sp>
      <p:sp>
        <p:nvSpPr>
          <p:cNvPr id="29" name="SC_FREEFORM_ROUTE__ledger-to-control-2__0"/>
          <p:cNvSpPr/>
          <p:nvPr/>
        </p:nvSpPr>
        <p:spPr>
          <a:xfrm>
            <a:off x="5959078" y="3173016"/>
            <a:ext cx="351234" cy="241102"/>
          </a:xfrm>
          <a:custGeom>
            <a:avLst/>
            <a:gdLst/>
            <a:ahLst/>
            <a:cxnLst/>
            <a:rect l="l" t="t" r="r" b="b"/>
            <a:pathLst>
              <a:path w="351234" h="241102">
                <a:moveTo>
                  <a:pt x="0" y="241102"/>
                </a:moveTo>
                <a:lnTo>
                  <a:pt x="175617" y="241102"/>
                </a:lnTo>
                <a:lnTo>
                  <a:pt x="175617" y="0"/>
                </a:lnTo>
                <a:lnTo>
                  <a:pt x="351234" y="0"/>
                </a:lnTo>
              </a:path>
            </a:pathLst>
          </a:custGeom>
          <a:solidFill>
            <a:srgbClr val="FFFFFF">
              <a:alpha val="0"/>
            </a:srgbClr>
          </a:solidFill>
          <a:ln w="17859">
            <a:solidFill>
              <a:srgbClr val="2473B6"/>
            </a:solidFill>
            <a:prstDash val="solid"/>
            <a:round/>
            <a:headEnd type="none"/>
            <a:tailEnd type="triangle" w="med" len="med"/>
          </a:ln>
        </p:spPr>
      </p:sp>
      <p:sp>
        <p:nvSpPr>
          <p:cNvPr id="30" name="SC_FREEFORM_ROUTE__ledger-to-control-3__0"/>
          <p:cNvSpPr/>
          <p:nvPr/>
        </p:nvSpPr>
        <p:spPr>
          <a:xfrm>
            <a:off x="5959078" y="3414117"/>
            <a:ext cx="351234" cy="318492"/>
          </a:xfrm>
          <a:custGeom>
            <a:avLst/>
            <a:gdLst/>
            <a:ahLst/>
            <a:cxnLst/>
            <a:rect l="l" t="t" r="r" b="b"/>
            <a:pathLst>
              <a:path w="351234" h="318492">
                <a:moveTo>
                  <a:pt x="0" y="0"/>
                </a:moveTo>
                <a:lnTo>
                  <a:pt x="175617" y="0"/>
                </a:lnTo>
                <a:lnTo>
                  <a:pt x="175617" y="318492"/>
                </a:lnTo>
                <a:lnTo>
                  <a:pt x="351234" y="318492"/>
                </a:lnTo>
              </a:path>
            </a:pathLst>
          </a:custGeom>
          <a:solidFill>
            <a:srgbClr val="FFFFFF">
              <a:alpha val="0"/>
            </a:srgbClr>
          </a:solidFill>
          <a:ln w="17859">
            <a:solidFill>
              <a:srgbClr val="2473B6"/>
            </a:solidFill>
            <a:prstDash val="solid"/>
            <a:round/>
            <a:headEnd type="none"/>
            <a:tailEnd type="triangle" w="med" len="med"/>
          </a:ln>
        </p:spPr>
      </p:sp>
      <p:sp>
        <p:nvSpPr>
          <p:cNvPr id="31" name="SC_FREEFORM_ROUTE__ledger-to-control-4__0"/>
          <p:cNvSpPr/>
          <p:nvPr/>
        </p:nvSpPr>
        <p:spPr>
          <a:xfrm>
            <a:off x="5959078" y="3414117"/>
            <a:ext cx="351234" cy="878086"/>
          </a:xfrm>
          <a:custGeom>
            <a:avLst/>
            <a:gdLst/>
            <a:ahLst/>
            <a:cxnLst/>
            <a:rect l="l" t="t" r="r" b="b"/>
            <a:pathLst>
              <a:path w="351234" h="878086">
                <a:moveTo>
                  <a:pt x="0" y="0"/>
                </a:moveTo>
                <a:lnTo>
                  <a:pt x="175617" y="0"/>
                </a:lnTo>
                <a:lnTo>
                  <a:pt x="175617" y="878086"/>
                </a:lnTo>
                <a:lnTo>
                  <a:pt x="351234" y="878086"/>
                </a:lnTo>
              </a:path>
            </a:pathLst>
          </a:custGeom>
          <a:solidFill>
            <a:srgbClr val="FFFFFF">
              <a:alpha val="0"/>
            </a:srgbClr>
          </a:solidFill>
          <a:ln w="17859">
            <a:solidFill>
              <a:srgbClr val="2473B6"/>
            </a:solidFill>
            <a:prstDash val="solid"/>
            <a:round/>
            <a:headEnd type="none"/>
            <a:tailEnd type="triangle" w="med" len="med"/>
          </a:ln>
        </p:spPr>
      </p:sp>
      <p:sp>
        <p:nvSpPr>
          <p:cNvPr id="32" name="ocr-001"/>
          <p:cNvSpPr txBox="1"/>
          <p:nvPr/>
        </p:nvSpPr>
        <p:spPr>
          <a:xfrm>
            <a:off x="595313" y="523875"/>
            <a:ext cx="10191750" cy="321469"/>
          </a:xfrm>
          <a:prstGeom prst="rect">
            <a:avLst/>
          </a:prstGeom>
          <a:noFill/>
          <a:ln/>
        </p:spPr>
        <p:txBody>
          <a:bodyPr wrap="square" lIns="0" tIns="0" rIns="0" bIns="0" rtlCol="0" anchor="ctr">
            <a:noAutofit/>
          </a:bodyPr>
          <a:lstStyle/>
          <a:p>
            <a:pPr algn="l" indent="0" marL="0">
              <a:lnSpc>
                <a:spcPct val="100000"/>
              </a:lnSpc>
              <a:buNone/>
              <a:defRPr spc="0"/>
            </a:pPr>
            <a:r>
              <a:rPr lang="en-US" sz="2250" b="1" dirty="0" spc="0">
                <a:solidFill>
                  <a:srgbClr val="102C55"/>
                </a:solidFill>
                <a:latin typeface="Microsoft YaHei" pitchFamily="34" charset="0"/>
                <a:ea typeface="Microsoft YaHei" pitchFamily="34" charset="-122"/>
                <a:cs typeface="Microsoft YaHei" pitchFamily="34" charset="-120"/>
              </a:rPr>
              <a:t>软件任务账本和验证机制已构成语义进度控制的强基线</a:t>
            </a:r>
            <a:endParaRPr lang="en-US" sz="2250" dirty="0" spc="0"/>
          </a:p>
        </p:txBody>
      </p:sp>
      <p:sp>
        <p:nvSpPr>
          <p:cNvPr id="33" name="ocr-002"/>
          <p:cNvSpPr txBox="1"/>
          <p:nvPr/>
        </p:nvSpPr>
        <p:spPr>
          <a:xfrm>
            <a:off x="565547" y="940594"/>
            <a:ext cx="689371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dirty="0" spc="0">
                <a:solidFill>
                  <a:srgbClr val="58738A"/>
                </a:solidFill>
                <a:latin typeface="Microsoft YaHei" pitchFamily="34" charset="0"/>
                <a:ea typeface="Microsoft YaHei" pitchFamily="34" charset="-122"/>
                <a:cs typeface="Microsoft YaHei" pitchFamily="34" charset="-120"/>
              </a:rPr>
              <a:t>先最大限度使用可观察软件状态，再询问是否还有不可复建的私有信息。</a:t>
            </a:r>
            <a:endParaRPr lang="en-US" sz="1150" dirty="0" spc="0"/>
          </a:p>
        </p:txBody>
      </p:sp>
      <p:sp>
        <p:nvSpPr>
          <p:cNvPr id="34" name="ocr-003"/>
          <p:cNvSpPr txBox="1"/>
          <p:nvPr/>
        </p:nvSpPr>
        <p:spPr>
          <a:xfrm>
            <a:off x="767953" y="1440656"/>
            <a:ext cx="5447109"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FFFFFF"/>
                </a:solidFill>
                <a:latin typeface="Microsoft YaHei" pitchFamily="34" charset="0"/>
                <a:ea typeface="Microsoft YaHei" pitchFamily="34" charset="-122"/>
                <a:cs typeface="Microsoft YaHei" pitchFamily="34" charset="-120"/>
              </a:rPr>
              <a:t>软件可观察基线：从多源状态构建任务账本，形成可验证的语义进度控制</a:t>
            </a:r>
            <a:endParaRPr lang="en-US" sz="1150" dirty="0" spc="0"/>
          </a:p>
        </p:txBody>
      </p:sp>
      <p:sp>
        <p:nvSpPr>
          <p:cNvPr id="35" name="ocr-004"/>
          <p:cNvSpPr txBox="1"/>
          <p:nvPr/>
        </p:nvSpPr>
        <p:spPr>
          <a:xfrm>
            <a:off x="6250781" y="1482328"/>
            <a:ext cx="27265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大部分进度信息可由软件状态完整表达并验证</a:t>
            </a:r>
            <a:endParaRPr lang="en-US" sz="800" dirty="0" spc="0"/>
          </a:p>
        </p:txBody>
      </p:sp>
      <p:sp>
        <p:nvSpPr>
          <p:cNvPr id="36" name="ocr-005"/>
          <p:cNvSpPr txBox="1"/>
          <p:nvPr/>
        </p:nvSpPr>
        <p:spPr>
          <a:xfrm>
            <a:off x="9007078" y="1464469"/>
            <a:ext cx="2196703"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条件研究：私有RequiredProgress？</a:t>
            </a:r>
            <a:endParaRPr lang="en-US" sz="1000" dirty="0" spc="0"/>
          </a:p>
        </p:txBody>
      </p:sp>
      <p:sp>
        <p:nvSpPr>
          <p:cNvPr id="37" name="ocr-006"/>
          <p:cNvSpPr txBox="1"/>
          <p:nvPr/>
        </p:nvSpPr>
        <p:spPr>
          <a:xfrm>
            <a:off x="11239500" y="1482328"/>
            <a:ext cx="51196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尚未证实</a:t>
            </a:r>
            <a:endParaRPr lang="en-US" sz="850" dirty="0" spc="0"/>
          </a:p>
        </p:txBody>
      </p:sp>
      <p:sp>
        <p:nvSpPr>
          <p:cNvPr id="38" name="ocr-007"/>
          <p:cNvSpPr txBox="1"/>
          <p:nvPr/>
        </p:nvSpPr>
        <p:spPr>
          <a:xfrm>
            <a:off x="9024938" y="1720453"/>
            <a:ext cx="2851547"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仅当存在无法从软件账本复建的关键信息</a:t>
            </a:r>
            <a:endParaRPr lang="en-US" sz="750" dirty="0" spc="0"/>
          </a:p>
        </p:txBody>
      </p:sp>
      <p:sp>
        <p:nvSpPr>
          <p:cNvPr id="39" name="ocr-008"/>
          <p:cNvSpPr txBox="1"/>
          <p:nvPr/>
        </p:nvSpPr>
        <p:spPr>
          <a:xfrm>
            <a:off x="577453" y="1785938"/>
            <a:ext cx="160139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可观察的软件输入</a:t>
            </a:r>
            <a:endParaRPr lang="en-US" sz="950" dirty="0" spc="0"/>
          </a:p>
        </p:txBody>
      </p:sp>
      <p:sp>
        <p:nvSpPr>
          <p:cNvPr id="40" name="ocr-009"/>
          <p:cNvSpPr txBox="1"/>
          <p:nvPr/>
        </p:nvSpPr>
        <p:spPr>
          <a:xfrm>
            <a:off x="6334125" y="1785938"/>
            <a:ext cx="221456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基于语义进度的控制决策</a:t>
            </a:r>
            <a:endParaRPr lang="en-US" sz="950" dirty="0" spc="0"/>
          </a:p>
        </p:txBody>
      </p:sp>
      <p:sp>
        <p:nvSpPr>
          <p:cNvPr id="41" name="ocr-010"/>
          <p:cNvSpPr txBox="1"/>
          <p:nvPr/>
        </p:nvSpPr>
        <p:spPr>
          <a:xfrm>
            <a:off x="9024938" y="1881187"/>
            <a:ext cx="3143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且在端侧带来真实收益时，才考虑私有进度信息。</a:t>
            </a:r>
            <a:endParaRPr lang="en-US" sz="800" dirty="0" spc="0"/>
          </a:p>
        </p:txBody>
      </p:sp>
      <p:sp>
        <p:nvSpPr>
          <p:cNvPr id="42" name="ocr-011"/>
          <p:cNvSpPr txBox="1"/>
          <p:nvPr/>
        </p:nvSpPr>
        <p:spPr>
          <a:xfrm>
            <a:off x="565547" y="1988344"/>
            <a:ext cx="2702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来自应用、系统与运行时的可获取状态</a:t>
            </a:r>
            <a:endParaRPr lang="en-US" sz="800" dirty="0" spc="0"/>
          </a:p>
        </p:txBody>
      </p:sp>
      <p:sp>
        <p:nvSpPr>
          <p:cNvPr id="43" name="ocr-012"/>
          <p:cNvSpPr txBox="1"/>
          <p:nvPr/>
        </p:nvSpPr>
        <p:spPr>
          <a:xfrm>
            <a:off x="6340078" y="2000250"/>
            <a:ext cx="251221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将语义进度转化为可执行的系统行为</a:t>
            </a:r>
            <a:endParaRPr lang="en-US" sz="750" dirty="0" spc="0"/>
          </a:p>
        </p:txBody>
      </p:sp>
      <p:sp>
        <p:nvSpPr>
          <p:cNvPr id="44" name="ocr-013"/>
          <p:cNvSpPr txBox="1"/>
          <p:nvPr/>
        </p:nvSpPr>
        <p:spPr>
          <a:xfrm>
            <a:off x="3720703" y="2113359"/>
            <a:ext cx="2196703"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任务账本/语义摘要</a:t>
            </a:r>
            <a:endParaRPr lang="en-US" sz="1100" dirty="0" spc="0"/>
          </a:p>
        </p:txBody>
      </p:sp>
      <p:sp>
        <p:nvSpPr>
          <p:cNvPr id="45" name="ocr-014"/>
          <p:cNvSpPr txBox="1"/>
          <p:nvPr/>
        </p:nvSpPr>
        <p:spPr>
          <a:xfrm>
            <a:off x="1107281" y="2256234"/>
            <a:ext cx="65484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用户目标</a:t>
            </a:r>
            <a:endParaRPr lang="en-US" sz="850" dirty="0" spc="0"/>
          </a:p>
        </p:txBody>
      </p:sp>
      <p:sp>
        <p:nvSpPr>
          <p:cNvPr id="46" name="ocr-015"/>
          <p:cNvSpPr txBox="1"/>
          <p:nvPr/>
        </p:nvSpPr>
        <p:spPr>
          <a:xfrm>
            <a:off x="9525000" y="2280047"/>
            <a:ext cx="11727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可能的私有信息</a:t>
            </a:r>
            <a:endParaRPr lang="en-US" sz="800" dirty="0" spc="0"/>
          </a:p>
        </p:txBody>
      </p:sp>
      <p:sp>
        <p:nvSpPr>
          <p:cNvPr id="47" name="ocr-016"/>
          <p:cNvSpPr txBox="1"/>
          <p:nvPr/>
        </p:nvSpPr>
        <p:spPr>
          <a:xfrm>
            <a:off x="1107281" y="2411016"/>
            <a:ext cx="167282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任务目标/约束/成功标准</a:t>
            </a:r>
            <a:endParaRPr lang="en-US" sz="800" dirty="0" spc="0"/>
          </a:p>
        </p:txBody>
      </p:sp>
      <p:sp>
        <p:nvSpPr>
          <p:cNvPr id="48" name="ocr-017"/>
          <p:cNvSpPr txBox="1"/>
          <p:nvPr/>
        </p:nvSpPr>
        <p:spPr>
          <a:xfrm>
            <a:off x="3869531" y="2381250"/>
            <a:ext cx="177998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融合多源可观察状态，形成</a:t>
            </a:r>
            <a:endParaRPr lang="en-US" sz="750" dirty="0" spc="0"/>
          </a:p>
        </p:txBody>
      </p:sp>
      <p:sp>
        <p:nvSpPr>
          <p:cNvPr id="49" name="ocr-018"/>
          <p:cNvSpPr txBox="1"/>
          <p:nvPr/>
        </p:nvSpPr>
        <p:spPr>
          <a:xfrm>
            <a:off x="6863953" y="2434828"/>
            <a:ext cx="428625"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调度</a:t>
            </a:r>
            <a:endParaRPr lang="en-US" sz="900" dirty="0" spc="0"/>
          </a:p>
        </p:txBody>
      </p:sp>
      <p:sp>
        <p:nvSpPr>
          <p:cNvPr id="50" name="ocr-019"/>
          <p:cNvSpPr txBox="1"/>
          <p:nvPr/>
        </p:nvSpPr>
        <p:spPr>
          <a:xfrm>
            <a:off x="3619500" y="2536031"/>
            <a:ext cx="250031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可验证、可解释、可恢复的语义进度</a:t>
            </a:r>
            <a:endParaRPr lang="en-US" sz="750" dirty="0" spc="0"/>
          </a:p>
        </p:txBody>
      </p:sp>
      <p:sp>
        <p:nvSpPr>
          <p:cNvPr id="51" name="ocr-020"/>
          <p:cNvSpPr txBox="1"/>
          <p:nvPr/>
        </p:nvSpPr>
        <p:spPr>
          <a:xfrm>
            <a:off x="9525000" y="2482453"/>
            <a:ext cx="2422922"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如设备侧瞬时状态、隐式用户意图等</a:t>
            </a:r>
            <a:endParaRPr lang="en-US" sz="750" dirty="0" spc="0"/>
          </a:p>
        </p:txBody>
      </p:sp>
      <p:sp>
        <p:nvSpPr>
          <p:cNvPr id="52" name="ocr-021"/>
          <p:cNvSpPr txBox="1"/>
          <p:nvPr/>
        </p:nvSpPr>
        <p:spPr>
          <a:xfrm>
            <a:off x="6869906" y="2607469"/>
            <a:ext cx="16609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选择下一步动作/分配资源</a:t>
            </a:r>
            <a:endParaRPr lang="en-US" sz="800" dirty="0" spc="0"/>
          </a:p>
        </p:txBody>
      </p:sp>
      <p:sp>
        <p:nvSpPr>
          <p:cNvPr id="53" name="ocr-022"/>
          <p:cNvSpPr txBox="1"/>
          <p:nvPr/>
        </p:nvSpPr>
        <p:spPr>
          <a:xfrm>
            <a:off x="1113234" y="2667000"/>
            <a:ext cx="803672"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DAG/计划</a:t>
            </a:r>
            <a:endParaRPr lang="en-US" sz="1000" dirty="0" spc="0"/>
          </a:p>
        </p:txBody>
      </p:sp>
      <p:sp>
        <p:nvSpPr>
          <p:cNvPr id="54" name="ocr-023"/>
          <p:cNvSpPr txBox="1"/>
          <p:nvPr/>
        </p:nvSpPr>
        <p:spPr>
          <a:xfrm>
            <a:off x="9554766" y="2625328"/>
            <a:ext cx="2101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（需满足：不可由软件状态复建）</a:t>
            </a:r>
            <a:endParaRPr lang="en-US" sz="800" dirty="0" spc="0"/>
          </a:p>
        </p:txBody>
      </p:sp>
      <p:sp>
        <p:nvSpPr>
          <p:cNvPr id="55" name="ocr-024"/>
          <p:cNvSpPr txBox="1"/>
          <p:nvPr/>
        </p:nvSpPr>
        <p:spPr>
          <a:xfrm>
            <a:off x="1119188" y="2827734"/>
            <a:ext cx="181570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任务分解/依赖关系/优先级</a:t>
            </a:r>
            <a:endParaRPr lang="en-US" sz="800" dirty="0" spc="0"/>
          </a:p>
        </p:txBody>
      </p:sp>
      <p:sp>
        <p:nvSpPr>
          <p:cNvPr id="56" name="ocr-025"/>
          <p:cNvSpPr txBox="1"/>
          <p:nvPr/>
        </p:nvSpPr>
        <p:spPr>
          <a:xfrm>
            <a:off x="3946922" y="2917031"/>
            <a:ext cx="762000"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事件记录层</a:t>
            </a:r>
            <a:endParaRPr lang="en-US" sz="750" dirty="0" spc="0"/>
          </a:p>
        </p:txBody>
      </p:sp>
      <p:sp>
        <p:nvSpPr>
          <p:cNvPr id="57" name="ocr-026"/>
          <p:cNvSpPr txBox="1"/>
          <p:nvPr/>
        </p:nvSpPr>
        <p:spPr>
          <a:xfrm>
            <a:off x="1119188" y="3101578"/>
            <a:ext cx="69651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历史动作</a:t>
            </a:r>
            <a:endParaRPr lang="en-US" sz="850" dirty="0" spc="0"/>
          </a:p>
        </p:txBody>
      </p:sp>
      <p:sp>
        <p:nvSpPr>
          <p:cNvPr id="58" name="ocr-027"/>
          <p:cNvSpPr txBox="1"/>
          <p:nvPr/>
        </p:nvSpPr>
        <p:spPr>
          <a:xfrm>
            <a:off x="3935016" y="3053953"/>
            <a:ext cx="17740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动作/产物/结束的时序账本</a:t>
            </a:r>
            <a:endParaRPr lang="en-US" sz="800" dirty="0" spc="0"/>
          </a:p>
        </p:txBody>
      </p:sp>
      <p:sp>
        <p:nvSpPr>
          <p:cNvPr id="59" name="ocr-028"/>
          <p:cNvSpPr txBox="1"/>
          <p:nvPr/>
        </p:nvSpPr>
        <p:spPr>
          <a:xfrm>
            <a:off x="6863953" y="3053953"/>
            <a:ext cx="41671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路由</a:t>
            </a:r>
            <a:endParaRPr lang="en-US" sz="1000" dirty="0" spc="0"/>
          </a:p>
        </p:txBody>
      </p:sp>
      <p:sp>
        <p:nvSpPr>
          <p:cNvPr id="60" name="ocr-029"/>
          <p:cNvSpPr txBox="1"/>
          <p:nvPr/>
        </p:nvSpPr>
        <p:spPr>
          <a:xfrm>
            <a:off x="6869906" y="3238500"/>
            <a:ext cx="1916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选择工具/选择模型/选择路径</a:t>
            </a:r>
            <a:endParaRPr lang="en-US" sz="800" dirty="0" spc="0"/>
          </a:p>
        </p:txBody>
      </p:sp>
      <p:sp>
        <p:nvSpPr>
          <p:cNvPr id="61" name="ocr-030"/>
          <p:cNvSpPr txBox="1"/>
          <p:nvPr/>
        </p:nvSpPr>
        <p:spPr>
          <a:xfrm>
            <a:off x="9513094" y="3196828"/>
            <a:ext cx="72032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评估标准</a:t>
            </a:r>
            <a:endParaRPr lang="en-US" sz="1000" dirty="0" spc="0"/>
          </a:p>
        </p:txBody>
      </p:sp>
      <p:sp>
        <p:nvSpPr>
          <p:cNvPr id="62" name="ocr-031"/>
          <p:cNvSpPr txBox="1"/>
          <p:nvPr/>
        </p:nvSpPr>
        <p:spPr>
          <a:xfrm>
            <a:off x="1125141" y="3262313"/>
            <a:ext cx="1833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已执行步骤/工具调用/日志</a:t>
            </a:r>
            <a:endParaRPr lang="en-US" sz="800" dirty="0" spc="0"/>
          </a:p>
        </p:txBody>
      </p:sp>
      <p:sp>
        <p:nvSpPr>
          <p:cNvPr id="63" name="ocr-032"/>
          <p:cNvSpPr txBox="1"/>
          <p:nvPr/>
        </p:nvSpPr>
        <p:spPr>
          <a:xfrm>
            <a:off x="3940969" y="3399234"/>
            <a:ext cx="77985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语义理解层</a:t>
            </a:r>
            <a:endParaRPr lang="en-US" sz="850" dirty="0" spc="0"/>
          </a:p>
        </p:txBody>
      </p:sp>
      <p:sp>
        <p:nvSpPr>
          <p:cNvPr id="64" name="ocr-033"/>
          <p:cNvSpPr txBox="1"/>
          <p:nvPr/>
        </p:nvSpPr>
        <p:spPr>
          <a:xfrm>
            <a:off x="9525000" y="3405188"/>
            <a:ext cx="228004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在真实任务上带来明确的端侧收益</a:t>
            </a:r>
            <a:endParaRPr lang="en-US" sz="800" dirty="0" spc="0"/>
          </a:p>
        </p:txBody>
      </p:sp>
      <p:sp>
        <p:nvSpPr>
          <p:cNvPr id="65" name="ocr-034"/>
          <p:cNvSpPr txBox="1"/>
          <p:nvPr/>
        </p:nvSpPr>
        <p:spPr>
          <a:xfrm>
            <a:off x="1119188" y="3524250"/>
            <a:ext cx="69651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中间产物</a:t>
            </a:r>
            <a:endParaRPr lang="en-US" sz="1000" dirty="0" spc="0"/>
          </a:p>
        </p:txBody>
      </p:sp>
      <p:sp>
        <p:nvSpPr>
          <p:cNvPr id="66" name="ocr-035"/>
          <p:cNvSpPr txBox="1"/>
          <p:nvPr/>
        </p:nvSpPr>
        <p:spPr>
          <a:xfrm>
            <a:off x="3935016" y="3559969"/>
            <a:ext cx="19228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阶段/依籁/状态的结构化表示</a:t>
            </a:r>
            <a:endParaRPr lang="en-US" sz="800" dirty="0" spc="0"/>
          </a:p>
        </p:txBody>
      </p:sp>
      <p:sp>
        <p:nvSpPr>
          <p:cNvPr id="67" name="ocr-036"/>
          <p:cNvSpPr txBox="1"/>
          <p:nvPr/>
        </p:nvSpPr>
        <p:spPr>
          <a:xfrm>
            <a:off x="9554766" y="3554016"/>
            <a:ext cx="1762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(如更高成功率/更低开销）</a:t>
            </a:r>
            <a:endParaRPr lang="en-US" sz="800" dirty="0" spc="0"/>
          </a:p>
        </p:txBody>
      </p:sp>
      <p:sp>
        <p:nvSpPr>
          <p:cNvPr id="68" name="ocr-037"/>
          <p:cNvSpPr txBox="1"/>
          <p:nvPr/>
        </p:nvSpPr>
        <p:spPr>
          <a:xfrm>
            <a:off x="1125141" y="3696891"/>
            <a:ext cx="1833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文件/结构化结果/中间数据</a:t>
            </a:r>
            <a:endParaRPr lang="en-US" sz="800" dirty="0" spc="0"/>
          </a:p>
        </p:txBody>
      </p:sp>
      <p:sp>
        <p:nvSpPr>
          <p:cNvPr id="69" name="ocr-038"/>
          <p:cNvSpPr txBox="1"/>
          <p:nvPr/>
        </p:nvSpPr>
        <p:spPr>
          <a:xfrm>
            <a:off x="6869906" y="3708797"/>
            <a:ext cx="714375"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完成判定</a:t>
            </a:r>
            <a:endParaRPr lang="en-US" sz="1000" dirty="0" spc="0"/>
          </a:p>
        </p:txBody>
      </p:sp>
      <p:sp>
        <p:nvSpPr>
          <p:cNvPr id="70" name="ocr-039"/>
          <p:cNvSpPr txBox="1"/>
          <p:nvPr/>
        </p:nvSpPr>
        <p:spPr>
          <a:xfrm>
            <a:off x="3958828" y="3887391"/>
            <a:ext cx="92273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一致性校验层</a:t>
            </a:r>
            <a:endParaRPr lang="en-US" sz="850" dirty="0" spc="0"/>
          </a:p>
        </p:txBody>
      </p:sp>
      <p:sp>
        <p:nvSpPr>
          <p:cNvPr id="71" name="ocr-040"/>
          <p:cNvSpPr txBox="1"/>
          <p:nvPr/>
        </p:nvSpPr>
        <p:spPr>
          <a:xfrm>
            <a:off x="6881813" y="3899297"/>
            <a:ext cx="181570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是否达到目标/是否满足约束</a:t>
            </a:r>
            <a:endParaRPr lang="en-US" sz="750" dirty="0" spc="0"/>
          </a:p>
        </p:txBody>
      </p:sp>
      <p:sp>
        <p:nvSpPr>
          <p:cNvPr id="72" name="ocr-041"/>
          <p:cNvSpPr txBox="1"/>
          <p:nvPr/>
        </p:nvSpPr>
        <p:spPr>
          <a:xfrm>
            <a:off x="1119188" y="3970734"/>
            <a:ext cx="68460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验证结果</a:t>
            </a:r>
            <a:endParaRPr lang="en-US" sz="850" dirty="0" spc="0"/>
          </a:p>
        </p:txBody>
      </p:sp>
      <p:sp>
        <p:nvSpPr>
          <p:cNvPr id="73" name="ocr-042"/>
          <p:cNvSpPr txBox="1"/>
          <p:nvPr/>
        </p:nvSpPr>
        <p:spPr>
          <a:xfrm>
            <a:off x="3946922" y="4048125"/>
            <a:ext cx="1381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规则/评测/自我检查</a:t>
            </a:r>
            <a:endParaRPr lang="en-US" sz="800" dirty="0" spc="0"/>
          </a:p>
        </p:txBody>
      </p:sp>
      <p:sp>
        <p:nvSpPr>
          <p:cNvPr id="74" name="ocr-043"/>
          <p:cNvSpPr txBox="1"/>
          <p:nvPr/>
        </p:nvSpPr>
        <p:spPr>
          <a:xfrm>
            <a:off x="1125141" y="4137422"/>
            <a:ext cx="19704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单元测试/规则检查/评测反馈</a:t>
            </a:r>
            <a:endParaRPr lang="en-US" sz="800" dirty="0" spc="0"/>
          </a:p>
        </p:txBody>
      </p:sp>
      <p:sp>
        <p:nvSpPr>
          <p:cNvPr id="75" name="ocr-044"/>
          <p:cNvSpPr txBox="1"/>
          <p:nvPr/>
        </p:nvSpPr>
        <p:spPr>
          <a:xfrm>
            <a:off x="9513094" y="4113609"/>
            <a:ext cx="72032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当前结论</a:t>
            </a:r>
            <a:endParaRPr lang="en-US" sz="1000" dirty="0" spc="0"/>
          </a:p>
        </p:txBody>
      </p:sp>
      <p:sp>
        <p:nvSpPr>
          <p:cNvPr id="76" name="ocr-045"/>
          <p:cNvSpPr txBox="1"/>
          <p:nvPr/>
        </p:nvSpPr>
        <p:spPr>
          <a:xfrm>
            <a:off x="6869906" y="4298156"/>
            <a:ext cx="857250"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恢复/重试</a:t>
            </a:r>
            <a:endParaRPr lang="en-US" sz="1000" dirty="0" spc="0"/>
          </a:p>
        </p:txBody>
      </p:sp>
      <p:sp>
        <p:nvSpPr>
          <p:cNvPr id="77" name="ocr-046"/>
          <p:cNvSpPr txBox="1"/>
          <p:nvPr/>
        </p:nvSpPr>
        <p:spPr>
          <a:xfrm>
            <a:off x="9525000" y="4327922"/>
            <a:ext cx="235743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尚未发现不可复建且有明确收益的</a:t>
            </a:r>
            <a:endParaRPr lang="en-US" sz="800" dirty="0" spc="0"/>
          </a:p>
        </p:txBody>
      </p:sp>
      <p:sp>
        <p:nvSpPr>
          <p:cNvPr id="78" name="ocr-047"/>
          <p:cNvSpPr txBox="1"/>
          <p:nvPr/>
        </p:nvSpPr>
        <p:spPr>
          <a:xfrm>
            <a:off x="1125141" y="4429125"/>
            <a:ext cx="115490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权限/资源状态</a:t>
            </a:r>
            <a:endParaRPr lang="en-US" sz="850" dirty="0" spc="0"/>
          </a:p>
        </p:txBody>
      </p:sp>
      <p:sp>
        <p:nvSpPr>
          <p:cNvPr id="79" name="ocr-048"/>
          <p:cNvSpPr txBox="1"/>
          <p:nvPr/>
        </p:nvSpPr>
        <p:spPr>
          <a:xfrm>
            <a:off x="6875859" y="4476750"/>
            <a:ext cx="1940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从失败中恢复/回退/重新规划</a:t>
            </a:r>
            <a:endParaRPr lang="en-US" sz="800" dirty="0" spc="0"/>
          </a:p>
        </p:txBody>
      </p:sp>
      <p:sp>
        <p:nvSpPr>
          <p:cNvPr id="80" name="ocr-049"/>
          <p:cNvSpPr txBox="1"/>
          <p:nvPr/>
        </p:nvSpPr>
        <p:spPr>
          <a:xfrm>
            <a:off x="9519047" y="4494609"/>
            <a:ext cx="258365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私有进度信息，仅作为条件研究储备。</a:t>
            </a:r>
            <a:endParaRPr lang="en-US" sz="800" dirty="0" spc="0"/>
          </a:p>
        </p:txBody>
      </p:sp>
      <p:sp>
        <p:nvSpPr>
          <p:cNvPr id="81" name="ocr-050"/>
          <p:cNvSpPr txBox="1"/>
          <p:nvPr/>
        </p:nvSpPr>
        <p:spPr>
          <a:xfrm>
            <a:off x="1125141" y="4595813"/>
            <a:ext cx="1952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工具权限/资源配额/环境状态</a:t>
            </a:r>
            <a:endParaRPr lang="en-US" sz="800" dirty="0" spc="0"/>
          </a:p>
        </p:txBody>
      </p:sp>
      <p:sp>
        <p:nvSpPr>
          <p:cNvPr id="82" name="ocr-051"/>
          <p:cNvSpPr txBox="1"/>
          <p:nvPr/>
        </p:nvSpPr>
        <p:spPr>
          <a:xfrm>
            <a:off x="767953" y="5048250"/>
            <a:ext cx="26729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三类证据为强软件基线提供支撑</a:t>
            </a:r>
            <a:endParaRPr lang="en-US" sz="800" dirty="0" spc="0"/>
          </a:p>
        </p:txBody>
      </p:sp>
      <p:sp>
        <p:nvSpPr>
          <p:cNvPr id="83" name="ocr-052"/>
          <p:cNvSpPr txBox="1"/>
          <p:nvPr/>
        </p:nvSpPr>
        <p:spPr>
          <a:xfrm>
            <a:off x="7840266" y="5036344"/>
            <a:ext cx="4333875"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FFFFFF"/>
                </a:solidFill>
                <a:latin typeface="Microsoft YaHei" pitchFamily="34" charset="0"/>
                <a:ea typeface="Microsoft YaHei" pitchFamily="34" charset="-122"/>
                <a:cs typeface="Microsoft YaHei" pitchFamily="34" charset="-120"/>
              </a:rPr>
              <a:t>来自不同角度的研究与实现，均基于可观察的软件状态进行进度控制与验证</a:t>
            </a:r>
            <a:endParaRPr lang="en-US" sz="750" dirty="0" spc="0"/>
          </a:p>
        </p:txBody>
      </p:sp>
      <p:sp>
        <p:nvSpPr>
          <p:cNvPr id="84" name="ocr-053"/>
          <p:cNvSpPr txBox="1"/>
          <p:nvPr/>
        </p:nvSpPr>
        <p:spPr>
          <a:xfrm>
            <a:off x="1041797" y="5363766"/>
            <a:ext cx="11727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LAS：验证门控</a:t>
            </a:r>
            <a:endParaRPr lang="en-US" sz="850" dirty="0" spc="0"/>
          </a:p>
        </p:txBody>
      </p:sp>
      <p:sp>
        <p:nvSpPr>
          <p:cNvPr id="85" name="ocr-054"/>
          <p:cNvSpPr txBox="1"/>
          <p:nvPr/>
        </p:nvSpPr>
        <p:spPr>
          <a:xfrm>
            <a:off x="3244453" y="5339953"/>
            <a:ext cx="619125"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证据角度</a:t>
            </a:r>
            <a:endParaRPr lang="en-US" sz="1000" dirty="0" spc="0"/>
          </a:p>
        </p:txBody>
      </p:sp>
      <p:sp>
        <p:nvSpPr>
          <p:cNvPr id="86" name="ocr-055"/>
          <p:cNvSpPr txBox="1"/>
          <p:nvPr/>
        </p:nvSpPr>
        <p:spPr>
          <a:xfrm>
            <a:off x="4732734" y="5339953"/>
            <a:ext cx="1791891"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ProgRouter:进度路由</a:t>
            </a:r>
            <a:endParaRPr lang="en-US" sz="1000" dirty="0" spc="0"/>
          </a:p>
        </p:txBody>
      </p:sp>
      <p:sp>
        <p:nvSpPr>
          <p:cNvPr id="87" name="ocr-056"/>
          <p:cNvSpPr txBox="1"/>
          <p:nvPr/>
        </p:nvSpPr>
        <p:spPr>
          <a:xfrm>
            <a:off x="7060406" y="5351859"/>
            <a:ext cx="613172"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证据角度</a:t>
            </a:r>
            <a:endParaRPr lang="en-US" sz="850" dirty="0" spc="0"/>
          </a:p>
        </p:txBody>
      </p:sp>
      <p:sp>
        <p:nvSpPr>
          <p:cNvPr id="88" name="ocr-057"/>
          <p:cNvSpPr txBox="1"/>
          <p:nvPr/>
        </p:nvSpPr>
        <p:spPr>
          <a:xfrm>
            <a:off x="8512969" y="5345906"/>
            <a:ext cx="243482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ProAgentBench：历史与帮助时机</a:t>
            </a:r>
            <a:endParaRPr lang="en-US" sz="950" dirty="0" spc="0"/>
          </a:p>
        </p:txBody>
      </p:sp>
      <p:sp>
        <p:nvSpPr>
          <p:cNvPr id="89" name="ocr-058"/>
          <p:cNvSpPr txBox="1"/>
          <p:nvPr/>
        </p:nvSpPr>
        <p:spPr>
          <a:xfrm>
            <a:off x="10983516" y="5351859"/>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证据角度</a:t>
            </a:r>
            <a:endParaRPr lang="en-US" sz="850" dirty="0" spc="0"/>
          </a:p>
        </p:txBody>
      </p:sp>
      <p:sp>
        <p:nvSpPr>
          <p:cNvPr id="90" name="ocr-059"/>
          <p:cNvSpPr txBox="1"/>
          <p:nvPr/>
        </p:nvSpPr>
        <p:spPr>
          <a:xfrm>
            <a:off x="1053703" y="5560219"/>
            <a:ext cx="216098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基于可验证的软件状态进行阶段门控，</a:t>
            </a:r>
            <a:endParaRPr lang="en-US" sz="750" dirty="0" spc="0"/>
          </a:p>
        </p:txBody>
      </p:sp>
      <p:sp>
        <p:nvSpPr>
          <p:cNvPr id="91" name="ocr-060"/>
          <p:cNvSpPr txBox="1"/>
          <p:nvPr/>
        </p:nvSpPr>
        <p:spPr>
          <a:xfrm>
            <a:off x="3244453" y="5530453"/>
            <a:ext cx="67865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·验证规则</a:t>
            </a:r>
            <a:endParaRPr lang="en-US" sz="850" dirty="0" spc="0"/>
          </a:p>
        </p:txBody>
      </p:sp>
      <p:sp>
        <p:nvSpPr>
          <p:cNvPr id="92" name="ocr-061"/>
          <p:cNvSpPr txBox="1"/>
          <p:nvPr/>
        </p:nvSpPr>
        <p:spPr>
          <a:xfrm>
            <a:off x="4732734" y="5542359"/>
            <a:ext cx="2297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利用可观察的任务状态进行阶段识别与</a:t>
            </a:r>
            <a:endParaRPr lang="en-US" sz="800" dirty="0" spc="0"/>
          </a:p>
        </p:txBody>
      </p:sp>
      <p:sp>
        <p:nvSpPr>
          <p:cNvPr id="93" name="ocr-062"/>
          <p:cNvSpPr txBox="1"/>
          <p:nvPr/>
        </p:nvSpPr>
        <p:spPr>
          <a:xfrm>
            <a:off x="7066359" y="5542359"/>
            <a:ext cx="7322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·路由策略</a:t>
            </a:r>
            <a:endParaRPr lang="en-US" sz="750" dirty="0" spc="0"/>
          </a:p>
        </p:txBody>
      </p:sp>
      <p:sp>
        <p:nvSpPr>
          <p:cNvPr id="94" name="ocr-063"/>
          <p:cNvSpPr txBox="1"/>
          <p:nvPr/>
        </p:nvSpPr>
        <p:spPr>
          <a:xfrm>
            <a:off x="8507016" y="5536406"/>
            <a:ext cx="24407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基于任务历史与失败模式分析，验证在</a:t>
            </a:r>
            <a:endParaRPr lang="en-US" sz="800" dirty="0" spc="0"/>
          </a:p>
        </p:txBody>
      </p:sp>
      <p:sp>
        <p:nvSpPr>
          <p:cNvPr id="95" name="ocr-064"/>
          <p:cNvSpPr txBox="1"/>
          <p:nvPr/>
        </p:nvSpPr>
        <p:spPr>
          <a:xfrm>
            <a:off x="10983516" y="5530453"/>
            <a:ext cx="74414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·历史规律</a:t>
            </a:r>
            <a:endParaRPr lang="en-US" sz="850" dirty="0" spc="0"/>
          </a:p>
        </p:txBody>
      </p:sp>
      <p:sp>
        <p:nvSpPr>
          <p:cNvPr id="96" name="ocr-065"/>
          <p:cNvSpPr txBox="1"/>
          <p:nvPr/>
        </p:nvSpPr>
        <p:spPr>
          <a:xfrm>
            <a:off x="1047750" y="5703094"/>
            <a:ext cx="21728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提供进度正确性与安全性的下界保障。</a:t>
            </a:r>
            <a:endParaRPr lang="en-US" sz="800" dirty="0" spc="0"/>
          </a:p>
        </p:txBody>
      </p:sp>
      <p:sp>
        <p:nvSpPr>
          <p:cNvPr id="97" name="ocr-066"/>
          <p:cNvSpPr txBox="1"/>
          <p:nvPr/>
        </p:nvSpPr>
        <p:spPr>
          <a:xfrm>
            <a:off x="3250406" y="5673328"/>
            <a:ext cx="107751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·质量与安全边界</a:t>
            </a:r>
            <a:endParaRPr lang="en-US" sz="800" dirty="0" spc="0"/>
          </a:p>
        </p:txBody>
      </p:sp>
      <p:sp>
        <p:nvSpPr>
          <p:cNvPr id="98" name="ocr-067"/>
          <p:cNvSpPr txBox="1"/>
          <p:nvPr/>
        </p:nvSpPr>
        <p:spPr>
          <a:xfrm>
            <a:off x="4744641" y="5709047"/>
            <a:ext cx="2280047"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路由选择，验证基于语义进度的调度效果。</a:t>
            </a:r>
            <a:endParaRPr lang="en-US" sz="750" dirty="0" spc="0"/>
          </a:p>
        </p:txBody>
      </p:sp>
      <p:sp>
        <p:nvSpPr>
          <p:cNvPr id="99" name="ocr-068"/>
          <p:cNvSpPr txBox="1"/>
          <p:nvPr/>
        </p:nvSpPr>
        <p:spPr>
          <a:xfrm>
            <a:off x="7060406" y="5679281"/>
            <a:ext cx="74414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·阶段识别</a:t>
            </a:r>
            <a:endParaRPr lang="en-US" sz="850" dirty="0" spc="0"/>
          </a:p>
        </p:txBody>
      </p:sp>
      <p:sp>
        <p:nvSpPr>
          <p:cNvPr id="100" name="ocr-069"/>
          <p:cNvSpPr txBox="1"/>
          <p:nvPr/>
        </p:nvSpPr>
        <p:spPr>
          <a:xfrm>
            <a:off x="8524875" y="5703094"/>
            <a:ext cx="2422922"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何时需要外部帮助与何时应继续自主执行。</a:t>
            </a:r>
            <a:endParaRPr lang="en-US" sz="750" dirty="0" spc="0"/>
          </a:p>
        </p:txBody>
      </p:sp>
      <p:sp>
        <p:nvSpPr>
          <p:cNvPr id="101" name="ocr-070"/>
          <p:cNvSpPr txBox="1"/>
          <p:nvPr/>
        </p:nvSpPr>
        <p:spPr>
          <a:xfrm>
            <a:off x="10983516" y="5685234"/>
            <a:ext cx="738188"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·帮助时机</a:t>
            </a:r>
            <a:endParaRPr lang="en-US" sz="750" dirty="0" spc="0"/>
          </a:p>
        </p:txBody>
      </p:sp>
      <p:sp>
        <p:nvSpPr>
          <p:cNvPr id="102" name="ocr-071"/>
          <p:cNvSpPr txBox="1"/>
          <p:nvPr/>
        </p:nvSpPr>
        <p:spPr>
          <a:xfrm>
            <a:off x="738188" y="6155531"/>
            <a:ext cx="500063"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结论</a:t>
            </a:r>
            <a:endParaRPr lang="en-US" sz="1250" dirty="0" spc="0"/>
          </a:p>
        </p:txBody>
      </p:sp>
      <p:sp>
        <p:nvSpPr>
          <p:cNvPr id="103" name="ocr-072"/>
          <p:cNvSpPr txBox="1"/>
          <p:nvPr/>
        </p:nvSpPr>
        <p:spPr>
          <a:xfrm>
            <a:off x="1529953" y="6179344"/>
            <a:ext cx="375046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先做强软件基线；私有进度信息仅作为条件研究储备。</a:t>
            </a:r>
            <a:endParaRPr lang="en-US" sz="950" dirty="0" spc="0"/>
          </a:p>
        </p:txBody>
      </p:sp>
      <p:sp>
        <p:nvSpPr>
          <p:cNvPr id="104" name="ocr-073"/>
          <p:cNvSpPr txBox="1"/>
          <p:nvPr/>
        </p:nvSpPr>
        <p:spPr>
          <a:xfrm>
            <a:off x="5316141" y="6191250"/>
            <a:ext cx="68580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当前没有证据表明存在不可复建且有明确收益的私有进度储备，应优先投入可观察的软件状态、验证机制与语义进度控制。</a:t>
            </a:r>
            <a:endParaRPr lang="en-US" sz="800" dirty="0" spc="0"/>
          </a:p>
        </p:txBody>
      </p:sp>
      <p:sp>
        <p:nvSpPr>
          <p:cNvPr id="105"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166688" y="1113234"/>
            <a:ext cx="3780234" cy="2381250"/>
          </a:xfrm>
          <a:prstGeom prst="roundRect">
            <a:avLst>
              <a:gd name="adj" fmla="val 3250"/>
            </a:avLst>
          </a:prstGeom>
          <a:solidFill>
            <a:srgbClr val="FFFFFF"/>
          </a:solidFill>
          <a:ln w="8930">
            <a:solidFill>
              <a:srgbClr val="BCD6EC"/>
            </a:solidFill>
            <a:prstDash val="solid"/>
          </a:ln>
        </p:spPr>
      </p:sp>
      <p:sp>
        <p:nvSpPr>
          <p:cNvPr id="3" name="panel-2"/>
          <p:cNvSpPr/>
          <p:nvPr/>
        </p:nvSpPr>
        <p:spPr>
          <a:xfrm>
            <a:off x="4155281" y="1113234"/>
            <a:ext cx="3839766" cy="2381250"/>
          </a:xfrm>
          <a:prstGeom prst="roundRect">
            <a:avLst>
              <a:gd name="adj" fmla="val 3250"/>
            </a:avLst>
          </a:prstGeom>
          <a:solidFill>
            <a:srgbClr val="F7F9FD"/>
          </a:solidFill>
          <a:ln w="8930">
            <a:solidFill>
              <a:srgbClr val="BCD6EC"/>
            </a:solidFill>
            <a:prstDash val="solid"/>
          </a:ln>
        </p:spPr>
      </p:sp>
      <p:sp>
        <p:nvSpPr>
          <p:cNvPr id="4" name="panel-3"/>
          <p:cNvSpPr/>
          <p:nvPr/>
        </p:nvSpPr>
        <p:spPr>
          <a:xfrm>
            <a:off x="8155781" y="1113234"/>
            <a:ext cx="3869531" cy="2381250"/>
          </a:xfrm>
          <a:prstGeom prst="roundRect">
            <a:avLst>
              <a:gd name="adj" fmla="val 3250"/>
            </a:avLst>
          </a:prstGeom>
          <a:solidFill>
            <a:srgbClr val="FFFFFF"/>
          </a:solidFill>
          <a:ln w="8930">
            <a:solidFill>
              <a:srgbClr val="BCD6EC"/>
            </a:solidFill>
            <a:prstDash val="solid"/>
          </a:ln>
        </p:spPr>
      </p:sp>
      <p:sp>
        <p:nvSpPr>
          <p:cNvPr id="5" name="panel-4"/>
          <p:cNvSpPr/>
          <p:nvPr/>
        </p:nvSpPr>
        <p:spPr>
          <a:xfrm>
            <a:off x="166688" y="3559969"/>
            <a:ext cx="11858625" cy="535781"/>
          </a:xfrm>
          <a:prstGeom prst="roundRect">
            <a:avLst>
              <a:gd name="adj" fmla="val 14444"/>
            </a:avLst>
          </a:prstGeom>
          <a:solidFill>
            <a:srgbClr val="F7F9FD"/>
          </a:solidFill>
          <a:ln w="8930">
            <a:solidFill>
              <a:srgbClr val="BCD6EC"/>
            </a:solidFill>
            <a:prstDash val="solid"/>
          </a:ln>
        </p:spPr>
      </p:sp>
      <p:sp>
        <p:nvSpPr>
          <p:cNvPr id="6" name="panel-5"/>
          <p:cNvSpPr/>
          <p:nvPr/>
        </p:nvSpPr>
        <p:spPr>
          <a:xfrm>
            <a:off x="166688" y="4244578"/>
            <a:ext cx="11858625" cy="541734"/>
          </a:xfrm>
          <a:prstGeom prst="roundRect">
            <a:avLst>
              <a:gd name="adj" fmla="val 14286"/>
            </a:avLst>
          </a:prstGeom>
          <a:solidFill>
            <a:srgbClr val="FFFFFF"/>
          </a:solidFill>
          <a:ln w="8930">
            <a:solidFill>
              <a:srgbClr val="BCD6EC"/>
            </a:solidFill>
            <a:prstDash val="solid"/>
          </a:ln>
        </p:spPr>
      </p:sp>
      <p:sp>
        <p:nvSpPr>
          <p:cNvPr id="7" name="panel-6"/>
          <p:cNvSpPr/>
          <p:nvPr/>
        </p:nvSpPr>
        <p:spPr>
          <a:xfrm>
            <a:off x="166688" y="4899422"/>
            <a:ext cx="11858625" cy="529828"/>
          </a:xfrm>
          <a:prstGeom prst="roundRect">
            <a:avLst>
              <a:gd name="adj" fmla="val 14607"/>
            </a:avLst>
          </a:prstGeom>
          <a:solidFill>
            <a:srgbClr val="F7F9FD"/>
          </a:solidFill>
          <a:ln w="8930">
            <a:solidFill>
              <a:srgbClr val="BCD6EC"/>
            </a:solidFill>
            <a:prstDash val="solid"/>
          </a:ln>
        </p:spPr>
      </p:sp>
      <p:sp>
        <p:nvSpPr>
          <p:cNvPr id="8" name="panel-7"/>
          <p:cNvSpPr/>
          <p:nvPr/>
        </p:nvSpPr>
        <p:spPr>
          <a:xfrm>
            <a:off x="166688" y="5542359"/>
            <a:ext cx="11858625" cy="535781"/>
          </a:xfrm>
          <a:prstGeom prst="roundRect">
            <a:avLst>
              <a:gd name="adj" fmla="val 14444"/>
            </a:avLst>
          </a:prstGeom>
          <a:solidFill>
            <a:srgbClr val="FFFFFF"/>
          </a:solidFill>
          <a:ln w="8930">
            <a:solidFill>
              <a:srgbClr val="BCD6EC"/>
            </a:solidFill>
            <a:prstDash val="solid"/>
          </a:ln>
        </p:spPr>
      </p:sp>
      <p:sp>
        <p:nvSpPr>
          <p:cNvPr id="9" name="panel-8"/>
          <p:cNvSpPr/>
          <p:nvPr/>
        </p:nvSpPr>
        <p:spPr>
          <a:xfrm>
            <a:off x="166688" y="6113859"/>
            <a:ext cx="11858625" cy="464344"/>
          </a:xfrm>
          <a:prstGeom prst="roundRect">
            <a:avLst>
              <a:gd name="adj" fmla="val 16667"/>
            </a:avLst>
          </a:prstGeom>
          <a:solidFill>
            <a:srgbClr val="F7F9FD"/>
          </a:solidFill>
          <a:ln w="8930">
            <a:solidFill>
              <a:srgbClr val="BCD6EC"/>
            </a:solidFill>
            <a:prstDash val="solid"/>
          </a:ln>
        </p:spPr>
      </p:sp>
      <p:sp>
        <p:nvSpPr>
          <p:cNvPr id="10" name="detail-card-1"/>
          <p:cNvSpPr/>
          <p:nvPr/>
        </p:nvSpPr>
        <p:spPr>
          <a:xfrm>
            <a:off x="238125" y="1893094"/>
            <a:ext cx="3738563" cy="434578"/>
          </a:xfrm>
          <a:prstGeom prst="roundRect">
            <a:avLst>
              <a:gd name="adj" fmla="val 15068"/>
            </a:avLst>
          </a:prstGeom>
          <a:solidFill>
            <a:srgbClr val="F7FBFF"/>
          </a:solidFill>
          <a:ln w="7144">
            <a:solidFill>
              <a:srgbClr val="C7E0F3"/>
            </a:solidFill>
            <a:prstDash val="solid"/>
          </a:ln>
        </p:spPr>
      </p:sp>
      <p:sp>
        <p:nvSpPr>
          <p:cNvPr id="11" name="detail-card-2"/>
          <p:cNvSpPr/>
          <p:nvPr/>
        </p:nvSpPr>
        <p:spPr>
          <a:xfrm>
            <a:off x="238125" y="2375297"/>
            <a:ext cx="3738563" cy="416719"/>
          </a:xfrm>
          <a:prstGeom prst="roundRect">
            <a:avLst>
              <a:gd name="adj" fmla="val 15714"/>
            </a:avLst>
          </a:prstGeom>
          <a:solidFill>
            <a:srgbClr val="F7FBFF"/>
          </a:solidFill>
          <a:ln w="7144">
            <a:solidFill>
              <a:srgbClr val="C7E0F3"/>
            </a:solidFill>
            <a:prstDash val="solid"/>
          </a:ln>
        </p:spPr>
      </p:sp>
      <p:sp>
        <p:nvSpPr>
          <p:cNvPr id="12" name="detail-card-3"/>
          <p:cNvSpPr/>
          <p:nvPr/>
        </p:nvSpPr>
        <p:spPr>
          <a:xfrm>
            <a:off x="238125" y="2839641"/>
            <a:ext cx="3738563" cy="452438"/>
          </a:xfrm>
          <a:prstGeom prst="roundRect">
            <a:avLst>
              <a:gd name="adj" fmla="val 14474"/>
            </a:avLst>
          </a:prstGeom>
          <a:solidFill>
            <a:srgbClr val="F7FBFF"/>
          </a:solidFill>
          <a:ln w="7144">
            <a:solidFill>
              <a:srgbClr val="C7E0F3"/>
            </a:solidFill>
            <a:prstDash val="solid"/>
          </a:ln>
        </p:spPr>
      </p:sp>
      <p:sp>
        <p:nvSpPr>
          <p:cNvPr id="13" name="detail-card-4"/>
          <p:cNvSpPr/>
          <p:nvPr/>
        </p:nvSpPr>
        <p:spPr>
          <a:xfrm>
            <a:off x="4191000" y="1899047"/>
            <a:ext cx="898922" cy="1404938"/>
          </a:xfrm>
          <a:prstGeom prst="roundRect">
            <a:avLst>
              <a:gd name="adj" fmla="val 7285"/>
            </a:avLst>
          </a:prstGeom>
          <a:solidFill>
            <a:srgbClr val="F7FBFF"/>
          </a:solidFill>
          <a:ln w="7144">
            <a:solidFill>
              <a:srgbClr val="C7E0F3"/>
            </a:solidFill>
            <a:prstDash val="solid"/>
          </a:ln>
        </p:spPr>
      </p:sp>
      <p:sp>
        <p:nvSpPr>
          <p:cNvPr id="14" name="detail-card-5"/>
          <p:cNvSpPr/>
          <p:nvPr/>
        </p:nvSpPr>
        <p:spPr>
          <a:xfrm>
            <a:off x="5161359" y="1899047"/>
            <a:ext cx="1047750" cy="1404938"/>
          </a:xfrm>
          <a:prstGeom prst="roundRect">
            <a:avLst>
              <a:gd name="adj" fmla="val 6250"/>
            </a:avLst>
          </a:prstGeom>
          <a:solidFill>
            <a:srgbClr val="F7FBFF"/>
          </a:solidFill>
          <a:ln w="7144">
            <a:solidFill>
              <a:srgbClr val="C7E0F3"/>
            </a:solidFill>
            <a:prstDash val="solid"/>
          </a:ln>
        </p:spPr>
      </p:sp>
      <p:sp>
        <p:nvSpPr>
          <p:cNvPr id="15" name="detail-card-6"/>
          <p:cNvSpPr/>
          <p:nvPr/>
        </p:nvSpPr>
        <p:spPr>
          <a:xfrm>
            <a:off x="6280547" y="1899047"/>
            <a:ext cx="1720453" cy="1404938"/>
          </a:xfrm>
          <a:prstGeom prst="roundRect">
            <a:avLst>
              <a:gd name="adj" fmla="val 4661"/>
            </a:avLst>
          </a:prstGeom>
          <a:solidFill>
            <a:srgbClr val="F7FBFF"/>
          </a:solidFill>
          <a:ln w="7144">
            <a:solidFill>
              <a:srgbClr val="C7E0F3"/>
            </a:solidFill>
            <a:prstDash val="solid"/>
          </a:ln>
        </p:spPr>
      </p:sp>
      <p:sp>
        <p:nvSpPr>
          <p:cNvPr id="16" name="detail-card-7"/>
          <p:cNvSpPr/>
          <p:nvPr/>
        </p:nvSpPr>
        <p:spPr>
          <a:xfrm>
            <a:off x="8221266" y="1893094"/>
            <a:ext cx="922734" cy="1452563"/>
          </a:xfrm>
          <a:prstGeom prst="roundRect">
            <a:avLst>
              <a:gd name="adj" fmla="val 7097"/>
            </a:avLst>
          </a:prstGeom>
          <a:solidFill>
            <a:srgbClr val="F7FBFF"/>
          </a:solidFill>
          <a:ln w="7144">
            <a:solidFill>
              <a:srgbClr val="C7E0F3"/>
            </a:solidFill>
            <a:prstDash val="solid"/>
          </a:ln>
        </p:spPr>
      </p:sp>
      <p:sp>
        <p:nvSpPr>
          <p:cNvPr id="17" name="detail-card-8"/>
          <p:cNvSpPr/>
          <p:nvPr/>
        </p:nvSpPr>
        <p:spPr>
          <a:xfrm>
            <a:off x="9233297" y="1893094"/>
            <a:ext cx="892969" cy="1452563"/>
          </a:xfrm>
          <a:prstGeom prst="roundRect">
            <a:avLst>
              <a:gd name="adj" fmla="val 7333"/>
            </a:avLst>
          </a:prstGeom>
          <a:solidFill>
            <a:srgbClr val="F7FBFF"/>
          </a:solidFill>
          <a:ln w="7144">
            <a:solidFill>
              <a:srgbClr val="C7E0F3"/>
            </a:solidFill>
            <a:prstDash val="solid"/>
          </a:ln>
        </p:spPr>
      </p:sp>
      <p:sp>
        <p:nvSpPr>
          <p:cNvPr id="18" name="detail-card-9"/>
          <p:cNvSpPr/>
          <p:nvPr/>
        </p:nvSpPr>
        <p:spPr>
          <a:xfrm>
            <a:off x="10203656" y="1893094"/>
            <a:ext cx="1732359" cy="1452563"/>
          </a:xfrm>
          <a:prstGeom prst="roundRect">
            <a:avLst>
              <a:gd name="adj" fmla="val 4508"/>
            </a:avLst>
          </a:prstGeom>
          <a:solidFill>
            <a:srgbClr val="F7FBFF"/>
          </a:solidFill>
          <a:ln w="7144">
            <a:solidFill>
              <a:srgbClr val="C7E0F3"/>
            </a:solidFill>
            <a:prstDash val="solid"/>
          </a:ln>
        </p:spPr>
      </p:sp>
      <p:sp>
        <p:nvSpPr>
          <p:cNvPr id="19" name="detail-card-10"/>
          <p:cNvSpPr/>
          <p:nvPr/>
        </p:nvSpPr>
        <p:spPr>
          <a:xfrm>
            <a:off x="2065734" y="3595688"/>
            <a:ext cx="2720578" cy="446484"/>
          </a:xfrm>
          <a:prstGeom prst="roundRect">
            <a:avLst>
              <a:gd name="adj" fmla="val 14667"/>
            </a:avLst>
          </a:prstGeom>
          <a:solidFill>
            <a:srgbClr val="F7FBFF"/>
          </a:solidFill>
          <a:ln w="7144">
            <a:solidFill>
              <a:srgbClr val="C7E0F3"/>
            </a:solidFill>
            <a:prstDash val="solid"/>
          </a:ln>
        </p:spPr>
      </p:sp>
      <p:sp>
        <p:nvSpPr>
          <p:cNvPr id="20" name="detail-card-11"/>
          <p:cNvSpPr/>
          <p:nvPr/>
        </p:nvSpPr>
        <p:spPr>
          <a:xfrm>
            <a:off x="4804172" y="3595688"/>
            <a:ext cx="2809875" cy="446484"/>
          </a:xfrm>
          <a:prstGeom prst="roundRect">
            <a:avLst>
              <a:gd name="adj" fmla="val 14667"/>
            </a:avLst>
          </a:prstGeom>
          <a:solidFill>
            <a:srgbClr val="F7FBFF"/>
          </a:solidFill>
          <a:ln w="7144">
            <a:solidFill>
              <a:srgbClr val="C7E0F3"/>
            </a:solidFill>
            <a:prstDash val="solid"/>
          </a:ln>
        </p:spPr>
      </p:sp>
      <p:sp>
        <p:nvSpPr>
          <p:cNvPr id="21" name="detail-card-12"/>
          <p:cNvSpPr/>
          <p:nvPr/>
        </p:nvSpPr>
        <p:spPr>
          <a:xfrm>
            <a:off x="7631906" y="3595688"/>
            <a:ext cx="2738438" cy="446484"/>
          </a:xfrm>
          <a:prstGeom prst="roundRect">
            <a:avLst>
              <a:gd name="adj" fmla="val 14667"/>
            </a:avLst>
          </a:prstGeom>
          <a:solidFill>
            <a:srgbClr val="F7FBFF"/>
          </a:solidFill>
          <a:ln w="7144">
            <a:solidFill>
              <a:srgbClr val="C7E0F3"/>
            </a:solidFill>
            <a:prstDash val="solid"/>
          </a:ln>
        </p:spPr>
      </p:sp>
      <p:sp>
        <p:nvSpPr>
          <p:cNvPr id="22" name="detail-card-13"/>
          <p:cNvSpPr/>
          <p:nvPr/>
        </p:nvSpPr>
        <p:spPr>
          <a:xfrm>
            <a:off x="2065734" y="4298156"/>
            <a:ext cx="2720578" cy="434578"/>
          </a:xfrm>
          <a:prstGeom prst="roundRect">
            <a:avLst>
              <a:gd name="adj" fmla="val 15068"/>
            </a:avLst>
          </a:prstGeom>
          <a:solidFill>
            <a:srgbClr val="F7FBFF"/>
          </a:solidFill>
          <a:ln w="7144">
            <a:solidFill>
              <a:srgbClr val="C7E0F3"/>
            </a:solidFill>
            <a:prstDash val="solid"/>
          </a:ln>
        </p:spPr>
      </p:sp>
      <p:sp>
        <p:nvSpPr>
          <p:cNvPr id="23" name="detail-card-14"/>
          <p:cNvSpPr/>
          <p:nvPr/>
        </p:nvSpPr>
        <p:spPr>
          <a:xfrm>
            <a:off x="4804172" y="4298156"/>
            <a:ext cx="2809875" cy="434578"/>
          </a:xfrm>
          <a:prstGeom prst="roundRect">
            <a:avLst>
              <a:gd name="adj" fmla="val 15068"/>
            </a:avLst>
          </a:prstGeom>
          <a:solidFill>
            <a:srgbClr val="F7FBFF"/>
          </a:solidFill>
          <a:ln w="7144">
            <a:solidFill>
              <a:srgbClr val="C7E0F3"/>
            </a:solidFill>
            <a:prstDash val="solid"/>
          </a:ln>
        </p:spPr>
      </p:sp>
      <p:sp>
        <p:nvSpPr>
          <p:cNvPr id="24" name="detail-card-15"/>
          <p:cNvSpPr/>
          <p:nvPr/>
        </p:nvSpPr>
        <p:spPr>
          <a:xfrm>
            <a:off x="7631906" y="4298156"/>
            <a:ext cx="2738438" cy="434578"/>
          </a:xfrm>
          <a:prstGeom prst="roundRect">
            <a:avLst>
              <a:gd name="adj" fmla="val 15068"/>
            </a:avLst>
          </a:prstGeom>
          <a:solidFill>
            <a:srgbClr val="F7FBFF"/>
          </a:solidFill>
          <a:ln w="7144">
            <a:solidFill>
              <a:srgbClr val="C7E0F3"/>
            </a:solidFill>
            <a:prstDash val="solid"/>
          </a:ln>
        </p:spPr>
      </p:sp>
      <p:sp>
        <p:nvSpPr>
          <p:cNvPr id="25" name="detail-card-16"/>
          <p:cNvSpPr/>
          <p:nvPr/>
        </p:nvSpPr>
        <p:spPr>
          <a:xfrm>
            <a:off x="2065734" y="4953000"/>
            <a:ext cx="2720578" cy="440531"/>
          </a:xfrm>
          <a:prstGeom prst="roundRect">
            <a:avLst>
              <a:gd name="adj" fmla="val 14865"/>
            </a:avLst>
          </a:prstGeom>
          <a:solidFill>
            <a:srgbClr val="F7FBFF"/>
          </a:solidFill>
          <a:ln w="7144">
            <a:solidFill>
              <a:srgbClr val="C7E0F3"/>
            </a:solidFill>
            <a:prstDash val="solid"/>
          </a:ln>
        </p:spPr>
      </p:sp>
      <p:sp>
        <p:nvSpPr>
          <p:cNvPr id="26" name="detail-card-17"/>
          <p:cNvSpPr/>
          <p:nvPr/>
        </p:nvSpPr>
        <p:spPr>
          <a:xfrm>
            <a:off x="4804172" y="4953000"/>
            <a:ext cx="2809875" cy="440531"/>
          </a:xfrm>
          <a:prstGeom prst="roundRect">
            <a:avLst>
              <a:gd name="adj" fmla="val 14865"/>
            </a:avLst>
          </a:prstGeom>
          <a:solidFill>
            <a:srgbClr val="F7FBFF"/>
          </a:solidFill>
          <a:ln w="7144">
            <a:solidFill>
              <a:srgbClr val="C7E0F3"/>
            </a:solidFill>
            <a:prstDash val="solid"/>
          </a:ln>
        </p:spPr>
      </p:sp>
      <p:sp>
        <p:nvSpPr>
          <p:cNvPr id="27" name="detail-card-18"/>
          <p:cNvSpPr/>
          <p:nvPr/>
        </p:nvSpPr>
        <p:spPr>
          <a:xfrm>
            <a:off x="7631906" y="4953000"/>
            <a:ext cx="2738438" cy="440531"/>
          </a:xfrm>
          <a:prstGeom prst="roundRect">
            <a:avLst>
              <a:gd name="adj" fmla="val 14865"/>
            </a:avLst>
          </a:prstGeom>
          <a:solidFill>
            <a:srgbClr val="F7FBFF"/>
          </a:solidFill>
          <a:ln w="7144">
            <a:solidFill>
              <a:srgbClr val="C7E0F3"/>
            </a:solidFill>
            <a:prstDash val="solid"/>
          </a:ln>
        </p:spPr>
      </p:sp>
      <p:sp>
        <p:nvSpPr>
          <p:cNvPr id="28" name="detail-card-19"/>
          <p:cNvSpPr/>
          <p:nvPr/>
        </p:nvSpPr>
        <p:spPr>
          <a:xfrm>
            <a:off x="2065734" y="5595938"/>
            <a:ext cx="2720578" cy="428625"/>
          </a:xfrm>
          <a:prstGeom prst="roundRect">
            <a:avLst>
              <a:gd name="adj" fmla="val 15278"/>
            </a:avLst>
          </a:prstGeom>
          <a:solidFill>
            <a:srgbClr val="F7FBFF"/>
          </a:solidFill>
          <a:ln w="7144">
            <a:solidFill>
              <a:srgbClr val="C7E0F3"/>
            </a:solidFill>
            <a:prstDash val="solid"/>
          </a:ln>
        </p:spPr>
      </p:sp>
      <p:sp>
        <p:nvSpPr>
          <p:cNvPr id="29" name="detail-card-20"/>
          <p:cNvSpPr/>
          <p:nvPr/>
        </p:nvSpPr>
        <p:spPr>
          <a:xfrm>
            <a:off x="4804172" y="5595938"/>
            <a:ext cx="2809875" cy="428625"/>
          </a:xfrm>
          <a:prstGeom prst="roundRect">
            <a:avLst>
              <a:gd name="adj" fmla="val 15278"/>
            </a:avLst>
          </a:prstGeom>
          <a:solidFill>
            <a:srgbClr val="F7FBFF"/>
          </a:solidFill>
          <a:ln w="7144">
            <a:solidFill>
              <a:srgbClr val="C7E0F3"/>
            </a:solidFill>
            <a:prstDash val="solid"/>
          </a:ln>
        </p:spPr>
      </p:sp>
      <p:sp>
        <p:nvSpPr>
          <p:cNvPr id="30" name="detail-card-21"/>
          <p:cNvSpPr/>
          <p:nvPr/>
        </p:nvSpPr>
        <p:spPr>
          <a:xfrm>
            <a:off x="7631906" y="5595938"/>
            <a:ext cx="2738438" cy="428625"/>
          </a:xfrm>
          <a:prstGeom prst="roundRect">
            <a:avLst>
              <a:gd name="adj" fmla="val 15278"/>
            </a:avLst>
          </a:prstGeom>
          <a:solidFill>
            <a:srgbClr val="F7FBFF"/>
          </a:solidFill>
          <a:ln w="7144">
            <a:solidFill>
              <a:srgbClr val="C7E0F3"/>
            </a:solidFill>
            <a:prstDash val="solid"/>
          </a:ln>
        </p:spPr>
      </p:sp>
      <p:sp>
        <p:nvSpPr>
          <p:cNvPr id="31" name="detail-card-22"/>
          <p:cNvSpPr/>
          <p:nvPr/>
        </p:nvSpPr>
        <p:spPr>
          <a:xfrm>
            <a:off x="273844" y="6137672"/>
            <a:ext cx="1107281" cy="410766"/>
          </a:xfrm>
          <a:prstGeom prst="roundRect">
            <a:avLst>
              <a:gd name="adj" fmla="val 15942"/>
            </a:avLst>
          </a:prstGeom>
          <a:solidFill>
            <a:srgbClr val="F7FBFF"/>
          </a:solidFill>
          <a:ln w="7144">
            <a:solidFill>
              <a:srgbClr val="C7E0F3"/>
            </a:solidFill>
            <a:prstDash val="solid"/>
          </a:ln>
        </p:spPr>
      </p:sp>
      <p:sp>
        <p:nvSpPr>
          <p:cNvPr id="32" name="detail-card-23"/>
          <p:cNvSpPr/>
          <p:nvPr/>
        </p:nvSpPr>
        <p:spPr>
          <a:xfrm>
            <a:off x="1434703" y="6137672"/>
            <a:ext cx="1690688" cy="410766"/>
          </a:xfrm>
          <a:prstGeom prst="roundRect">
            <a:avLst>
              <a:gd name="adj" fmla="val 15942"/>
            </a:avLst>
          </a:prstGeom>
          <a:solidFill>
            <a:srgbClr val="F7FBFF"/>
          </a:solidFill>
          <a:ln w="7144">
            <a:solidFill>
              <a:srgbClr val="C7E0F3"/>
            </a:solidFill>
            <a:prstDash val="solid"/>
          </a:ln>
        </p:spPr>
      </p:sp>
      <p:sp>
        <p:nvSpPr>
          <p:cNvPr id="33" name="detail-card-24"/>
          <p:cNvSpPr/>
          <p:nvPr/>
        </p:nvSpPr>
        <p:spPr>
          <a:xfrm>
            <a:off x="3178969" y="6137672"/>
            <a:ext cx="1690688" cy="410766"/>
          </a:xfrm>
          <a:prstGeom prst="roundRect">
            <a:avLst>
              <a:gd name="adj" fmla="val 15942"/>
            </a:avLst>
          </a:prstGeom>
          <a:solidFill>
            <a:srgbClr val="F7FBFF"/>
          </a:solidFill>
          <a:ln w="7144">
            <a:solidFill>
              <a:srgbClr val="C7E0F3"/>
            </a:solidFill>
            <a:prstDash val="solid"/>
          </a:ln>
        </p:spPr>
      </p:sp>
      <p:sp>
        <p:nvSpPr>
          <p:cNvPr id="34" name="detail-card-25"/>
          <p:cNvSpPr/>
          <p:nvPr/>
        </p:nvSpPr>
        <p:spPr>
          <a:xfrm>
            <a:off x="4923234" y="6137672"/>
            <a:ext cx="1779984" cy="410766"/>
          </a:xfrm>
          <a:prstGeom prst="roundRect">
            <a:avLst>
              <a:gd name="adj" fmla="val 15942"/>
            </a:avLst>
          </a:prstGeom>
          <a:solidFill>
            <a:srgbClr val="F7FBFF"/>
          </a:solidFill>
          <a:ln w="7144">
            <a:solidFill>
              <a:srgbClr val="C7E0F3"/>
            </a:solidFill>
            <a:prstDash val="solid"/>
          </a:ln>
        </p:spPr>
      </p:sp>
      <p:sp>
        <p:nvSpPr>
          <p:cNvPr id="35" name="detail-card-26"/>
          <p:cNvSpPr/>
          <p:nvPr/>
        </p:nvSpPr>
        <p:spPr>
          <a:xfrm>
            <a:off x="6756797" y="6137672"/>
            <a:ext cx="1244203" cy="410766"/>
          </a:xfrm>
          <a:prstGeom prst="roundRect">
            <a:avLst>
              <a:gd name="adj" fmla="val 15942"/>
            </a:avLst>
          </a:prstGeom>
          <a:solidFill>
            <a:srgbClr val="F7FBFF"/>
          </a:solidFill>
          <a:ln w="7144">
            <a:solidFill>
              <a:srgbClr val="C7E0F3"/>
            </a:solidFill>
            <a:prstDash val="solid"/>
          </a:ln>
        </p:spPr>
      </p:sp>
      <p:sp>
        <p:nvSpPr>
          <p:cNvPr id="36" name="detail-card-27"/>
          <p:cNvSpPr/>
          <p:nvPr/>
        </p:nvSpPr>
        <p:spPr>
          <a:xfrm>
            <a:off x="8054578" y="6137672"/>
            <a:ext cx="1232297" cy="410766"/>
          </a:xfrm>
          <a:prstGeom prst="roundRect">
            <a:avLst>
              <a:gd name="adj" fmla="val 15942"/>
            </a:avLst>
          </a:prstGeom>
          <a:solidFill>
            <a:srgbClr val="F7FBFF"/>
          </a:solidFill>
          <a:ln w="7144">
            <a:solidFill>
              <a:srgbClr val="C7E0F3"/>
            </a:solidFill>
            <a:prstDash val="solid"/>
          </a:ln>
        </p:spPr>
      </p:sp>
      <p:sp>
        <p:nvSpPr>
          <p:cNvPr id="37" name="detail-card-28"/>
          <p:cNvSpPr/>
          <p:nvPr/>
        </p:nvSpPr>
        <p:spPr>
          <a:xfrm>
            <a:off x="9340453" y="6137672"/>
            <a:ext cx="1232297" cy="410766"/>
          </a:xfrm>
          <a:prstGeom prst="roundRect">
            <a:avLst>
              <a:gd name="adj" fmla="val 15942"/>
            </a:avLst>
          </a:prstGeom>
          <a:solidFill>
            <a:srgbClr val="F7FBFF"/>
          </a:solidFill>
          <a:ln w="7144">
            <a:solidFill>
              <a:srgbClr val="C7E0F3"/>
            </a:solidFill>
            <a:prstDash val="solid"/>
          </a:ln>
        </p:spPr>
      </p:sp>
      <p:sp>
        <p:nvSpPr>
          <p:cNvPr id="38" name="detail-card-29"/>
          <p:cNvSpPr/>
          <p:nvPr/>
        </p:nvSpPr>
        <p:spPr>
          <a:xfrm>
            <a:off x="10626328" y="6137672"/>
            <a:ext cx="1351359" cy="410766"/>
          </a:xfrm>
          <a:prstGeom prst="roundRect">
            <a:avLst>
              <a:gd name="adj" fmla="val 15942"/>
            </a:avLst>
          </a:prstGeom>
          <a:solidFill>
            <a:srgbClr val="F7FBFF"/>
          </a:solidFill>
          <a:ln w="7144">
            <a:solidFill>
              <a:srgbClr val="C7E0F3"/>
            </a:solidFill>
            <a:prstDash val="solid"/>
          </a:ln>
        </p:spPr>
      </p:sp>
      <p:sp>
        <p:nvSpPr>
          <p:cNvPr id="39"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40"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41" name="theme-badge-1"/>
          <p:cNvSpPr/>
          <p:nvPr/>
        </p:nvSpPr>
        <p:spPr>
          <a:xfrm>
            <a:off x="255984" y="1154906"/>
            <a:ext cx="446484" cy="446484"/>
          </a:xfrm>
          <a:prstGeom prst="ellipse">
            <a:avLst/>
          </a:prstGeom>
          <a:solidFill>
            <a:srgbClr val="0878DB"/>
          </a:solidFill>
          <a:ln w="17859">
            <a:solidFill>
              <a:srgbClr val="A4D6FC"/>
            </a:solidFill>
            <a:prstDash val="solid"/>
          </a:ln>
        </p:spPr>
      </p:sp>
      <p:sp>
        <p:nvSpPr>
          <p:cNvPr id="42" name="theme-badge-2"/>
          <p:cNvSpPr/>
          <p:nvPr/>
        </p:nvSpPr>
        <p:spPr>
          <a:xfrm>
            <a:off x="4191000" y="1154906"/>
            <a:ext cx="446484" cy="446484"/>
          </a:xfrm>
          <a:prstGeom prst="ellipse">
            <a:avLst/>
          </a:prstGeom>
          <a:solidFill>
            <a:srgbClr val="0878DB"/>
          </a:solidFill>
          <a:ln w="17859">
            <a:solidFill>
              <a:srgbClr val="A4D6FC"/>
            </a:solidFill>
            <a:prstDash val="solid"/>
          </a:ln>
        </p:spPr>
      </p:sp>
      <p:sp>
        <p:nvSpPr>
          <p:cNvPr id="43" name="theme-badge-3"/>
          <p:cNvSpPr/>
          <p:nvPr/>
        </p:nvSpPr>
        <p:spPr>
          <a:xfrm>
            <a:off x="8227219" y="1154906"/>
            <a:ext cx="446484" cy="446484"/>
          </a:xfrm>
          <a:prstGeom prst="ellipse">
            <a:avLst/>
          </a:prstGeom>
          <a:solidFill>
            <a:srgbClr val="0878DB"/>
          </a:solidFill>
          <a:ln w="17859">
            <a:solidFill>
              <a:srgbClr val="A4D6FC"/>
            </a:solidFill>
            <a:prstDash val="solid"/>
          </a:ln>
        </p:spPr>
      </p:sp>
      <p:cxnSp>
        <p:nvCxnSpPr>
          <p:cNvPr id="44" name="SC_CONNECTOR__F-to-P__0"/>
          <p:cNvCxnSpPr/>
          <p:nvPr/>
        </p:nvCxnSpPr>
        <p:spPr>
          <a:xfrm>
            <a:off x="3946922" y="2303859"/>
            <a:ext cx="208359" cy="0"/>
          </a:xfrm>
          <a:prstGeom prst="line">
            <a:avLst/>
          </a:prstGeom>
          <a:noFill/>
          <a:ln w="17859">
            <a:solidFill>
              <a:srgbClr val="2473B6"/>
            </a:solidFill>
            <a:prstDash val="solid"/>
            <a:round/>
            <a:headEnd type="none"/>
            <a:tailEnd type="triangle" w="med" len="med"/>
          </a:ln>
        </p:spPr>
      </p:cxnSp>
      <p:cxnSp>
        <p:nvCxnSpPr>
          <p:cNvPr id="45" name="SC_CONNECTOR__P-to-V__0"/>
          <p:cNvCxnSpPr/>
          <p:nvPr/>
        </p:nvCxnSpPr>
        <p:spPr>
          <a:xfrm>
            <a:off x="7995047" y="2303859"/>
            <a:ext cx="160734" cy="0"/>
          </a:xfrm>
          <a:prstGeom prst="line">
            <a:avLst/>
          </a:prstGeom>
          <a:noFill/>
          <a:ln w="17859">
            <a:solidFill>
              <a:srgbClr val="2473B6"/>
            </a:solidFill>
            <a:prstDash val="solid"/>
            <a:round/>
            <a:headEnd type="none"/>
            <a:tailEnd type="triangle" w="med" len="med"/>
          </a:ln>
        </p:spPr>
      </p:cxnSp>
      <p:cxnSp>
        <p:nvCxnSpPr>
          <p:cNvPr id="46" name="SC_CONNECTOR__layer-feedback-10-0__0"/>
          <p:cNvCxnSpPr/>
          <p:nvPr/>
        </p:nvCxnSpPr>
        <p:spPr>
          <a:xfrm flipV="1">
            <a:off x="3426023" y="4042172"/>
            <a:ext cx="0" cy="255984"/>
          </a:xfrm>
          <a:prstGeom prst="line">
            <a:avLst/>
          </a:prstGeom>
          <a:noFill/>
          <a:ln w="17859">
            <a:solidFill>
              <a:srgbClr val="2473B6"/>
            </a:solidFill>
            <a:prstDash val="solid"/>
            <a:round/>
            <a:headEnd type="none"/>
            <a:tailEnd type="triangle" w="med" len="med"/>
          </a:ln>
        </p:spPr>
      </p:cxnSp>
      <p:cxnSp>
        <p:nvCxnSpPr>
          <p:cNvPr id="47" name="SC_CONNECTOR__layer-feedback-10-1__0"/>
          <p:cNvCxnSpPr/>
          <p:nvPr/>
        </p:nvCxnSpPr>
        <p:spPr>
          <a:xfrm flipV="1">
            <a:off x="6209109" y="4042172"/>
            <a:ext cx="0" cy="255984"/>
          </a:xfrm>
          <a:prstGeom prst="line">
            <a:avLst/>
          </a:prstGeom>
          <a:noFill/>
          <a:ln w="17859">
            <a:solidFill>
              <a:srgbClr val="2473B6"/>
            </a:solidFill>
            <a:prstDash val="solid"/>
            <a:round/>
            <a:headEnd type="none"/>
            <a:tailEnd type="triangle" w="med" len="med"/>
          </a:ln>
        </p:spPr>
      </p:cxnSp>
      <p:cxnSp>
        <p:nvCxnSpPr>
          <p:cNvPr id="48" name="SC_CONNECTOR__layer-feedback-10-2__0"/>
          <p:cNvCxnSpPr/>
          <p:nvPr/>
        </p:nvCxnSpPr>
        <p:spPr>
          <a:xfrm flipV="1">
            <a:off x="9001125" y="4042172"/>
            <a:ext cx="0" cy="255984"/>
          </a:xfrm>
          <a:prstGeom prst="line">
            <a:avLst/>
          </a:prstGeom>
          <a:noFill/>
          <a:ln w="17859">
            <a:solidFill>
              <a:srgbClr val="2473B6"/>
            </a:solidFill>
            <a:prstDash val="solid"/>
            <a:round/>
            <a:headEnd type="none"/>
            <a:tailEnd type="triangle" w="med" len="med"/>
          </a:ln>
        </p:spPr>
      </p:cxnSp>
      <p:cxnSp>
        <p:nvCxnSpPr>
          <p:cNvPr id="49" name="SC_CONNECTOR__layer-feedback-13-0__0"/>
          <p:cNvCxnSpPr/>
          <p:nvPr/>
        </p:nvCxnSpPr>
        <p:spPr>
          <a:xfrm flipV="1">
            <a:off x="3426023" y="4732734"/>
            <a:ext cx="0" cy="220266"/>
          </a:xfrm>
          <a:prstGeom prst="line">
            <a:avLst/>
          </a:prstGeom>
          <a:noFill/>
          <a:ln w="17859">
            <a:solidFill>
              <a:srgbClr val="2473B6"/>
            </a:solidFill>
            <a:prstDash val="solid"/>
            <a:round/>
            <a:headEnd type="none"/>
            <a:tailEnd type="triangle" w="med" len="med"/>
          </a:ln>
        </p:spPr>
      </p:cxnSp>
      <p:cxnSp>
        <p:nvCxnSpPr>
          <p:cNvPr id="50" name="SC_CONNECTOR__layer-feedback-13-1__0"/>
          <p:cNvCxnSpPr/>
          <p:nvPr/>
        </p:nvCxnSpPr>
        <p:spPr>
          <a:xfrm flipV="1">
            <a:off x="6209109" y="4732734"/>
            <a:ext cx="0" cy="220266"/>
          </a:xfrm>
          <a:prstGeom prst="line">
            <a:avLst/>
          </a:prstGeom>
          <a:noFill/>
          <a:ln w="17859">
            <a:solidFill>
              <a:srgbClr val="2473B6"/>
            </a:solidFill>
            <a:prstDash val="solid"/>
            <a:round/>
            <a:headEnd type="none"/>
            <a:tailEnd type="triangle" w="med" len="med"/>
          </a:ln>
        </p:spPr>
      </p:cxnSp>
      <p:cxnSp>
        <p:nvCxnSpPr>
          <p:cNvPr id="51" name="SC_CONNECTOR__layer-feedback-13-2__0"/>
          <p:cNvCxnSpPr/>
          <p:nvPr/>
        </p:nvCxnSpPr>
        <p:spPr>
          <a:xfrm flipV="1">
            <a:off x="9001125" y="4732734"/>
            <a:ext cx="0" cy="220266"/>
          </a:xfrm>
          <a:prstGeom prst="line">
            <a:avLst/>
          </a:prstGeom>
          <a:noFill/>
          <a:ln w="17859">
            <a:solidFill>
              <a:srgbClr val="2473B6"/>
            </a:solidFill>
            <a:prstDash val="solid"/>
            <a:round/>
            <a:headEnd type="none"/>
            <a:tailEnd type="triangle" w="med" len="med"/>
          </a:ln>
        </p:spPr>
      </p:cxnSp>
      <p:cxnSp>
        <p:nvCxnSpPr>
          <p:cNvPr id="52" name="SC_CONNECTOR__layer-feedback-16-0__0"/>
          <p:cNvCxnSpPr/>
          <p:nvPr/>
        </p:nvCxnSpPr>
        <p:spPr>
          <a:xfrm flipV="1">
            <a:off x="3426023" y="5393531"/>
            <a:ext cx="0" cy="202406"/>
          </a:xfrm>
          <a:prstGeom prst="line">
            <a:avLst/>
          </a:prstGeom>
          <a:noFill/>
          <a:ln w="17859">
            <a:solidFill>
              <a:srgbClr val="2473B6"/>
            </a:solidFill>
            <a:prstDash val="solid"/>
            <a:round/>
            <a:headEnd type="none"/>
            <a:tailEnd type="triangle" w="med" len="med"/>
          </a:ln>
        </p:spPr>
      </p:cxnSp>
      <p:cxnSp>
        <p:nvCxnSpPr>
          <p:cNvPr id="53" name="SC_CONNECTOR__layer-feedback-16-1__0"/>
          <p:cNvCxnSpPr/>
          <p:nvPr/>
        </p:nvCxnSpPr>
        <p:spPr>
          <a:xfrm flipV="1">
            <a:off x="6209109" y="5393531"/>
            <a:ext cx="0" cy="202406"/>
          </a:xfrm>
          <a:prstGeom prst="line">
            <a:avLst/>
          </a:prstGeom>
          <a:noFill/>
          <a:ln w="17859">
            <a:solidFill>
              <a:srgbClr val="2473B6"/>
            </a:solidFill>
            <a:prstDash val="solid"/>
            <a:round/>
            <a:headEnd type="none"/>
            <a:tailEnd type="triangle" w="med" len="med"/>
          </a:ln>
        </p:spPr>
      </p:cxnSp>
      <p:cxnSp>
        <p:nvCxnSpPr>
          <p:cNvPr id="54" name="SC_CONNECTOR__layer-feedback-16-2__0"/>
          <p:cNvCxnSpPr/>
          <p:nvPr/>
        </p:nvCxnSpPr>
        <p:spPr>
          <a:xfrm flipV="1">
            <a:off x="9001125" y="5393531"/>
            <a:ext cx="0" cy="202406"/>
          </a:xfrm>
          <a:prstGeom prst="line">
            <a:avLst/>
          </a:prstGeom>
          <a:noFill/>
          <a:ln w="17859">
            <a:solidFill>
              <a:srgbClr val="2473B6"/>
            </a:solidFill>
            <a:prstDash val="solid"/>
            <a:round/>
            <a:headEnd type="none"/>
            <a:tailEnd type="triangle" w="med" len="med"/>
          </a:ln>
        </p:spPr>
      </p:cxnSp>
      <p:sp>
        <p:nvSpPr>
          <p:cNvPr id="55" name="ocr-001"/>
          <p:cNvSpPr txBox="1"/>
          <p:nvPr/>
        </p:nvSpPr>
        <p:spPr>
          <a:xfrm>
            <a:off x="422672" y="381000"/>
            <a:ext cx="10923984" cy="375047"/>
          </a:xfrm>
          <a:prstGeom prst="rect">
            <a:avLst/>
          </a:prstGeom>
          <a:noFill/>
          <a:ln/>
        </p:spPr>
        <p:txBody>
          <a:bodyPr wrap="square" lIns="0" tIns="0" rIns="0" bIns="0" rtlCol="0" anchor="ctr">
            <a:noAutofit/>
          </a:bodyPr>
          <a:lstStyle/>
          <a:p>
            <a:pPr algn="l" indent="0" marL="0">
              <a:lnSpc>
                <a:spcPct val="100000"/>
              </a:lnSpc>
              <a:buNone/>
              <a:defRPr spc="0"/>
            </a:pPr>
            <a:r>
              <a:rPr lang="en-US" sz="2500" b="1" dirty="0" spc="0">
                <a:solidFill>
                  <a:srgbClr val="102C55"/>
                </a:solidFill>
                <a:latin typeface="Microsoft YaHei" pitchFamily="34" charset="0"/>
                <a:ea typeface="Microsoft YaHei" pitchFamily="34" charset="-122"/>
                <a:cs typeface="Microsoft YaHei" pitchFamily="34" charset="-120"/>
              </a:rPr>
              <a:t>跨层状态治理、低功耗准入与语义进度需要协同设计</a:t>
            </a:r>
            <a:endParaRPr lang="en-US" sz="2500" dirty="0" spc="0"/>
          </a:p>
        </p:txBody>
      </p:sp>
      <p:sp>
        <p:nvSpPr>
          <p:cNvPr id="56" name="ocr-002"/>
          <p:cNvSpPr txBox="1"/>
          <p:nvPr/>
        </p:nvSpPr>
        <p:spPr>
          <a:xfrm>
            <a:off x="416719" y="785813"/>
            <a:ext cx="11757422"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500" dirty="0" spc="0">
                <a:solidFill>
                  <a:srgbClr val="58738A"/>
                </a:solidFill>
                <a:latin typeface="Microsoft YaHei" pitchFamily="34" charset="0"/>
                <a:ea typeface="Microsoft YaHei" pitchFamily="34" charset="-122"/>
                <a:cs typeface="Microsoft YaHei" pitchFamily="34" charset="-120"/>
              </a:rPr>
              <a:t>这是跨层的工程性主题，而不是彼此独立的硬件模块，需要在应用、运行时、编译器与硬件之间统一设计与协同优化。</a:t>
            </a:r>
            <a:endParaRPr lang="en-US" sz="1500" dirty="0" spc="0"/>
          </a:p>
        </p:txBody>
      </p:sp>
      <p:sp>
        <p:nvSpPr>
          <p:cNvPr id="57" name="ocr-003"/>
          <p:cNvSpPr txBox="1"/>
          <p:nvPr/>
        </p:nvSpPr>
        <p:spPr>
          <a:xfrm>
            <a:off x="321469" y="1238250"/>
            <a:ext cx="428625"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FFFFFF"/>
                </a:solidFill>
                <a:latin typeface="Microsoft YaHei" pitchFamily="34" charset="0"/>
                <a:ea typeface="Microsoft YaHei" pitchFamily="34" charset="-122"/>
                <a:cs typeface="Microsoft YaHei" pitchFamily="34" charset="-120"/>
              </a:rPr>
              <a:t>01</a:t>
            </a:r>
            <a:endParaRPr lang="en-US" sz="1350" dirty="0" spc="0"/>
          </a:p>
        </p:txBody>
      </p:sp>
      <p:sp>
        <p:nvSpPr>
          <p:cNvPr id="58" name="ocr-004"/>
          <p:cNvSpPr txBox="1"/>
          <p:nvPr/>
        </p:nvSpPr>
        <p:spPr>
          <a:xfrm>
            <a:off x="833438" y="1232297"/>
            <a:ext cx="2797969"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执行/派生状态生命周期</a:t>
            </a:r>
            <a:endParaRPr lang="en-US" sz="1200" dirty="0" spc="0"/>
          </a:p>
        </p:txBody>
      </p:sp>
      <p:sp>
        <p:nvSpPr>
          <p:cNvPr id="59" name="ocr-005"/>
          <p:cNvSpPr txBox="1"/>
          <p:nvPr/>
        </p:nvSpPr>
        <p:spPr>
          <a:xfrm>
            <a:off x="4262438" y="1238250"/>
            <a:ext cx="440531"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00" b="1" dirty="0" spc="0">
                <a:solidFill>
                  <a:srgbClr val="FFFFFF"/>
                </a:solidFill>
                <a:latin typeface="Microsoft YaHei" pitchFamily="34" charset="0"/>
                <a:ea typeface="Microsoft YaHei" pitchFamily="34" charset="-122"/>
                <a:cs typeface="Microsoft YaHei" pitchFamily="34" charset="-120"/>
              </a:rPr>
              <a:t>02</a:t>
            </a:r>
            <a:endParaRPr lang="en-US" sz="1400" dirty="0" spc="0"/>
          </a:p>
        </p:txBody>
      </p:sp>
      <p:sp>
        <p:nvSpPr>
          <p:cNvPr id="60" name="ocr-006"/>
          <p:cNvSpPr txBox="1"/>
          <p:nvPr/>
        </p:nvSpPr>
        <p:spPr>
          <a:xfrm>
            <a:off x="4768453" y="1220391"/>
            <a:ext cx="1952625"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173753"/>
                </a:solidFill>
                <a:latin typeface="Microsoft YaHei" pitchFamily="34" charset="0"/>
                <a:ea typeface="Microsoft YaHei" pitchFamily="34" charset="-122"/>
                <a:cs typeface="Microsoft YaHei" pitchFamily="34" charset="-120"/>
              </a:rPr>
              <a:t>主动低功耗准入</a:t>
            </a:r>
            <a:endParaRPr lang="en-US" sz="1350" dirty="0" spc="0"/>
          </a:p>
        </p:txBody>
      </p:sp>
      <p:sp>
        <p:nvSpPr>
          <p:cNvPr id="61" name="ocr-007"/>
          <p:cNvSpPr txBox="1"/>
          <p:nvPr/>
        </p:nvSpPr>
        <p:spPr>
          <a:xfrm>
            <a:off x="8286750" y="1244203"/>
            <a:ext cx="440531"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00" b="1" dirty="0" spc="0">
                <a:solidFill>
                  <a:srgbClr val="FFFFFF"/>
                </a:solidFill>
                <a:latin typeface="Microsoft YaHei" pitchFamily="34" charset="0"/>
                <a:ea typeface="Microsoft YaHei" pitchFamily="34" charset="-122"/>
                <a:cs typeface="Microsoft YaHei" pitchFamily="34" charset="-120"/>
              </a:rPr>
              <a:t>03</a:t>
            </a:r>
            <a:endParaRPr lang="en-US" sz="1300" dirty="0" spc="0"/>
          </a:p>
        </p:txBody>
      </p:sp>
      <p:sp>
        <p:nvSpPr>
          <p:cNvPr id="62" name="ocr-008"/>
          <p:cNvSpPr txBox="1"/>
          <p:nvPr/>
        </p:nvSpPr>
        <p:spPr>
          <a:xfrm>
            <a:off x="8786813" y="1226344"/>
            <a:ext cx="1893094"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语义进度与体验</a:t>
            </a:r>
            <a:endParaRPr lang="en-US" sz="1200" dirty="0" spc="0"/>
          </a:p>
        </p:txBody>
      </p:sp>
      <p:sp>
        <p:nvSpPr>
          <p:cNvPr id="63" name="ocr-009"/>
          <p:cNvSpPr txBox="1"/>
          <p:nvPr/>
        </p:nvSpPr>
        <p:spPr>
          <a:xfrm>
            <a:off x="821531" y="1476375"/>
            <a:ext cx="3917156"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统一管理Agent的状态及其派生数据，支持跨会话</a:t>
            </a:r>
            <a:endParaRPr lang="en-US" sz="1000" dirty="0" spc="0"/>
          </a:p>
        </p:txBody>
      </p:sp>
      <p:sp>
        <p:nvSpPr>
          <p:cNvPr id="64" name="ocr-010"/>
          <p:cNvSpPr txBox="1"/>
          <p:nvPr/>
        </p:nvSpPr>
        <p:spPr>
          <a:xfrm>
            <a:off x="4774406" y="1494234"/>
            <a:ext cx="39826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基于环境与语义的价值判断，决定是否唤醒或执行，</a:t>
            </a:r>
            <a:endParaRPr lang="en-US" sz="800" dirty="0" spc="0"/>
          </a:p>
        </p:txBody>
      </p:sp>
      <p:sp>
        <p:nvSpPr>
          <p:cNvPr id="65" name="ocr-011"/>
          <p:cNvSpPr txBox="1"/>
          <p:nvPr/>
        </p:nvSpPr>
        <p:spPr>
          <a:xfrm>
            <a:off x="8792766" y="1482328"/>
            <a:ext cx="3381375"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根据语义目标跟踪任务进度，支持继续、切换模型与</a:t>
            </a:r>
            <a:endParaRPr lang="en-US" sz="800" dirty="0" spc="0"/>
          </a:p>
        </p:txBody>
      </p:sp>
      <p:sp>
        <p:nvSpPr>
          <p:cNvPr id="66" name="ocr-012"/>
          <p:cNvSpPr txBox="1"/>
          <p:nvPr/>
        </p:nvSpPr>
        <p:spPr>
          <a:xfrm>
            <a:off x="833438" y="1666875"/>
            <a:ext cx="19228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延续、可撤销与可恢复。</a:t>
            </a:r>
            <a:endParaRPr lang="en-US" sz="800" dirty="0" spc="0"/>
          </a:p>
        </p:txBody>
      </p:sp>
      <p:sp>
        <p:nvSpPr>
          <p:cNvPr id="67" name="ocr-013"/>
          <p:cNvSpPr txBox="1"/>
          <p:nvPr/>
        </p:nvSpPr>
        <p:spPr>
          <a:xfrm>
            <a:off x="4780359" y="1672828"/>
            <a:ext cx="391715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在保证体验的同时降低不必要的功耗与隐私暴露。</a:t>
            </a:r>
            <a:endParaRPr lang="en-US" sz="800" dirty="0" spc="0"/>
          </a:p>
        </p:txBody>
      </p:sp>
      <p:sp>
        <p:nvSpPr>
          <p:cNvPr id="68" name="ocr-014"/>
          <p:cNvSpPr txBox="1"/>
          <p:nvPr/>
        </p:nvSpPr>
        <p:spPr>
          <a:xfrm>
            <a:off x="8792766" y="1672828"/>
            <a:ext cx="3381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结果验证，并保护前台体验与运行连续性。</a:t>
            </a:r>
            <a:endParaRPr lang="en-US" sz="800" dirty="0" spc="0"/>
          </a:p>
        </p:txBody>
      </p:sp>
      <p:sp>
        <p:nvSpPr>
          <p:cNvPr id="69" name="ocr-015"/>
          <p:cNvSpPr txBox="1"/>
          <p:nvPr/>
        </p:nvSpPr>
        <p:spPr>
          <a:xfrm>
            <a:off x="833438" y="1946672"/>
            <a:ext cx="68460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版本管理</a:t>
            </a:r>
            <a:endParaRPr lang="en-US" sz="850" dirty="0" spc="0"/>
          </a:p>
        </p:txBody>
      </p:sp>
      <p:sp>
        <p:nvSpPr>
          <p:cNvPr id="70" name="ocr-016"/>
          <p:cNvSpPr txBox="1"/>
          <p:nvPr/>
        </p:nvSpPr>
        <p:spPr>
          <a:xfrm>
            <a:off x="2220516" y="1982391"/>
            <a:ext cx="339328"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a:t>
            </a:r>
            <a:endParaRPr lang="en-US" sz="1100" dirty="0" spc="0"/>
          </a:p>
        </p:txBody>
      </p:sp>
      <p:sp>
        <p:nvSpPr>
          <p:cNvPr id="71" name="ocr-017"/>
          <p:cNvSpPr txBox="1"/>
          <p:nvPr/>
        </p:nvSpPr>
        <p:spPr>
          <a:xfrm>
            <a:off x="2643188" y="1946672"/>
            <a:ext cx="79771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撤销/取消</a:t>
            </a:r>
            <a:endParaRPr lang="en-US" sz="850" dirty="0" spc="0"/>
          </a:p>
        </p:txBody>
      </p:sp>
      <p:sp>
        <p:nvSpPr>
          <p:cNvPr id="72" name="ocr-018"/>
          <p:cNvSpPr txBox="1"/>
          <p:nvPr/>
        </p:nvSpPr>
        <p:spPr>
          <a:xfrm>
            <a:off x="6994922" y="1940719"/>
            <a:ext cx="1000125"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是否唤醒/执行</a:t>
            </a:r>
            <a:endParaRPr lang="en-US" sz="850" dirty="0" spc="0"/>
          </a:p>
        </p:txBody>
      </p:sp>
      <p:sp>
        <p:nvSpPr>
          <p:cNvPr id="73" name="ocr-020"/>
          <p:cNvSpPr txBox="1"/>
          <p:nvPr/>
        </p:nvSpPr>
        <p:spPr>
          <a:xfrm>
            <a:off x="2643188" y="2101453"/>
            <a:ext cx="1095375"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错误状态可撤销</a:t>
            </a:r>
            <a:endParaRPr lang="en-US" sz="950" dirty="0" spc="0"/>
          </a:p>
        </p:txBody>
      </p:sp>
      <p:sp>
        <p:nvSpPr>
          <p:cNvPr id="74" name="ocr-022"/>
          <p:cNvSpPr txBox="1"/>
          <p:nvPr/>
        </p:nvSpPr>
        <p:spPr>
          <a:xfrm>
            <a:off x="821531" y="2119313"/>
            <a:ext cx="14168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状态/模型/工具版本</a:t>
            </a:r>
            <a:endParaRPr lang="en-US" sz="800" dirty="0" spc="0"/>
          </a:p>
        </p:txBody>
      </p:sp>
      <p:sp>
        <p:nvSpPr>
          <p:cNvPr id="75" name="ocr-023"/>
          <p:cNvSpPr txBox="1"/>
          <p:nvPr/>
        </p:nvSpPr>
        <p:spPr>
          <a:xfrm>
            <a:off x="7239000" y="2190750"/>
            <a:ext cx="79771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唤醒并执行</a:t>
            </a:r>
            <a:endParaRPr lang="en-US" sz="850" dirty="0" spc="0"/>
          </a:p>
        </p:txBody>
      </p:sp>
      <p:sp>
        <p:nvSpPr>
          <p:cNvPr id="76" name="ocr-024"/>
          <p:cNvSpPr txBox="1"/>
          <p:nvPr/>
        </p:nvSpPr>
        <p:spPr>
          <a:xfrm>
            <a:off x="833438" y="2405063"/>
            <a:ext cx="85725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来源与追溯</a:t>
            </a:r>
            <a:endParaRPr lang="en-US" sz="850" dirty="0" spc="0"/>
          </a:p>
        </p:txBody>
      </p:sp>
      <p:sp>
        <p:nvSpPr>
          <p:cNvPr id="77" name="ocr-025"/>
          <p:cNvSpPr txBox="1"/>
          <p:nvPr/>
        </p:nvSpPr>
        <p:spPr>
          <a:xfrm>
            <a:off x="2667000" y="2416969"/>
            <a:ext cx="77390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恢复/重建</a:t>
            </a:r>
            <a:endParaRPr lang="en-US" sz="750" dirty="0" spc="0"/>
          </a:p>
        </p:txBody>
      </p:sp>
      <p:sp>
        <p:nvSpPr>
          <p:cNvPr id="78" name="ocr-026"/>
          <p:cNvSpPr txBox="1"/>
          <p:nvPr/>
        </p:nvSpPr>
        <p:spPr>
          <a:xfrm>
            <a:off x="4357688" y="2375297"/>
            <a:ext cx="68460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感知事件</a:t>
            </a:r>
            <a:endParaRPr lang="en-US" sz="1000" dirty="0" spc="0"/>
          </a:p>
        </p:txBody>
      </p:sp>
      <p:sp>
        <p:nvSpPr>
          <p:cNvPr id="79" name="ocr-027"/>
          <p:cNvSpPr txBox="1"/>
          <p:nvPr/>
        </p:nvSpPr>
        <p:spPr>
          <a:xfrm>
            <a:off x="5310188" y="2387203"/>
            <a:ext cx="10417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价值/意图判断</a:t>
            </a:r>
            <a:endParaRPr lang="en-US" sz="850" dirty="0" spc="0"/>
          </a:p>
        </p:txBody>
      </p:sp>
      <p:sp>
        <p:nvSpPr>
          <p:cNvPr id="80" name="ocr-028"/>
          <p:cNvSpPr txBox="1"/>
          <p:nvPr/>
        </p:nvSpPr>
        <p:spPr>
          <a:xfrm>
            <a:off x="7256859" y="2375297"/>
            <a:ext cx="91678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高价值、紧急或</a:t>
            </a:r>
            <a:endParaRPr lang="en-US" sz="750" dirty="0" spc="0"/>
          </a:p>
        </p:txBody>
      </p:sp>
      <p:sp>
        <p:nvSpPr>
          <p:cNvPr id="81" name="ocr-029"/>
          <p:cNvSpPr txBox="1"/>
          <p:nvPr/>
        </p:nvSpPr>
        <p:spPr>
          <a:xfrm>
            <a:off x="8346281" y="2405063"/>
            <a:ext cx="69651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继续执行</a:t>
            </a:r>
            <a:endParaRPr lang="en-US" sz="1000" dirty="0" spc="0"/>
          </a:p>
        </p:txBody>
      </p:sp>
      <p:sp>
        <p:nvSpPr>
          <p:cNvPr id="82" name="ocr-030"/>
          <p:cNvSpPr txBox="1"/>
          <p:nvPr/>
        </p:nvSpPr>
        <p:spPr>
          <a:xfrm>
            <a:off x="9304734" y="2405063"/>
            <a:ext cx="67865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切换模型</a:t>
            </a:r>
            <a:endParaRPr lang="en-US" sz="1000" dirty="0" spc="0"/>
          </a:p>
        </p:txBody>
      </p:sp>
      <p:sp>
        <p:nvSpPr>
          <p:cNvPr id="83" name="ocr-031"/>
          <p:cNvSpPr txBox="1"/>
          <p:nvPr/>
        </p:nvSpPr>
        <p:spPr>
          <a:xfrm>
            <a:off x="10257234" y="2405063"/>
            <a:ext cx="702469"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验证结果</a:t>
            </a:r>
            <a:endParaRPr lang="en-US" sz="1000" dirty="0" spc="0"/>
          </a:p>
        </p:txBody>
      </p:sp>
      <p:sp>
        <p:nvSpPr>
          <p:cNvPr id="84" name="ocr-032"/>
          <p:cNvSpPr txBox="1"/>
          <p:nvPr/>
        </p:nvSpPr>
        <p:spPr>
          <a:xfrm>
            <a:off x="11150203" y="2399109"/>
            <a:ext cx="1006078"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保护前台体验</a:t>
            </a:r>
            <a:endParaRPr lang="en-US" sz="1050" dirty="0" spc="0"/>
          </a:p>
        </p:txBody>
      </p:sp>
      <p:sp>
        <p:nvSpPr>
          <p:cNvPr id="85" name="ocr-033"/>
          <p:cNvSpPr txBox="1"/>
          <p:nvPr/>
        </p:nvSpPr>
        <p:spPr>
          <a:xfrm>
            <a:off x="7250906" y="2482453"/>
            <a:ext cx="5417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前台任务</a:t>
            </a:r>
            <a:endParaRPr lang="en-US" sz="750" dirty="0" spc="0"/>
          </a:p>
        </p:txBody>
      </p:sp>
      <p:sp>
        <p:nvSpPr>
          <p:cNvPr id="86" name="ocr-034"/>
          <p:cNvSpPr txBox="1"/>
          <p:nvPr/>
        </p:nvSpPr>
        <p:spPr>
          <a:xfrm>
            <a:off x="821531" y="2577703"/>
            <a:ext cx="1262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结构化来源与证明</a:t>
            </a:r>
            <a:endParaRPr lang="en-US" sz="800" dirty="0" spc="0"/>
          </a:p>
        </p:txBody>
      </p:sp>
      <p:sp>
        <p:nvSpPr>
          <p:cNvPr id="87" name="ocr-035"/>
          <p:cNvSpPr txBox="1"/>
          <p:nvPr/>
        </p:nvSpPr>
        <p:spPr>
          <a:xfrm>
            <a:off x="2661047" y="2577703"/>
            <a:ext cx="137517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从检查点或来源重建</a:t>
            </a:r>
            <a:endParaRPr lang="en-US" sz="800" dirty="0" spc="0"/>
          </a:p>
        </p:txBody>
      </p:sp>
      <p:sp>
        <p:nvSpPr>
          <p:cNvPr id="88" name="ocr-036"/>
          <p:cNvSpPr txBox="1"/>
          <p:nvPr/>
        </p:nvSpPr>
        <p:spPr>
          <a:xfrm>
            <a:off x="4316016" y="2577703"/>
            <a:ext cx="77390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·环变化</a:t>
            </a:r>
            <a:endParaRPr lang="en-US" sz="850" dirty="0" spc="0"/>
          </a:p>
        </p:txBody>
      </p:sp>
      <p:sp>
        <p:nvSpPr>
          <p:cNvPr id="89" name="ocr-037"/>
          <p:cNvSpPr txBox="1"/>
          <p:nvPr/>
        </p:nvSpPr>
        <p:spPr>
          <a:xfrm>
            <a:off x="5322094" y="2583656"/>
            <a:ext cx="94059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·语义相关性</a:t>
            </a:r>
            <a:endParaRPr lang="en-US" sz="850" dirty="0" spc="0"/>
          </a:p>
        </p:txBody>
      </p:sp>
      <p:sp>
        <p:nvSpPr>
          <p:cNvPr id="90" name="ocr-038"/>
          <p:cNvSpPr txBox="1"/>
          <p:nvPr/>
        </p:nvSpPr>
        <p:spPr>
          <a:xfrm>
            <a:off x="7256859" y="2720578"/>
            <a:ext cx="77390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保持低功耗</a:t>
            </a:r>
            <a:endParaRPr lang="en-US" sz="850" dirty="0" spc="0"/>
          </a:p>
        </p:txBody>
      </p:sp>
      <p:sp>
        <p:nvSpPr>
          <p:cNvPr id="91" name="ocr-039"/>
          <p:cNvSpPr txBox="1"/>
          <p:nvPr/>
        </p:nvSpPr>
        <p:spPr>
          <a:xfrm>
            <a:off x="8262938" y="2678906"/>
            <a:ext cx="857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·延续上下文</a:t>
            </a:r>
            <a:endParaRPr lang="en-US" sz="800" dirty="0" spc="0"/>
          </a:p>
        </p:txBody>
      </p:sp>
      <p:sp>
        <p:nvSpPr>
          <p:cNvPr id="92" name="ocr-040"/>
          <p:cNvSpPr txBox="1"/>
          <p:nvPr/>
        </p:nvSpPr>
        <p:spPr>
          <a:xfrm>
            <a:off x="4304109" y="2744391"/>
            <a:ext cx="78581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·用户意图</a:t>
            </a:r>
            <a:endParaRPr lang="en-US" sz="850" dirty="0" spc="0"/>
          </a:p>
        </p:txBody>
      </p:sp>
      <p:sp>
        <p:nvSpPr>
          <p:cNvPr id="93" name="ocr-041"/>
          <p:cNvSpPr txBox="1"/>
          <p:nvPr/>
        </p:nvSpPr>
        <p:spPr>
          <a:xfrm>
            <a:off x="5322094" y="2744391"/>
            <a:ext cx="803672"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·紧急程度</a:t>
            </a:r>
            <a:endParaRPr lang="en-US" sz="850" dirty="0" spc="0"/>
          </a:p>
        </p:txBody>
      </p:sp>
      <p:sp>
        <p:nvSpPr>
          <p:cNvPr id="94" name="ocr-042"/>
          <p:cNvSpPr txBox="1"/>
          <p:nvPr/>
        </p:nvSpPr>
        <p:spPr>
          <a:xfrm>
            <a:off x="9155906" y="2690813"/>
            <a:ext cx="93464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·不同模型/工具</a:t>
            </a:r>
            <a:endParaRPr lang="en-US" sz="750" dirty="0" spc="0"/>
          </a:p>
        </p:txBody>
      </p:sp>
      <p:sp>
        <p:nvSpPr>
          <p:cNvPr id="95" name="ocr-043"/>
          <p:cNvSpPr txBox="1"/>
          <p:nvPr/>
        </p:nvSpPr>
        <p:spPr>
          <a:xfrm>
            <a:off x="10126266" y="2690813"/>
            <a:ext cx="91678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·结果正确性</a:t>
            </a:r>
            <a:endParaRPr lang="en-US" sz="750" dirty="0" spc="0"/>
          </a:p>
        </p:txBody>
      </p:sp>
      <p:sp>
        <p:nvSpPr>
          <p:cNvPr id="96" name="ocr-044"/>
          <p:cNvSpPr txBox="1"/>
          <p:nvPr/>
        </p:nvSpPr>
        <p:spPr>
          <a:xfrm>
            <a:off x="11102578" y="2684859"/>
            <a:ext cx="9167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·优先级管理</a:t>
            </a:r>
            <a:endParaRPr lang="en-US" sz="800" dirty="0" spc="0"/>
          </a:p>
        </p:txBody>
      </p:sp>
      <p:sp>
        <p:nvSpPr>
          <p:cNvPr id="97" name="ocr-045"/>
          <p:cNvSpPr txBox="1"/>
          <p:nvPr/>
        </p:nvSpPr>
        <p:spPr>
          <a:xfrm>
            <a:off x="833438" y="2893219"/>
            <a:ext cx="857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有效期管理</a:t>
            </a:r>
            <a:endParaRPr lang="en-US" sz="800" dirty="0" spc="0"/>
          </a:p>
        </p:txBody>
      </p:sp>
      <p:sp>
        <p:nvSpPr>
          <p:cNvPr id="98" name="ocr-046"/>
          <p:cNvSpPr txBox="1"/>
          <p:nvPr/>
        </p:nvSpPr>
        <p:spPr>
          <a:xfrm>
            <a:off x="2667000" y="2899172"/>
            <a:ext cx="1363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缓存/缓冲/一致性</a:t>
            </a:r>
            <a:endParaRPr lang="en-US" sz="850" dirty="0" spc="0"/>
          </a:p>
        </p:txBody>
      </p:sp>
      <p:sp>
        <p:nvSpPr>
          <p:cNvPr id="99" name="ocr-047"/>
          <p:cNvSpPr txBox="1"/>
          <p:nvPr/>
        </p:nvSpPr>
        <p:spPr>
          <a:xfrm>
            <a:off x="4310063" y="2899172"/>
            <a:ext cx="77985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·任务到达</a:t>
            </a:r>
            <a:endParaRPr lang="en-US" sz="850" dirty="0" spc="0"/>
          </a:p>
        </p:txBody>
      </p:sp>
      <p:sp>
        <p:nvSpPr>
          <p:cNvPr id="100" name="ocr-048"/>
          <p:cNvSpPr txBox="1"/>
          <p:nvPr/>
        </p:nvSpPr>
        <p:spPr>
          <a:xfrm>
            <a:off x="5316141" y="2887266"/>
            <a:ext cx="892969"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·收益/成本</a:t>
            </a:r>
            <a:endParaRPr lang="en-US" sz="1050" dirty="0" spc="0"/>
          </a:p>
        </p:txBody>
      </p:sp>
      <p:sp>
        <p:nvSpPr>
          <p:cNvPr id="101" name="ocr-049"/>
          <p:cNvSpPr txBox="1"/>
          <p:nvPr/>
        </p:nvSpPr>
        <p:spPr>
          <a:xfrm>
            <a:off x="7244953" y="2857500"/>
            <a:ext cx="92273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低价值、可延后</a:t>
            </a:r>
            <a:endParaRPr lang="en-US" sz="800" dirty="0" spc="0"/>
          </a:p>
        </p:txBody>
      </p:sp>
      <p:sp>
        <p:nvSpPr>
          <p:cNvPr id="102" name="ocr-050"/>
          <p:cNvSpPr txBox="1"/>
          <p:nvPr/>
        </p:nvSpPr>
        <p:spPr>
          <a:xfrm>
            <a:off x="8280797" y="2851547"/>
            <a:ext cx="839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·接续未完成</a:t>
            </a:r>
            <a:endParaRPr lang="en-US" sz="800" dirty="0" spc="0"/>
          </a:p>
        </p:txBody>
      </p:sp>
      <p:sp>
        <p:nvSpPr>
          <p:cNvPr id="103" name="ocr-051"/>
          <p:cNvSpPr txBox="1"/>
          <p:nvPr/>
        </p:nvSpPr>
        <p:spPr>
          <a:xfrm>
            <a:off x="9149953" y="2851547"/>
            <a:ext cx="105370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·按任务动态选择</a:t>
            </a:r>
            <a:endParaRPr lang="en-US" sz="800" dirty="0" spc="0"/>
          </a:p>
        </p:txBody>
      </p:sp>
      <p:sp>
        <p:nvSpPr>
          <p:cNvPr id="104" name="ocr-052"/>
          <p:cNvSpPr txBox="1"/>
          <p:nvPr/>
        </p:nvSpPr>
        <p:spPr>
          <a:xfrm>
            <a:off x="10239375" y="2857500"/>
            <a:ext cx="7560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一致性检查</a:t>
            </a:r>
            <a:endParaRPr lang="en-US" sz="750" dirty="0" spc="0"/>
          </a:p>
        </p:txBody>
      </p:sp>
      <p:sp>
        <p:nvSpPr>
          <p:cNvPr id="105" name="ocr-053"/>
          <p:cNvSpPr txBox="1"/>
          <p:nvPr/>
        </p:nvSpPr>
        <p:spPr>
          <a:xfrm>
            <a:off x="11108531" y="2857500"/>
            <a:ext cx="756047"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·避免打断</a:t>
            </a:r>
            <a:endParaRPr lang="en-US" sz="750" dirty="0" spc="0"/>
          </a:p>
        </p:txBody>
      </p:sp>
      <p:sp>
        <p:nvSpPr>
          <p:cNvPr id="106" name="ocr-054"/>
          <p:cNvSpPr txBox="1"/>
          <p:nvPr/>
        </p:nvSpPr>
        <p:spPr>
          <a:xfrm>
            <a:off x="7250906" y="2970609"/>
            <a:ext cx="5417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或不相关</a:t>
            </a:r>
            <a:endParaRPr lang="en-US" sz="750" dirty="0" spc="0"/>
          </a:p>
        </p:txBody>
      </p:sp>
      <p:sp>
        <p:nvSpPr>
          <p:cNvPr id="107" name="ocr-055"/>
          <p:cNvSpPr txBox="1"/>
          <p:nvPr/>
        </p:nvSpPr>
        <p:spPr>
          <a:xfrm>
            <a:off x="821531" y="3071813"/>
            <a:ext cx="1071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TTL/过期策略</a:t>
            </a:r>
            <a:endParaRPr lang="en-US" sz="800" dirty="0" spc="0"/>
          </a:p>
        </p:txBody>
      </p:sp>
      <p:sp>
        <p:nvSpPr>
          <p:cNvPr id="108" name="ocr-056"/>
          <p:cNvSpPr txBox="1"/>
          <p:nvPr/>
        </p:nvSpPr>
        <p:spPr>
          <a:xfrm>
            <a:off x="2655094" y="3071813"/>
            <a:ext cx="13989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Cache与状态一致性</a:t>
            </a:r>
            <a:endParaRPr lang="en-US" sz="800" dirty="0" spc="0"/>
          </a:p>
        </p:txBody>
      </p:sp>
      <p:sp>
        <p:nvSpPr>
          <p:cNvPr id="109" name="ocr-057"/>
          <p:cNvSpPr txBox="1"/>
          <p:nvPr/>
        </p:nvSpPr>
        <p:spPr>
          <a:xfrm>
            <a:off x="4304109" y="3065859"/>
            <a:ext cx="78581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·系统状态</a:t>
            </a:r>
            <a:endParaRPr lang="en-US" sz="850" dirty="0" spc="0"/>
          </a:p>
        </p:txBody>
      </p:sp>
      <p:sp>
        <p:nvSpPr>
          <p:cNvPr id="110" name="ocr-058"/>
          <p:cNvSpPr txBox="1"/>
          <p:nvPr/>
        </p:nvSpPr>
        <p:spPr>
          <a:xfrm>
            <a:off x="5316141" y="3065859"/>
            <a:ext cx="83343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·隐私风险</a:t>
            </a:r>
            <a:endParaRPr lang="en-US" sz="850" dirty="0" spc="0"/>
          </a:p>
        </p:txBody>
      </p:sp>
      <p:sp>
        <p:nvSpPr>
          <p:cNvPr id="111" name="ocr-059"/>
          <p:cNvSpPr txBox="1"/>
          <p:nvPr/>
        </p:nvSpPr>
        <p:spPr>
          <a:xfrm>
            <a:off x="8310563" y="3018234"/>
            <a:ext cx="7917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保留用户意图</a:t>
            </a:r>
            <a:endParaRPr lang="en-US" sz="800" dirty="0" spc="0"/>
          </a:p>
        </p:txBody>
      </p:sp>
      <p:sp>
        <p:nvSpPr>
          <p:cNvPr id="112" name="ocr-060"/>
          <p:cNvSpPr txBox="1"/>
          <p:nvPr/>
        </p:nvSpPr>
        <p:spPr>
          <a:xfrm>
            <a:off x="9138047" y="3024188"/>
            <a:ext cx="958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·保持状态一致</a:t>
            </a:r>
            <a:endParaRPr lang="en-US" sz="800" dirty="0" spc="0"/>
          </a:p>
        </p:txBody>
      </p:sp>
      <p:sp>
        <p:nvSpPr>
          <p:cNvPr id="113" name="ocr-061"/>
          <p:cNvSpPr txBox="1"/>
          <p:nvPr/>
        </p:nvSpPr>
        <p:spPr>
          <a:xfrm>
            <a:off x="10132219" y="3018234"/>
            <a:ext cx="92868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·可追溯与可解释</a:t>
            </a:r>
            <a:endParaRPr lang="en-US" sz="800" dirty="0" spc="0"/>
          </a:p>
        </p:txBody>
      </p:sp>
      <p:sp>
        <p:nvSpPr>
          <p:cNvPr id="114" name="ocr-062"/>
          <p:cNvSpPr txBox="1"/>
          <p:nvPr/>
        </p:nvSpPr>
        <p:spPr>
          <a:xfrm>
            <a:off x="11084719" y="3018234"/>
            <a:ext cx="10894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·平滑切换与恢复</a:t>
            </a:r>
            <a:endParaRPr lang="en-US" sz="800" dirty="0" spc="0"/>
          </a:p>
        </p:txBody>
      </p:sp>
      <p:sp>
        <p:nvSpPr>
          <p:cNvPr id="115" name="ocr-063"/>
          <p:cNvSpPr txBox="1"/>
          <p:nvPr/>
        </p:nvSpPr>
        <p:spPr>
          <a:xfrm>
            <a:off x="7203281" y="3119438"/>
            <a:ext cx="77985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抑制误唤醒</a:t>
            </a:r>
            <a:endParaRPr lang="en-US" sz="850" dirty="0" spc="0"/>
          </a:p>
        </p:txBody>
      </p:sp>
      <p:sp>
        <p:nvSpPr>
          <p:cNvPr id="116" name="ocr-064"/>
          <p:cNvSpPr txBox="1"/>
          <p:nvPr/>
        </p:nvSpPr>
        <p:spPr>
          <a:xfrm>
            <a:off x="7203281" y="3268266"/>
            <a:ext cx="102393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唤声过速与隐私保护</a:t>
            </a:r>
            <a:endParaRPr lang="en-US" sz="750" dirty="0" spc="0"/>
          </a:p>
        </p:txBody>
      </p:sp>
      <p:sp>
        <p:nvSpPr>
          <p:cNvPr id="117" name="ocr-065"/>
          <p:cNvSpPr txBox="1"/>
          <p:nvPr/>
        </p:nvSpPr>
        <p:spPr>
          <a:xfrm>
            <a:off x="726281" y="3577828"/>
            <a:ext cx="1113234"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Agent/应用层</a:t>
            </a:r>
            <a:endParaRPr lang="en-US" sz="1050" dirty="0" spc="0"/>
          </a:p>
        </p:txBody>
      </p:sp>
      <p:sp>
        <p:nvSpPr>
          <p:cNvPr id="118" name="ocr-066"/>
          <p:cNvSpPr txBox="1"/>
          <p:nvPr/>
        </p:nvSpPr>
        <p:spPr>
          <a:xfrm>
            <a:off x="2750344" y="3679031"/>
            <a:ext cx="115490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会话与任务管理</a:t>
            </a:r>
            <a:endParaRPr lang="en-US" sz="850" dirty="0" spc="0"/>
          </a:p>
        </p:txBody>
      </p:sp>
      <p:sp>
        <p:nvSpPr>
          <p:cNvPr id="119" name="ocr-067"/>
          <p:cNvSpPr txBox="1"/>
          <p:nvPr/>
        </p:nvSpPr>
        <p:spPr>
          <a:xfrm>
            <a:off x="5595938" y="3679031"/>
            <a:ext cx="146446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语义意图与进度跟踪</a:t>
            </a:r>
            <a:endParaRPr lang="en-US" sz="800" dirty="0" spc="0"/>
          </a:p>
        </p:txBody>
      </p:sp>
      <p:sp>
        <p:nvSpPr>
          <p:cNvPr id="120" name="ocr-068"/>
          <p:cNvSpPr txBox="1"/>
          <p:nvPr/>
        </p:nvSpPr>
        <p:spPr>
          <a:xfrm>
            <a:off x="8507016" y="3679031"/>
            <a:ext cx="146446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体验反馈与策略调整</a:t>
            </a:r>
            <a:endParaRPr lang="en-US" sz="800" dirty="0" spc="0"/>
          </a:p>
        </p:txBody>
      </p:sp>
      <p:sp>
        <p:nvSpPr>
          <p:cNvPr id="121" name="ocr-069"/>
          <p:cNvSpPr txBox="1"/>
          <p:nvPr/>
        </p:nvSpPr>
        <p:spPr>
          <a:xfrm>
            <a:off x="11007328" y="3637359"/>
            <a:ext cx="72032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体验反馈</a:t>
            </a:r>
            <a:endParaRPr lang="en-US" sz="1000" dirty="0" spc="0"/>
          </a:p>
        </p:txBody>
      </p:sp>
      <p:sp>
        <p:nvSpPr>
          <p:cNvPr id="122" name="ocr-070"/>
          <p:cNvSpPr txBox="1"/>
          <p:nvPr/>
        </p:nvSpPr>
        <p:spPr>
          <a:xfrm>
            <a:off x="732234" y="3774281"/>
            <a:ext cx="1345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用户目标、任务编排</a:t>
            </a:r>
            <a:endParaRPr lang="en-US" sz="800" dirty="0" spc="0"/>
          </a:p>
        </p:txBody>
      </p:sp>
      <p:sp>
        <p:nvSpPr>
          <p:cNvPr id="123" name="ocr-071"/>
          <p:cNvSpPr txBox="1"/>
          <p:nvPr/>
        </p:nvSpPr>
        <p:spPr>
          <a:xfrm>
            <a:off x="2756297" y="3827859"/>
            <a:ext cx="145851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（用户目标/工具使用）</a:t>
            </a:r>
            <a:endParaRPr lang="en-US" sz="800" dirty="0" spc="0"/>
          </a:p>
        </p:txBody>
      </p:sp>
      <p:sp>
        <p:nvSpPr>
          <p:cNvPr id="124" name="ocr-072"/>
          <p:cNvSpPr txBox="1"/>
          <p:nvPr/>
        </p:nvSpPr>
        <p:spPr>
          <a:xfrm>
            <a:off x="5613797" y="3827859"/>
            <a:ext cx="197048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（继续/切换/验证/保护体验）</a:t>
            </a:r>
            <a:endParaRPr lang="en-US" sz="750" dirty="0" spc="0"/>
          </a:p>
        </p:txBody>
      </p:sp>
      <p:sp>
        <p:nvSpPr>
          <p:cNvPr id="125" name="ocr-073"/>
          <p:cNvSpPr txBox="1"/>
          <p:nvPr/>
        </p:nvSpPr>
        <p:spPr>
          <a:xfrm>
            <a:off x="8507016" y="3821906"/>
            <a:ext cx="1559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（用户满意度/中断控制）</a:t>
            </a:r>
            <a:endParaRPr lang="en-US" sz="800" dirty="0" spc="0"/>
          </a:p>
        </p:txBody>
      </p:sp>
      <p:sp>
        <p:nvSpPr>
          <p:cNvPr id="126" name="ocr-074"/>
          <p:cNvSpPr txBox="1"/>
          <p:nvPr/>
        </p:nvSpPr>
        <p:spPr>
          <a:xfrm>
            <a:off x="11007328" y="3804047"/>
            <a:ext cx="97631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影响后续调度</a:t>
            </a:r>
            <a:endParaRPr lang="en-US" sz="800" dirty="0" spc="0"/>
          </a:p>
        </p:txBody>
      </p:sp>
      <p:sp>
        <p:nvSpPr>
          <p:cNvPr id="127" name="ocr-075"/>
          <p:cNvSpPr txBox="1"/>
          <p:nvPr/>
        </p:nvSpPr>
        <p:spPr>
          <a:xfrm>
            <a:off x="732234" y="3893344"/>
            <a:ext cx="762000"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与体验管理</a:t>
            </a:r>
            <a:endParaRPr lang="en-US" sz="950" dirty="0" spc="0"/>
          </a:p>
        </p:txBody>
      </p:sp>
      <p:sp>
        <p:nvSpPr>
          <p:cNvPr id="128" name="ocr-076"/>
          <p:cNvSpPr txBox="1"/>
          <p:nvPr/>
        </p:nvSpPr>
        <p:spPr>
          <a:xfrm>
            <a:off x="3512344" y="4024313"/>
            <a:ext cx="72032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调用/请求</a:t>
            </a:r>
            <a:endParaRPr lang="en-US" sz="950" dirty="0" spc="0"/>
          </a:p>
        </p:txBody>
      </p:sp>
      <p:sp>
        <p:nvSpPr>
          <p:cNvPr id="129" name="ocr-077"/>
          <p:cNvSpPr txBox="1"/>
          <p:nvPr/>
        </p:nvSpPr>
        <p:spPr>
          <a:xfrm>
            <a:off x="6661547" y="4042172"/>
            <a:ext cx="105965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状态与进度反馈</a:t>
            </a:r>
            <a:endParaRPr lang="en-US" sz="800" dirty="0" spc="0"/>
          </a:p>
        </p:txBody>
      </p:sp>
      <p:sp>
        <p:nvSpPr>
          <p:cNvPr id="130" name="ocr-078"/>
          <p:cNvSpPr txBox="1"/>
          <p:nvPr/>
        </p:nvSpPr>
        <p:spPr>
          <a:xfrm>
            <a:off x="9405938" y="4060031"/>
            <a:ext cx="13335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执行结果与状态更新</a:t>
            </a:r>
            <a:endParaRPr lang="en-US" sz="800" dirty="0" spc="0"/>
          </a:p>
        </p:txBody>
      </p:sp>
      <p:sp>
        <p:nvSpPr>
          <p:cNvPr id="131" name="ocr-079"/>
          <p:cNvSpPr txBox="1"/>
          <p:nvPr/>
        </p:nvSpPr>
        <p:spPr>
          <a:xfrm>
            <a:off x="3518297" y="4155281"/>
            <a:ext cx="904875"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任务与上下文</a:t>
            </a:r>
            <a:endParaRPr lang="en-US" sz="950" dirty="0" spc="0"/>
          </a:p>
        </p:txBody>
      </p:sp>
      <p:sp>
        <p:nvSpPr>
          <p:cNvPr id="132" name="ocr-080"/>
          <p:cNvSpPr txBox="1"/>
          <p:nvPr/>
        </p:nvSpPr>
        <p:spPr>
          <a:xfrm>
            <a:off x="6655594" y="4161234"/>
            <a:ext cx="9048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影响体验策略</a:t>
            </a:r>
            <a:endParaRPr lang="en-US" sz="800" dirty="0" spc="0"/>
          </a:p>
        </p:txBody>
      </p:sp>
      <p:sp>
        <p:nvSpPr>
          <p:cNvPr id="133" name="ocr-081"/>
          <p:cNvSpPr txBox="1"/>
          <p:nvPr/>
        </p:nvSpPr>
        <p:spPr>
          <a:xfrm>
            <a:off x="9394031" y="4179094"/>
            <a:ext cx="9048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影响后续决策</a:t>
            </a:r>
            <a:endParaRPr lang="en-US" sz="800" dirty="0" spc="0"/>
          </a:p>
        </p:txBody>
      </p:sp>
      <p:sp>
        <p:nvSpPr>
          <p:cNvPr id="134" name="ocr-082"/>
          <p:cNvSpPr txBox="1"/>
          <p:nvPr/>
        </p:nvSpPr>
        <p:spPr>
          <a:xfrm>
            <a:off x="738188" y="4286250"/>
            <a:ext cx="126206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Runtime / OS 层</a:t>
            </a:r>
            <a:endParaRPr lang="en-US" sz="850" dirty="0" spc="0"/>
          </a:p>
        </p:txBody>
      </p:sp>
      <p:sp>
        <p:nvSpPr>
          <p:cNvPr id="135" name="ocr-083"/>
          <p:cNvSpPr txBox="1"/>
          <p:nvPr/>
        </p:nvSpPr>
        <p:spPr>
          <a:xfrm>
            <a:off x="2750344" y="4363641"/>
            <a:ext cx="130373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状态生命用期管理</a:t>
            </a:r>
            <a:endParaRPr lang="en-US" sz="800" dirty="0" spc="0"/>
          </a:p>
        </p:txBody>
      </p:sp>
      <p:sp>
        <p:nvSpPr>
          <p:cNvPr id="136" name="ocr-084"/>
          <p:cNvSpPr txBox="1"/>
          <p:nvPr/>
        </p:nvSpPr>
        <p:spPr>
          <a:xfrm>
            <a:off x="5607844" y="4363641"/>
            <a:ext cx="1154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低功耗准入决策</a:t>
            </a:r>
            <a:endParaRPr lang="en-US" sz="800" dirty="0" spc="0"/>
          </a:p>
        </p:txBody>
      </p:sp>
      <p:sp>
        <p:nvSpPr>
          <p:cNvPr id="137" name="ocr-085"/>
          <p:cNvSpPr txBox="1"/>
          <p:nvPr/>
        </p:nvSpPr>
        <p:spPr>
          <a:xfrm>
            <a:off x="8536781" y="4375547"/>
            <a:ext cx="146446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任务调度与资源分配</a:t>
            </a:r>
            <a:endParaRPr lang="en-US" sz="750" dirty="0" spc="0"/>
          </a:p>
        </p:txBody>
      </p:sp>
      <p:sp>
        <p:nvSpPr>
          <p:cNvPr id="138" name="ocr-086"/>
          <p:cNvSpPr txBox="1"/>
          <p:nvPr/>
        </p:nvSpPr>
        <p:spPr>
          <a:xfrm>
            <a:off x="720328" y="4441031"/>
            <a:ext cx="121443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状态管理、调度与</a:t>
            </a:r>
            <a:endParaRPr lang="en-US" sz="950" dirty="0" spc="0"/>
          </a:p>
        </p:txBody>
      </p:sp>
      <p:sp>
        <p:nvSpPr>
          <p:cNvPr id="139" name="ocr-087"/>
          <p:cNvSpPr txBox="1"/>
          <p:nvPr/>
        </p:nvSpPr>
        <p:spPr>
          <a:xfrm>
            <a:off x="726281" y="4577953"/>
            <a:ext cx="62507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资源控制</a:t>
            </a:r>
            <a:endParaRPr lang="en-US" sz="850" dirty="0" spc="0"/>
          </a:p>
        </p:txBody>
      </p:sp>
      <p:sp>
        <p:nvSpPr>
          <p:cNvPr id="140" name="ocr-088"/>
          <p:cNvSpPr txBox="1"/>
          <p:nvPr/>
        </p:nvSpPr>
        <p:spPr>
          <a:xfrm>
            <a:off x="2756297" y="4530328"/>
            <a:ext cx="2238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（版本/来源/有效期/撤销/恢复）</a:t>
            </a:r>
            <a:endParaRPr lang="en-US" sz="800" dirty="0" spc="0"/>
          </a:p>
        </p:txBody>
      </p:sp>
      <p:sp>
        <p:nvSpPr>
          <p:cNvPr id="141" name="ocr-089"/>
          <p:cNvSpPr txBox="1"/>
          <p:nvPr/>
        </p:nvSpPr>
        <p:spPr>
          <a:xfrm>
            <a:off x="5619750" y="4530328"/>
            <a:ext cx="211931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（意图判断/唤醒控制/隐私保护）</a:t>
            </a:r>
            <a:endParaRPr lang="en-US" sz="800" dirty="0" spc="0"/>
          </a:p>
        </p:txBody>
      </p:sp>
      <p:sp>
        <p:nvSpPr>
          <p:cNvPr id="142" name="ocr-090"/>
          <p:cNvSpPr txBox="1"/>
          <p:nvPr/>
        </p:nvSpPr>
        <p:spPr>
          <a:xfrm>
            <a:off x="8530828" y="4530328"/>
            <a:ext cx="17323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（优先级/并发/资源隔离）</a:t>
            </a:r>
            <a:endParaRPr lang="en-US" sz="800" dirty="0" spc="0"/>
          </a:p>
        </p:txBody>
      </p:sp>
      <p:sp>
        <p:nvSpPr>
          <p:cNvPr id="143" name="ocr-091"/>
          <p:cNvSpPr txBox="1"/>
          <p:nvPr/>
        </p:nvSpPr>
        <p:spPr>
          <a:xfrm>
            <a:off x="3548063" y="4702969"/>
            <a:ext cx="857250"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下发执行计划</a:t>
            </a:r>
            <a:endParaRPr lang="en-US" sz="950" dirty="0" spc="0"/>
          </a:p>
        </p:txBody>
      </p:sp>
      <p:sp>
        <p:nvSpPr>
          <p:cNvPr id="144" name="ocr-092"/>
          <p:cNvSpPr txBox="1"/>
          <p:nvPr/>
        </p:nvSpPr>
        <p:spPr>
          <a:xfrm>
            <a:off x="6709172" y="4732734"/>
            <a:ext cx="13335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准入决策与执行请求</a:t>
            </a:r>
            <a:endParaRPr lang="en-US" sz="800" dirty="0" spc="0"/>
          </a:p>
        </p:txBody>
      </p:sp>
      <p:sp>
        <p:nvSpPr>
          <p:cNvPr id="145" name="ocr-093"/>
          <p:cNvSpPr txBox="1"/>
          <p:nvPr/>
        </p:nvSpPr>
        <p:spPr>
          <a:xfrm>
            <a:off x="3542109" y="4833938"/>
            <a:ext cx="111323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（算子与资源需求）</a:t>
            </a:r>
            <a:endParaRPr lang="en-US" sz="800" dirty="0" spc="0"/>
          </a:p>
        </p:txBody>
      </p:sp>
      <p:sp>
        <p:nvSpPr>
          <p:cNvPr id="146" name="ocr-094"/>
          <p:cNvSpPr txBox="1"/>
          <p:nvPr/>
        </p:nvSpPr>
        <p:spPr>
          <a:xfrm>
            <a:off x="6709172" y="4857750"/>
            <a:ext cx="1643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(唤醒/执行／保持低功耗）</a:t>
            </a:r>
            <a:endParaRPr lang="en-US" sz="800" dirty="0" spc="0"/>
          </a:p>
        </p:txBody>
      </p:sp>
      <p:sp>
        <p:nvSpPr>
          <p:cNvPr id="147" name="ocr-095"/>
          <p:cNvSpPr txBox="1"/>
          <p:nvPr/>
        </p:nvSpPr>
        <p:spPr>
          <a:xfrm>
            <a:off x="732234" y="4935141"/>
            <a:ext cx="111918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CPU/LLVM层</a:t>
            </a:r>
            <a:endParaRPr lang="en-US" sz="800" dirty="0" spc="0"/>
          </a:p>
        </p:txBody>
      </p:sp>
      <p:sp>
        <p:nvSpPr>
          <p:cNvPr id="148" name="ocr-096"/>
          <p:cNvSpPr txBox="1"/>
          <p:nvPr/>
        </p:nvSpPr>
        <p:spPr>
          <a:xfrm>
            <a:off x="2750344" y="5018484"/>
            <a:ext cx="12977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计算图优化与编译</a:t>
            </a:r>
            <a:endParaRPr lang="en-US" sz="800" dirty="0" spc="0"/>
          </a:p>
        </p:txBody>
      </p:sp>
      <p:sp>
        <p:nvSpPr>
          <p:cNvPr id="149" name="ocr-098"/>
          <p:cNvSpPr txBox="1"/>
          <p:nvPr/>
        </p:nvSpPr>
        <p:spPr>
          <a:xfrm>
            <a:off x="5613797" y="5018484"/>
            <a:ext cx="1006078"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执行计划生成</a:t>
            </a:r>
            <a:endParaRPr lang="en-US" sz="850" dirty="0" spc="0"/>
          </a:p>
        </p:txBody>
      </p:sp>
      <p:sp>
        <p:nvSpPr>
          <p:cNvPr id="150" name="ocr-099"/>
          <p:cNvSpPr txBox="1"/>
          <p:nvPr/>
        </p:nvSpPr>
        <p:spPr>
          <a:xfrm>
            <a:off x="8518922" y="5006578"/>
            <a:ext cx="83939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运行时监控</a:t>
            </a:r>
            <a:endParaRPr lang="en-US" sz="850" dirty="0" spc="0"/>
          </a:p>
        </p:txBody>
      </p:sp>
      <p:sp>
        <p:nvSpPr>
          <p:cNvPr id="151" name="ocr-100"/>
          <p:cNvSpPr txBox="1"/>
          <p:nvPr/>
        </p:nvSpPr>
        <p:spPr>
          <a:xfrm>
            <a:off x="726281" y="5089922"/>
            <a:ext cx="10358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图优化、编译与</a:t>
            </a:r>
            <a:endParaRPr lang="en-US" sz="800" dirty="0" spc="0"/>
          </a:p>
        </p:txBody>
      </p:sp>
      <p:sp>
        <p:nvSpPr>
          <p:cNvPr id="152" name="ocr-101"/>
          <p:cNvSpPr txBox="1"/>
          <p:nvPr/>
        </p:nvSpPr>
        <p:spPr>
          <a:xfrm>
            <a:off x="10995422" y="5054203"/>
            <a:ext cx="73223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反馈约束</a:t>
            </a:r>
            <a:endParaRPr lang="en-US" sz="1000" dirty="0" spc="0"/>
          </a:p>
        </p:txBody>
      </p:sp>
      <p:sp>
        <p:nvSpPr>
          <p:cNvPr id="153" name="ocr-102"/>
          <p:cNvSpPr txBox="1"/>
          <p:nvPr/>
        </p:nvSpPr>
        <p:spPr>
          <a:xfrm>
            <a:off x="2738438" y="5161359"/>
            <a:ext cx="1881188"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(融合 /内存规划／调度策路)</a:t>
            </a:r>
            <a:endParaRPr lang="en-US" sz="1000" dirty="0" spc="0"/>
          </a:p>
        </p:txBody>
      </p:sp>
      <p:sp>
        <p:nvSpPr>
          <p:cNvPr id="154" name="ocr-103"/>
          <p:cNvSpPr txBox="1"/>
          <p:nvPr/>
        </p:nvSpPr>
        <p:spPr>
          <a:xfrm>
            <a:off x="726281" y="5220891"/>
            <a:ext cx="613172"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执行计划</a:t>
            </a:r>
            <a:endParaRPr lang="en-US" sz="750" dirty="0" spc="0"/>
          </a:p>
        </p:txBody>
      </p:sp>
      <p:sp>
        <p:nvSpPr>
          <p:cNvPr id="155" name="ocr-104"/>
          <p:cNvSpPr txBox="1"/>
          <p:nvPr/>
        </p:nvSpPr>
        <p:spPr>
          <a:xfrm>
            <a:off x="5625703" y="5179219"/>
            <a:ext cx="2321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（算子调度/Kernel选择/内存复用）</a:t>
            </a:r>
            <a:endParaRPr lang="en-US" sz="800" dirty="0" spc="0"/>
          </a:p>
        </p:txBody>
      </p:sp>
      <p:sp>
        <p:nvSpPr>
          <p:cNvPr id="156" name="ocr-105"/>
          <p:cNvSpPr txBox="1"/>
          <p:nvPr/>
        </p:nvSpPr>
        <p:spPr>
          <a:xfrm>
            <a:off x="8524875" y="5173266"/>
            <a:ext cx="1559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（性能/能耗/错误处理）</a:t>
            </a:r>
            <a:endParaRPr lang="en-US" sz="800" dirty="0" spc="0"/>
          </a:p>
        </p:txBody>
      </p:sp>
      <p:sp>
        <p:nvSpPr>
          <p:cNvPr id="157" name="ocr-106"/>
          <p:cNvSpPr txBox="1"/>
          <p:nvPr/>
        </p:nvSpPr>
        <p:spPr>
          <a:xfrm>
            <a:off x="10995422" y="5220891"/>
            <a:ext cx="10417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影响编译与调度</a:t>
            </a:r>
            <a:endParaRPr lang="en-US" sz="800" dirty="0" spc="0"/>
          </a:p>
        </p:txBody>
      </p:sp>
      <p:sp>
        <p:nvSpPr>
          <p:cNvPr id="158" name="ocr-107"/>
          <p:cNvSpPr txBox="1"/>
          <p:nvPr/>
        </p:nvSpPr>
        <p:spPr>
          <a:xfrm>
            <a:off x="6828234" y="5405438"/>
            <a:ext cx="94059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执行状态与指标</a:t>
            </a:r>
            <a:endParaRPr lang="en-US" sz="750" dirty="0" spc="0"/>
          </a:p>
        </p:txBody>
      </p:sp>
      <p:sp>
        <p:nvSpPr>
          <p:cNvPr id="159" name="ocr-108"/>
          <p:cNvSpPr txBox="1"/>
          <p:nvPr/>
        </p:nvSpPr>
        <p:spPr>
          <a:xfrm>
            <a:off x="6828234" y="5524500"/>
            <a:ext cx="127396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（性能/能耗/完成度）</a:t>
            </a:r>
            <a:endParaRPr lang="en-US" sz="800" dirty="0" spc="0"/>
          </a:p>
        </p:txBody>
      </p:sp>
      <p:sp>
        <p:nvSpPr>
          <p:cNvPr id="160" name="ocr-109"/>
          <p:cNvSpPr txBox="1"/>
          <p:nvPr/>
        </p:nvSpPr>
        <p:spPr>
          <a:xfrm>
            <a:off x="738188" y="5589984"/>
            <a:ext cx="1619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GPU/NPU/DRAM层</a:t>
            </a:r>
            <a:endParaRPr lang="en-US" sz="800" dirty="0" spc="0"/>
          </a:p>
        </p:txBody>
      </p:sp>
      <p:sp>
        <p:nvSpPr>
          <p:cNvPr id="161" name="ocr-110"/>
          <p:cNvSpPr txBox="1"/>
          <p:nvPr/>
        </p:nvSpPr>
        <p:spPr>
          <a:xfrm>
            <a:off x="2768203" y="5643563"/>
            <a:ext cx="69651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计算执行</a:t>
            </a:r>
            <a:endParaRPr lang="en-US" sz="1000" dirty="0" spc="0"/>
          </a:p>
        </p:txBody>
      </p:sp>
      <p:sp>
        <p:nvSpPr>
          <p:cNvPr id="162" name="ocr-111"/>
          <p:cNvSpPr txBox="1"/>
          <p:nvPr/>
        </p:nvSpPr>
        <p:spPr>
          <a:xfrm>
            <a:off x="5607844" y="5661422"/>
            <a:ext cx="11608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内存与缓存管理</a:t>
            </a:r>
            <a:endParaRPr lang="en-US" sz="800" dirty="0" spc="0"/>
          </a:p>
        </p:txBody>
      </p:sp>
      <p:sp>
        <p:nvSpPr>
          <p:cNvPr id="163" name="ocr-112"/>
          <p:cNvSpPr txBox="1"/>
          <p:nvPr/>
        </p:nvSpPr>
        <p:spPr>
          <a:xfrm>
            <a:off x="8524875" y="5661422"/>
            <a:ext cx="113704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功耗与运行状态</a:t>
            </a:r>
            <a:endParaRPr lang="en-US" sz="850" dirty="0" spc="0"/>
          </a:p>
        </p:txBody>
      </p:sp>
      <p:sp>
        <p:nvSpPr>
          <p:cNvPr id="164" name="ocr-113"/>
          <p:cNvSpPr txBox="1"/>
          <p:nvPr/>
        </p:nvSpPr>
        <p:spPr>
          <a:xfrm>
            <a:off x="11001375" y="5667375"/>
            <a:ext cx="10417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运行状态反馈</a:t>
            </a:r>
            <a:endParaRPr lang="en-US" sz="850" dirty="0" spc="0"/>
          </a:p>
        </p:txBody>
      </p:sp>
      <p:sp>
        <p:nvSpPr>
          <p:cNvPr id="165" name="ocr-114"/>
          <p:cNvSpPr txBox="1"/>
          <p:nvPr/>
        </p:nvSpPr>
        <p:spPr>
          <a:xfrm>
            <a:off x="726281" y="5762625"/>
            <a:ext cx="1345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异构计算与内存资源</a:t>
            </a:r>
            <a:endParaRPr lang="en-US" sz="800" dirty="0" spc="0"/>
          </a:p>
        </p:txBody>
      </p:sp>
      <p:sp>
        <p:nvSpPr>
          <p:cNvPr id="166" name="ocr-115"/>
          <p:cNvSpPr txBox="1"/>
          <p:nvPr/>
        </p:nvSpPr>
        <p:spPr>
          <a:xfrm>
            <a:off x="2786063" y="5822156"/>
            <a:ext cx="18930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(GPU/NPU加速，算子执行)</a:t>
            </a:r>
            <a:endParaRPr lang="en-US" sz="800" dirty="0" spc="0"/>
          </a:p>
        </p:txBody>
      </p:sp>
      <p:sp>
        <p:nvSpPr>
          <p:cNvPr id="167" name="ocr-116"/>
          <p:cNvSpPr txBox="1"/>
          <p:nvPr/>
        </p:nvSpPr>
        <p:spPr>
          <a:xfrm>
            <a:off x="5625703" y="5822156"/>
            <a:ext cx="228004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(KVCache/中间产物/数据一致性）</a:t>
            </a:r>
            <a:endParaRPr lang="en-US" sz="800" dirty="0" spc="0"/>
          </a:p>
        </p:txBody>
      </p:sp>
      <p:sp>
        <p:nvSpPr>
          <p:cNvPr id="168" name="ocr-117"/>
          <p:cNvSpPr txBox="1"/>
          <p:nvPr/>
        </p:nvSpPr>
        <p:spPr>
          <a:xfrm>
            <a:off x="8536781" y="5822156"/>
            <a:ext cx="16966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（空闲/低功耗/唤醒事件）</a:t>
            </a:r>
            <a:endParaRPr lang="en-US" sz="800" dirty="0" spc="0"/>
          </a:p>
        </p:txBody>
      </p:sp>
      <p:sp>
        <p:nvSpPr>
          <p:cNvPr id="169" name="ocr-118"/>
          <p:cNvSpPr txBox="1"/>
          <p:nvPr/>
        </p:nvSpPr>
        <p:spPr>
          <a:xfrm>
            <a:off x="732234" y="5887641"/>
            <a:ext cx="3810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管理</a:t>
            </a:r>
            <a:endParaRPr lang="en-US" sz="800" dirty="0" spc="0"/>
          </a:p>
        </p:txBody>
      </p:sp>
      <p:sp>
        <p:nvSpPr>
          <p:cNvPr id="170" name="ocr-119"/>
          <p:cNvSpPr txBox="1"/>
          <p:nvPr/>
        </p:nvSpPr>
        <p:spPr>
          <a:xfrm>
            <a:off x="11013281" y="5834063"/>
            <a:ext cx="107156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影响低功耗准入</a:t>
            </a:r>
            <a:endParaRPr lang="en-US" sz="750" dirty="0" spc="0"/>
          </a:p>
        </p:txBody>
      </p:sp>
      <p:sp>
        <p:nvSpPr>
          <p:cNvPr id="171" name="ocr-120"/>
          <p:cNvSpPr txBox="1"/>
          <p:nvPr/>
        </p:nvSpPr>
        <p:spPr>
          <a:xfrm>
            <a:off x="541734" y="6173391"/>
            <a:ext cx="636984"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跨层协同</a:t>
            </a:r>
            <a:endParaRPr lang="en-US" sz="700" dirty="0" spc="0"/>
          </a:p>
        </p:txBody>
      </p:sp>
      <p:sp>
        <p:nvSpPr>
          <p:cNvPr id="172" name="ocr-121"/>
          <p:cNvSpPr txBox="1"/>
          <p:nvPr/>
        </p:nvSpPr>
        <p:spPr>
          <a:xfrm>
            <a:off x="1660922" y="6179344"/>
            <a:ext cx="744141"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控制/调用</a:t>
            </a:r>
            <a:endParaRPr lang="en-US" sz="700" dirty="0" spc="0"/>
          </a:p>
        </p:txBody>
      </p:sp>
      <p:sp>
        <p:nvSpPr>
          <p:cNvPr id="173" name="ocr-122"/>
          <p:cNvSpPr txBox="1"/>
          <p:nvPr/>
        </p:nvSpPr>
        <p:spPr>
          <a:xfrm>
            <a:off x="3339703" y="6173391"/>
            <a:ext cx="762000"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状态/数据</a:t>
            </a:r>
            <a:endParaRPr lang="en-US" sz="700" dirty="0" spc="0"/>
          </a:p>
        </p:txBody>
      </p:sp>
      <p:sp>
        <p:nvSpPr>
          <p:cNvPr id="174" name="ocr-123"/>
          <p:cNvSpPr txBox="1"/>
          <p:nvPr/>
        </p:nvSpPr>
        <p:spPr>
          <a:xfrm>
            <a:off x="5089922" y="6167438"/>
            <a:ext cx="714375"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反馈/约束</a:t>
            </a:r>
            <a:endParaRPr lang="en-US" sz="700" dirty="0" spc="0"/>
          </a:p>
        </p:txBody>
      </p:sp>
      <p:sp>
        <p:nvSpPr>
          <p:cNvPr id="175" name="ocr-124"/>
          <p:cNvSpPr txBox="1"/>
          <p:nvPr/>
        </p:nvSpPr>
        <p:spPr>
          <a:xfrm>
            <a:off x="7102078" y="6161484"/>
            <a:ext cx="613172"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协同设计</a:t>
            </a:r>
            <a:endParaRPr lang="en-US" sz="700" dirty="0" spc="0"/>
          </a:p>
        </p:txBody>
      </p:sp>
      <p:sp>
        <p:nvSpPr>
          <p:cNvPr id="176" name="ocr-125"/>
          <p:cNvSpPr txBox="1"/>
          <p:nvPr/>
        </p:nvSpPr>
        <p:spPr>
          <a:xfrm>
            <a:off x="8197453" y="6185297"/>
            <a:ext cx="1083469"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降低不必要的执行</a:t>
            </a:r>
            <a:endParaRPr lang="en-US" sz="700" dirty="0" spc="0"/>
          </a:p>
        </p:txBody>
      </p:sp>
      <p:sp>
        <p:nvSpPr>
          <p:cNvPr id="177" name="ocr-126"/>
          <p:cNvSpPr txBox="1"/>
          <p:nvPr/>
        </p:nvSpPr>
        <p:spPr>
          <a:xfrm>
            <a:off x="9548813" y="6191250"/>
            <a:ext cx="964406"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提升体验一致性</a:t>
            </a:r>
            <a:endParaRPr lang="en-US" sz="700" dirty="0" spc="0"/>
          </a:p>
        </p:txBody>
      </p:sp>
      <p:sp>
        <p:nvSpPr>
          <p:cNvPr id="178" name="ocr-127"/>
          <p:cNvSpPr txBox="1"/>
          <p:nvPr/>
        </p:nvSpPr>
        <p:spPr>
          <a:xfrm>
            <a:off x="11054953" y="6197203"/>
            <a:ext cx="797719"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优化资源使用</a:t>
            </a:r>
            <a:endParaRPr lang="en-US" sz="700" dirty="0" spc="0"/>
          </a:p>
        </p:txBody>
      </p:sp>
      <p:sp>
        <p:nvSpPr>
          <p:cNvPr id="179" name="ocr-128"/>
          <p:cNvSpPr txBox="1"/>
          <p:nvPr/>
        </p:nvSpPr>
        <p:spPr>
          <a:xfrm>
            <a:off x="547688" y="6322219"/>
            <a:ext cx="732234"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的关键关系</a:t>
            </a:r>
            <a:endParaRPr lang="en-US" sz="700" dirty="0" spc="0"/>
          </a:p>
        </p:txBody>
      </p:sp>
      <p:sp>
        <p:nvSpPr>
          <p:cNvPr id="180" name="ocr-129"/>
          <p:cNvSpPr txBox="1"/>
          <p:nvPr/>
        </p:nvSpPr>
        <p:spPr>
          <a:xfrm>
            <a:off x="1649016" y="6304359"/>
            <a:ext cx="1583531"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任务下发、策略控制、接口调用</a:t>
            </a:r>
            <a:endParaRPr lang="en-US" sz="700" dirty="0" spc="0"/>
          </a:p>
        </p:txBody>
      </p:sp>
      <p:sp>
        <p:nvSpPr>
          <p:cNvPr id="181" name="ocr-130"/>
          <p:cNvSpPr txBox="1"/>
          <p:nvPr/>
        </p:nvSpPr>
        <p:spPr>
          <a:xfrm>
            <a:off x="3345656" y="6328172"/>
            <a:ext cx="1595438"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上下文、模型、缓存、执行结果</a:t>
            </a:r>
            <a:endParaRPr lang="en-US" sz="700" dirty="0" spc="0"/>
          </a:p>
        </p:txBody>
      </p:sp>
      <p:sp>
        <p:nvSpPr>
          <p:cNvPr id="182" name="ocr-131"/>
          <p:cNvSpPr txBox="1"/>
          <p:nvPr/>
        </p:nvSpPr>
        <p:spPr>
          <a:xfrm>
            <a:off x="5095875" y="6322219"/>
            <a:ext cx="1940719"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执行状态、体验反馈、能耗与隐私约束</a:t>
            </a:r>
            <a:endParaRPr lang="en-US" sz="700" dirty="0" spc="0"/>
          </a:p>
        </p:txBody>
      </p:sp>
      <p:sp>
        <p:nvSpPr>
          <p:cNvPr id="183" name="ocr-132"/>
          <p:cNvSpPr txBox="1"/>
          <p:nvPr/>
        </p:nvSpPr>
        <p:spPr>
          <a:xfrm>
            <a:off x="7102078" y="6298406"/>
            <a:ext cx="500063"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173753"/>
                </a:solidFill>
                <a:latin typeface="Microsoft YaHei" pitchFamily="34" charset="0"/>
                <a:ea typeface="Microsoft YaHei" pitchFamily="34" charset="-122"/>
                <a:cs typeface="Microsoft YaHei" pitchFamily="34" charset="-120"/>
              </a:rPr>
              <a:t>的价值</a:t>
            </a:r>
            <a:endParaRPr lang="en-US" sz="700" dirty="0" spc="0"/>
          </a:p>
        </p:txBody>
      </p:sp>
      <p:sp>
        <p:nvSpPr>
          <p:cNvPr id="184" name="ocr-133"/>
          <p:cNvSpPr txBox="1"/>
          <p:nvPr/>
        </p:nvSpPr>
        <p:spPr>
          <a:xfrm>
            <a:off x="8209359" y="6334125"/>
            <a:ext cx="1279922"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避免无效唤醒与冗余计算</a:t>
            </a:r>
            <a:endParaRPr lang="en-US" sz="700" dirty="0" spc="0"/>
          </a:p>
        </p:txBody>
      </p:sp>
      <p:sp>
        <p:nvSpPr>
          <p:cNvPr id="185" name="ocr-134"/>
          <p:cNvSpPr txBox="1"/>
          <p:nvPr/>
        </p:nvSpPr>
        <p:spPr>
          <a:xfrm>
            <a:off x="9554766" y="6322219"/>
            <a:ext cx="1315641"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保持语义连续与系统稳定</a:t>
            </a:r>
            <a:endParaRPr lang="en-US" sz="700" dirty="0" spc="0"/>
          </a:p>
        </p:txBody>
      </p:sp>
      <p:sp>
        <p:nvSpPr>
          <p:cNvPr id="186" name="ocr-135"/>
          <p:cNvSpPr txBox="1"/>
          <p:nvPr/>
        </p:nvSpPr>
        <p:spPr>
          <a:xfrm>
            <a:off x="11049000" y="6328172"/>
            <a:ext cx="1125141" cy="12501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00" dirty="0" spc="0">
                <a:solidFill>
                  <a:srgbClr val="58738A"/>
                </a:solidFill>
                <a:latin typeface="Microsoft YaHei" pitchFamily="34" charset="0"/>
                <a:ea typeface="Microsoft YaHei" pitchFamily="34" charset="-122"/>
                <a:cs typeface="Microsoft YaHei" pitchFamily="34" charset="-120"/>
              </a:rPr>
              <a:t>以实际负载做动态决策</a:t>
            </a:r>
            <a:endParaRPr lang="en-US" sz="700" dirty="0" spc="0"/>
          </a:p>
        </p:txBody>
      </p:sp>
      <p:sp>
        <p:nvSpPr>
          <p:cNvPr id="187"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678656" y="1065609"/>
            <a:ext cx="8453438" cy="2577703"/>
          </a:xfrm>
          <a:prstGeom prst="roundRect">
            <a:avLst>
              <a:gd name="adj" fmla="val 3002"/>
            </a:avLst>
          </a:prstGeom>
          <a:solidFill>
            <a:srgbClr val="FFFFFF"/>
          </a:solidFill>
          <a:ln w="8930">
            <a:solidFill>
              <a:srgbClr val="BCD6EC"/>
            </a:solidFill>
            <a:prstDash val="solid"/>
          </a:ln>
        </p:spPr>
      </p:sp>
      <p:sp>
        <p:nvSpPr>
          <p:cNvPr id="3" name="panel-2"/>
          <p:cNvSpPr/>
          <p:nvPr/>
        </p:nvSpPr>
        <p:spPr>
          <a:xfrm>
            <a:off x="9286875" y="839391"/>
            <a:ext cx="2309813" cy="2411016"/>
          </a:xfrm>
          <a:prstGeom prst="roundRect">
            <a:avLst>
              <a:gd name="adj" fmla="val 3351"/>
            </a:avLst>
          </a:prstGeom>
          <a:solidFill>
            <a:srgbClr val="F7F9FD"/>
          </a:solidFill>
          <a:ln w="8930">
            <a:solidFill>
              <a:srgbClr val="BCD6EC"/>
            </a:solidFill>
            <a:prstDash val="solid"/>
          </a:ln>
        </p:spPr>
      </p:sp>
      <p:sp>
        <p:nvSpPr>
          <p:cNvPr id="4" name="panel-3"/>
          <p:cNvSpPr/>
          <p:nvPr/>
        </p:nvSpPr>
        <p:spPr>
          <a:xfrm>
            <a:off x="678656" y="3804047"/>
            <a:ext cx="10929938" cy="1029891"/>
          </a:xfrm>
          <a:prstGeom prst="roundRect">
            <a:avLst>
              <a:gd name="adj" fmla="val 7514"/>
            </a:avLst>
          </a:prstGeom>
          <a:solidFill>
            <a:srgbClr val="FFFFFF"/>
          </a:solidFill>
          <a:ln w="8930">
            <a:solidFill>
              <a:srgbClr val="BCD6EC"/>
            </a:solidFill>
            <a:prstDash val="solid"/>
          </a:ln>
        </p:spPr>
      </p:sp>
      <p:sp>
        <p:nvSpPr>
          <p:cNvPr id="5" name="panel-4"/>
          <p:cNvSpPr/>
          <p:nvPr/>
        </p:nvSpPr>
        <p:spPr>
          <a:xfrm>
            <a:off x="678656" y="4964906"/>
            <a:ext cx="10929938" cy="1041797"/>
          </a:xfrm>
          <a:prstGeom prst="roundRect">
            <a:avLst>
              <a:gd name="adj" fmla="val 7429"/>
            </a:avLst>
          </a:prstGeom>
          <a:solidFill>
            <a:srgbClr val="F7F9FD"/>
          </a:solidFill>
          <a:ln w="8930">
            <a:solidFill>
              <a:srgbClr val="BCD6EC"/>
            </a:solidFill>
            <a:prstDash val="solid"/>
          </a:ln>
        </p:spPr>
      </p:sp>
      <p:sp>
        <p:nvSpPr>
          <p:cNvPr id="6" name="detail-card-1"/>
          <p:cNvSpPr/>
          <p:nvPr/>
        </p:nvSpPr>
        <p:spPr>
          <a:xfrm>
            <a:off x="773906" y="1446609"/>
            <a:ext cx="2744391" cy="1577578"/>
          </a:xfrm>
          <a:prstGeom prst="roundRect">
            <a:avLst>
              <a:gd name="adj" fmla="val 4151"/>
            </a:avLst>
          </a:prstGeom>
          <a:solidFill>
            <a:srgbClr val="F7FBFF"/>
          </a:solidFill>
          <a:ln w="7144">
            <a:solidFill>
              <a:srgbClr val="C7E0F3"/>
            </a:solidFill>
            <a:prstDash val="solid"/>
          </a:ln>
        </p:spPr>
      </p:sp>
      <p:sp>
        <p:nvSpPr>
          <p:cNvPr id="7" name="detail-card-2"/>
          <p:cNvSpPr/>
          <p:nvPr/>
        </p:nvSpPr>
        <p:spPr>
          <a:xfrm>
            <a:off x="3714750" y="1446609"/>
            <a:ext cx="2655094" cy="1577578"/>
          </a:xfrm>
          <a:prstGeom prst="roundRect">
            <a:avLst>
              <a:gd name="adj" fmla="val 4151"/>
            </a:avLst>
          </a:prstGeom>
          <a:solidFill>
            <a:srgbClr val="F7FBFF"/>
          </a:solidFill>
          <a:ln w="7144">
            <a:solidFill>
              <a:srgbClr val="C7E0F3"/>
            </a:solidFill>
            <a:prstDash val="solid"/>
          </a:ln>
        </p:spPr>
      </p:sp>
      <p:sp>
        <p:nvSpPr>
          <p:cNvPr id="8" name="detail-card-3"/>
          <p:cNvSpPr/>
          <p:nvPr/>
        </p:nvSpPr>
        <p:spPr>
          <a:xfrm>
            <a:off x="6536531" y="1446609"/>
            <a:ext cx="2524125" cy="1577578"/>
          </a:xfrm>
          <a:prstGeom prst="roundRect">
            <a:avLst>
              <a:gd name="adj" fmla="val 4151"/>
            </a:avLst>
          </a:prstGeom>
          <a:solidFill>
            <a:srgbClr val="F7FBFF"/>
          </a:solidFill>
          <a:ln w="7144">
            <a:solidFill>
              <a:srgbClr val="C7E0F3"/>
            </a:solidFill>
            <a:prstDash val="solid"/>
          </a:ln>
        </p:spPr>
      </p:sp>
      <p:sp>
        <p:nvSpPr>
          <p:cNvPr id="9" name="detail-card-4"/>
          <p:cNvSpPr/>
          <p:nvPr/>
        </p:nvSpPr>
        <p:spPr>
          <a:xfrm>
            <a:off x="750094" y="4161234"/>
            <a:ext cx="1732359" cy="660797"/>
          </a:xfrm>
          <a:prstGeom prst="roundRect">
            <a:avLst>
              <a:gd name="adj" fmla="val 9910"/>
            </a:avLst>
          </a:prstGeom>
          <a:solidFill>
            <a:srgbClr val="F7FBFF"/>
          </a:solidFill>
          <a:ln w="7144">
            <a:solidFill>
              <a:srgbClr val="C7E0F3"/>
            </a:solidFill>
            <a:prstDash val="solid"/>
          </a:ln>
        </p:spPr>
      </p:sp>
      <p:sp>
        <p:nvSpPr>
          <p:cNvPr id="10" name="detail-card-5"/>
          <p:cNvSpPr/>
          <p:nvPr/>
        </p:nvSpPr>
        <p:spPr>
          <a:xfrm>
            <a:off x="2547938" y="4161234"/>
            <a:ext cx="1732359" cy="660797"/>
          </a:xfrm>
          <a:prstGeom prst="roundRect">
            <a:avLst>
              <a:gd name="adj" fmla="val 9910"/>
            </a:avLst>
          </a:prstGeom>
          <a:solidFill>
            <a:srgbClr val="F7FBFF"/>
          </a:solidFill>
          <a:ln w="7144">
            <a:solidFill>
              <a:srgbClr val="C7E0F3"/>
            </a:solidFill>
            <a:prstDash val="solid"/>
          </a:ln>
        </p:spPr>
      </p:sp>
      <p:sp>
        <p:nvSpPr>
          <p:cNvPr id="11" name="detail-card-6"/>
          <p:cNvSpPr/>
          <p:nvPr/>
        </p:nvSpPr>
        <p:spPr>
          <a:xfrm>
            <a:off x="4345781" y="4161234"/>
            <a:ext cx="1732359" cy="660797"/>
          </a:xfrm>
          <a:prstGeom prst="roundRect">
            <a:avLst>
              <a:gd name="adj" fmla="val 9910"/>
            </a:avLst>
          </a:prstGeom>
          <a:solidFill>
            <a:srgbClr val="F7FBFF"/>
          </a:solidFill>
          <a:ln w="7144">
            <a:solidFill>
              <a:srgbClr val="C7E0F3"/>
            </a:solidFill>
            <a:prstDash val="solid"/>
          </a:ln>
        </p:spPr>
      </p:sp>
      <p:sp>
        <p:nvSpPr>
          <p:cNvPr id="12" name="detail-card-7"/>
          <p:cNvSpPr/>
          <p:nvPr/>
        </p:nvSpPr>
        <p:spPr>
          <a:xfrm>
            <a:off x="6143625" y="4161234"/>
            <a:ext cx="1732359" cy="660797"/>
          </a:xfrm>
          <a:prstGeom prst="roundRect">
            <a:avLst>
              <a:gd name="adj" fmla="val 9910"/>
            </a:avLst>
          </a:prstGeom>
          <a:solidFill>
            <a:srgbClr val="F7FBFF"/>
          </a:solidFill>
          <a:ln w="7144">
            <a:solidFill>
              <a:srgbClr val="C7E0F3"/>
            </a:solidFill>
            <a:prstDash val="solid"/>
          </a:ln>
        </p:spPr>
      </p:sp>
      <p:sp>
        <p:nvSpPr>
          <p:cNvPr id="13" name="detail-card-8"/>
          <p:cNvSpPr/>
          <p:nvPr/>
        </p:nvSpPr>
        <p:spPr>
          <a:xfrm>
            <a:off x="7941469" y="4161234"/>
            <a:ext cx="1732359" cy="660797"/>
          </a:xfrm>
          <a:prstGeom prst="roundRect">
            <a:avLst>
              <a:gd name="adj" fmla="val 9910"/>
            </a:avLst>
          </a:prstGeom>
          <a:solidFill>
            <a:srgbClr val="F7FBFF"/>
          </a:solidFill>
          <a:ln w="7144">
            <a:solidFill>
              <a:srgbClr val="C7E0F3"/>
            </a:solidFill>
            <a:prstDash val="solid"/>
          </a:ln>
        </p:spPr>
      </p:sp>
      <p:sp>
        <p:nvSpPr>
          <p:cNvPr id="14" name="detail-card-9"/>
          <p:cNvSpPr/>
          <p:nvPr/>
        </p:nvSpPr>
        <p:spPr>
          <a:xfrm>
            <a:off x="9739313" y="4161234"/>
            <a:ext cx="1768078" cy="660797"/>
          </a:xfrm>
          <a:prstGeom prst="roundRect">
            <a:avLst>
              <a:gd name="adj" fmla="val 9910"/>
            </a:avLst>
          </a:prstGeom>
          <a:solidFill>
            <a:srgbClr val="F7FBFF"/>
          </a:solidFill>
          <a:ln w="7144">
            <a:solidFill>
              <a:srgbClr val="C7E0F3"/>
            </a:solidFill>
            <a:prstDash val="solid"/>
          </a:ln>
        </p:spPr>
      </p:sp>
      <p:sp>
        <p:nvSpPr>
          <p:cNvPr id="15" name="detail-card-10"/>
          <p:cNvSpPr/>
          <p:nvPr/>
        </p:nvSpPr>
        <p:spPr>
          <a:xfrm>
            <a:off x="750094" y="5298281"/>
            <a:ext cx="3518297" cy="654844"/>
          </a:xfrm>
          <a:prstGeom prst="roundRect">
            <a:avLst>
              <a:gd name="adj" fmla="val 10000"/>
            </a:avLst>
          </a:prstGeom>
          <a:solidFill>
            <a:srgbClr val="F7FBFF"/>
          </a:solidFill>
          <a:ln w="7144">
            <a:solidFill>
              <a:srgbClr val="C7E0F3"/>
            </a:solidFill>
            <a:prstDash val="solid"/>
          </a:ln>
        </p:spPr>
      </p:sp>
      <p:sp>
        <p:nvSpPr>
          <p:cNvPr id="16" name="detail-card-11"/>
          <p:cNvSpPr/>
          <p:nvPr/>
        </p:nvSpPr>
        <p:spPr>
          <a:xfrm>
            <a:off x="4339828" y="5298281"/>
            <a:ext cx="3518297" cy="654844"/>
          </a:xfrm>
          <a:prstGeom prst="roundRect">
            <a:avLst>
              <a:gd name="adj" fmla="val 10000"/>
            </a:avLst>
          </a:prstGeom>
          <a:solidFill>
            <a:srgbClr val="F7FBFF"/>
          </a:solidFill>
          <a:ln w="7144">
            <a:solidFill>
              <a:srgbClr val="C7E0F3"/>
            </a:solidFill>
            <a:prstDash val="solid"/>
          </a:ln>
        </p:spPr>
      </p:sp>
      <p:sp>
        <p:nvSpPr>
          <p:cNvPr id="17" name="detail-card-12"/>
          <p:cNvSpPr/>
          <p:nvPr/>
        </p:nvSpPr>
        <p:spPr>
          <a:xfrm>
            <a:off x="7929563" y="5298281"/>
            <a:ext cx="3577828" cy="654844"/>
          </a:xfrm>
          <a:prstGeom prst="roundRect">
            <a:avLst>
              <a:gd name="adj" fmla="val 10000"/>
            </a:avLst>
          </a:prstGeom>
          <a:solidFill>
            <a:srgbClr val="F7FBFF"/>
          </a:solidFill>
          <a:ln w="7144">
            <a:solidFill>
              <a:srgbClr val="C7E0F3"/>
            </a:solidFill>
            <a:prstDash val="solid"/>
          </a:ln>
        </p:spPr>
      </p:sp>
      <p:sp>
        <p:nvSpPr>
          <p:cNvPr id="18"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19"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20" name="blue-bar-1"/>
          <p:cNvSpPr/>
          <p:nvPr/>
        </p:nvSpPr>
        <p:spPr>
          <a:xfrm>
            <a:off x="9274969" y="392906"/>
            <a:ext cx="2327672" cy="386953"/>
          </a:xfrm>
          <a:prstGeom prst="roundRect">
            <a:avLst>
              <a:gd name="adj" fmla="val 12308"/>
            </a:avLst>
          </a:prstGeom>
          <a:solidFill>
            <a:srgbClr val="1769B1"/>
          </a:solidFill>
          <a:ln w="12700">
            <a:solidFill>
              <a:srgbClr val="FFFFFF">
                <a:alpha val="0"/>
              </a:srgbClr>
            </a:solidFill>
            <a:prstDash val="solid"/>
          </a:ln>
        </p:spPr>
      </p:sp>
      <p:sp>
        <p:nvSpPr>
          <p:cNvPr id="21" name="blue-bar-2"/>
          <p:cNvSpPr/>
          <p:nvPr/>
        </p:nvSpPr>
        <p:spPr>
          <a:xfrm>
            <a:off x="678656" y="1065609"/>
            <a:ext cx="8453438" cy="303609"/>
          </a:xfrm>
          <a:prstGeom prst="roundRect">
            <a:avLst>
              <a:gd name="adj" fmla="val 15686"/>
            </a:avLst>
          </a:prstGeom>
          <a:solidFill>
            <a:srgbClr val="1769B1"/>
          </a:solidFill>
          <a:ln w="12700">
            <a:solidFill>
              <a:srgbClr val="FFFFFF">
                <a:alpha val="0"/>
              </a:srgbClr>
            </a:solidFill>
            <a:prstDash val="solid"/>
          </a:ln>
        </p:spPr>
      </p:sp>
      <p:sp>
        <p:nvSpPr>
          <p:cNvPr id="22" name="blue-bar-3"/>
          <p:cNvSpPr/>
          <p:nvPr/>
        </p:nvSpPr>
        <p:spPr>
          <a:xfrm>
            <a:off x="678656" y="3839766"/>
            <a:ext cx="10929938" cy="279797"/>
          </a:xfrm>
          <a:prstGeom prst="roundRect">
            <a:avLst>
              <a:gd name="adj" fmla="val 17021"/>
            </a:avLst>
          </a:prstGeom>
          <a:solidFill>
            <a:srgbClr val="1769B1"/>
          </a:solidFill>
          <a:ln w="12700">
            <a:solidFill>
              <a:srgbClr val="FFFFFF">
                <a:alpha val="0"/>
              </a:srgbClr>
            </a:solidFill>
            <a:prstDash val="solid"/>
          </a:ln>
        </p:spPr>
      </p:sp>
      <p:sp>
        <p:nvSpPr>
          <p:cNvPr id="23" name="ocr-001"/>
          <p:cNvSpPr txBox="1"/>
          <p:nvPr/>
        </p:nvSpPr>
        <p:spPr>
          <a:xfrm>
            <a:off x="875109" y="392906"/>
            <a:ext cx="8846344" cy="285750"/>
          </a:xfrm>
          <a:prstGeom prst="rect">
            <a:avLst/>
          </a:prstGeom>
          <a:noFill/>
          <a:ln/>
        </p:spPr>
        <p:txBody>
          <a:bodyPr wrap="square" lIns="0" tIns="0" rIns="0" bIns="0" rtlCol="0" anchor="ctr">
            <a:noAutofit/>
          </a:bodyPr>
          <a:lstStyle/>
          <a:p>
            <a:pPr algn="l" indent="0" marL="0">
              <a:lnSpc>
                <a:spcPct val="100000"/>
              </a:lnSpc>
              <a:buNone/>
              <a:defRPr spc="0"/>
            </a:pPr>
            <a:r>
              <a:rPr lang="en-US" sz="1950" b="1" dirty="0" spc="0">
                <a:solidFill>
                  <a:srgbClr val="102C55"/>
                </a:solidFill>
                <a:latin typeface="Microsoft YaHei" pitchFamily="34" charset="0"/>
                <a:ea typeface="Microsoft YaHei" pitchFamily="34" charset="-122"/>
                <a:cs typeface="Microsoft YaHei" pitchFamily="34" charset="-120"/>
              </a:rPr>
              <a:t>新增能力应优先落在Runtime/OS、编译与工具链，而不是直接假设新硬件</a:t>
            </a:r>
            <a:endParaRPr lang="en-US" sz="1950" dirty="0" spc="0"/>
          </a:p>
        </p:txBody>
      </p:sp>
      <p:sp>
        <p:nvSpPr>
          <p:cNvPr id="24" name="ocr-002"/>
          <p:cNvSpPr txBox="1"/>
          <p:nvPr/>
        </p:nvSpPr>
        <p:spPr>
          <a:xfrm>
            <a:off x="9751219" y="458391"/>
            <a:ext cx="1053703" cy="250031"/>
          </a:xfrm>
          <a:prstGeom prst="rect">
            <a:avLst/>
          </a:prstGeom>
          <a:noFill/>
          <a:ln/>
        </p:spPr>
        <p:txBody>
          <a:bodyPr wrap="square" lIns="0" tIns="0" rIns="0" bIns="0" rtlCol="0" anchor="ctr">
            <a:noAutofit/>
          </a:bodyPr>
          <a:lstStyle/>
          <a:p>
            <a:pPr algn="l" indent="0" marL="0">
              <a:lnSpc>
                <a:spcPct val="100000"/>
              </a:lnSpc>
              <a:buNone/>
              <a:defRPr spc="0"/>
            </a:pPr>
            <a:r>
              <a:rPr lang="en-US" sz="1800" b="1" dirty="0" spc="0">
                <a:solidFill>
                  <a:srgbClr val="FFFFFF"/>
                </a:solidFill>
                <a:latin typeface="Microsoft YaHei" pitchFamily="34" charset="0"/>
                <a:ea typeface="Microsoft YaHei" pitchFamily="34" charset="-122"/>
                <a:cs typeface="Microsoft YaHei" pitchFamily="34" charset="-120"/>
              </a:rPr>
              <a:t>核心判断</a:t>
            </a:r>
            <a:endParaRPr lang="en-US" sz="1800" dirty="0" spc="0"/>
          </a:p>
        </p:txBody>
      </p:sp>
      <p:sp>
        <p:nvSpPr>
          <p:cNvPr id="25" name="ocr-003"/>
          <p:cNvSpPr txBox="1"/>
          <p:nvPr/>
        </p:nvSpPr>
        <p:spPr>
          <a:xfrm>
            <a:off x="869156" y="714375"/>
            <a:ext cx="5530453"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00" dirty="0" spc="0">
                <a:solidFill>
                  <a:srgbClr val="58738A"/>
                </a:solidFill>
                <a:latin typeface="Microsoft YaHei" pitchFamily="34" charset="0"/>
                <a:ea typeface="Microsoft YaHei" pitchFamily="34" charset="-122"/>
                <a:cs typeface="Microsoft YaHei" pitchFamily="34" charset="-120"/>
              </a:rPr>
              <a:t>先把可由软件工程落地的责任分清，再讨论硬件保留项。</a:t>
            </a:r>
            <a:endParaRPr lang="en-US" sz="1400" dirty="0" spc="0"/>
          </a:p>
        </p:txBody>
      </p:sp>
      <p:sp>
        <p:nvSpPr>
          <p:cNvPr id="26" name="ocr-004"/>
          <p:cNvSpPr txBox="1"/>
          <p:nvPr/>
        </p:nvSpPr>
        <p:spPr>
          <a:xfrm>
            <a:off x="9751219" y="922734"/>
            <a:ext cx="1095375"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dirty="0" spc="0">
                <a:solidFill>
                  <a:srgbClr val="58738A"/>
                </a:solidFill>
                <a:latin typeface="Microsoft YaHei" pitchFamily="34" charset="0"/>
                <a:ea typeface="Microsoft YaHei" pitchFamily="34" charset="-122"/>
                <a:cs typeface="Microsoft YaHei" pitchFamily="34" charset="-120"/>
              </a:rPr>
              <a:t>先做系统工程</a:t>
            </a:r>
            <a:endParaRPr lang="en-US" sz="1200" dirty="0" spc="0"/>
          </a:p>
        </p:txBody>
      </p:sp>
      <p:sp>
        <p:nvSpPr>
          <p:cNvPr id="27" name="ocr-005"/>
          <p:cNvSpPr txBox="1"/>
          <p:nvPr/>
        </p:nvSpPr>
        <p:spPr>
          <a:xfrm>
            <a:off x="1196578" y="1113234"/>
            <a:ext cx="3429000"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优先投入的软件能力三大工程支柱</a:t>
            </a:r>
            <a:endParaRPr lang="en-US" sz="1100" dirty="0" spc="0"/>
          </a:p>
        </p:txBody>
      </p:sp>
      <p:sp>
        <p:nvSpPr>
          <p:cNvPr id="28" name="ocr-006"/>
          <p:cNvSpPr txBox="1"/>
          <p:nvPr/>
        </p:nvSpPr>
        <p:spPr>
          <a:xfrm>
            <a:off x="4667250" y="1143000"/>
            <a:ext cx="505420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覆盖任务调度、执行优化与可信验证，构成可落地、可度量、可迭代的系统工程能力。</a:t>
            </a:r>
            <a:endParaRPr lang="en-US" sz="800" dirty="0" spc="0"/>
          </a:p>
        </p:txBody>
      </p:sp>
      <p:sp>
        <p:nvSpPr>
          <p:cNvPr id="29" name="ocr-007"/>
          <p:cNvSpPr txBox="1"/>
          <p:nvPr/>
        </p:nvSpPr>
        <p:spPr>
          <a:xfrm>
            <a:off x="9751219" y="1101328"/>
            <a:ext cx="2333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优先通过Runtime/OS、编译与工具链</a:t>
            </a:r>
            <a:endParaRPr lang="en-US" sz="800" dirty="0" spc="0"/>
          </a:p>
        </p:txBody>
      </p:sp>
      <p:sp>
        <p:nvSpPr>
          <p:cNvPr id="30" name="ocr-008"/>
          <p:cNvSpPr txBox="1"/>
          <p:nvPr/>
        </p:nvSpPr>
        <p:spPr>
          <a:xfrm>
            <a:off x="9757172" y="1262063"/>
            <a:ext cx="163710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解决可由软件落地的问题。</a:t>
            </a:r>
            <a:endParaRPr lang="en-US" sz="800" dirty="0" spc="0"/>
          </a:p>
        </p:txBody>
      </p:sp>
      <p:sp>
        <p:nvSpPr>
          <p:cNvPr id="31" name="ocr-009"/>
          <p:cNvSpPr txBox="1"/>
          <p:nvPr/>
        </p:nvSpPr>
        <p:spPr>
          <a:xfrm>
            <a:off x="1000125" y="1529953"/>
            <a:ext cx="333375"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01</a:t>
            </a:r>
            <a:endParaRPr lang="en-US" sz="950" dirty="0" spc="0"/>
          </a:p>
        </p:txBody>
      </p:sp>
      <p:sp>
        <p:nvSpPr>
          <p:cNvPr id="32" name="ocr-010"/>
          <p:cNvSpPr txBox="1"/>
          <p:nvPr/>
        </p:nvSpPr>
        <p:spPr>
          <a:xfrm>
            <a:off x="1428750" y="1512094"/>
            <a:ext cx="2458641"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Runtime/OS调度与QoE管理</a:t>
            </a:r>
            <a:endParaRPr lang="en-US" sz="1000" dirty="0" spc="0"/>
          </a:p>
        </p:txBody>
      </p:sp>
      <p:sp>
        <p:nvSpPr>
          <p:cNvPr id="33" name="ocr-011"/>
          <p:cNvSpPr txBox="1"/>
          <p:nvPr/>
        </p:nvSpPr>
        <p:spPr>
          <a:xfrm>
            <a:off x="3923109" y="1524000"/>
            <a:ext cx="351234"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02</a:t>
            </a:r>
            <a:endParaRPr lang="en-US" sz="1050" dirty="0" spc="0"/>
          </a:p>
        </p:txBody>
      </p:sp>
      <p:sp>
        <p:nvSpPr>
          <p:cNvPr id="34" name="ocr-012"/>
          <p:cNvSpPr txBox="1"/>
          <p:nvPr/>
        </p:nvSpPr>
        <p:spPr>
          <a:xfrm>
            <a:off x="4381500" y="1524000"/>
            <a:ext cx="226218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可信工具动作与结果核验</a:t>
            </a:r>
            <a:endParaRPr lang="en-US" sz="1000" dirty="0" spc="0"/>
          </a:p>
        </p:txBody>
      </p:sp>
      <p:sp>
        <p:nvSpPr>
          <p:cNvPr id="35" name="ocr-013"/>
          <p:cNvSpPr txBox="1"/>
          <p:nvPr/>
        </p:nvSpPr>
        <p:spPr>
          <a:xfrm>
            <a:off x="6738938" y="1524000"/>
            <a:ext cx="357188"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03</a:t>
            </a:r>
            <a:endParaRPr lang="en-US" sz="1000" dirty="0" spc="0"/>
          </a:p>
        </p:txBody>
      </p:sp>
      <p:sp>
        <p:nvSpPr>
          <p:cNvPr id="36" name="ocr-014"/>
          <p:cNvSpPr txBox="1"/>
          <p:nvPr/>
        </p:nvSpPr>
        <p:spPr>
          <a:xfrm>
            <a:off x="7191375" y="1524000"/>
            <a:ext cx="2143125"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编译/内核/运行库优化</a:t>
            </a:r>
            <a:endParaRPr lang="en-US" sz="1000" dirty="0" spc="0"/>
          </a:p>
        </p:txBody>
      </p:sp>
      <p:sp>
        <p:nvSpPr>
          <p:cNvPr id="37" name="ocr-015"/>
          <p:cNvSpPr txBox="1"/>
          <p:nvPr/>
        </p:nvSpPr>
        <p:spPr>
          <a:xfrm>
            <a:off x="9751219" y="1678781"/>
            <a:ext cx="182165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硬件是补位，不是起点</a:t>
            </a:r>
            <a:endParaRPr lang="en-US" sz="950" dirty="0" spc="0"/>
          </a:p>
        </p:txBody>
      </p:sp>
      <p:sp>
        <p:nvSpPr>
          <p:cNvPr id="38" name="ocr-016"/>
          <p:cNvSpPr txBox="1"/>
          <p:nvPr/>
        </p:nvSpPr>
        <p:spPr>
          <a:xfrm>
            <a:off x="1893094" y="1827609"/>
            <a:ext cx="188118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·面向多任务的统一资源调度</a:t>
            </a:r>
            <a:endParaRPr lang="en-US" sz="750" dirty="0" spc="0"/>
          </a:p>
        </p:txBody>
      </p:sp>
      <p:sp>
        <p:nvSpPr>
          <p:cNvPr id="39" name="ocr-017"/>
          <p:cNvSpPr txBox="1"/>
          <p:nvPr/>
        </p:nvSpPr>
        <p:spPr>
          <a:xfrm>
            <a:off x="4768453" y="1827609"/>
            <a:ext cx="1821656"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 工具调用的权限控制与审计</a:t>
            </a:r>
            <a:endParaRPr lang="en-US" sz="900" dirty="0" spc="0"/>
          </a:p>
        </p:txBody>
      </p:sp>
      <p:sp>
        <p:nvSpPr>
          <p:cNvPr id="40" name="ocr-018"/>
          <p:cNvSpPr txBox="1"/>
          <p:nvPr/>
        </p:nvSpPr>
        <p:spPr>
          <a:xfrm>
            <a:off x="7602141" y="1851422"/>
            <a:ext cx="154185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面向异构计算的编译优化</a:t>
            </a:r>
            <a:endParaRPr lang="en-US" sz="750" dirty="0" spc="0"/>
          </a:p>
        </p:txBody>
      </p:sp>
      <p:sp>
        <p:nvSpPr>
          <p:cNvPr id="41" name="ocr-019"/>
          <p:cNvSpPr txBox="1"/>
          <p:nvPr/>
        </p:nvSpPr>
        <p:spPr>
          <a:xfrm>
            <a:off x="9763125" y="1893094"/>
            <a:ext cx="2143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只有在软件方案无法满足目标时，</a:t>
            </a:r>
            <a:endParaRPr lang="en-US" sz="800" dirty="0" spc="0"/>
          </a:p>
        </p:txBody>
      </p:sp>
      <p:sp>
        <p:nvSpPr>
          <p:cNvPr id="42" name="ocr-020"/>
          <p:cNvSpPr txBox="1"/>
          <p:nvPr/>
        </p:nvSpPr>
        <p:spPr>
          <a:xfrm>
            <a:off x="1899047" y="2006203"/>
            <a:ext cx="20419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·内存/带宽/计算的协同分配</a:t>
            </a:r>
            <a:endParaRPr lang="en-US" sz="800" dirty="0" spc="0"/>
          </a:p>
        </p:txBody>
      </p:sp>
      <p:sp>
        <p:nvSpPr>
          <p:cNvPr id="43" name="ocr-021"/>
          <p:cNvSpPr txBox="1"/>
          <p:nvPr/>
        </p:nvSpPr>
        <p:spPr>
          <a:xfrm>
            <a:off x="4726781" y="2006203"/>
            <a:ext cx="1619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·动作与结果的可验证性</a:t>
            </a:r>
            <a:endParaRPr lang="en-US" sz="800" dirty="0" spc="0"/>
          </a:p>
        </p:txBody>
      </p:sp>
      <p:sp>
        <p:nvSpPr>
          <p:cNvPr id="44" name="ocr-022"/>
          <p:cNvSpPr txBox="1"/>
          <p:nvPr/>
        </p:nvSpPr>
        <p:spPr>
          <a:xfrm>
            <a:off x="6941344" y="2059781"/>
            <a:ext cx="398859"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&lt;/&gt;</a:t>
            </a:r>
            <a:endParaRPr lang="en-US" sz="1000" dirty="0" spc="0"/>
          </a:p>
        </p:txBody>
      </p:sp>
      <p:sp>
        <p:nvSpPr>
          <p:cNvPr id="45" name="ocr-023"/>
          <p:cNvSpPr txBox="1"/>
          <p:nvPr/>
        </p:nvSpPr>
        <p:spPr>
          <a:xfrm>
            <a:off x="7602141" y="2012156"/>
            <a:ext cx="19526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内核与运行库的算子与内存优化</a:t>
            </a:r>
            <a:endParaRPr lang="en-US" sz="800" dirty="0" spc="0"/>
          </a:p>
        </p:txBody>
      </p:sp>
      <p:sp>
        <p:nvSpPr>
          <p:cNvPr id="46" name="ocr-024"/>
          <p:cNvSpPr txBox="1"/>
          <p:nvPr/>
        </p:nvSpPr>
        <p:spPr>
          <a:xfrm>
            <a:off x="9757172" y="2065734"/>
            <a:ext cx="142279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才考虑新增硬件接口。</a:t>
            </a:r>
            <a:endParaRPr lang="en-US" sz="800" dirty="0" spc="0"/>
          </a:p>
        </p:txBody>
      </p:sp>
      <p:sp>
        <p:nvSpPr>
          <p:cNvPr id="47" name="ocr-025"/>
          <p:cNvSpPr txBox="1"/>
          <p:nvPr/>
        </p:nvSpPr>
        <p:spPr>
          <a:xfrm>
            <a:off x="1905000" y="2178844"/>
            <a:ext cx="17799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·QoS保证与用户体验优先</a:t>
            </a:r>
            <a:endParaRPr lang="en-US" sz="800" dirty="0" spc="0"/>
          </a:p>
        </p:txBody>
      </p:sp>
      <p:sp>
        <p:nvSpPr>
          <p:cNvPr id="48" name="ocr-026"/>
          <p:cNvSpPr txBox="1"/>
          <p:nvPr/>
        </p:nvSpPr>
        <p:spPr>
          <a:xfrm>
            <a:off x="4768453" y="2172891"/>
            <a:ext cx="1857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 不可复现风险的检测与阻断</a:t>
            </a:r>
            <a:endParaRPr lang="en-US" sz="800" dirty="0" spc="0"/>
          </a:p>
        </p:txBody>
      </p:sp>
      <p:sp>
        <p:nvSpPr>
          <p:cNvPr id="49" name="ocr-027"/>
          <p:cNvSpPr txBox="1"/>
          <p:nvPr/>
        </p:nvSpPr>
        <p:spPr>
          <a:xfrm>
            <a:off x="7608094" y="2184797"/>
            <a:ext cx="174426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自动化的图优化与算子融合</a:t>
            </a:r>
            <a:endParaRPr lang="en-US" sz="750" dirty="0" spc="0"/>
          </a:p>
        </p:txBody>
      </p:sp>
      <p:sp>
        <p:nvSpPr>
          <p:cNvPr id="50" name="ocr-028"/>
          <p:cNvSpPr txBox="1"/>
          <p:nvPr/>
        </p:nvSpPr>
        <p:spPr>
          <a:xfrm>
            <a:off x="1952625" y="2357438"/>
            <a:ext cx="167878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应对动态负载与场景变化</a:t>
            </a:r>
            <a:endParaRPr lang="en-US" sz="750" dirty="0" spc="0"/>
          </a:p>
        </p:txBody>
      </p:sp>
      <p:sp>
        <p:nvSpPr>
          <p:cNvPr id="51" name="ocr-029"/>
          <p:cNvSpPr txBox="1"/>
          <p:nvPr/>
        </p:nvSpPr>
        <p:spPr>
          <a:xfrm>
            <a:off x="4768453" y="2339578"/>
            <a:ext cx="1839516"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支持回滚、重试与人工介入</a:t>
            </a:r>
            <a:endParaRPr lang="en-US" sz="900" dirty="0" spc="0"/>
          </a:p>
        </p:txBody>
      </p:sp>
      <p:sp>
        <p:nvSpPr>
          <p:cNvPr id="52" name="ocr-030"/>
          <p:cNvSpPr txBox="1"/>
          <p:nvPr/>
        </p:nvSpPr>
        <p:spPr>
          <a:xfrm>
            <a:off x="7608094" y="2357438"/>
            <a:ext cx="177403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面向不同硬件的可移植实现</a:t>
            </a:r>
            <a:endParaRPr lang="en-US" sz="750" dirty="0" spc="0"/>
          </a:p>
        </p:txBody>
      </p:sp>
      <p:sp>
        <p:nvSpPr>
          <p:cNvPr id="53" name="ocr-032"/>
          <p:cNvSpPr txBox="1"/>
          <p:nvPr/>
        </p:nvSpPr>
        <p:spPr>
          <a:xfrm>
            <a:off x="9763125" y="2518172"/>
            <a:ext cx="1833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工程责任需要分层归属</a:t>
            </a:r>
            <a:endParaRPr lang="en-US" sz="800" dirty="0" spc="0"/>
          </a:p>
        </p:txBody>
      </p:sp>
      <p:sp>
        <p:nvSpPr>
          <p:cNvPr id="54" name="ocr-033"/>
          <p:cNvSpPr txBox="1"/>
          <p:nvPr/>
        </p:nvSpPr>
        <p:spPr>
          <a:xfrm>
            <a:off x="1041797" y="2720578"/>
            <a:ext cx="78581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更高的资源利用率</a:t>
            </a:r>
            <a:endParaRPr lang="en-US" sz="750" dirty="0" spc="0"/>
          </a:p>
        </p:txBody>
      </p:sp>
      <p:sp>
        <p:nvSpPr>
          <p:cNvPr id="55" name="ocr-034"/>
          <p:cNvSpPr txBox="1"/>
          <p:nvPr/>
        </p:nvSpPr>
        <p:spPr>
          <a:xfrm>
            <a:off x="1863328" y="2720578"/>
            <a:ext cx="78581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更稳定的交互体验</a:t>
            </a:r>
            <a:endParaRPr lang="en-US" sz="750" dirty="0" spc="0"/>
          </a:p>
        </p:txBody>
      </p:sp>
      <p:sp>
        <p:nvSpPr>
          <p:cNvPr id="56" name="ocr-035"/>
          <p:cNvSpPr txBox="1"/>
          <p:nvPr/>
        </p:nvSpPr>
        <p:spPr>
          <a:xfrm>
            <a:off x="2684859" y="2720578"/>
            <a:ext cx="93464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可预测的性能表现</a:t>
            </a:r>
            <a:endParaRPr lang="en-US" sz="750" dirty="0" spc="0"/>
          </a:p>
        </p:txBody>
      </p:sp>
      <p:sp>
        <p:nvSpPr>
          <p:cNvPr id="57" name="ocr-036"/>
          <p:cNvSpPr txBox="1"/>
          <p:nvPr/>
        </p:nvSpPr>
        <p:spPr>
          <a:xfrm>
            <a:off x="3881438" y="2720578"/>
            <a:ext cx="77985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可迫潮的执行链路</a:t>
            </a:r>
            <a:endParaRPr lang="en-US" sz="750" dirty="0" spc="0"/>
          </a:p>
        </p:txBody>
      </p:sp>
      <p:sp>
        <p:nvSpPr>
          <p:cNvPr id="58" name="ocr-037"/>
          <p:cNvSpPr txBox="1"/>
          <p:nvPr/>
        </p:nvSpPr>
        <p:spPr>
          <a:xfrm>
            <a:off x="4697016" y="2720578"/>
            <a:ext cx="82153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更高的系统可靠性</a:t>
            </a:r>
            <a:endParaRPr lang="en-US" sz="750" dirty="0" spc="0"/>
          </a:p>
        </p:txBody>
      </p:sp>
      <p:sp>
        <p:nvSpPr>
          <p:cNvPr id="59" name="ocr-038"/>
          <p:cNvSpPr txBox="1"/>
          <p:nvPr/>
        </p:nvSpPr>
        <p:spPr>
          <a:xfrm>
            <a:off x="5548313" y="2720578"/>
            <a:ext cx="83343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降低课用与风险</a:t>
            </a:r>
            <a:endParaRPr lang="en-US" sz="750" dirty="0" spc="0"/>
          </a:p>
        </p:txBody>
      </p:sp>
      <p:sp>
        <p:nvSpPr>
          <p:cNvPr id="60" name="ocr-039"/>
          <p:cNvSpPr txBox="1"/>
          <p:nvPr/>
        </p:nvSpPr>
        <p:spPr>
          <a:xfrm>
            <a:off x="6721078" y="2702719"/>
            <a:ext cx="73223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更低的执行开销</a:t>
            </a:r>
            <a:endParaRPr lang="en-US" sz="800" dirty="0" spc="0"/>
          </a:p>
        </p:txBody>
      </p:sp>
      <p:sp>
        <p:nvSpPr>
          <p:cNvPr id="61" name="ocr-040"/>
          <p:cNvSpPr txBox="1"/>
          <p:nvPr/>
        </p:nvSpPr>
        <p:spPr>
          <a:xfrm>
            <a:off x="7489031" y="2720578"/>
            <a:ext cx="79771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更好的跨平台适配</a:t>
            </a:r>
            <a:endParaRPr lang="en-US" sz="750" dirty="0" spc="0"/>
          </a:p>
        </p:txBody>
      </p:sp>
      <p:sp>
        <p:nvSpPr>
          <p:cNvPr id="62" name="ocr-041"/>
          <p:cNvSpPr txBox="1"/>
          <p:nvPr/>
        </p:nvSpPr>
        <p:spPr>
          <a:xfrm>
            <a:off x="8328422" y="2708672"/>
            <a:ext cx="84534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更强的性能上限</a:t>
            </a:r>
            <a:endParaRPr lang="en-US" sz="800" dirty="0" spc="0"/>
          </a:p>
        </p:txBody>
      </p:sp>
      <p:sp>
        <p:nvSpPr>
          <p:cNvPr id="63" name="ocr-042"/>
          <p:cNvSpPr txBox="1"/>
          <p:nvPr/>
        </p:nvSpPr>
        <p:spPr>
          <a:xfrm>
            <a:off x="9763125" y="2720578"/>
            <a:ext cx="228004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应用、框架、Runtime/OS、编译器、</a:t>
            </a:r>
            <a:endParaRPr lang="en-US" sz="800" dirty="0" spc="0"/>
          </a:p>
        </p:txBody>
      </p:sp>
      <p:sp>
        <p:nvSpPr>
          <p:cNvPr id="64" name="ocr-043"/>
          <p:cNvSpPr txBox="1"/>
          <p:nvPr/>
        </p:nvSpPr>
        <p:spPr>
          <a:xfrm>
            <a:off x="9763125" y="2881313"/>
            <a:ext cx="2280047"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平台各层承担明确责任，形成闭环。</a:t>
            </a:r>
            <a:endParaRPr lang="en-US" sz="800" dirty="0" spc="0"/>
          </a:p>
        </p:txBody>
      </p:sp>
      <p:sp>
        <p:nvSpPr>
          <p:cNvPr id="65" name="ocr-044"/>
          <p:cNvSpPr txBox="1"/>
          <p:nvPr/>
        </p:nvSpPr>
        <p:spPr>
          <a:xfrm>
            <a:off x="4202906" y="3315891"/>
            <a:ext cx="233957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软件工程能力优先覆盖范围</a:t>
            </a:r>
            <a:endParaRPr lang="en-US" sz="950" dirty="0" spc="0"/>
          </a:p>
        </p:txBody>
      </p:sp>
      <p:sp>
        <p:nvSpPr>
          <p:cNvPr id="66" name="ocr-045"/>
          <p:cNvSpPr txBox="1"/>
          <p:nvPr/>
        </p:nvSpPr>
        <p:spPr>
          <a:xfrm>
            <a:off x="3679031" y="3530203"/>
            <a:ext cx="38695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在不新增硬件的前提下，最大化系统性能、可靠性与用户体验</a:t>
            </a:r>
            <a:endParaRPr lang="en-US" sz="800" dirty="0" spc="0"/>
          </a:p>
        </p:txBody>
      </p:sp>
      <p:sp>
        <p:nvSpPr>
          <p:cNvPr id="67" name="ocr-046"/>
          <p:cNvSpPr txBox="1"/>
          <p:nvPr/>
        </p:nvSpPr>
        <p:spPr>
          <a:xfrm>
            <a:off x="1154906" y="3869531"/>
            <a:ext cx="3178969"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FFFFFF"/>
                </a:solidFill>
                <a:latin typeface="Microsoft YaHei" pitchFamily="34" charset="0"/>
                <a:ea typeface="Microsoft YaHei" pitchFamily="34" charset="-122"/>
                <a:cs typeface="Microsoft YaHei" pitchFamily="34" charset="-120"/>
              </a:rPr>
              <a:t>关键支撑能力 (贯穿三大工程支柱）</a:t>
            </a:r>
            <a:endParaRPr lang="en-US" sz="1150" dirty="0" spc="0"/>
          </a:p>
        </p:txBody>
      </p:sp>
      <p:sp>
        <p:nvSpPr>
          <p:cNvPr id="68" name="ocr-047"/>
          <p:cNvSpPr txBox="1"/>
          <p:nvPr/>
        </p:nvSpPr>
        <p:spPr>
          <a:xfrm>
            <a:off x="7762875" y="3893344"/>
            <a:ext cx="44112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这些能力为三大工程支柱提供通用支撑，在不同层级协同发挥作用。</a:t>
            </a:r>
            <a:endParaRPr lang="en-US" sz="800" dirty="0" spc="0"/>
          </a:p>
        </p:txBody>
      </p:sp>
      <p:sp>
        <p:nvSpPr>
          <p:cNvPr id="69" name="ocr-048"/>
          <p:cNvSpPr txBox="1"/>
          <p:nvPr/>
        </p:nvSpPr>
        <p:spPr>
          <a:xfrm>
            <a:off x="1375172" y="4226719"/>
            <a:ext cx="720328"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状态接口</a:t>
            </a:r>
            <a:endParaRPr lang="en-US" sz="1000" dirty="0" spc="0"/>
          </a:p>
        </p:txBody>
      </p:sp>
      <p:sp>
        <p:nvSpPr>
          <p:cNvPr id="70" name="ocr-049"/>
          <p:cNvSpPr txBox="1"/>
          <p:nvPr/>
        </p:nvSpPr>
        <p:spPr>
          <a:xfrm>
            <a:off x="3173016" y="4220766"/>
            <a:ext cx="87510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观测/遥测</a:t>
            </a:r>
            <a:endParaRPr lang="en-US" sz="1100" dirty="0" spc="0"/>
          </a:p>
        </p:txBody>
      </p:sp>
      <p:sp>
        <p:nvSpPr>
          <p:cNvPr id="71" name="ocr-050"/>
          <p:cNvSpPr txBox="1"/>
          <p:nvPr/>
        </p:nvSpPr>
        <p:spPr>
          <a:xfrm>
            <a:off x="4982766" y="4238625"/>
            <a:ext cx="88106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跨引擎放置</a:t>
            </a:r>
            <a:endParaRPr lang="en-US" sz="850" dirty="0" spc="0"/>
          </a:p>
        </p:txBody>
      </p:sp>
      <p:sp>
        <p:nvSpPr>
          <p:cNvPr id="72" name="ocr-051"/>
          <p:cNvSpPr txBox="1"/>
          <p:nvPr/>
        </p:nvSpPr>
        <p:spPr>
          <a:xfrm>
            <a:off x="6721078" y="4238625"/>
            <a:ext cx="120253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fallback与恢复</a:t>
            </a:r>
            <a:endParaRPr lang="en-US" sz="850" dirty="0" spc="0"/>
          </a:p>
        </p:txBody>
      </p:sp>
      <p:sp>
        <p:nvSpPr>
          <p:cNvPr id="73" name="ocr-052"/>
          <p:cNvSpPr txBox="1"/>
          <p:nvPr/>
        </p:nvSpPr>
        <p:spPr>
          <a:xfrm>
            <a:off x="8453438" y="4238625"/>
            <a:ext cx="1184672"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唤醒与能耗政策</a:t>
            </a:r>
            <a:endParaRPr lang="en-US" sz="850" dirty="0" spc="0"/>
          </a:p>
        </p:txBody>
      </p:sp>
      <p:sp>
        <p:nvSpPr>
          <p:cNvPr id="74" name="ocr-053"/>
          <p:cNvSpPr txBox="1"/>
          <p:nvPr/>
        </p:nvSpPr>
        <p:spPr>
          <a:xfrm>
            <a:off x="10292953" y="4232672"/>
            <a:ext cx="11727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权限与安全约束</a:t>
            </a:r>
            <a:endParaRPr lang="en-US" sz="850" dirty="0" spc="0"/>
          </a:p>
        </p:txBody>
      </p:sp>
      <p:sp>
        <p:nvSpPr>
          <p:cNvPr id="75" name="ocr-054"/>
          <p:cNvSpPr txBox="1"/>
          <p:nvPr/>
        </p:nvSpPr>
        <p:spPr>
          <a:xfrm>
            <a:off x="1381125" y="4417219"/>
            <a:ext cx="133945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暴露必要的系统状态</a:t>
            </a:r>
            <a:endParaRPr lang="en-US" sz="950" dirty="0" spc="0"/>
          </a:p>
        </p:txBody>
      </p:sp>
      <p:sp>
        <p:nvSpPr>
          <p:cNvPr id="76" name="ocr-055"/>
          <p:cNvSpPr txBox="1"/>
          <p:nvPr/>
        </p:nvSpPr>
        <p:spPr>
          <a:xfrm>
            <a:off x="3178969" y="4429125"/>
            <a:ext cx="1339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端到端的运行时观测</a:t>
            </a:r>
            <a:endParaRPr lang="en-US" sz="800" dirty="0" spc="0"/>
          </a:p>
        </p:txBody>
      </p:sp>
      <p:sp>
        <p:nvSpPr>
          <p:cNvPr id="77" name="ocr-056"/>
          <p:cNvSpPr txBox="1"/>
          <p:nvPr/>
        </p:nvSpPr>
        <p:spPr>
          <a:xfrm>
            <a:off x="4982766" y="4429125"/>
            <a:ext cx="146446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支持CPU/GPU/NPU</a:t>
            </a:r>
            <a:endParaRPr lang="en-US" sz="800" dirty="0" spc="0"/>
          </a:p>
        </p:txBody>
      </p:sp>
      <p:sp>
        <p:nvSpPr>
          <p:cNvPr id="78" name="ocr-057"/>
          <p:cNvSpPr txBox="1"/>
          <p:nvPr/>
        </p:nvSpPr>
        <p:spPr>
          <a:xfrm>
            <a:off x="6715125" y="4423172"/>
            <a:ext cx="133945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异常检测、回退策路</a:t>
            </a:r>
            <a:endParaRPr lang="en-US" sz="850" dirty="0" spc="0"/>
          </a:p>
        </p:txBody>
      </p:sp>
      <p:sp>
        <p:nvSpPr>
          <p:cNvPr id="79" name="ocr-058"/>
          <p:cNvSpPr txBox="1"/>
          <p:nvPr/>
        </p:nvSpPr>
        <p:spPr>
          <a:xfrm>
            <a:off x="8441531" y="4429125"/>
            <a:ext cx="9048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动态唤醒策路</a:t>
            </a:r>
            <a:endParaRPr lang="en-US" sz="800" dirty="0" spc="0"/>
          </a:p>
        </p:txBody>
      </p:sp>
      <p:sp>
        <p:nvSpPr>
          <p:cNvPr id="80" name="ocr-059"/>
          <p:cNvSpPr txBox="1"/>
          <p:nvPr/>
        </p:nvSpPr>
        <p:spPr>
          <a:xfrm>
            <a:off x="10287000" y="4423172"/>
            <a:ext cx="12025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细粒度的权限控制</a:t>
            </a:r>
            <a:endParaRPr lang="en-US" sz="800" dirty="0" spc="0"/>
          </a:p>
        </p:txBody>
      </p:sp>
      <p:sp>
        <p:nvSpPr>
          <p:cNvPr id="81" name="ocr-060"/>
          <p:cNvSpPr txBox="1"/>
          <p:nvPr/>
        </p:nvSpPr>
        <p:spPr>
          <a:xfrm>
            <a:off x="1387078" y="4577953"/>
            <a:ext cx="75604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与资源信息</a:t>
            </a:r>
            <a:endParaRPr lang="en-US" sz="850" dirty="0" spc="0"/>
          </a:p>
        </p:txBody>
      </p:sp>
      <p:sp>
        <p:nvSpPr>
          <p:cNvPr id="82" name="ocr-061"/>
          <p:cNvSpPr txBox="1"/>
          <p:nvPr/>
        </p:nvSpPr>
        <p:spPr>
          <a:xfrm>
            <a:off x="3178969" y="4566047"/>
            <a:ext cx="75604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与性能分析</a:t>
            </a:r>
            <a:endParaRPr lang="en-US" sz="850" dirty="0" spc="0"/>
          </a:p>
        </p:txBody>
      </p:sp>
      <p:sp>
        <p:nvSpPr>
          <p:cNvPr id="83" name="ocr-062"/>
          <p:cNvSpPr txBox="1"/>
          <p:nvPr/>
        </p:nvSpPr>
        <p:spPr>
          <a:xfrm>
            <a:off x="4982766" y="4566047"/>
            <a:ext cx="1178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的协同放置与迁移</a:t>
            </a:r>
            <a:endParaRPr lang="en-US" sz="800" dirty="0" spc="0"/>
          </a:p>
        </p:txBody>
      </p:sp>
      <p:sp>
        <p:nvSpPr>
          <p:cNvPr id="84" name="ocr-063"/>
          <p:cNvSpPr txBox="1"/>
          <p:nvPr/>
        </p:nvSpPr>
        <p:spPr>
          <a:xfrm>
            <a:off x="6727031" y="4577953"/>
            <a:ext cx="74414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与任务恢复</a:t>
            </a:r>
            <a:endParaRPr lang="en-US" sz="850" dirty="0" spc="0"/>
          </a:p>
        </p:txBody>
      </p:sp>
      <p:sp>
        <p:nvSpPr>
          <p:cNvPr id="85" name="ocr-064"/>
          <p:cNvSpPr txBox="1"/>
          <p:nvPr/>
        </p:nvSpPr>
        <p:spPr>
          <a:xfrm>
            <a:off x="8453438" y="4577953"/>
            <a:ext cx="105370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与能耗预算管理</a:t>
            </a:r>
            <a:endParaRPr lang="en-US" sz="850" dirty="0" spc="0"/>
          </a:p>
        </p:txBody>
      </p:sp>
      <p:sp>
        <p:nvSpPr>
          <p:cNvPr id="86" name="ocr-065"/>
          <p:cNvSpPr txBox="1"/>
          <p:nvPr/>
        </p:nvSpPr>
        <p:spPr>
          <a:xfrm>
            <a:off x="10287000" y="4577953"/>
            <a:ext cx="77390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与安全边界</a:t>
            </a:r>
            <a:endParaRPr lang="en-US" sz="850" dirty="0" spc="0"/>
          </a:p>
        </p:txBody>
      </p:sp>
      <p:sp>
        <p:nvSpPr>
          <p:cNvPr id="87" name="ocr-066"/>
          <p:cNvSpPr txBox="1"/>
          <p:nvPr/>
        </p:nvSpPr>
        <p:spPr>
          <a:xfrm>
            <a:off x="1184672" y="5030391"/>
            <a:ext cx="1524000"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条件性硬件保留项</a:t>
            </a:r>
            <a:endParaRPr lang="en-US" sz="1100" dirty="0" spc="0"/>
          </a:p>
        </p:txBody>
      </p:sp>
      <p:sp>
        <p:nvSpPr>
          <p:cNvPr id="88" name="ocr-067"/>
          <p:cNvSpPr txBox="1"/>
          <p:nvPr/>
        </p:nvSpPr>
        <p:spPr>
          <a:xfrm>
            <a:off x="2750344" y="5066109"/>
            <a:ext cx="564951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仅在软件方案无法满足目标时，才考虑新增硬件能力。需基于充分的证据与收益评估。</a:t>
            </a:r>
            <a:endParaRPr lang="en-US" sz="750" dirty="0" spc="0"/>
          </a:p>
        </p:txBody>
      </p:sp>
      <p:sp>
        <p:nvSpPr>
          <p:cNvPr id="89" name="ocr-068"/>
          <p:cNvSpPr txBox="1"/>
          <p:nvPr/>
        </p:nvSpPr>
        <p:spPr>
          <a:xfrm>
            <a:off x="1559719" y="5369719"/>
            <a:ext cx="235743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新接口只服务仍无法吸收的残差</a:t>
            </a:r>
            <a:endParaRPr lang="en-US" sz="800" dirty="0" spc="0"/>
          </a:p>
        </p:txBody>
      </p:sp>
      <p:sp>
        <p:nvSpPr>
          <p:cNvPr id="90" name="ocr-069"/>
          <p:cNvSpPr txBox="1"/>
          <p:nvPr/>
        </p:nvSpPr>
        <p:spPr>
          <a:xfrm>
            <a:off x="5292328" y="5363766"/>
            <a:ext cx="150018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先证明软件不可重建</a:t>
            </a:r>
            <a:endParaRPr lang="en-US" sz="950" dirty="0" spc="0"/>
          </a:p>
        </p:txBody>
      </p:sp>
      <p:sp>
        <p:nvSpPr>
          <p:cNvPr id="91" name="ocr-070"/>
          <p:cNvSpPr txBox="1"/>
          <p:nvPr/>
        </p:nvSpPr>
        <p:spPr>
          <a:xfrm>
            <a:off x="8822531" y="5357813"/>
            <a:ext cx="1541859"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关注手机端真实收益</a:t>
            </a:r>
            <a:endParaRPr lang="en-US" sz="950" dirty="0" spc="0"/>
          </a:p>
        </p:txBody>
      </p:sp>
      <p:sp>
        <p:nvSpPr>
          <p:cNvPr id="92" name="ocr-071"/>
          <p:cNvSpPr txBox="1"/>
          <p:nvPr/>
        </p:nvSpPr>
        <p:spPr>
          <a:xfrm>
            <a:off x="1559719" y="5548313"/>
            <a:ext cx="354210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面向软件优化后仍存在的关键性能/功耗/时延缺口，</a:t>
            </a:r>
            <a:endParaRPr lang="en-US" sz="800" dirty="0" spc="0"/>
          </a:p>
        </p:txBody>
      </p:sp>
      <p:sp>
        <p:nvSpPr>
          <p:cNvPr id="93" name="ocr-072"/>
          <p:cNvSpPr txBox="1"/>
          <p:nvPr/>
        </p:nvSpPr>
        <p:spPr>
          <a:xfrm>
            <a:off x="5298281" y="5560219"/>
            <a:ext cx="310157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需要提供充分的实验结果与对比，证明无法通过</a:t>
            </a:r>
            <a:endParaRPr lang="en-US" sz="750" dirty="0" spc="0"/>
          </a:p>
        </p:txBody>
      </p:sp>
      <p:sp>
        <p:nvSpPr>
          <p:cNvPr id="94" name="ocr-073"/>
          <p:cNvSpPr txBox="1"/>
          <p:nvPr/>
        </p:nvSpPr>
        <p:spPr>
          <a:xfrm>
            <a:off x="8834438" y="5548313"/>
            <a:ext cx="31908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以真实应用场景为准，评估在手机端的实际性能、</a:t>
            </a:r>
            <a:endParaRPr lang="en-US" sz="800" dirty="0" spc="0"/>
          </a:p>
        </p:txBody>
      </p:sp>
      <p:sp>
        <p:nvSpPr>
          <p:cNvPr id="95" name="ocr-074"/>
          <p:cNvSpPr txBox="1"/>
          <p:nvPr/>
        </p:nvSpPr>
        <p:spPr>
          <a:xfrm>
            <a:off x="1553766" y="5691188"/>
            <a:ext cx="232171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设计最小化、可验证的新硬件接口。</a:t>
            </a:r>
            <a:endParaRPr lang="en-US" sz="850" dirty="0" spc="0"/>
          </a:p>
        </p:txBody>
      </p:sp>
      <p:sp>
        <p:nvSpPr>
          <p:cNvPr id="96" name="ocr-075"/>
          <p:cNvSpPr txBox="1"/>
          <p:nvPr/>
        </p:nvSpPr>
        <p:spPr>
          <a:xfrm>
            <a:off x="5292328" y="5709047"/>
            <a:ext cx="225623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Runtime/OS或编译优化达到目标。</a:t>
            </a:r>
            <a:endParaRPr lang="en-US" sz="750" dirty="0" spc="0"/>
          </a:p>
        </p:txBody>
      </p:sp>
      <p:sp>
        <p:nvSpPr>
          <p:cNvPr id="97" name="ocr-076"/>
          <p:cNvSpPr txBox="1"/>
          <p:nvPr/>
        </p:nvSpPr>
        <p:spPr>
          <a:xfrm>
            <a:off x="8834438" y="5703094"/>
            <a:ext cx="258365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功耗与用户体验收益，而非实验室峰值。</a:t>
            </a:r>
            <a:endParaRPr lang="en-US" sz="750" dirty="0" spc="0"/>
          </a:p>
        </p:txBody>
      </p:sp>
      <p:sp>
        <p:nvSpPr>
          <p:cNvPr id="98" name="ocr-077"/>
          <p:cNvSpPr txBox="1"/>
          <p:nvPr/>
        </p:nvSpPr>
        <p:spPr>
          <a:xfrm>
            <a:off x="1232297" y="6161484"/>
            <a:ext cx="559594"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00" b="1" dirty="0" spc="0">
                <a:solidFill>
                  <a:srgbClr val="173753"/>
                </a:solidFill>
                <a:latin typeface="Microsoft YaHei" pitchFamily="34" charset="0"/>
                <a:ea typeface="Microsoft YaHei" pitchFamily="34" charset="-122"/>
                <a:cs typeface="Microsoft YaHei" pitchFamily="34" charset="-120"/>
              </a:rPr>
              <a:t>结论</a:t>
            </a:r>
            <a:endParaRPr lang="en-US" sz="1400" dirty="0" spc="0"/>
          </a:p>
        </p:txBody>
      </p:sp>
      <p:sp>
        <p:nvSpPr>
          <p:cNvPr id="99" name="ocr-078"/>
          <p:cNvSpPr txBox="1"/>
          <p:nvPr/>
        </p:nvSpPr>
        <p:spPr>
          <a:xfrm>
            <a:off x="2035969" y="6173391"/>
            <a:ext cx="5274469"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先明确软件与系统工程的责任边界，再决定是否需要新增硬件接口。</a:t>
            </a:r>
            <a:endParaRPr lang="en-US" sz="1100" dirty="0" spc="0"/>
          </a:p>
        </p:txBody>
      </p:sp>
      <p:sp>
        <p:nvSpPr>
          <p:cNvPr id="100" name="ocr-079"/>
          <p:cNvSpPr txBox="1"/>
          <p:nvPr/>
        </p:nvSpPr>
        <p:spPr>
          <a:xfrm>
            <a:off x="7346156" y="6221016"/>
            <a:ext cx="482798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公开证据：HeRo/SERENO/平台工具接口/CPU-NPU协作研究/本项目综合判断</a:t>
            </a:r>
            <a:endParaRPr lang="en-US" sz="750" dirty="0" spc="0"/>
          </a:p>
        </p:txBody>
      </p:sp>
      <p:sp>
        <p:nvSpPr>
          <p:cNvPr id="101"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oftware-baseline-field"/>
          <p:cNvSpPr/>
          <p:nvPr/>
        </p:nvSpPr>
        <p:spPr>
          <a:xfrm>
            <a:off x="3298031" y="1815703"/>
            <a:ext cx="2940844" cy="2500313"/>
          </a:xfrm>
          <a:prstGeom prst="rect">
            <a:avLst/>
          </a:prstGeom>
          <a:solidFill>
            <a:srgbClr val="F0F9FF"/>
          </a:solidFill>
          <a:ln w="6350">
            <a:solidFill>
              <a:srgbClr val="D3ECFB"/>
            </a:solidFill>
            <a:prstDash val="solid"/>
          </a:ln>
        </p:spPr>
      </p:sp>
      <p:sp>
        <p:nvSpPr>
          <p:cNvPr id="3" name="panel-1"/>
          <p:cNvSpPr/>
          <p:nvPr/>
        </p:nvSpPr>
        <p:spPr>
          <a:xfrm>
            <a:off x="648891" y="1119188"/>
            <a:ext cx="7405688" cy="3476625"/>
          </a:xfrm>
          <a:prstGeom prst="roundRect">
            <a:avLst>
              <a:gd name="adj" fmla="val 2226"/>
            </a:avLst>
          </a:prstGeom>
          <a:solidFill>
            <a:srgbClr val="FFFFFF"/>
          </a:solidFill>
          <a:ln w="8930">
            <a:solidFill>
              <a:srgbClr val="BCD6EC"/>
            </a:solidFill>
            <a:prstDash val="solid"/>
          </a:ln>
        </p:spPr>
      </p:sp>
      <p:sp>
        <p:nvSpPr>
          <p:cNvPr id="4" name="panel-2"/>
          <p:cNvSpPr/>
          <p:nvPr/>
        </p:nvSpPr>
        <p:spPr>
          <a:xfrm>
            <a:off x="8167688" y="1119188"/>
            <a:ext cx="3393281" cy="3476625"/>
          </a:xfrm>
          <a:prstGeom prst="roundRect">
            <a:avLst>
              <a:gd name="adj" fmla="val 2281"/>
            </a:avLst>
          </a:prstGeom>
          <a:solidFill>
            <a:srgbClr val="F7F9FD"/>
          </a:solidFill>
          <a:ln w="8930">
            <a:solidFill>
              <a:srgbClr val="BCD6EC"/>
            </a:solidFill>
            <a:prstDash val="solid"/>
          </a:ln>
        </p:spPr>
      </p:sp>
      <p:sp>
        <p:nvSpPr>
          <p:cNvPr id="5" name="panel-3"/>
          <p:cNvSpPr/>
          <p:nvPr/>
        </p:nvSpPr>
        <p:spPr>
          <a:xfrm>
            <a:off x="648891" y="4685109"/>
            <a:ext cx="10912078" cy="1178719"/>
          </a:xfrm>
          <a:prstGeom prst="roundRect">
            <a:avLst>
              <a:gd name="adj" fmla="val 6566"/>
            </a:avLst>
          </a:prstGeom>
          <a:solidFill>
            <a:srgbClr val="FFFFFF"/>
          </a:solidFill>
          <a:ln w="8930">
            <a:solidFill>
              <a:srgbClr val="BCD6EC"/>
            </a:solidFill>
            <a:prstDash val="solid"/>
          </a:ln>
        </p:spPr>
      </p:sp>
      <p:sp>
        <p:nvSpPr>
          <p:cNvPr id="6" name="detail-card-1"/>
          <p:cNvSpPr/>
          <p:nvPr/>
        </p:nvSpPr>
        <p:spPr>
          <a:xfrm>
            <a:off x="750094" y="1625203"/>
            <a:ext cx="2821781" cy="1375172"/>
          </a:xfrm>
          <a:prstGeom prst="roundRect">
            <a:avLst>
              <a:gd name="adj" fmla="val 4762"/>
            </a:avLst>
          </a:prstGeom>
          <a:solidFill>
            <a:srgbClr val="F7FBFF"/>
          </a:solidFill>
          <a:ln w="7144">
            <a:solidFill>
              <a:srgbClr val="C7E0F3"/>
            </a:solidFill>
            <a:prstDash val="solid"/>
          </a:ln>
        </p:spPr>
      </p:sp>
      <p:sp>
        <p:nvSpPr>
          <p:cNvPr id="7" name="detail-card-2"/>
          <p:cNvSpPr/>
          <p:nvPr/>
        </p:nvSpPr>
        <p:spPr>
          <a:xfrm>
            <a:off x="5369719" y="1625203"/>
            <a:ext cx="2583656" cy="1375172"/>
          </a:xfrm>
          <a:prstGeom prst="roundRect">
            <a:avLst>
              <a:gd name="adj" fmla="val 4762"/>
            </a:avLst>
          </a:prstGeom>
          <a:solidFill>
            <a:srgbClr val="F7FBFF"/>
          </a:solidFill>
          <a:ln w="7144">
            <a:solidFill>
              <a:srgbClr val="C7E0F3"/>
            </a:solidFill>
            <a:prstDash val="solid"/>
          </a:ln>
        </p:spPr>
      </p:sp>
      <p:sp>
        <p:nvSpPr>
          <p:cNvPr id="8" name="detail-card-3"/>
          <p:cNvSpPr/>
          <p:nvPr/>
        </p:nvSpPr>
        <p:spPr>
          <a:xfrm>
            <a:off x="750094" y="3125391"/>
            <a:ext cx="2821781" cy="1398984"/>
          </a:xfrm>
          <a:prstGeom prst="roundRect">
            <a:avLst>
              <a:gd name="adj" fmla="val 4681"/>
            </a:avLst>
          </a:prstGeom>
          <a:solidFill>
            <a:srgbClr val="F7FBFF"/>
          </a:solidFill>
          <a:ln w="7144">
            <a:solidFill>
              <a:srgbClr val="C7E0F3"/>
            </a:solidFill>
            <a:prstDash val="solid"/>
          </a:ln>
        </p:spPr>
      </p:sp>
      <p:sp>
        <p:nvSpPr>
          <p:cNvPr id="9" name="detail-card-4"/>
          <p:cNvSpPr/>
          <p:nvPr/>
        </p:nvSpPr>
        <p:spPr>
          <a:xfrm>
            <a:off x="5369719" y="3125391"/>
            <a:ext cx="2583656" cy="1398984"/>
          </a:xfrm>
          <a:prstGeom prst="roundRect">
            <a:avLst>
              <a:gd name="adj" fmla="val 4681"/>
            </a:avLst>
          </a:prstGeom>
          <a:solidFill>
            <a:srgbClr val="F7FBFF"/>
          </a:solidFill>
          <a:ln w="7144">
            <a:solidFill>
              <a:srgbClr val="C7E0F3"/>
            </a:solidFill>
            <a:prstDash val="solid"/>
          </a:ln>
        </p:spPr>
      </p:sp>
      <p:sp>
        <p:nvSpPr>
          <p:cNvPr id="10" name="detail-card-5"/>
          <p:cNvSpPr/>
          <p:nvPr/>
        </p:nvSpPr>
        <p:spPr>
          <a:xfrm>
            <a:off x="8227219" y="2053828"/>
            <a:ext cx="3262313" cy="779859"/>
          </a:xfrm>
          <a:prstGeom prst="roundRect">
            <a:avLst>
              <a:gd name="adj" fmla="val 8397"/>
            </a:avLst>
          </a:prstGeom>
          <a:solidFill>
            <a:srgbClr val="F7FBFF"/>
          </a:solidFill>
          <a:ln w="7144">
            <a:solidFill>
              <a:srgbClr val="C7E0F3"/>
            </a:solidFill>
            <a:prstDash val="solid"/>
          </a:ln>
        </p:spPr>
      </p:sp>
      <p:sp>
        <p:nvSpPr>
          <p:cNvPr id="11" name="detail-card-6"/>
          <p:cNvSpPr/>
          <p:nvPr/>
        </p:nvSpPr>
        <p:spPr>
          <a:xfrm>
            <a:off x="8227219" y="2905125"/>
            <a:ext cx="3262313" cy="779859"/>
          </a:xfrm>
          <a:prstGeom prst="roundRect">
            <a:avLst>
              <a:gd name="adj" fmla="val 8397"/>
            </a:avLst>
          </a:prstGeom>
          <a:solidFill>
            <a:srgbClr val="F7FBFF"/>
          </a:solidFill>
          <a:ln w="7144">
            <a:solidFill>
              <a:srgbClr val="C7E0F3"/>
            </a:solidFill>
            <a:prstDash val="solid"/>
          </a:ln>
        </p:spPr>
      </p:sp>
      <p:sp>
        <p:nvSpPr>
          <p:cNvPr id="12" name="detail-card-7"/>
          <p:cNvSpPr/>
          <p:nvPr/>
        </p:nvSpPr>
        <p:spPr>
          <a:xfrm>
            <a:off x="8227219" y="3756422"/>
            <a:ext cx="3262313" cy="779859"/>
          </a:xfrm>
          <a:prstGeom prst="roundRect">
            <a:avLst>
              <a:gd name="adj" fmla="val 8397"/>
            </a:avLst>
          </a:prstGeom>
          <a:solidFill>
            <a:srgbClr val="F7FBFF"/>
          </a:solidFill>
          <a:ln w="7144">
            <a:solidFill>
              <a:srgbClr val="C7E0F3"/>
            </a:solidFill>
            <a:prstDash val="solid"/>
          </a:ln>
        </p:spPr>
      </p:sp>
      <p:sp>
        <p:nvSpPr>
          <p:cNvPr id="13" name="detail-card-8"/>
          <p:cNvSpPr/>
          <p:nvPr/>
        </p:nvSpPr>
        <p:spPr>
          <a:xfrm>
            <a:off x="3095625" y="5095875"/>
            <a:ext cx="1613297" cy="678656"/>
          </a:xfrm>
          <a:prstGeom prst="roundRect">
            <a:avLst>
              <a:gd name="adj" fmla="val 9649"/>
            </a:avLst>
          </a:prstGeom>
          <a:solidFill>
            <a:srgbClr val="F7FBFF"/>
          </a:solidFill>
          <a:ln w="7144">
            <a:solidFill>
              <a:srgbClr val="C7E0F3"/>
            </a:solidFill>
            <a:prstDash val="solid"/>
          </a:ln>
        </p:spPr>
      </p:sp>
      <p:sp>
        <p:nvSpPr>
          <p:cNvPr id="14" name="detail-card-9"/>
          <p:cNvSpPr/>
          <p:nvPr/>
        </p:nvSpPr>
        <p:spPr>
          <a:xfrm>
            <a:off x="4768453" y="5095875"/>
            <a:ext cx="1613297" cy="678656"/>
          </a:xfrm>
          <a:prstGeom prst="roundRect">
            <a:avLst>
              <a:gd name="adj" fmla="val 9649"/>
            </a:avLst>
          </a:prstGeom>
          <a:solidFill>
            <a:srgbClr val="F7FBFF"/>
          </a:solidFill>
          <a:ln w="7144">
            <a:solidFill>
              <a:srgbClr val="C7E0F3"/>
            </a:solidFill>
            <a:prstDash val="solid"/>
          </a:ln>
        </p:spPr>
      </p:sp>
      <p:sp>
        <p:nvSpPr>
          <p:cNvPr id="15" name="detail-card-10"/>
          <p:cNvSpPr/>
          <p:nvPr/>
        </p:nvSpPr>
        <p:spPr>
          <a:xfrm>
            <a:off x="6441281" y="5095875"/>
            <a:ext cx="1613297" cy="678656"/>
          </a:xfrm>
          <a:prstGeom prst="roundRect">
            <a:avLst>
              <a:gd name="adj" fmla="val 9649"/>
            </a:avLst>
          </a:prstGeom>
          <a:solidFill>
            <a:srgbClr val="F7FBFF"/>
          </a:solidFill>
          <a:ln w="7144">
            <a:solidFill>
              <a:srgbClr val="C7E0F3"/>
            </a:solidFill>
            <a:prstDash val="solid"/>
          </a:ln>
        </p:spPr>
      </p:sp>
      <p:sp>
        <p:nvSpPr>
          <p:cNvPr id="16" name="detail-card-11"/>
          <p:cNvSpPr/>
          <p:nvPr/>
        </p:nvSpPr>
        <p:spPr>
          <a:xfrm>
            <a:off x="8114109" y="5095875"/>
            <a:ext cx="1613297" cy="678656"/>
          </a:xfrm>
          <a:prstGeom prst="roundRect">
            <a:avLst>
              <a:gd name="adj" fmla="val 9649"/>
            </a:avLst>
          </a:prstGeom>
          <a:solidFill>
            <a:srgbClr val="F7FBFF"/>
          </a:solidFill>
          <a:ln w="7144">
            <a:solidFill>
              <a:srgbClr val="C7E0F3"/>
            </a:solidFill>
            <a:prstDash val="solid"/>
          </a:ln>
        </p:spPr>
      </p:sp>
      <p:sp>
        <p:nvSpPr>
          <p:cNvPr id="17" name="detail-card-12"/>
          <p:cNvSpPr/>
          <p:nvPr/>
        </p:nvSpPr>
        <p:spPr>
          <a:xfrm>
            <a:off x="9786938" y="5095875"/>
            <a:ext cx="1678781" cy="678656"/>
          </a:xfrm>
          <a:prstGeom prst="roundRect">
            <a:avLst>
              <a:gd name="adj" fmla="val 9649"/>
            </a:avLst>
          </a:prstGeom>
          <a:solidFill>
            <a:srgbClr val="F7FBFF"/>
          </a:solidFill>
          <a:ln w="7144">
            <a:solidFill>
              <a:srgbClr val="C7E0F3"/>
            </a:solidFill>
            <a:prstDash val="solid"/>
          </a:ln>
        </p:spPr>
      </p:sp>
      <p:sp>
        <p:nvSpPr>
          <p:cNvPr id="18" name="software-baseline"/>
          <p:cNvSpPr/>
          <p:nvPr/>
        </p:nvSpPr>
        <p:spPr>
          <a:xfrm>
            <a:off x="3768328" y="2166938"/>
            <a:ext cx="1369219" cy="1821656"/>
          </a:xfrm>
          <a:prstGeom prst="ellipse">
            <a:avLst/>
          </a:prstGeom>
          <a:solidFill>
            <a:srgbClr val="D9EEFD"/>
          </a:solidFill>
          <a:ln w="11906">
            <a:solidFill>
              <a:srgbClr val="9FD1F3"/>
            </a:solidFill>
            <a:prstDash val="solid"/>
          </a:ln>
        </p:spPr>
      </p:sp>
      <p:sp>
        <p:nvSpPr>
          <p:cNvPr id="19"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20"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21" name="blue-bar-1"/>
          <p:cNvSpPr/>
          <p:nvPr/>
        </p:nvSpPr>
        <p:spPr>
          <a:xfrm>
            <a:off x="648891" y="1119188"/>
            <a:ext cx="7399734" cy="470297"/>
          </a:xfrm>
          <a:prstGeom prst="roundRect">
            <a:avLst>
              <a:gd name="adj" fmla="val 10127"/>
            </a:avLst>
          </a:prstGeom>
          <a:solidFill>
            <a:srgbClr val="1769B1"/>
          </a:solidFill>
          <a:ln w="12700">
            <a:solidFill>
              <a:srgbClr val="FFFFFF">
                <a:alpha val="0"/>
              </a:srgbClr>
            </a:solidFill>
            <a:prstDash val="solid"/>
          </a:ln>
        </p:spPr>
      </p:sp>
      <p:sp>
        <p:nvSpPr>
          <p:cNvPr id="22" name="blue-bar-2"/>
          <p:cNvSpPr/>
          <p:nvPr/>
        </p:nvSpPr>
        <p:spPr>
          <a:xfrm>
            <a:off x="8173641" y="1178719"/>
            <a:ext cx="3369469" cy="357188"/>
          </a:xfrm>
          <a:prstGeom prst="roundRect">
            <a:avLst>
              <a:gd name="adj" fmla="val 13333"/>
            </a:avLst>
          </a:prstGeom>
          <a:solidFill>
            <a:srgbClr val="1769B1"/>
          </a:solidFill>
          <a:ln w="12700">
            <a:solidFill>
              <a:srgbClr val="FFFFFF">
                <a:alpha val="0"/>
              </a:srgbClr>
            </a:solidFill>
            <a:prstDash val="solid"/>
          </a:ln>
        </p:spPr>
      </p:sp>
      <p:sp>
        <p:nvSpPr>
          <p:cNvPr id="23" name="blue-bar-3"/>
          <p:cNvSpPr/>
          <p:nvPr/>
        </p:nvSpPr>
        <p:spPr>
          <a:xfrm>
            <a:off x="4417219" y="4691063"/>
            <a:ext cx="3333750" cy="357188"/>
          </a:xfrm>
          <a:prstGeom prst="roundRect">
            <a:avLst>
              <a:gd name="adj" fmla="val 13333"/>
            </a:avLst>
          </a:prstGeom>
          <a:solidFill>
            <a:srgbClr val="1769B1"/>
          </a:solidFill>
          <a:ln w="12700">
            <a:solidFill>
              <a:srgbClr val="FFFFFF">
                <a:alpha val="0"/>
              </a:srgbClr>
            </a:solidFill>
            <a:prstDash val="solid"/>
          </a:ln>
        </p:spPr>
      </p:sp>
      <p:sp>
        <p:nvSpPr>
          <p:cNvPr id="24" name="SC_FREEFORM_ROUTE__software-contribution-1__0"/>
          <p:cNvSpPr/>
          <p:nvPr/>
        </p:nvSpPr>
        <p:spPr>
          <a:xfrm>
            <a:off x="3571875" y="2312789"/>
            <a:ext cx="196453" cy="764977"/>
          </a:xfrm>
          <a:custGeom>
            <a:avLst/>
            <a:gdLst/>
            <a:ahLst/>
            <a:cxnLst/>
            <a:rect l="l" t="t" r="r" b="b"/>
            <a:pathLst>
              <a:path w="196453" h="764977">
                <a:moveTo>
                  <a:pt x="0" y="0"/>
                </a:moveTo>
                <a:lnTo>
                  <a:pt x="98227" y="0"/>
                </a:lnTo>
                <a:lnTo>
                  <a:pt x="98227" y="764977"/>
                </a:lnTo>
                <a:lnTo>
                  <a:pt x="196453" y="764977"/>
                </a:lnTo>
              </a:path>
            </a:pathLst>
          </a:custGeom>
          <a:solidFill>
            <a:srgbClr val="FFFFFF">
              <a:alpha val="0"/>
            </a:srgbClr>
          </a:solidFill>
          <a:ln w="17859">
            <a:solidFill>
              <a:srgbClr val="2473B6"/>
            </a:solidFill>
            <a:prstDash val="solid"/>
            <a:round/>
            <a:headEnd type="none"/>
            <a:tailEnd type="triangle" w="med" len="med"/>
          </a:ln>
        </p:spPr>
      </p:sp>
      <p:sp>
        <p:nvSpPr>
          <p:cNvPr id="25" name="SC_FREEFORM_ROUTE__software-contribution-3__0"/>
          <p:cNvSpPr/>
          <p:nvPr/>
        </p:nvSpPr>
        <p:spPr>
          <a:xfrm>
            <a:off x="3571875" y="3077766"/>
            <a:ext cx="196453" cy="747117"/>
          </a:xfrm>
          <a:custGeom>
            <a:avLst/>
            <a:gdLst/>
            <a:ahLst/>
            <a:cxnLst/>
            <a:rect l="l" t="t" r="r" b="b"/>
            <a:pathLst>
              <a:path w="196453" h="747117">
                <a:moveTo>
                  <a:pt x="0" y="747117"/>
                </a:moveTo>
                <a:lnTo>
                  <a:pt x="98227" y="747117"/>
                </a:lnTo>
                <a:lnTo>
                  <a:pt x="98227" y="0"/>
                </a:lnTo>
                <a:lnTo>
                  <a:pt x="196453" y="0"/>
                </a:lnTo>
              </a:path>
            </a:pathLst>
          </a:custGeom>
          <a:solidFill>
            <a:srgbClr val="FFFFFF">
              <a:alpha val="0"/>
            </a:srgbClr>
          </a:solidFill>
          <a:ln w="17859">
            <a:solidFill>
              <a:srgbClr val="2473B6"/>
            </a:solidFill>
            <a:prstDash val="solid"/>
            <a:round/>
            <a:headEnd type="none"/>
            <a:tailEnd type="triangle" w="med" len="med"/>
          </a:ln>
        </p:spPr>
      </p:sp>
      <p:sp>
        <p:nvSpPr>
          <p:cNvPr id="26" name="SC_FREEFORM_ROUTE__baseline-to-evidence-2__0"/>
          <p:cNvSpPr/>
          <p:nvPr/>
        </p:nvSpPr>
        <p:spPr>
          <a:xfrm>
            <a:off x="5137547" y="2312789"/>
            <a:ext cx="232172" cy="764977"/>
          </a:xfrm>
          <a:custGeom>
            <a:avLst/>
            <a:gdLst/>
            <a:ahLst/>
            <a:cxnLst/>
            <a:rect l="l" t="t" r="r" b="b"/>
            <a:pathLst>
              <a:path w="232172" h="764977">
                <a:moveTo>
                  <a:pt x="0" y="764977"/>
                </a:moveTo>
                <a:lnTo>
                  <a:pt x="116086" y="764977"/>
                </a:lnTo>
                <a:lnTo>
                  <a:pt x="116086" y="0"/>
                </a:lnTo>
                <a:lnTo>
                  <a:pt x="232172" y="0"/>
                </a:lnTo>
              </a:path>
            </a:pathLst>
          </a:custGeom>
          <a:solidFill>
            <a:srgbClr val="FFFFFF">
              <a:alpha val="0"/>
            </a:srgbClr>
          </a:solidFill>
          <a:ln w="17859">
            <a:solidFill>
              <a:srgbClr val="2473B6"/>
            </a:solidFill>
            <a:prstDash val="solid"/>
            <a:round/>
            <a:headEnd type="none"/>
            <a:tailEnd type="triangle" w="med" len="med"/>
          </a:ln>
        </p:spPr>
      </p:sp>
      <p:sp>
        <p:nvSpPr>
          <p:cNvPr id="27" name="SC_FREEFORM_ROUTE__baseline-to-evidence-4__0"/>
          <p:cNvSpPr/>
          <p:nvPr/>
        </p:nvSpPr>
        <p:spPr>
          <a:xfrm>
            <a:off x="5137547" y="3077766"/>
            <a:ext cx="232172" cy="747117"/>
          </a:xfrm>
          <a:custGeom>
            <a:avLst/>
            <a:gdLst/>
            <a:ahLst/>
            <a:cxnLst/>
            <a:rect l="l" t="t" r="r" b="b"/>
            <a:pathLst>
              <a:path w="232172" h="747117">
                <a:moveTo>
                  <a:pt x="0" y="0"/>
                </a:moveTo>
                <a:lnTo>
                  <a:pt x="116086" y="0"/>
                </a:lnTo>
                <a:lnTo>
                  <a:pt x="116086" y="747117"/>
                </a:lnTo>
                <a:lnTo>
                  <a:pt x="232172" y="747117"/>
                </a:lnTo>
              </a:path>
            </a:pathLst>
          </a:custGeom>
          <a:solidFill>
            <a:srgbClr val="FFFFFF">
              <a:alpha val="0"/>
            </a:srgbClr>
          </a:solidFill>
          <a:ln w="17859">
            <a:solidFill>
              <a:srgbClr val="2473B6"/>
            </a:solidFill>
            <a:prstDash val="solid"/>
            <a:round/>
            <a:headEnd type="none"/>
            <a:tailEnd type="triangle" w="med" len="med"/>
          </a:ln>
        </p:spPr>
      </p:sp>
      <p:sp>
        <p:nvSpPr>
          <p:cNvPr id="28" name="ocr-001"/>
          <p:cNvSpPr txBox="1"/>
          <p:nvPr/>
        </p:nvSpPr>
        <p:spPr>
          <a:xfrm>
            <a:off x="881063" y="369094"/>
            <a:ext cx="11293078" cy="321469"/>
          </a:xfrm>
          <a:prstGeom prst="rect">
            <a:avLst/>
          </a:prstGeom>
          <a:noFill/>
          <a:ln/>
        </p:spPr>
        <p:txBody>
          <a:bodyPr wrap="square" lIns="0" tIns="0" rIns="0" bIns="0" rtlCol="0" anchor="ctr">
            <a:noAutofit/>
          </a:bodyPr>
          <a:lstStyle/>
          <a:p>
            <a:pPr algn="l" indent="0" marL="0">
              <a:lnSpc>
                <a:spcPct val="100000"/>
              </a:lnSpc>
              <a:buNone/>
              <a:defRPr spc="0"/>
            </a:pPr>
            <a:r>
              <a:rPr lang="en-US" sz="2250" b="1" dirty="0" spc="0">
                <a:solidFill>
                  <a:srgbClr val="102C55"/>
                </a:solidFill>
                <a:latin typeface="Microsoft YaHei" pitchFamily="34" charset="0"/>
                <a:ea typeface="Microsoft YaHei" pitchFamily="34" charset="-122"/>
                <a:cs typeface="Microsoft YaHei" pitchFamily="34" charset="-120"/>
              </a:rPr>
              <a:t>强软件基线已经压缩新硬件空间，残余方向必须满足明确证据门槛</a:t>
            </a:r>
            <a:endParaRPr lang="en-US" sz="2250" dirty="0" spc="0"/>
          </a:p>
        </p:txBody>
      </p:sp>
      <p:sp>
        <p:nvSpPr>
          <p:cNvPr id="29" name="ocr-002"/>
          <p:cNvSpPr txBox="1"/>
          <p:nvPr/>
        </p:nvSpPr>
        <p:spPr>
          <a:xfrm>
            <a:off x="892969" y="738188"/>
            <a:ext cx="7453313"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00" dirty="0" spc="0">
                <a:solidFill>
                  <a:srgbClr val="58738A"/>
                </a:solidFill>
                <a:latin typeface="Microsoft YaHei" pitchFamily="34" charset="0"/>
                <a:ea typeface="Microsoft YaHei" pitchFamily="34" charset="-122"/>
                <a:cs typeface="Microsoft YaHei" pitchFamily="34" charset="-120"/>
              </a:rPr>
              <a:t>当前没有证据充分的Agent专用CPU主押注；仅保留少量条件研究。</a:t>
            </a:r>
            <a:endParaRPr lang="en-US" sz="1300" dirty="0" spc="0"/>
          </a:p>
        </p:txBody>
      </p:sp>
      <p:sp>
        <p:nvSpPr>
          <p:cNvPr id="30" name="ocr-003"/>
          <p:cNvSpPr txBox="1"/>
          <p:nvPr/>
        </p:nvSpPr>
        <p:spPr>
          <a:xfrm>
            <a:off x="1119188" y="1214438"/>
            <a:ext cx="4583906"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FFFFFF"/>
                </a:solidFill>
                <a:latin typeface="Microsoft YaHei" pitchFamily="34" charset="0"/>
                <a:ea typeface="Microsoft YaHei" pitchFamily="34" charset="-122"/>
                <a:cs typeface="Microsoft YaHei" pitchFamily="34" charset="-120"/>
              </a:rPr>
              <a:t>强软件基线：已在多层面显著吸收Agent任务需求，持续压缩新硬件空间</a:t>
            </a:r>
            <a:endParaRPr lang="en-US" sz="1050" dirty="0" spc="0"/>
          </a:p>
        </p:txBody>
      </p:sp>
      <p:sp>
        <p:nvSpPr>
          <p:cNvPr id="31" name="ocr-004"/>
          <p:cNvSpPr txBox="1"/>
          <p:nvPr/>
        </p:nvSpPr>
        <p:spPr>
          <a:xfrm>
            <a:off x="5750719" y="1202531"/>
            <a:ext cx="297656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FFFFFF"/>
                </a:solidFill>
                <a:latin typeface="Microsoft YaHei" pitchFamily="34" charset="0"/>
                <a:ea typeface="Microsoft YaHei" pitchFamily="34" charset="-122"/>
                <a:cs typeface="Microsoft YaHei" pitchFamily="34" charset="-120"/>
              </a:rPr>
              <a:t>从计算优化、系统调度、可信验证到语义进度控制，</a:t>
            </a:r>
            <a:endParaRPr lang="en-US" sz="750" dirty="0" spc="0"/>
          </a:p>
        </p:txBody>
      </p:sp>
      <p:sp>
        <p:nvSpPr>
          <p:cNvPr id="32" name="ocr-005"/>
          <p:cNvSpPr txBox="1"/>
          <p:nvPr/>
        </p:nvSpPr>
        <p:spPr>
          <a:xfrm>
            <a:off x="8584406" y="1250156"/>
            <a:ext cx="3589734"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b="1" dirty="0" spc="0">
                <a:solidFill>
                  <a:srgbClr val="FFFFFF"/>
                </a:solidFill>
                <a:latin typeface="Microsoft YaHei" pitchFamily="34" charset="0"/>
                <a:ea typeface="Microsoft YaHei" pitchFamily="34" charset="-122"/>
                <a:cs typeface="Microsoft YaHei" pitchFamily="34" charset="-120"/>
              </a:rPr>
              <a:t>条件研究保留项：仅在现有软件基线无法吸收时考虑</a:t>
            </a:r>
            <a:endParaRPr lang="en-US" sz="850" dirty="0" spc="0"/>
          </a:p>
        </p:txBody>
      </p:sp>
      <p:sp>
        <p:nvSpPr>
          <p:cNvPr id="33" name="ocr-006"/>
          <p:cNvSpPr txBox="1"/>
          <p:nvPr/>
        </p:nvSpPr>
        <p:spPr>
          <a:xfrm>
            <a:off x="5738813" y="1333500"/>
            <a:ext cx="20835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软件基线已覆盖绝大多数收益空间。</a:t>
            </a:r>
            <a:endParaRPr lang="en-US" sz="800" dirty="0" spc="0"/>
          </a:p>
        </p:txBody>
      </p:sp>
      <p:sp>
        <p:nvSpPr>
          <p:cNvPr id="34" name="ocr-007"/>
          <p:cNvSpPr txBox="1"/>
          <p:nvPr/>
        </p:nvSpPr>
        <p:spPr>
          <a:xfrm>
            <a:off x="8304609" y="1607344"/>
            <a:ext cx="38695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仅当存在明确证据表明以下方向在现有软件方案中不可重建</a:t>
            </a:r>
            <a:endParaRPr lang="en-US" sz="800" dirty="0" spc="0"/>
          </a:p>
        </p:txBody>
      </p:sp>
      <p:sp>
        <p:nvSpPr>
          <p:cNvPr id="35" name="ocr-008"/>
          <p:cNvSpPr txBox="1"/>
          <p:nvPr/>
        </p:nvSpPr>
        <p:spPr>
          <a:xfrm>
            <a:off x="1416844" y="1678781"/>
            <a:ext cx="107156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NPU软件优化</a:t>
            </a:r>
            <a:endParaRPr lang="en-US" sz="850" dirty="0" spc="0"/>
          </a:p>
        </p:txBody>
      </p:sp>
      <p:sp>
        <p:nvSpPr>
          <p:cNvPr id="36" name="ocr-009"/>
          <p:cNvSpPr txBox="1"/>
          <p:nvPr/>
        </p:nvSpPr>
        <p:spPr>
          <a:xfrm>
            <a:off x="6000750" y="1678781"/>
            <a:ext cx="1881188"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Runtime/OS调度与QoE</a:t>
            </a:r>
            <a:endParaRPr lang="en-US" sz="900" dirty="0" spc="0"/>
          </a:p>
        </p:txBody>
      </p:sp>
      <p:sp>
        <p:nvSpPr>
          <p:cNvPr id="37" name="ocr-010"/>
          <p:cNvSpPr txBox="1"/>
          <p:nvPr/>
        </p:nvSpPr>
        <p:spPr>
          <a:xfrm>
            <a:off x="898922" y="1744266"/>
            <a:ext cx="303609"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01</a:t>
            </a:r>
            <a:endParaRPr lang="en-US" sz="750" dirty="0" spc="0"/>
          </a:p>
        </p:txBody>
      </p:sp>
      <p:sp>
        <p:nvSpPr>
          <p:cNvPr id="38" name="ocr-011"/>
          <p:cNvSpPr txBox="1"/>
          <p:nvPr/>
        </p:nvSpPr>
        <p:spPr>
          <a:xfrm>
            <a:off x="5542359" y="1762125"/>
            <a:ext cx="291703" cy="13096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650" dirty="0" spc="0">
                <a:solidFill>
                  <a:srgbClr val="58738A"/>
                </a:solidFill>
                <a:latin typeface="Microsoft YaHei" pitchFamily="34" charset="0"/>
                <a:ea typeface="Microsoft YaHei" pitchFamily="34" charset="-122"/>
                <a:cs typeface="Microsoft YaHei" pitchFamily="34" charset="-120"/>
              </a:rPr>
              <a:t>02</a:t>
            </a:r>
            <a:endParaRPr lang="en-US" sz="650" dirty="0" spc="0"/>
          </a:p>
        </p:txBody>
      </p:sp>
      <p:sp>
        <p:nvSpPr>
          <p:cNvPr id="39" name="ocr-012"/>
          <p:cNvSpPr txBox="1"/>
          <p:nvPr/>
        </p:nvSpPr>
        <p:spPr>
          <a:xfrm>
            <a:off x="8292703" y="1762125"/>
            <a:ext cx="2780109"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且具有可观收益时，才进入硬件研究。</a:t>
            </a:r>
            <a:endParaRPr lang="en-US" sz="900" dirty="0" spc="0"/>
          </a:p>
        </p:txBody>
      </p:sp>
      <p:sp>
        <p:nvSpPr>
          <p:cNvPr id="40" name="ocr-013"/>
          <p:cNvSpPr txBox="1"/>
          <p:nvPr/>
        </p:nvSpPr>
        <p:spPr>
          <a:xfrm>
            <a:off x="1452563" y="1815703"/>
            <a:ext cx="1952625"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(llm.npu / ShadowNPU)</a:t>
            </a:r>
            <a:endParaRPr lang="en-US" sz="1050" dirty="0" spc="0"/>
          </a:p>
        </p:txBody>
      </p:sp>
      <p:sp>
        <p:nvSpPr>
          <p:cNvPr id="41" name="ocr-014"/>
          <p:cNvSpPr txBox="1"/>
          <p:nvPr/>
        </p:nvSpPr>
        <p:spPr>
          <a:xfrm>
            <a:off x="6048375" y="1845469"/>
            <a:ext cx="13215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(HeRo/SERENO)</a:t>
            </a:r>
            <a:endParaRPr lang="en-US" sz="800" dirty="0" spc="0"/>
          </a:p>
        </p:txBody>
      </p:sp>
      <p:sp>
        <p:nvSpPr>
          <p:cNvPr id="42" name="ocr-015"/>
          <p:cNvSpPr txBox="1"/>
          <p:nvPr/>
        </p:nvSpPr>
        <p:spPr>
          <a:xfrm>
            <a:off x="1547813" y="2095500"/>
            <a:ext cx="2238375"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·静态图与异构分工，提升计算效率</a:t>
            </a:r>
            <a:endParaRPr lang="en-US" sz="750" dirty="0" spc="0"/>
          </a:p>
        </p:txBody>
      </p:sp>
      <p:sp>
        <p:nvSpPr>
          <p:cNvPr id="43" name="ocr-016"/>
          <p:cNvSpPr txBox="1"/>
          <p:nvPr/>
        </p:nvSpPr>
        <p:spPr>
          <a:xfrm>
            <a:off x="6179344" y="2083594"/>
            <a:ext cx="19942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·面向Agentic任务的动态调度</a:t>
            </a:r>
            <a:endParaRPr lang="en-US" sz="850" dirty="0" spc="0"/>
          </a:p>
        </p:txBody>
      </p:sp>
      <p:sp>
        <p:nvSpPr>
          <p:cNvPr id="44" name="ocr-017"/>
          <p:cNvSpPr txBox="1"/>
          <p:nvPr/>
        </p:nvSpPr>
        <p:spPr>
          <a:xfrm>
            <a:off x="8322469" y="2172891"/>
            <a:ext cx="327422"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01</a:t>
            </a:r>
            <a:endParaRPr lang="en-US" sz="850" dirty="0" spc="0"/>
          </a:p>
        </p:txBody>
      </p:sp>
      <p:sp>
        <p:nvSpPr>
          <p:cNvPr id="45" name="ocr-018"/>
          <p:cNvSpPr txBox="1"/>
          <p:nvPr/>
        </p:nvSpPr>
        <p:spPr>
          <a:xfrm>
            <a:off x="9090422" y="2143125"/>
            <a:ext cx="132159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私有任务进度信息</a:t>
            </a:r>
            <a:endParaRPr lang="en-US" sz="850" dirty="0" spc="0"/>
          </a:p>
        </p:txBody>
      </p:sp>
      <p:sp>
        <p:nvSpPr>
          <p:cNvPr id="46" name="ocr-019"/>
          <p:cNvSpPr txBox="1"/>
          <p:nvPr/>
        </p:nvSpPr>
        <p:spPr>
          <a:xfrm>
            <a:off x="1547813" y="2256234"/>
            <a:ext cx="177403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·Prefill/Attention异构优化</a:t>
            </a:r>
            <a:endParaRPr lang="en-US" sz="750" dirty="0" spc="0"/>
          </a:p>
        </p:txBody>
      </p:sp>
      <p:sp>
        <p:nvSpPr>
          <p:cNvPr id="47" name="ocr-020"/>
          <p:cNvSpPr txBox="1"/>
          <p:nvPr/>
        </p:nvSpPr>
        <p:spPr>
          <a:xfrm>
            <a:off x="6191250" y="2256234"/>
            <a:ext cx="182165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·前后台内存与带宽协同管理</a:t>
            </a:r>
            <a:endParaRPr lang="en-US" sz="750" dirty="0" spc="0"/>
          </a:p>
        </p:txBody>
      </p:sp>
      <p:sp>
        <p:nvSpPr>
          <p:cNvPr id="48" name="ocr-021"/>
          <p:cNvSpPr txBox="1"/>
          <p:nvPr/>
        </p:nvSpPr>
        <p:spPr>
          <a:xfrm>
            <a:off x="10804922" y="2291953"/>
            <a:ext cx="625078"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需实证证明</a:t>
            </a:r>
            <a:endParaRPr lang="en-US" sz="750" dirty="0" spc="0"/>
          </a:p>
        </p:txBody>
      </p:sp>
      <p:sp>
        <p:nvSpPr>
          <p:cNvPr id="49" name="ocr-022"/>
          <p:cNvSpPr txBox="1"/>
          <p:nvPr/>
        </p:nvSpPr>
        <p:spPr>
          <a:xfrm>
            <a:off x="1541859" y="2405063"/>
            <a:ext cx="191095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·最大化现有NPU的有效计算</a:t>
            </a:r>
            <a:endParaRPr lang="en-US" sz="750" dirty="0" spc="0"/>
          </a:p>
        </p:txBody>
      </p:sp>
      <p:sp>
        <p:nvSpPr>
          <p:cNvPr id="50" name="ocr-023"/>
          <p:cNvSpPr txBox="1"/>
          <p:nvPr/>
        </p:nvSpPr>
        <p:spPr>
          <a:xfrm>
            <a:off x="6191250" y="2416969"/>
            <a:ext cx="182165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·保障交互体验与系统可用性</a:t>
            </a:r>
            <a:endParaRPr lang="en-US" sz="750" dirty="0" spc="0"/>
          </a:p>
        </p:txBody>
      </p:sp>
      <p:sp>
        <p:nvSpPr>
          <p:cNvPr id="51" name="ocr-024"/>
          <p:cNvSpPr txBox="1"/>
          <p:nvPr/>
        </p:nvSpPr>
        <p:spPr>
          <a:xfrm>
            <a:off x="9155906" y="2399109"/>
            <a:ext cx="155376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难以从软件任务账本重建的关键信息</a:t>
            </a:r>
            <a:endParaRPr lang="en-US" sz="750" dirty="0" spc="0"/>
          </a:p>
        </p:txBody>
      </p:sp>
      <p:sp>
        <p:nvSpPr>
          <p:cNvPr id="52" name="ocr-025"/>
          <p:cNvSpPr txBox="1"/>
          <p:nvPr/>
        </p:nvSpPr>
        <p:spPr>
          <a:xfrm>
            <a:off x="10751344" y="2428875"/>
            <a:ext cx="77390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不可软件获得</a:t>
            </a:r>
            <a:endParaRPr lang="en-US" sz="750" dirty="0" spc="0"/>
          </a:p>
        </p:txBody>
      </p:sp>
      <p:sp>
        <p:nvSpPr>
          <p:cNvPr id="53" name="ocr-026"/>
          <p:cNvSpPr txBox="1"/>
          <p:nvPr/>
        </p:nvSpPr>
        <p:spPr>
          <a:xfrm>
            <a:off x="3923109" y="2553891"/>
            <a:ext cx="1482328"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173753"/>
                </a:solidFill>
                <a:latin typeface="Microsoft YaHei" pitchFamily="34" charset="0"/>
                <a:ea typeface="Microsoft YaHei" pitchFamily="34" charset="-122"/>
                <a:cs typeface="Microsoft YaHei" pitchFamily="34" charset="-120"/>
              </a:rPr>
              <a:t>强软件基线</a:t>
            </a:r>
            <a:endParaRPr lang="en-US" sz="1450" dirty="0" spc="0"/>
          </a:p>
        </p:txBody>
      </p:sp>
      <p:sp>
        <p:nvSpPr>
          <p:cNvPr id="54" name="ocr-027"/>
          <p:cNvSpPr txBox="1"/>
          <p:nvPr/>
        </p:nvSpPr>
        <p:spPr>
          <a:xfrm>
            <a:off x="9102328" y="2571750"/>
            <a:ext cx="2024063" cy="14287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650" dirty="0" spc="0">
                <a:solidFill>
                  <a:srgbClr val="58738A"/>
                </a:solidFill>
                <a:latin typeface="Microsoft YaHei" pitchFamily="34" charset="0"/>
                <a:ea typeface="Microsoft YaHei" pitchFamily="34" charset="-122"/>
                <a:cs typeface="Microsoft YaHei" pitchFamily="34" charset="-120"/>
              </a:rPr>
              <a:t>·如设备侧瞬时状态、隐式用户意图等</a:t>
            </a:r>
            <a:endParaRPr lang="en-US" sz="650" dirty="0" spc="0"/>
          </a:p>
        </p:txBody>
      </p:sp>
      <p:sp>
        <p:nvSpPr>
          <p:cNvPr id="55" name="ocr-028"/>
          <p:cNvSpPr txBox="1"/>
          <p:nvPr/>
        </p:nvSpPr>
        <p:spPr>
          <a:xfrm>
            <a:off x="881063" y="2678906"/>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覆盖能力</a:t>
            </a:r>
            <a:endParaRPr lang="en-US" sz="850" dirty="0" spc="0"/>
          </a:p>
        </p:txBody>
      </p:sp>
      <p:sp>
        <p:nvSpPr>
          <p:cNvPr id="56" name="ocr-029"/>
          <p:cNvSpPr txBox="1"/>
          <p:nvPr/>
        </p:nvSpPr>
        <p:spPr>
          <a:xfrm>
            <a:off x="1559719" y="2690813"/>
            <a:ext cx="5417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计算加速</a:t>
            </a:r>
            <a:endParaRPr lang="en-US" sz="750" dirty="0" spc="0"/>
          </a:p>
        </p:txBody>
      </p:sp>
      <p:sp>
        <p:nvSpPr>
          <p:cNvPr id="57" name="ocr-030"/>
          <p:cNvSpPr txBox="1"/>
          <p:nvPr/>
        </p:nvSpPr>
        <p:spPr>
          <a:xfrm>
            <a:off x="2232422" y="2690813"/>
            <a:ext cx="535781"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异构调度</a:t>
            </a:r>
            <a:endParaRPr lang="en-US" sz="750" dirty="0" spc="0"/>
          </a:p>
        </p:txBody>
      </p:sp>
      <p:sp>
        <p:nvSpPr>
          <p:cNvPr id="58" name="ocr-031"/>
          <p:cNvSpPr txBox="1"/>
          <p:nvPr/>
        </p:nvSpPr>
        <p:spPr>
          <a:xfrm>
            <a:off x="2893219" y="2684859"/>
            <a:ext cx="55364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内存优化</a:t>
            </a:r>
            <a:endParaRPr lang="en-US" sz="850" dirty="0" spc="0"/>
          </a:p>
        </p:txBody>
      </p:sp>
      <p:sp>
        <p:nvSpPr>
          <p:cNvPr id="59" name="ocr-032"/>
          <p:cNvSpPr txBox="1"/>
          <p:nvPr/>
        </p:nvSpPr>
        <p:spPr>
          <a:xfrm>
            <a:off x="5536406" y="2678906"/>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覆盖能力</a:t>
            </a:r>
            <a:endParaRPr lang="en-US" sz="850" dirty="0" spc="0"/>
          </a:p>
        </p:txBody>
      </p:sp>
      <p:sp>
        <p:nvSpPr>
          <p:cNvPr id="60" name="ocr-033"/>
          <p:cNvSpPr txBox="1"/>
          <p:nvPr/>
        </p:nvSpPr>
        <p:spPr>
          <a:xfrm>
            <a:off x="6191250" y="2690813"/>
            <a:ext cx="535781"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任务调度</a:t>
            </a:r>
            <a:endParaRPr lang="en-US" sz="750" dirty="0" spc="0"/>
          </a:p>
        </p:txBody>
      </p:sp>
      <p:sp>
        <p:nvSpPr>
          <p:cNvPr id="61" name="ocr-034"/>
          <p:cNvSpPr txBox="1"/>
          <p:nvPr/>
        </p:nvSpPr>
        <p:spPr>
          <a:xfrm>
            <a:off x="6780609" y="2690813"/>
            <a:ext cx="5417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内存管理</a:t>
            </a:r>
            <a:endParaRPr lang="en-US" sz="750" dirty="0" spc="0"/>
          </a:p>
        </p:txBody>
      </p:sp>
      <p:sp>
        <p:nvSpPr>
          <p:cNvPr id="62" name="ocr-035"/>
          <p:cNvSpPr txBox="1"/>
          <p:nvPr/>
        </p:nvSpPr>
        <p:spPr>
          <a:xfrm>
            <a:off x="7364016" y="2684859"/>
            <a:ext cx="541734"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QoE保障</a:t>
            </a:r>
            <a:endParaRPr lang="en-US" sz="850" dirty="0" spc="0"/>
          </a:p>
        </p:txBody>
      </p:sp>
      <p:sp>
        <p:nvSpPr>
          <p:cNvPr id="63" name="ocr-036"/>
          <p:cNvSpPr txBox="1"/>
          <p:nvPr/>
        </p:nvSpPr>
        <p:spPr>
          <a:xfrm>
            <a:off x="3940969" y="2857500"/>
            <a:ext cx="143470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已解释和吸收大部分</a:t>
            </a:r>
            <a:endParaRPr lang="en-US" sz="800" dirty="0" spc="0"/>
          </a:p>
        </p:txBody>
      </p:sp>
      <p:sp>
        <p:nvSpPr>
          <p:cNvPr id="64" name="ocr-037"/>
          <p:cNvSpPr txBox="1"/>
          <p:nvPr/>
        </p:nvSpPr>
        <p:spPr>
          <a:xfrm>
            <a:off x="4036219" y="2988469"/>
            <a:ext cx="1160859"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Agent任务需求</a:t>
            </a:r>
            <a:endParaRPr lang="en-US" sz="1050" dirty="0" spc="0"/>
          </a:p>
        </p:txBody>
      </p:sp>
      <p:sp>
        <p:nvSpPr>
          <p:cNvPr id="65" name="ocr-038"/>
          <p:cNvSpPr txBox="1"/>
          <p:nvPr/>
        </p:nvSpPr>
        <p:spPr>
          <a:xfrm>
            <a:off x="8334375" y="3012281"/>
            <a:ext cx="303609"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02</a:t>
            </a:r>
            <a:endParaRPr lang="en-US" sz="750" dirty="0" spc="0"/>
          </a:p>
        </p:txBody>
      </p:sp>
      <p:sp>
        <p:nvSpPr>
          <p:cNvPr id="66" name="ocr-039"/>
          <p:cNvSpPr txBox="1"/>
          <p:nvPr/>
        </p:nvSpPr>
        <p:spPr>
          <a:xfrm>
            <a:off x="9084469" y="2976563"/>
            <a:ext cx="1535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派生状态有效性信号</a:t>
            </a:r>
            <a:endParaRPr lang="en-US" sz="800" dirty="0" spc="0"/>
          </a:p>
        </p:txBody>
      </p:sp>
      <p:sp>
        <p:nvSpPr>
          <p:cNvPr id="67" name="ocr-040"/>
          <p:cNvSpPr txBox="1"/>
          <p:nvPr/>
        </p:nvSpPr>
        <p:spPr>
          <a:xfrm>
            <a:off x="10804922" y="3131344"/>
            <a:ext cx="625078"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需实证证明</a:t>
            </a:r>
            <a:endParaRPr lang="en-US" sz="750" dirty="0" spc="0"/>
          </a:p>
        </p:txBody>
      </p:sp>
      <p:sp>
        <p:nvSpPr>
          <p:cNvPr id="68" name="ocr-041"/>
          <p:cNvSpPr txBox="1"/>
          <p:nvPr/>
        </p:nvSpPr>
        <p:spPr>
          <a:xfrm>
            <a:off x="881063" y="3238500"/>
            <a:ext cx="351234"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03</a:t>
            </a:r>
            <a:endParaRPr lang="en-US" sz="1000" dirty="0" spc="0"/>
          </a:p>
        </p:txBody>
      </p:sp>
      <p:sp>
        <p:nvSpPr>
          <p:cNvPr id="69" name="ocr-042"/>
          <p:cNvSpPr txBox="1"/>
          <p:nvPr/>
        </p:nvSpPr>
        <p:spPr>
          <a:xfrm>
            <a:off x="1428750" y="3256359"/>
            <a:ext cx="1375172"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可信动作验证闭环</a:t>
            </a:r>
            <a:endParaRPr lang="en-US" sz="850" dirty="0" spc="0"/>
          </a:p>
        </p:txBody>
      </p:sp>
      <p:sp>
        <p:nvSpPr>
          <p:cNvPr id="70" name="ocr-043"/>
          <p:cNvSpPr txBox="1"/>
          <p:nvPr/>
        </p:nvSpPr>
        <p:spPr>
          <a:xfrm>
            <a:off x="5524500" y="3256359"/>
            <a:ext cx="3333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04</a:t>
            </a:r>
            <a:endParaRPr lang="en-US" sz="800" dirty="0" spc="0"/>
          </a:p>
        </p:txBody>
      </p:sp>
      <p:sp>
        <p:nvSpPr>
          <p:cNvPr id="71" name="ocr-044"/>
          <p:cNvSpPr txBox="1"/>
          <p:nvPr/>
        </p:nvSpPr>
        <p:spPr>
          <a:xfrm>
            <a:off x="6000750" y="3196828"/>
            <a:ext cx="153590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软件语义进度强基线</a:t>
            </a:r>
            <a:endParaRPr lang="en-US" sz="950" dirty="0" spc="0"/>
          </a:p>
        </p:txBody>
      </p:sp>
      <p:sp>
        <p:nvSpPr>
          <p:cNvPr id="72" name="ocr-045"/>
          <p:cNvSpPr txBox="1"/>
          <p:nvPr/>
        </p:nvSpPr>
        <p:spPr>
          <a:xfrm>
            <a:off x="9155906" y="3238500"/>
            <a:ext cx="155376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复杂环境下的实时派生状态</a:t>
            </a:r>
            <a:endParaRPr lang="en-US" sz="750" dirty="0" spc="0"/>
          </a:p>
        </p:txBody>
      </p:sp>
      <p:sp>
        <p:nvSpPr>
          <p:cNvPr id="73" name="ocr-046"/>
          <p:cNvSpPr txBox="1"/>
          <p:nvPr/>
        </p:nvSpPr>
        <p:spPr>
          <a:xfrm>
            <a:off x="10751344" y="3274219"/>
            <a:ext cx="77985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具有独立收益</a:t>
            </a:r>
            <a:endParaRPr lang="en-US" sz="750" dirty="0" spc="0"/>
          </a:p>
        </p:txBody>
      </p:sp>
      <p:sp>
        <p:nvSpPr>
          <p:cNvPr id="74" name="ocr-047"/>
          <p:cNvSpPr txBox="1"/>
          <p:nvPr/>
        </p:nvSpPr>
        <p:spPr>
          <a:xfrm>
            <a:off x="6042422" y="3369469"/>
            <a:ext cx="25360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(LAS/ProgRouter/ProAgentBench)</a:t>
            </a:r>
            <a:endParaRPr lang="en-US" sz="800" dirty="0" spc="0"/>
          </a:p>
        </p:txBody>
      </p:sp>
      <p:sp>
        <p:nvSpPr>
          <p:cNvPr id="75" name="ocr-048"/>
          <p:cNvSpPr txBox="1"/>
          <p:nvPr/>
        </p:nvSpPr>
        <p:spPr>
          <a:xfrm>
            <a:off x="9155906" y="3399234"/>
            <a:ext cx="173831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需硬件侧高效、低开销获取</a:t>
            </a:r>
            <a:endParaRPr lang="en-US" sz="750" dirty="0" spc="0"/>
          </a:p>
        </p:txBody>
      </p:sp>
      <p:sp>
        <p:nvSpPr>
          <p:cNvPr id="76" name="ocr-049"/>
          <p:cNvSpPr txBox="1"/>
          <p:nvPr/>
        </p:nvSpPr>
        <p:spPr>
          <a:xfrm>
            <a:off x="1547813" y="3601641"/>
            <a:ext cx="182165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·从输入到结果的全过程验证</a:t>
            </a:r>
            <a:endParaRPr lang="en-US" sz="750" dirty="0" spc="0"/>
          </a:p>
        </p:txBody>
      </p:sp>
      <p:sp>
        <p:nvSpPr>
          <p:cNvPr id="77" name="ocr-050"/>
          <p:cNvSpPr txBox="1"/>
          <p:nvPr/>
        </p:nvSpPr>
        <p:spPr>
          <a:xfrm>
            <a:off x="6191250" y="3613547"/>
            <a:ext cx="183356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·从可观察状态构建任务账本</a:t>
            </a:r>
            <a:endParaRPr lang="en-US" sz="750" dirty="0" spc="0"/>
          </a:p>
        </p:txBody>
      </p:sp>
      <p:sp>
        <p:nvSpPr>
          <p:cNvPr id="78" name="ocr-051"/>
          <p:cNvSpPr txBox="1"/>
          <p:nvPr/>
        </p:nvSpPr>
        <p:spPr>
          <a:xfrm>
            <a:off x="1547813" y="3762375"/>
            <a:ext cx="198239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·复杂工具调用与环境交互枚验</a:t>
            </a:r>
            <a:endParaRPr lang="en-US" sz="750" dirty="0" spc="0"/>
          </a:p>
        </p:txBody>
      </p:sp>
      <p:sp>
        <p:nvSpPr>
          <p:cNvPr id="79" name="ocr-052"/>
          <p:cNvSpPr txBox="1"/>
          <p:nvPr/>
        </p:nvSpPr>
        <p:spPr>
          <a:xfrm>
            <a:off x="6179344" y="3780234"/>
            <a:ext cx="170259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·语义进度控制与动态路由</a:t>
            </a:r>
            <a:endParaRPr lang="en-US" sz="750" dirty="0" spc="0"/>
          </a:p>
        </p:txBody>
      </p:sp>
      <p:sp>
        <p:nvSpPr>
          <p:cNvPr id="80" name="ocr-053"/>
          <p:cNvSpPr txBox="1"/>
          <p:nvPr/>
        </p:nvSpPr>
        <p:spPr>
          <a:xfrm>
            <a:off x="8298656" y="3810000"/>
            <a:ext cx="369094"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03</a:t>
            </a:r>
            <a:endParaRPr lang="en-US" sz="1200" dirty="0" spc="0"/>
          </a:p>
        </p:txBody>
      </p:sp>
      <p:sp>
        <p:nvSpPr>
          <p:cNvPr id="81" name="ocr-054"/>
          <p:cNvSpPr txBox="1"/>
          <p:nvPr/>
        </p:nvSpPr>
        <p:spPr>
          <a:xfrm>
            <a:off x="9090422" y="3810000"/>
            <a:ext cx="145256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CPU续执行局部性</a:t>
            </a:r>
            <a:endParaRPr lang="en-US" sz="950" dirty="0" spc="0"/>
          </a:p>
        </p:txBody>
      </p:sp>
      <p:sp>
        <p:nvSpPr>
          <p:cNvPr id="82" name="ocr-055"/>
          <p:cNvSpPr txBox="1"/>
          <p:nvPr/>
        </p:nvSpPr>
        <p:spPr>
          <a:xfrm>
            <a:off x="1541859" y="3905250"/>
            <a:ext cx="1833563" cy="17264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58738A"/>
                </a:solidFill>
                <a:latin typeface="Microsoft YaHei" pitchFamily="34" charset="0"/>
                <a:ea typeface="Microsoft YaHei" pitchFamily="34" charset="-122"/>
                <a:cs typeface="Microsoft YaHei" pitchFamily="34" charset="-120"/>
              </a:rPr>
              <a:t>·可恢复、可审计的任务执行</a:t>
            </a:r>
            <a:endParaRPr lang="en-US" sz="800" dirty="0" spc="0"/>
          </a:p>
        </p:txBody>
      </p:sp>
      <p:sp>
        <p:nvSpPr>
          <p:cNvPr id="83" name="ocr-056"/>
          <p:cNvSpPr txBox="1"/>
          <p:nvPr/>
        </p:nvSpPr>
        <p:spPr>
          <a:xfrm>
            <a:off x="6167438" y="3917156"/>
            <a:ext cx="1857375"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·基于真实效果的评估与回执</a:t>
            </a:r>
            <a:endParaRPr lang="en-US" sz="850" dirty="0" spc="0"/>
          </a:p>
        </p:txBody>
      </p:sp>
      <p:sp>
        <p:nvSpPr>
          <p:cNvPr id="84" name="ocr-057"/>
          <p:cNvSpPr txBox="1"/>
          <p:nvPr/>
        </p:nvSpPr>
        <p:spPr>
          <a:xfrm>
            <a:off x="10804922" y="3946922"/>
            <a:ext cx="625078"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需实证证明</a:t>
            </a:r>
            <a:endParaRPr lang="en-US" sz="750" dirty="0" spc="0"/>
          </a:p>
        </p:txBody>
      </p:sp>
      <p:sp>
        <p:nvSpPr>
          <p:cNvPr id="85" name="ocr-058"/>
          <p:cNvSpPr txBox="1"/>
          <p:nvPr/>
        </p:nvSpPr>
        <p:spPr>
          <a:xfrm>
            <a:off x="9096375" y="4054078"/>
            <a:ext cx="1613297"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·跨工具/应用的连续执行局部性</a:t>
            </a:r>
            <a:endParaRPr lang="en-US" sz="750" dirty="0" spc="0"/>
          </a:p>
        </p:txBody>
      </p:sp>
      <p:sp>
        <p:nvSpPr>
          <p:cNvPr id="86" name="ocr-059"/>
          <p:cNvSpPr txBox="1"/>
          <p:nvPr/>
        </p:nvSpPr>
        <p:spPr>
          <a:xfrm>
            <a:off x="10739438" y="4089797"/>
            <a:ext cx="78581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软件无法重建</a:t>
            </a:r>
            <a:endParaRPr lang="en-US" sz="750" dirty="0" spc="0"/>
          </a:p>
        </p:txBody>
      </p:sp>
      <p:sp>
        <p:nvSpPr>
          <p:cNvPr id="87" name="ocr-060"/>
          <p:cNvSpPr txBox="1"/>
          <p:nvPr/>
        </p:nvSpPr>
        <p:spPr>
          <a:xfrm>
            <a:off x="881063" y="4202906"/>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覆盖能力</a:t>
            </a:r>
            <a:endParaRPr lang="en-US" sz="850" dirty="0" spc="0"/>
          </a:p>
        </p:txBody>
      </p:sp>
      <p:sp>
        <p:nvSpPr>
          <p:cNvPr id="88" name="ocr-061"/>
          <p:cNvSpPr txBox="1"/>
          <p:nvPr/>
        </p:nvSpPr>
        <p:spPr>
          <a:xfrm>
            <a:off x="1559719" y="4214813"/>
            <a:ext cx="5417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结果验证</a:t>
            </a:r>
            <a:endParaRPr lang="en-US" sz="750" dirty="0" spc="0"/>
          </a:p>
        </p:txBody>
      </p:sp>
      <p:sp>
        <p:nvSpPr>
          <p:cNvPr id="89" name="ocr-062"/>
          <p:cNvSpPr txBox="1"/>
          <p:nvPr/>
        </p:nvSpPr>
        <p:spPr>
          <a:xfrm>
            <a:off x="2232422" y="4214813"/>
            <a:ext cx="5417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风险控制</a:t>
            </a:r>
            <a:endParaRPr lang="en-US" sz="750" dirty="0" spc="0"/>
          </a:p>
        </p:txBody>
      </p:sp>
      <p:sp>
        <p:nvSpPr>
          <p:cNvPr id="90" name="ocr-063"/>
          <p:cNvSpPr txBox="1"/>
          <p:nvPr/>
        </p:nvSpPr>
        <p:spPr>
          <a:xfrm>
            <a:off x="2899172" y="4214813"/>
            <a:ext cx="535781"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失败恢复</a:t>
            </a:r>
            <a:endParaRPr lang="en-US" sz="750" dirty="0" spc="0"/>
          </a:p>
        </p:txBody>
      </p:sp>
      <p:sp>
        <p:nvSpPr>
          <p:cNvPr id="91" name="ocr-064"/>
          <p:cNvSpPr txBox="1"/>
          <p:nvPr/>
        </p:nvSpPr>
        <p:spPr>
          <a:xfrm>
            <a:off x="5536406" y="4208859"/>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覆盖能力</a:t>
            </a:r>
            <a:endParaRPr lang="en-US" sz="850" dirty="0" spc="0"/>
          </a:p>
        </p:txBody>
      </p:sp>
      <p:sp>
        <p:nvSpPr>
          <p:cNvPr id="92" name="ocr-065"/>
          <p:cNvSpPr txBox="1"/>
          <p:nvPr/>
        </p:nvSpPr>
        <p:spPr>
          <a:xfrm>
            <a:off x="6185297" y="4226719"/>
            <a:ext cx="541734"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进度控制</a:t>
            </a:r>
            <a:endParaRPr lang="en-US" sz="750" dirty="0" spc="0"/>
          </a:p>
        </p:txBody>
      </p:sp>
      <p:sp>
        <p:nvSpPr>
          <p:cNvPr id="93" name="ocr-066"/>
          <p:cNvSpPr txBox="1"/>
          <p:nvPr/>
        </p:nvSpPr>
        <p:spPr>
          <a:xfrm>
            <a:off x="6780609" y="4226719"/>
            <a:ext cx="535781"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模型路由</a:t>
            </a:r>
            <a:endParaRPr lang="en-US" sz="750" dirty="0" spc="0"/>
          </a:p>
        </p:txBody>
      </p:sp>
      <p:sp>
        <p:nvSpPr>
          <p:cNvPr id="94" name="ocr-067"/>
          <p:cNvSpPr txBox="1"/>
          <p:nvPr/>
        </p:nvSpPr>
        <p:spPr>
          <a:xfrm>
            <a:off x="7369969" y="4226719"/>
            <a:ext cx="535781"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效果评估</a:t>
            </a:r>
            <a:endParaRPr lang="en-US" sz="750" dirty="0" spc="0"/>
          </a:p>
        </p:txBody>
      </p:sp>
      <p:sp>
        <p:nvSpPr>
          <p:cNvPr id="95" name="ocr-068"/>
          <p:cNvSpPr txBox="1"/>
          <p:nvPr/>
        </p:nvSpPr>
        <p:spPr>
          <a:xfrm>
            <a:off x="9096375" y="4232672"/>
            <a:ext cx="191690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·现有CPU/NPU难以有效利用</a:t>
            </a:r>
            <a:endParaRPr lang="en-US" sz="750" dirty="0" spc="0"/>
          </a:p>
        </p:txBody>
      </p:sp>
      <p:sp>
        <p:nvSpPr>
          <p:cNvPr id="96" name="ocr-069"/>
          <p:cNvSpPr txBox="1"/>
          <p:nvPr/>
        </p:nvSpPr>
        <p:spPr>
          <a:xfrm>
            <a:off x="4929188" y="4720828"/>
            <a:ext cx="3619500"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FFFFFF"/>
                </a:solidFill>
                <a:latin typeface="Microsoft YaHei" pitchFamily="34" charset="0"/>
                <a:ea typeface="Microsoft YaHei" pitchFamily="34" charset="-122"/>
                <a:cs typeface="Microsoft YaHei" pitchFamily="34" charset="-120"/>
              </a:rPr>
              <a:t>进入硬件研究前必须证明（五个证据门槛）</a:t>
            </a:r>
            <a:endParaRPr lang="en-US" sz="1050" dirty="0" spc="0"/>
          </a:p>
        </p:txBody>
      </p:sp>
      <p:sp>
        <p:nvSpPr>
          <p:cNvPr id="97" name="ocr-070"/>
          <p:cNvSpPr txBox="1"/>
          <p:nvPr/>
        </p:nvSpPr>
        <p:spPr>
          <a:xfrm>
            <a:off x="1285875" y="5006578"/>
            <a:ext cx="1232297"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个证据充分的</a:t>
            </a:r>
            <a:endParaRPr lang="en-US" sz="1000" dirty="0" spc="0"/>
          </a:p>
        </p:txBody>
      </p:sp>
      <p:sp>
        <p:nvSpPr>
          <p:cNvPr id="98" name="ocr-071"/>
          <p:cNvSpPr txBox="1"/>
          <p:nvPr/>
        </p:nvSpPr>
        <p:spPr>
          <a:xfrm>
            <a:off x="3434953" y="5072063"/>
            <a:ext cx="79771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软件不可重建</a:t>
            </a:r>
            <a:endParaRPr lang="en-US" sz="750" dirty="0" spc="0"/>
          </a:p>
        </p:txBody>
      </p:sp>
      <p:sp>
        <p:nvSpPr>
          <p:cNvPr id="99" name="ocr-072"/>
          <p:cNvSpPr txBox="1"/>
          <p:nvPr/>
        </p:nvSpPr>
        <p:spPr>
          <a:xfrm>
            <a:off x="4589859" y="5066109"/>
            <a:ext cx="89892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手机端真实收益</a:t>
            </a:r>
            <a:endParaRPr lang="en-US" sz="800" dirty="0" spc="0"/>
          </a:p>
        </p:txBody>
      </p:sp>
      <p:sp>
        <p:nvSpPr>
          <p:cNvPr id="100" name="ocr-073"/>
          <p:cNvSpPr txBox="1"/>
          <p:nvPr/>
        </p:nvSpPr>
        <p:spPr>
          <a:xfrm>
            <a:off x="5524500" y="5078016"/>
            <a:ext cx="285750"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03</a:t>
            </a:r>
            <a:endParaRPr lang="en-US" sz="750" dirty="0" spc="0"/>
          </a:p>
        </p:txBody>
      </p:sp>
      <p:sp>
        <p:nvSpPr>
          <p:cNvPr id="101" name="ocr-074"/>
          <p:cNvSpPr txBox="1"/>
          <p:nvPr/>
        </p:nvSpPr>
        <p:spPr>
          <a:xfrm>
            <a:off x="5875734" y="5066109"/>
            <a:ext cx="9822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能耗/QoE改善</a:t>
            </a:r>
            <a:endParaRPr lang="en-US" sz="800" dirty="0" spc="0"/>
          </a:p>
        </p:txBody>
      </p:sp>
      <p:sp>
        <p:nvSpPr>
          <p:cNvPr id="102" name="ocr-075"/>
          <p:cNvSpPr txBox="1"/>
          <p:nvPr/>
        </p:nvSpPr>
        <p:spPr>
          <a:xfrm>
            <a:off x="6941344" y="5089922"/>
            <a:ext cx="267891" cy="13096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650" dirty="0" spc="0">
                <a:solidFill>
                  <a:srgbClr val="58738A"/>
                </a:solidFill>
                <a:latin typeface="Microsoft YaHei" pitchFamily="34" charset="0"/>
                <a:ea typeface="Microsoft YaHei" pitchFamily="34" charset="-122"/>
                <a:cs typeface="Microsoft YaHei" pitchFamily="34" charset="-120"/>
              </a:rPr>
              <a:t>04</a:t>
            </a:r>
            <a:endParaRPr lang="en-US" sz="650" dirty="0" spc="0"/>
          </a:p>
        </p:txBody>
      </p:sp>
      <p:sp>
        <p:nvSpPr>
          <p:cNvPr id="103" name="ocr-076"/>
          <p:cNvSpPr txBox="1"/>
          <p:nvPr/>
        </p:nvSpPr>
        <p:spPr>
          <a:xfrm>
            <a:off x="7256859" y="5072063"/>
            <a:ext cx="67865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接口可实现</a:t>
            </a:r>
            <a:endParaRPr lang="en-US" sz="750" dirty="0" spc="0"/>
          </a:p>
        </p:txBody>
      </p:sp>
      <p:sp>
        <p:nvSpPr>
          <p:cNvPr id="104" name="ocr-077"/>
          <p:cNvSpPr txBox="1"/>
          <p:nvPr/>
        </p:nvSpPr>
        <p:spPr>
          <a:xfrm>
            <a:off x="8376047" y="5078016"/>
            <a:ext cx="146446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与现有CPU/NPU协作清楚</a:t>
            </a:r>
            <a:endParaRPr lang="en-US" sz="750" dirty="0" spc="0"/>
          </a:p>
        </p:txBody>
      </p:sp>
      <p:sp>
        <p:nvSpPr>
          <p:cNvPr id="105" name="ocr-079"/>
          <p:cNvSpPr txBox="1"/>
          <p:nvPr/>
        </p:nvSpPr>
        <p:spPr>
          <a:xfrm>
            <a:off x="10233422" y="5083969"/>
            <a:ext cx="158353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个条件研究保留项</a:t>
            </a:r>
            <a:endParaRPr lang="en-US" sz="1100" dirty="0" spc="0"/>
          </a:p>
        </p:txBody>
      </p:sp>
      <p:sp>
        <p:nvSpPr>
          <p:cNvPr id="106" name="ocr-080"/>
          <p:cNvSpPr txBox="1"/>
          <p:nvPr/>
        </p:nvSpPr>
        <p:spPr>
          <a:xfrm>
            <a:off x="1279922" y="5185172"/>
            <a:ext cx="220265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新Agent专用CPU主押注</a:t>
            </a:r>
            <a:endParaRPr lang="en-US" sz="1100" dirty="0" spc="0"/>
          </a:p>
        </p:txBody>
      </p:sp>
      <p:sp>
        <p:nvSpPr>
          <p:cNvPr id="107" name="ocr-081"/>
          <p:cNvSpPr txBox="1"/>
          <p:nvPr/>
        </p:nvSpPr>
        <p:spPr>
          <a:xfrm>
            <a:off x="3500438" y="5310188"/>
            <a:ext cx="83939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无法通过现有</a:t>
            </a:r>
            <a:endParaRPr lang="en-US" sz="800" dirty="0" spc="0"/>
          </a:p>
        </p:txBody>
      </p:sp>
      <p:sp>
        <p:nvSpPr>
          <p:cNvPr id="108" name="ocr-082"/>
          <p:cNvSpPr txBox="1"/>
          <p:nvPr/>
        </p:nvSpPr>
        <p:spPr>
          <a:xfrm>
            <a:off x="4643438" y="5322094"/>
            <a:ext cx="96440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在真实移动场景</a:t>
            </a:r>
            <a:endParaRPr lang="en-US" sz="750" dirty="0" spc="0"/>
          </a:p>
        </p:txBody>
      </p:sp>
      <p:sp>
        <p:nvSpPr>
          <p:cNvPr id="109" name="ocr-083"/>
          <p:cNvSpPr txBox="1"/>
          <p:nvPr/>
        </p:nvSpPr>
        <p:spPr>
          <a:xfrm>
            <a:off x="5965031" y="5310188"/>
            <a:ext cx="100607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带来明确的能耗</a:t>
            </a:r>
            <a:endParaRPr lang="en-US" sz="800" dirty="0" spc="0"/>
          </a:p>
        </p:txBody>
      </p:sp>
      <p:sp>
        <p:nvSpPr>
          <p:cNvPr id="110" name="ocr-084"/>
          <p:cNvSpPr txBox="1"/>
          <p:nvPr/>
        </p:nvSpPr>
        <p:spPr>
          <a:xfrm>
            <a:off x="7256859" y="5310188"/>
            <a:ext cx="9644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有满晰、可行的</a:t>
            </a:r>
            <a:endParaRPr lang="en-US" sz="800" dirty="0" spc="0"/>
          </a:p>
        </p:txBody>
      </p:sp>
      <p:sp>
        <p:nvSpPr>
          <p:cNvPr id="111" name="ocr-085"/>
          <p:cNvSpPr txBox="1"/>
          <p:nvPr/>
        </p:nvSpPr>
        <p:spPr>
          <a:xfrm>
            <a:off x="8530828" y="5322094"/>
            <a:ext cx="1279922"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与现有CPU/NPU的</a:t>
            </a:r>
            <a:endParaRPr lang="en-US" sz="750" dirty="0" spc="0"/>
          </a:p>
        </p:txBody>
      </p:sp>
      <p:sp>
        <p:nvSpPr>
          <p:cNvPr id="112" name="ocr-086"/>
          <p:cNvSpPr txBox="1"/>
          <p:nvPr/>
        </p:nvSpPr>
        <p:spPr>
          <a:xfrm>
            <a:off x="3488531" y="5447109"/>
            <a:ext cx="857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软件方案实现</a:t>
            </a:r>
            <a:endParaRPr lang="en-US" sz="800" dirty="0" spc="0"/>
          </a:p>
        </p:txBody>
      </p:sp>
      <p:sp>
        <p:nvSpPr>
          <p:cNvPr id="113" name="ocr-087"/>
          <p:cNvSpPr txBox="1"/>
          <p:nvPr/>
        </p:nvSpPr>
        <p:spPr>
          <a:xfrm>
            <a:off x="4643438" y="5470922"/>
            <a:ext cx="762000"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有可观收益</a:t>
            </a:r>
            <a:endParaRPr lang="en-US" sz="750" dirty="0" spc="0"/>
          </a:p>
        </p:txBody>
      </p:sp>
      <p:sp>
        <p:nvSpPr>
          <p:cNvPr id="114" name="ocr-088"/>
          <p:cNvSpPr txBox="1"/>
          <p:nvPr/>
        </p:nvSpPr>
        <p:spPr>
          <a:xfrm>
            <a:off x="5976938" y="5470922"/>
            <a:ext cx="785813"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或QoE提升</a:t>
            </a:r>
            <a:endParaRPr lang="en-US" sz="750" dirty="0" spc="0"/>
          </a:p>
        </p:txBody>
      </p:sp>
      <p:sp>
        <p:nvSpPr>
          <p:cNvPr id="115" name="ocr-089"/>
          <p:cNvSpPr txBox="1"/>
          <p:nvPr/>
        </p:nvSpPr>
        <p:spPr>
          <a:xfrm>
            <a:off x="7250906" y="5447109"/>
            <a:ext cx="86320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系统接口方案</a:t>
            </a:r>
            <a:endParaRPr lang="en-US" sz="800" dirty="0" spc="0"/>
          </a:p>
        </p:txBody>
      </p:sp>
      <p:sp>
        <p:nvSpPr>
          <p:cNvPr id="116" name="ocr-090"/>
          <p:cNvSpPr txBox="1"/>
          <p:nvPr/>
        </p:nvSpPr>
        <p:spPr>
          <a:xfrm>
            <a:off x="8518922" y="5459016"/>
            <a:ext cx="129182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协作边界明确、互补</a:t>
            </a:r>
            <a:endParaRPr lang="en-US" sz="800" dirty="0" spc="0"/>
          </a:p>
        </p:txBody>
      </p:sp>
      <p:sp>
        <p:nvSpPr>
          <p:cNvPr id="117" name="ocr-091"/>
          <p:cNvSpPr txBox="1"/>
          <p:nvPr/>
        </p:nvSpPr>
        <p:spPr>
          <a:xfrm>
            <a:off x="10233422" y="5417344"/>
            <a:ext cx="13156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仅在满足证据门槛后</a:t>
            </a:r>
            <a:endParaRPr lang="en-US" sz="800" dirty="0" spc="0"/>
          </a:p>
        </p:txBody>
      </p:sp>
      <p:sp>
        <p:nvSpPr>
          <p:cNvPr id="118" name="ocr-092"/>
          <p:cNvSpPr txBox="1"/>
          <p:nvPr/>
        </p:nvSpPr>
        <p:spPr>
          <a:xfrm>
            <a:off x="785813" y="5494734"/>
            <a:ext cx="266700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当前阶段没有证据表明需要全新Agent专用CPU。</a:t>
            </a:r>
            <a:endParaRPr lang="en-US" sz="850" dirty="0" spc="0"/>
          </a:p>
        </p:txBody>
      </p:sp>
      <p:sp>
        <p:nvSpPr>
          <p:cNvPr id="119" name="ocr-093"/>
          <p:cNvSpPr txBox="1"/>
          <p:nvPr/>
        </p:nvSpPr>
        <p:spPr>
          <a:xfrm>
            <a:off x="10227469" y="5572125"/>
            <a:ext cx="15240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开展有限的探索性研究。</a:t>
            </a:r>
            <a:endParaRPr lang="en-US" sz="800" dirty="0" spc="0"/>
          </a:p>
        </p:txBody>
      </p:sp>
      <p:sp>
        <p:nvSpPr>
          <p:cNvPr id="120" name="ocr-094"/>
          <p:cNvSpPr txBox="1"/>
          <p:nvPr/>
        </p:nvSpPr>
        <p:spPr>
          <a:xfrm>
            <a:off x="1333500" y="6090047"/>
            <a:ext cx="511969"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结论</a:t>
            </a:r>
            <a:endParaRPr lang="en-US" sz="1200" dirty="0" spc="0"/>
          </a:p>
        </p:txBody>
      </p:sp>
      <p:sp>
        <p:nvSpPr>
          <p:cNvPr id="121" name="ocr-095"/>
          <p:cNvSpPr txBox="1"/>
          <p:nvPr/>
        </p:nvSpPr>
        <p:spPr>
          <a:xfrm>
            <a:off x="2125266" y="6090047"/>
            <a:ext cx="5607844"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先尊重强软件基线，再为真正无法吸收的残差保留硬件研究空间。</a:t>
            </a:r>
            <a:endParaRPr lang="en-US" sz="1100" dirty="0" spc="0"/>
          </a:p>
        </p:txBody>
      </p:sp>
      <p:sp>
        <p:nvSpPr>
          <p:cNvPr id="122" name="ocr-096"/>
          <p:cNvSpPr txBox="1"/>
          <p:nvPr/>
        </p:nvSpPr>
        <p:spPr>
          <a:xfrm>
            <a:off x="7768828" y="6119813"/>
            <a:ext cx="440531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正式决策：3项优先工程、3项条件研究、0项证据充分的新硬件主押注</a:t>
            </a:r>
            <a:endParaRPr lang="en-US" sz="800" dirty="0" spc="0"/>
          </a:p>
        </p:txBody>
      </p:sp>
      <p:sp>
        <p:nvSpPr>
          <p:cNvPr id="123"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accent"/>
          <p:cNvSpPr/>
          <p:nvPr/>
        </p:nvSpPr>
        <p:spPr>
          <a:xfrm>
            <a:off x="375047" y="470297"/>
            <a:ext cx="53578" cy="648891"/>
          </a:xfrm>
          <a:prstGeom prst="rect">
            <a:avLst/>
          </a:prstGeom>
          <a:solidFill>
            <a:srgbClr val="2473B6"/>
          </a:solidFill>
          <a:ln w="12700">
            <a:solidFill>
              <a:srgbClr val="FFFFFF">
                <a:alpha val="0"/>
              </a:srgbClr>
            </a:solidFill>
            <a:prstDash val="solid"/>
          </a:ln>
        </p:spPr>
      </p:sp>
      <p:sp>
        <p:nvSpPr>
          <p:cNvPr id="3" name="title-rule"/>
          <p:cNvSpPr/>
          <p:nvPr/>
        </p:nvSpPr>
        <p:spPr>
          <a:xfrm>
            <a:off x="398859" y="1321594"/>
            <a:ext cx="11394281" cy="11906"/>
          </a:xfrm>
          <a:prstGeom prst="rect">
            <a:avLst/>
          </a:prstGeom>
          <a:solidFill>
            <a:srgbClr val="C9DBEA"/>
          </a:solidFill>
          <a:ln w="12700">
            <a:solidFill>
              <a:srgbClr val="FFFFFF">
                <a:alpha val="0"/>
              </a:srgbClr>
            </a:solidFill>
            <a:prstDash val="solid"/>
          </a:ln>
        </p:spPr>
      </p:sp>
      <p:sp>
        <p:nvSpPr>
          <p:cNvPr id="4" name="layer-header-bg"/>
          <p:cNvSpPr/>
          <p:nvPr/>
        </p:nvSpPr>
        <p:spPr>
          <a:xfrm>
            <a:off x="398859" y="1500188"/>
            <a:ext cx="1732359" cy="541734"/>
          </a:xfrm>
          <a:prstGeom prst="roundRect">
            <a:avLst>
              <a:gd name="adj" fmla="val 14286"/>
            </a:avLst>
          </a:prstGeom>
          <a:solidFill>
            <a:srgbClr val="173F72"/>
          </a:solidFill>
          <a:ln w="12700">
            <a:solidFill>
              <a:srgbClr val="FFFFFF">
                <a:alpha val="0"/>
              </a:srgbClr>
            </a:solidFill>
            <a:prstDash val="solid"/>
          </a:ln>
        </p:spPr>
      </p:sp>
      <p:sp>
        <p:nvSpPr>
          <p:cNvPr id="5" name="year-2027-bg"/>
          <p:cNvSpPr/>
          <p:nvPr/>
        </p:nvSpPr>
        <p:spPr>
          <a:xfrm>
            <a:off x="2214563" y="1500188"/>
            <a:ext cx="2970609" cy="541734"/>
          </a:xfrm>
          <a:prstGeom prst="roundRect">
            <a:avLst>
              <a:gd name="adj" fmla="val 14286"/>
            </a:avLst>
          </a:prstGeom>
          <a:solidFill>
            <a:srgbClr val="DCEFFB"/>
          </a:solidFill>
          <a:ln w="12700">
            <a:solidFill>
              <a:srgbClr val="FFFFFF">
                <a:alpha val="0"/>
              </a:srgbClr>
            </a:solidFill>
            <a:prstDash val="solid"/>
          </a:ln>
        </p:spPr>
      </p:sp>
      <p:sp>
        <p:nvSpPr>
          <p:cNvPr id="6" name="year-2028-bg"/>
          <p:cNvSpPr/>
          <p:nvPr/>
        </p:nvSpPr>
        <p:spPr>
          <a:xfrm>
            <a:off x="5262563" y="1500188"/>
            <a:ext cx="2970609" cy="541734"/>
          </a:xfrm>
          <a:prstGeom prst="roundRect">
            <a:avLst>
              <a:gd name="adj" fmla="val 14286"/>
            </a:avLst>
          </a:prstGeom>
          <a:solidFill>
            <a:srgbClr val="3B92D9"/>
          </a:solidFill>
          <a:ln w="12700">
            <a:solidFill>
              <a:srgbClr val="FFFFFF">
                <a:alpha val="0"/>
              </a:srgbClr>
            </a:solidFill>
            <a:prstDash val="solid"/>
          </a:ln>
        </p:spPr>
      </p:sp>
      <p:sp>
        <p:nvSpPr>
          <p:cNvPr id="7" name="year-2029-bg"/>
          <p:cNvSpPr/>
          <p:nvPr/>
        </p:nvSpPr>
        <p:spPr>
          <a:xfrm>
            <a:off x="8310563" y="1500188"/>
            <a:ext cx="3482578" cy="541734"/>
          </a:xfrm>
          <a:prstGeom prst="roundRect">
            <a:avLst>
              <a:gd name="adj" fmla="val 14286"/>
            </a:avLst>
          </a:prstGeom>
          <a:solidFill>
            <a:srgbClr val="22568C"/>
          </a:solidFill>
          <a:ln w="12700">
            <a:solidFill>
              <a:srgbClr val="FFFFFF">
                <a:alpha val="0"/>
              </a:srgbClr>
            </a:solidFill>
            <a:prstDash val="solid"/>
          </a:ln>
        </p:spPr>
      </p:sp>
      <p:sp>
        <p:nvSpPr>
          <p:cNvPr id="8" name="row-1-bg"/>
          <p:cNvSpPr/>
          <p:nvPr/>
        </p:nvSpPr>
        <p:spPr>
          <a:xfrm>
            <a:off x="398859" y="2137172"/>
            <a:ext cx="11394281" cy="607219"/>
          </a:xfrm>
          <a:prstGeom prst="roundRect">
            <a:avLst>
              <a:gd name="adj" fmla="val 11765"/>
            </a:avLst>
          </a:prstGeom>
          <a:solidFill>
            <a:srgbClr val="FFFFFF"/>
          </a:solidFill>
          <a:ln w="8930">
            <a:solidFill>
              <a:srgbClr val="C9DBEA"/>
            </a:solidFill>
            <a:prstDash val="solid"/>
          </a:ln>
        </p:spPr>
      </p:sp>
      <p:sp>
        <p:nvSpPr>
          <p:cNvPr id="9" name="row-1-layer-bg"/>
          <p:cNvSpPr/>
          <p:nvPr/>
        </p:nvSpPr>
        <p:spPr>
          <a:xfrm>
            <a:off x="398859" y="2137172"/>
            <a:ext cx="1732359" cy="607219"/>
          </a:xfrm>
          <a:prstGeom prst="roundRect">
            <a:avLst>
              <a:gd name="adj" fmla="val 11765"/>
            </a:avLst>
          </a:prstGeom>
          <a:solidFill>
            <a:srgbClr val="EDF6FC"/>
          </a:solidFill>
          <a:ln w="12700">
            <a:solidFill>
              <a:srgbClr val="FFFFFF">
                <a:alpha val="0"/>
              </a:srgbClr>
            </a:solidFill>
            <a:prstDash val="solid"/>
          </a:ln>
        </p:spPr>
      </p:sp>
      <p:sp>
        <p:nvSpPr>
          <p:cNvPr id="10" name="row-1-y2029-ongoing-bg"/>
          <p:cNvSpPr/>
          <p:nvPr/>
        </p:nvSpPr>
        <p:spPr>
          <a:xfrm>
            <a:off x="8429625" y="2220516"/>
            <a:ext cx="440531" cy="202406"/>
          </a:xfrm>
          <a:prstGeom prst="roundRect">
            <a:avLst>
              <a:gd name="adj" fmla="val 20588"/>
            </a:avLst>
          </a:prstGeom>
          <a:solidFill>
            <a:srgbClr val="E7F2FD"/>
          </a:solidFill>
          <a:ln w="8930">
            <a:solidFill>
              <a:srgbClr val="BCD8EC"/>
            </a:solidFill>
            <a:prstDash val="solid"/>
          </a:ln>
        </p:spPr>
      </p:sp>
      <p:sp>
        <p:nvSpPr>
          <p:cNvPr id="11" name="row-1-y2029-conditional-bg"/>
          <p:cNvSpPr/>
          <p:nvPr/>
        </p:nvSpPr>
        <p:spPr>
          <a:xfrm>
            <a:off x="8429625" y="2482453"/>
            <a:ext cx="440531" cy="184547"/>
          </a:xfrm>
          <a:prstGeom prst="roundRect">
            <a:avLst>
              <a:gd name="adj" fmla="val 22581"/>
            </a:avLst>
          </a:prstGeom>
          <a:solidFill>
            <a:srgbClr val="E7F2FD"/>
          </a:solidFill>
          <a:ln w="8930">
            <a:solidFill>
              <a:srgbClr val="8FB9D8"/>
            </a:solidFill>
            <a:prstDash val="solid"/>
          </a:ln>
        </p:spPr>
      </p:sp>
      <p:sp>
        <p:nvSpPr>
          <p:cNvPr id="12" name="row-2-bg"/>
          <p:cNvSpPr/>
          <p:nvPr/>
        </p:nvSpPr>
        <p:spPr>
          <a:xfrm>
            <a:off x="398859" y="2803922"/>
            <a:ext cx="11394281" cy="607219"/>
          </a:xfrm>
          <a:prstGeom prst="roundRect">
            <a:avLst>
              <a:gd name="adj" fmla="val 11765"/>
            </a:avLst>
          </a:prstGeom>
          <a:solidFill>
            <a:srgbClr val="E7F2FD"/>
          </a:solidFill>
          <a:ln w="8930">
            <a:solidFill>
              <a:srgbClr val="C9DBEA"/>
            </a:solidFill>
            <a:prstDash val="solid"/>
          </a:ln>
        </p:spPr>
      </p:sp>
      <p:sp>
        <p:nvSpPr>
          <p:cNvPr id="13" name="row-2-layer-bg"/>
          <p:cNvSpPr/>
          <p:nvPr/>
        </p:nvSpPr>
        <p:spPr>
          <a:xfrm>
            <a:off x="398859" y="2803922"/>
            <a:ext cx="1732359" cy="607219"/>
          </a:xfrm>
          <a:prstGeom prst="roundRect">
            <a:avLst>
              <a:gd name="adj" fmla="val 11765"/>
            </a:avLst>
          </a:prstGeom>
          <a:solidFill>
            <a:srgbClr val="E7F2FD"/>
          </a:solidFill>
          <a:ln w="12700">
            <a:solidFill>
              <a:srgbClr val="FFFFFF">
                <a:alpha val="0"/>
              </a:srgbClr>
            </a:solidFill>
            <a:prstDash val="solid"/>
          </a:ln>
        </p:spPr>
      </p:sp>
      <p:sp>
        <p:nvSpPr>
          <p:cNvPr id="14" name="row-2-y2029-ongoing-bg"/>
          <p:cNvSpPr/>
          <p:nvPr/>
        </p:nvSpPr>
        <p:spPr>
          <a:xfrm>
            <a:off x="8429625" y="2887266"/>
            <a:ext cx="440531" cy="202406"/>
          </a:xfrm>
          <a:prstGeom prst="roundRect">
            <a:avLst>
              <a:gd name="adj" fmla="val 20588"/>
            </a:avLst>
          </a:prstGeom>
          <a:solidFill>
            <a:srgbClr val="E7F2FD"/>
          </a:solidFill>
          <a:ln w="8930">
            <a:solidFill>
              <a:srgbClr val="BCD8EC"/>
            </a:solidFill>
            <a:prstDash val="solid"/>
          </a:ln>
        </p:spPr>
      </p:sp>
      <p:sp>
        <p:nvSpPr>
          <p:cNvPr id="15" name="row-2-y2029-conditional-bg"/>
          <p:cNvSpPr/>
          <p:nvPr/>
        </p:nvSpPr>
        <p:spPr>
          <a:xfrm>
            <a:off x="8429625" y="3149203"/>
            <a:ext cx="440531" cy="184547"/>
          </a:xfrm>
          <a:prstGeom prst="roundRect">
            <a:avLst>
              <a:gd name="adj" fmla="val 22581"/>
            </a:avLst>
          </a:prstGeom>
          <a:solidFill>
            <a:srgbClr val="E7F2FD"/>
          </a:solidFill>
          <a:ln w="8930">
            <a:solidFill>
              <a:srgbClr val="8FB9D8"/>
            </a:solidFill>
            <a:prstDash val="solid"/>
          </a:ln>
        </p:spPr>
      </p:sp>
      <p:sp>
        <p:nvSpPr>
          <p:cNvPr id="16" name="row-3-bg"/>
          <p:cNvSpPr/>
          <p:nvPr/>
        </p:nvSpPr>
        <p:spPr>
          <a:xfrm>
            <a:off x="398859" y="3470672"/>
            <a:ext cx="11394281" cy="607219"/>
          </a:xfrm>
          <a:prstGeom prst="roundRect">
            <a:avLst>
              <a:gd name="adj" fmla="val 11765"/>
            </a:avLst>
          </a:prstGeom>
          <a:solidFill>
            <a:srgbClr val="FFFFFF"/>
          </a:solidFill>
          <a:ln w="8930">
            <a:solidFill>
              <a:srgbClr val="C9DBEA"/>
            </a:solidFill>
            <a:prstDash val="solid"/>
          </a:ln>
        </p:spPr>
      </p:sp>
      <p:sp>
        <p:nvSpPr>
          <p:cNvPr id="17" name="row-3-layer-bg"/>
          <p:cNvSpPr/>
          <p:nvPr/>
        </p:nvSpPr>
        <p:spPr>
          <a:xfrm>
            <a:off x="398859" y="3470672"/>
            <a:ext cx="1732359" cy="607219"/>
          </a:xfrm>
          <a:prstGeom prst="roundRect">
            <a:avLst>
              <a:gd name="adj" fmla="val 11765"/>
            </a:avLst>
          </a:prstGeom>
          <a:solidFill>
            <a:srgbClr val="EDF6FC"/>
          </a:solidFill>
          <a:ln w="12700">
            <a:solidFill>
              <a:srgbClr val="FFFFFF">
                <a:alpha val="0"/>
              </a:srgbClr>
            </a:solidFill>
            <a:prstDash val="solid"/>
          </a:ln>
        </p:spPr>
      </p:sp>
      <p:sp>
        <p:nvSpPr>
          <p:cNvPr id="18" name="row-3-y2029-ongoing-bg"/>
          <p:cNvSpPr/>
          <p:nvPr/>
        </p:nvSpPr>
        <p:spPr>
          <a:xfrm>
            <a:off x="8429625" y="3554016"/>
            <a:ext cx="440531" cy="202406"/>
          </a:xfrm>
          <a:prstGeom prst="roundRect">
            <a:avLst>
              <a:gd name="adj" fmla="val 20588"/>
            </a:avLst>
          </a:prstGeom>
          <a:solidFill>
            <a:srgbClr val="E7F2FD"/>
          </a:solidFill>
          <a:ln w="8930">
            <a:solidFill>
              <a:srgbClr val="BCD8EC"/>
            </a:solidFill>
            <a:prstDash val="solid"/>
          </a:ln>
        </p:spPr>
      </p:sp>
      <p:sp>
        <p:nvSpPr>
          <p:cNvPr id="19" name="row-3-y2029-conditional-bg"/>
          <p:cNvSpPr/>
          <p:nvPr/>
        </p:nvSpPr>
        <p:spPr>
          <a:xfrm>
            <a:off x="8429625" y="3815953"/>
            <a:ext cx="440531" cy="184547"/>
          </a:xfrm>
          <a:prstGeom prst="roundRect">
            <a:avLst>
              <a:gd name="adj" fmla="val 22581"/>
            </a:avLst>
          </a:prstGeom>
          <a:solidFill>
            <a:srgbClr val="E7F2FD"/>
          </a:solidFill>
          <a:ln w="8930">
            <a:solidFill>
              <a:srgbClr val="8FB9D8"/>
            </a:solidFill>
            <a:prstDash val="solid"/>
          </a:ln>
        </p:spPr>
      </p:sp>
      <p:sp>
        <p:nvSpPr>
          <p:cNvPr id="20" name="row-4-bg"/>
          <p:cNvSpPr/>
          <p:nvPr/>
        </p:nvSpPr>
        <p:spPr>
          <a:xfrm>
            <a:off x="398859" y="4137422"/>
            <a:ext cx="11394281" cy="607219"/>
          </a:xfrm>
          <a:prstGeom prst="roundRect">
            <a:avLst>
              <a:gd name="adj" fmla="val 11765"/>
            </a:avLst>
          </a:prstGeom>
          <a:solidFill>
            <a:srgbClr val="E7F2FD"/>
          </a:solidFill>
          <a:ln w="8930">
            <a:solidFill>
              <a:srgbClr val="C9DBEA"/>
            </a:solidFill>
            <a:prstDash val="solid"/>
          </a:ln>
        </p:spPr>
      </p:sp>
      <p:sp>
        <p:nvSpPr>
          <p:cNvPr id="21" name="row-4-layer-bg"/>
          <p:cNvSpPr/>
          <p:nvPr/>
        </p:nvSpPr>
        <p:spPr>
          <a:xfrm>
            <a:off x="398859" y="4137422"/>
            <a:ext cx="1732359" cy="607219"/>
          </a:xfrm>
          <a:prstGeom prst="roundRect">
            <a:avLst>
              <a:gd name="adj" fmla="val 11765"/>
            </a:avLst>
          </a:prstGeom>
          <a:solidFill>
            <a:srgbClr val="E7F2FD"/>
          </a:solidFill>
          <a:ln w="12700">
            <a:solidFill>
              <a:srgbClr val="FFFFFF">
                <a:alpha val="0"/>
              </a:srgbClr>
            </a:solidFill>
            <a:prstDash val="solid"/>
          </a:ln>
        </p:spPr>
      </p:sp>
      <p:sp>
        <p:nvSpPr>
          <p:cNvPr id="22" name="row-4-y2029-ongoing-bg"/>
          <p:cNvSpPr/>
          <p:nvPr/>
        </p:nvSpPr>
        <p:spPr>
          <a:xfrm>
            <a:off x="8429625" y="4220766"/>
            <a:ext cx="440531" cy="202406"/>
          </a:xfrm>
          <a:prstGeom prst="roundRect">
            <a:avLst>
              <a:gd name="adj" fmla="val 20588"/>
            </a:avLst>
          </a:prstGeom>
          <a:solidFill>
            <a:srgbClr val="E7F2FD"/>
          </a:solidFill>
          <a:ln w="8930">
            <a:solidFill>
              <a:srgbClr val="BCD8EC"/>
            </a:solidFill>
            <a:prstDash val="solid"/>
          </a:ln>
        </p:spPr>
      </p:sp>
      <p:sp>
        <p:nvSpPr>
          <p:cNvPr id="23" name="row-4-y2029-conditional-bg"/>
          <p:cNvSpPr/>
          <p:nvPr/>
        </p:nvSpPr>
        <p:spPr>
          <a:xfrm>
            <a:off x="8429625" y="4482703"/>
            <a:ext cx="440531" cy="184547"/>
          </a:xfrm>
          <a:prstGeom prst="roundRect">
            <a:avLst>
              <a:gd name="adj" fmla="val 22581"/>
            </a:avLst>
          </a:prstGeom>
          <a:solidFill>
            <a:srgbClr val="E7F2FD"/>
          </a:solidFill>
          <a:ln w="8930">
            <a:solidFill>
              <a:srgbClr val="8FB9D8"/>
            </a:solidFill>
            <a:prstDash val="solid"/>
          </a:ln>
        </p:spPr>
      </p:sp>
      <p:sp>
        <p:nvSpPr>
          <p:cNvPr id="24" name="row-5-bg"/>
          <p:cNvSpPr/>
          <p:nvPr/>
        </p:nvSpPr>
        <p:spPr>
          <a:xfrm>
            <a:off x="398859" y="4804172"/>
            <a:ext cx="11394281" cy="607219"/>
          </a:xfrm>
          <a:prstGeom prst="roundRect">
            <a:avLst>
              <a:gd name="adj" fmla="val 11765"/>
            </a:avLst>
          </a:prstGeom>
          <a:solidFill>
            <a:srgbClr val="FFFFFF"/>
          </a:solidFill>
          <a:ln w="8930">
            <a:solidFill>
              <a:srgbClr val="C9DBEA"/>
            </a:solidFill>
            <a:prstDash val="solid"/>
          </a:ln>
        </p:spPr>
      </p:sp>
      <p:sp>
        <p:nvSpPr>
          <p:cNvPr id="25" name="row-5-layer-bg"/>
          <p:cNvSpPr/>
          <p:nvPr/>
        </p:nvSpPr>
        <p:spPr>
          <a:xfrm>
            <a:off x="398859" y="4804172"/>
            <a:ext cx="1732359" cy="607219"/>
          </a:xfrm>
          <a:prstGeom prst="roundRect">
            <a:avLst>
              <a:gd name="adj" fmla="val 11765"/>
            </a:avLst>
          </a:prstGeom>
          <a:solidFill>
            <a:srgbClr val="EDF6FC"/>
          </a:solidFill>
          <a:ln w="12700">
            <a:solidFill>
              <a:srgbClr val="FFFFFF">
                <a:alpha val="0"/>
              </a:srgbClr>
            </a:solidFill>
            <a:prstDash val="solid"/>
          </a:ln>
        </p:spPr>
      </p:sp>
      <p:sp>
        <p:nvSpPr>
          <p:cNvPr id="26" name="row-5-y2029-ongoing-bg"/>
          <p:cNvSpPr/>
          <p:nvPr/>
        </p:nvSpPr>
        <p:spPr>
          <a:xfrm>
            <a:off x="8429625" y="4887516"/>
            <a:ext cx="440531" cy="202406"/>
          </a:xfrm>
          <a:prstGeom prst="roundRect">
            <a:avLst>
              <a:gd name="adj" fmla="val 20588"/>
            </a:avLst>
          </a:prstGeom>
          <a:solidFill>
            <a:srgbClr val="E7F2FD"/>
          </a:solidFill>
          <a:ln w="8930">
            <a:solidFill>
              <a:srgbClr val="BCD8EC"/>
            </a:solidFill>
            <a:prstDash val="solid"/>
          </a:ln>
        </p:spPr>
      </p:sp>
      <p:sp>
        <p:nvSpPr>
          <p:cNvPr id="27" name="row-5-y2029-conditional-bg"/>
          <p:cNvSpPr/>
          <p:nvPr/>
        </p:nvSpPr>
        <p:spPr>
          <a:xfrm>
            <a:off x="8429625" y="5149453"/>
            <a:ext cx="440531" cy="184547"/>
          </a:xfrm>
          <a:prstGeom prst="roundRect">
            <a:avLst>
              <a:gd name="adj" fmla="val 22581"/>
            </a:avLst>
          </a:prstGeom>
          <a:solidFill>
            <a:srgbClr val="E7F2FD"/>
          </a:solidFill>
          <a:ln w="8930">
            <a:solidFill>
              <a:srgbClr val="8FB9D8"/>
            </a:solidFill>
            <a:prstDash val="solid"/>
          </a:ln>
        </p:spPr>
      </p:sp>
      <p:sp>
        <p:nvSpPr>
          <p:cNvPr id="28" name="gate-panel"/>
          <p:cNvSpPr/>
          <p:nvPr/>
        </p:nvSpPr>
        <p:spPr>
          <a:xfrm>
            <a:off x="398859" y="5506641"/>
            <a:ext cx="11394281" cy="422672"/>
          </a:xfrm>
          <a:prstGeom prst="roundRect">
            <a:avLst>
              <a:gd name="adj" fmla="val 16901"/>
            </a:avLst>
          </a:prstGeom>
          <a:solidFill>
            <a:srgbClr val="E7F2FD"/>
          </a:solidFill>
          <a:ln w="8930">
            <a:solidFill>
              <a:srgbClr val="AED0E8"/>
            </a:solidFill>
            <a:prstDash val="solid"/>
          </a:ln>
        </p:spPr>
      </p:sp>
      <p:sp>
        <p:nvSpPr>
          <p:cNvPr id="29" name="gate-label-bg"/>
          <p:cNvSpPr/>
          <p:nvPr/>
        </p:nvSpPr>
        <p:spPr>
          <a:xfrm>
            <a:off x="511969" y="5584031"/>
            <a:ext cx="934641" cy="255984"/>
          </a:xfrm>
          <a:prstGeom prst="roundRect">
            <a:avLst>
              <a:gd name="adj" fmla="val 20930"/>
            </a:avLst>
          </a:prstGeom>
          <a:solidFill>
            <a:srgbClr val="173F72"/>
          </a:solidFill>
          <a:ln w="12700">
            <a:solidFill>
              <a:srgbClr val="FFFFFF">
                <a:alpha val="0"/>
              </a:srgbClr>
            </a:solidFill>
            <a:prstDash val="solid"/>
          </a:ln>
        </p:spPr>
      </p:sp>
      <p:sp>
        <p:nvSpPr>
          <p:cNvPr id="30" name="source-rule"/>
          <p:cNvSpPr/>
          <p:nvPr/>
        </p:nvSpPr>
        <p:spPr>
          <a:xfrm>
            <a:off x="416719" y="6060281"/>
            <a:ext cx="11364516" cy="11906"/>
          </a:xfrm>
          <a:prstGeom prst="rect">
            <a:avLst/>
          </a:prstGeom>
          <a:solidFill>
            <a:srgbClr val="C9DBEA"/>
          </a:solidFill>
          <a:ln w="12700">
            <a:solidFill>
              <a:srgbClr val="FFFFFF">
                <a:alpha val="0"/>
              </a:srgbClr>
            </a:solidFill>
            <a:prstDash val="solid"/>
          </a:ln>
        </p:spPr>
      </p:sp>
      <p:sp>
        <p:nvSpPr>
          <p:cNvPr id="31" name="row-1-y2029-conditional-boundary-top-0"/>
          <p:cNvSpPr/>
          <p:nvPr/>
        </p:nvSpPr>
        <p:spPr>
          <a:xfrm>
            <a:off x="8465344" y="2482453"/>
            <a:ext cx="41672" cy="11906"/>
          </a:xfrm>
          <a:prstGeom prst="rect">
            <a:avLst/>
          </a:prstGeom>
          <a:solidFill>
            <a:srgbClr val="72A7D1"/>
          </a:solidFill>
          <a:ln w="12700">
            <a:solidFill>
              <a:srgbClr val="FFFFFF">
                <a:alpha val="0"/>
              </a:srgbClr>
            </a:solidFill>
            <a:prstDash val="solid"/>
          </a:ln>
        </p:spPr>
      </p:sp>
      <p:sp>
        <p:nvSpPr>
          <p:cNvPr id="32" name="row-1-y2029-conditional-boundary-top-1"/>
          <p:cNvSpPr/>
          <p:nvPr/>
        </p:nvSpPr>
        <p:spPr>
          <a:xfrm>
            <a:off x="8536781" y="2482453"/>
            <a:ext cx="41672" cy="11906"/>
          </a:xfrm>
          <a:prstGeom prst="rect">
            <a:avLst/>
          </a:prstGeom>
          <a:solidFill>
            <a:srgbClr val="72A7D1"/>
          </a:solidFill>
          <a:ln w="12700">
            <a:solidFill>
              <a:srgbClr val="FFFFFF">
                <a:alpha val="0"/>
              </a:srgbClr>
            </a:solidFill>
            <a:prstDash val="solid"/>
          </a:ln>
        </p:spPr>
      </p:sp>
      <p:sp>
        <p:nvSpPr>
          <p:cNvPr id="33" name="row-1-y2029-conditional-boundary-top-2"/>
          <p:cNvSpPr/>
          <p:nvPr/>
        </p:nvSpPr>
        <p:spPr>
          <a:xfrm>
            <a:off x="8608219" y="2482453"/>
            <a:ext cx="41672" cy="11906"/>
          </a:xfrm>
          <a:prstGeom prst="rect">
            <a:avLst/>
          </a:prstGeom>
          <a:solidFill>
            <a:srgbClr val="72A7D1"/>
          </a:solidFill>
          <a:ln w="12700">
            <a:solidFill>
              <a:srgbClr val="FFFFFF">
                <a:alpha val="0"/>
              </a:srgbClr>
            </a:solidFill>
            <a:prstDash val="solid"/>
          </a:ln>
        </p:spPr>
      </p:sp>
      <p:sp>
        <p:nvSpPr>
          <p:cNvPr id="34" name="row-1-y2029-conditional-boundary-top-3"/>
          <p:cNvSpPr/>
          <p:nvPr/>
        </p:nvSpPr>
        <p:spPr>
          <a:xfrm>
            <a:off x="8679656" y="2482453"/>
            <a:ext cx="41672" cy="11906"/>
          </a:xfrm>
          <a:prstGeom prst="rect">
            <a:avLst/>
          </a:prstGeom>
          <a:solidFill>
            <a:srgbClr val="72A7D1"/>
          </a:solidFill>
          <a:ln w="12700">
            <a:solidFill>
              <a:srgbClr val="FFFFFF">
                <a:alpha val="0"/>
              </a:srgbClr>
            </a:solidFill>
            <a:prstDash val="solid"/>
          </a:ln>
        </p:spPr>
      </p:sp>
      <p:sp>
        <p:nvSpPr>
          <p:cNvPr id="35" name="row-1-y2029-conditional-boundary-top-4"/>
          <p:cNvSpPr/>
          <p:nvPr/>
        </p:nvSpPr>
        <p:spPr>
          <a:xfrm>
            <a:off x="8751094" y="2482453"/>
            <a:ext cx="41672" cy="11906"/>
          </a:xfrm>
          <a:prstGeom prst="rect">
            <a:avLst/>
          </a:prstGeom>
          <a:solidFill>
            <a:srgbClr val="72A7D1"/>
          </a:solidFill>
          <a:ln w="12700">
            <a:solidFill>
              <a:srgbClr val="FFFFFF">
                <a:alpha val="0"/>
              </a:srgbClr>
            </a:solidFill>
            <a:prstDash val="solid"/>
          </a:ln>
        </p:spPr>
      </p:sp>
      <p:sp>
        <p:nvSpPr>
          <p:cNvPr id="36" name="row-1-y2029-conditional-boundary-top-5"/>
          <p:cNvSpPr/>
          <p:nvPr/>
        </p:nvSpPr>
        <p:spPr>
          <a:xfrm>
            <a:off x="8822531" y="2482453"/>
            <a:ext cx="11906" cy="11906"/>
          </a:xfrm>
          <a:prstGeom prst="rect">
            <a:avLst/>
          </a:prstGeom>
          <a:solidFill>
            <a:srgbClr val="72A7D1"/>
          </a:solidFill>
          <a:ln w="12700">
            <a:solidFill>
              <a:srgbClr val="FFFFFF">
                <a:alpha val="0"/>
              </a:srgbClr>
            </a:solidFill>
            <a:prstDash val="solid"/>
          </a:ln>
        </p:spPr>
      </p:sp>
      <p:sp>
        <p:nvSpPr>
          <p:cNvPr id="37" name="row-1-y2029-conditional-boundary-bottom-0"/>
          <p:cNvSpPr/>
          <p:nvPr/>
        </p:nvSpPr>
        <p:spPr>
          <a:xfrm>
            <a:off x="8465344" y="2661047"/>
            <a:ext cx="41672" cy="11906"/>
          </a:xfrm>
          <a:prstGeom prst="rect">
            <a:avLst/>
          </a:prstGeom>
          <a:solidFill>
            <a:srgbClr val="72A7D1"/>
          </a:solidFill>
          <a:ln w="12700">
            <a:solidFill>
              <a:srgbClr val="FFFFFF">
                <a:alpha val="0"/>
              </a:srgbClr>
            </a:solidFill>
            <a:prstDash val="solid"/>
          </a:ln>
        </p:spPr>
      </p:sp>
      <p:sp>
        <p:nvSpPr>
          <p:cNvPr id="38" name="row-1-y2029-conditional-boundary-bottom-1"/>
          <p:cNvSpPr/>
          <p:nvPr/>
        </p:nvSpPr>
        <p:spPr>
          <a:xfrm>
            <a:off x="8536781" y="2661047"/>
            <a:ext cx="41672" cy="11906"/>
          </a:xfrm>
          <a:prstGeom prst="rect">
            <a:avLst/>
          </a:prstGeom>
          <a:solidFill>
            <a:srgbClr val="72A7D1"/>
          </a:solidFill>
          <a:ln w="12700">
            <a:solidFill>
              <a:srgbClr val="FFFFFF">
                <a:alpha val="0"/>
              </a:srgbClr>
            </a:solidFill>
            <a:prstDash val="solid"/>
          </a:ln>
        </p:spPr>
      </p:sp>
      <p:sp>
        <p:nvSpPr>
          <p:cNvPr id="39" name="row-1-y2029-conditional-boundary-bottom-2"/>
          <p:cNvSpPr/>
          <p:nvPr/>
        </p:nvSpPr>
        <p:spPr>
          <a:xfrm>
            <a:off x="8608219" y="2661047"/>
            <a:ext cx="41672" cy="11906"/>
          </a:xfrm>
          <a:prstGeom prst="rect">
            <a:avLst/>
          </a:prstGeom>
          <a:solidFill>
            <a:srgbClr val="72A7D1"/>
          </a:solidFill>
          <a:ln w="12700">
            <a:solidFill>
              <a:srgbClr val="FFFFFF">
                <a:alpha val="0"/>
              </a:srgbClr>
            </a:solidFill>
            <a:prstDash val="solid"/>
          </a:ln>
        </p:spPr>
      </p:sp>
      <p:sp>
        <p:nvSpPr>
          <p:cNvPr id="40" name="row-1-y2029-conditional-boundary-bottom-3"/>
          <p:cNvSpPr/>
          <p:nvPr/>
        </p:nvSpPr>
        <p:spPr>
          <a:xfrm>
            <a:off x="8679656" y="2661047"/>
            <a:ext cx="41672" cy="11906"/>
          </a:xfrm>
          <a:prstGeom prst="rect">
            <a:avLst/>
          </a:prstGeom>
          <a:solidFill>
            <a:srgbClr val="72A7D1"/>
          </a:solidFill>
          <a:ln w="12700">
            <a:solidFill>
              <a:srgbClr val="FFFFFF">
                <a:alpha val="0"/>
              </a:srgbClr>
            </a:solidFill>
            <a:prstDash val="solid"/>
          </a:ln>
        </p:spPr>
      </p:sp>
      <p:sp>
        <p:nvSpPr>
          <p:cNvPr id="41" name="row-1-y2029-conditional-boundary-bottom-4"/>
          <p:cNvSpPr/>
          <p:nvPr/>
        </p:nvSpPr>
        <p:spPr>
          <a:xfrm>
            <a:off x="8751094" y="2661047"/>
            <a:ext cx="41672" cy="11906"/>
          </a:xfrm>
          <a:prstGeom prst="rect">
            <a:avLst/>
          </a:prstGeom>
          <a:solidFill>
            <a:srgbClr val="72A7D1"/>
          </a:solidFill>
          <a:ln w="12700">
            <a:solidFill>
              <a:srgbClr val="FFFFFF">
                <a:alpha val="0"/>
              </a:srgbClr>
            </a:solidFill>
            <a:prstDash val="solid"/>
          </a:ln>
        </p:spPr>
      </p:sp>
      <p:sp>
        <p:nvSpPr>
          <p:cNvPr id="42" name="row-1-y2029-conditional-boundary-bottom-5"/>
          <p:cNvSpPr/>
          <p:nvPr/>
        </p:nvSpPr>
        <p:spPr>
          <a:xfrm>
            <a:off x="8822531" y="2661047"/>
            <a:ext cx="11906" cy="11906"/>
          </a:xfrm>
          <a:prstGeom prst="rect">
            <a:avLst/>
          </a:prstGeom>
          <a:solidFill>
            <a:srgbClr val="72A7D1"/>
          </a:solidFill>
          <a:ln w="12700">
            <a:solidFill>
              <a:srgbClr val="FFFFFF">
                <a:alpha val="0"/>
              </a:srgbClr>
            </a:solidFill>
            <a:prstDash val="solid"/>
          </a:ln>
        </p:spPr>
      </p:sp>
      <p:sp>
        <p:nvSpPr>
          <p:cNvPr id="43" name="row-1-y2029-conditional-boundary-left-0"/>
          <p:cNvSpPr/>
          <p:nvPr/>
        </p:nvSpPr>
        <p:spPr>
          <a:xfrm>
            <a:off x="8429625" y="2524125"/>
            <a:ext cx="11906" cy="41672"/>
          </a:xfrm>
          <a:prstGeom prst="rect">
            <a:avLst/>
          </a:prstGeom>
          <a:solidFill>
            <a:srgbClr val="72A7D1"/>
          </a:solidFill>
          <a:ln w="12700">
            <a:solidFill>
              <a:srgbClr val="FFFFFF">
                <a:alpha val="0"/>
              </a:srgbClr>
            </a:solidFill>
            <a:prstDash val="solid"/>
          </a:ln>
        </p:spPr>
      </p:sp>
      <p:sp>
        <p:nvSpPr>
          <p:cNvPr id="44" name="row-1-y2029-conditional-boundary-left-1"/>
          <p:cNvSpPr/>
          <p:nvPr/>
        </p:nvSpPr>
        <p:spPr>
          <a:xfrm>
            <a:off x="8429625" y="2595563"/>
            <a:ext cx="11906" cy="29766"/>
          </a:xfrm>
          <a:prstGeom prst="rect">
            <a:avLst/>
          </a:prstGeom>
          <a:solidFill>
            <a:srgbClr val="72A7D1"/>
          </a:solidFill>
          <a:ln w="12700">
            <a:solidFill>
              <a:srgbClr val="FFFFFF">
                <a:alpha val="0"/>
              </a:srgbClr>
            </a:solidFill>
            <a:prstDash val="solid"/>
          </a:ln>
        </p:spPr>
      </p:sp>
      <p:sp>
        <p:nvSpPr>
          <p:cNvPr id="45" name="row-1-y2029-conditional-boundary-right-0"/>
          <p:cNvSpPr/>
          <p:nvPr/>
        </p:nvSpPr>
        <p:spPr>
          <a:xfrm>
            <a:off x="8858250" y="2524125"/>
            <a:ext cx="11906" cy="41672"/>
          </a:xfrm>
          <a:prstGeom prst="rect">
            <a:avLst/>
          </a:prstGeom>
          <a:solidFill>
            <a:srgbClr val="72A7D1"/>
          </a:solidFill>
          <a:ln w="12700">
            <a:solidFill>
              <a:srgbClr val="FFFFFF">
                <a:alpha val="0"/>
              </a:srgbClr>
            </a:solidFill>
            <a:prstDash val="solid"/>
          </a:ln>
        </p:spPr>
      </p:sp>
      <p:sp>
        <p:nvSpPr>
          <p:cNvPr id="46" name="row-1-y2029-conditional-boundary-right-1"/>
          <p:cNvSpPr/>
          <p:nvPr/>
        </p:nvSpPr>
        <p:spPr>
          <a:xfrm>
            <a:off x="8858250" y="2595563"/>
            <a:ext cx="11906" cy="29766"/>
          </a:xfrm>
          <a:prstGeom prst="rect">
            <a:avLst/>
          </a:prstGeom>
          <a:solidFill>
            <a:srgbClr val="72A7D1"/>
          </a:solidFill>
          <a:ln w="12700">
            <a:solidFill>
              <a:srgbClr val="FFFFFF">
                <a:alpha val="0"/>
              </a:srgbClr>
            </a:solidFill>
            <a:prstDash val="solid"/>
          </a:ln>
        </p:spPr>
      </p:sp>
      <p:sp>
        <p:nvSpPr>
          <p:cNvPr id="47" name="row-2-y2029-conditional-boundary-top-0"/>
          <p:cNvSpPr/>
          <p:nvPr/>
        </p:nvSpPr>
        <p:spPr>
          <a:xfrm>
            <a:off x="8465344" y="3149203"/>
            <a:ext cx="41672" cy="11906"/>
          </a:xfrm>
          <a:prstGeom prst="rect">
            <a:avLst/>
          </a:prstGeom>
          <a:solidFill>
            <a:srgbClr val="72A7D1"/>
          </a:solidFill>
          <a:ln w="12700">
            <a:solidFill>
              <a:srgbClr val="FFFFFF">
                <a:alpha val="0"/>
              </a:srgbClr>
            </a:solidFill>
            <a:prstDash val="solid"/>
          </a:ln>
        </p:spPr>
      </p:sp>
      <p:sp>
        <p:nvSpPr>
          <p:cNvPr id="48" name="row-2-y2029-conditional-boundary-top-1"/>
          <p:cNvSpPr/>
          <p:nvPr/>
        </p:nvSpPr>
        <p:spPr>
          <a:xfrm>
            <a:off x="8536781" y="3149203"/>
            <a:ext cx="41672" cy="11906"/>
          </a:xfrm>
          <a:prstGeom prst="rect">
            <a:avLst/>
          </a:prstGeom>
          <a:solidFill>
            <a:srgbClr val="72A7D1"/>
          </a:solidFill>
          <a:ln w="12700">
            <a:solidFill>
              <a:srgbClr val="FFFFFF">
                <a:alpha val="0"/>
              </a:srgbClr>
            </a:solidFill>
            <a:prstDash val="solid"/>
          </a:ln>
        </p:spPr>
      </p:sp>
      <p:sp>
        <p:nvSpPr>
          <p:cNvPr id="49" name="row-2-y2029-conditional-boundary-top-2"/>
          <p:cNvSpPr/>
          <p:nvPr/>
        </p:nvSpPr>
        <p:spPr>
          <a:xfrm>
            <a:off x="8608219" y="3149203"/>
            <a:ext cx="41672" cy="11906"/>
          </a:xfrm>
          <a:prstGeom prst="rect">
            <a:avLst/>
          </a:prstGeom>
          <a:solidFill>
            <a:srgbClr val="72A7D1"/>
          </a:solidFill>
          <a:ln w="12700">
            <a:solidFill>
              <a:srgbClr val="FFFFFF">
                <a:alpha val="0"/>
              </a:srgbClr>
            </a:solidFill>
            <a:prstDash val="solid"/>
          </a:ln>
        </p:spPr>
      </p:sp>
      <p:sp>
        <p:nvSpPr>
          <p:cNvPr id="50" name="row-2-y2029-conditional-boundary-top-3"/>
          <p:cNvSpPr/>
          <p:nvPr/>
        </p:nvSpPr>
        <p:spPr>
          <a:xfrm>
            <a:off x="8679656" y="3149203"/>
            <a:ext cx="41672" cy="11906"/>
          </a:xfrm>
          <a:prstGeom prst="rect">
            <a:avLst/>
          </a:prstGeom>
          <a:solidFill>
            <a:srgbClr val="72A7D1"/>
          </a:solidFill>
          <a:ln w="12700">
            <a:solidFill>
              <a:srgbClr val="FFFFFF">
                <a:alpha val="0"/>
              </a:srgbClr>
            </a:solidFill>
            <a:prstDash val="solid"/>
          </a:ln>
        </p:spPr>
      </p:sp>
      <p:sp>
        <p:nvSpPr>
          <p:cNvPr id="51" name="row-2-y2029-conditional-boundary-top-4"/>
          <p:cNvSpPr/>
          <p:nvPr/>
        </p:nvSpPr>
        <p:spPr>
          <a:xfrm>
            <a:off x="8751094" y="3149203"/>
            <a:ext cx="41672" cy="11906"/>
          </a:xfrm>
          <a:prstGeom prst="rect">
            <a:avLst/>
          </a:prstGeom>
          <a:solidFill>
            <a:srgbClr val="72A7D1"/>
          </a:solidFill>
          <a:ln w="12700">
            <a:solidFill>
              <a:srgbClr val="FFFFFF">
                <a:alpha val="0"/>
              </a:srgbClr>
            </a:solidFill>
            <a:prstDash val="solid"/>
          </a:ln>
        </p:spPr>
      </p:sp>
      <p:sp>
        <p:nvSpPr>
          <p:cNvPr id="52" name="row-2-y2029-conditional-boundary-top-5"/>
          <p:cNvSpPr/>
          <p:nvPr/>
        </p:nvSpPr>
        <p:spPr>
          <a:xfrm>
            <a:off x="8822531" y="3149203"/>
            <a:ext cx="11906" cy="11906"/>
          </a:xfrm>
          <a:prstGeom prst="rect">
            <a:avLst/>
          </a:prstGeom>
          <a:solidFill>
            <a:srgbClr val="72A7D1"/>
          </a:solidFill>
          <a:ln w="12700">
            <a:solidFill>
              <a:srgbClr val="FFFFFF">
                <a:alpha val="0"/>
              </a:srgbClr>
            </a:solidFill>
            <a:prstDash val="solid"/>
          </a:ln>
        </p:spPr>
      </p:sp>
      <p:sp>
        <p:nvSpPr>
          <p:cNvPr id="53" name="row-2-y2029-conditional-boundary-bottom-0"/>
          <p:cNvSpPr/>
          <p:nvPr/>
        </p:nvSpPr>
        <p:spPr>
          <a:xfrm>
            <a:off x="8465344" y="3327797"/>
            <a:ext cx="41672" cy="11906"/>
          </a:xfrm>
          <a:prstGeom prst="rect">
            <a:avLst/>
          </a:prstGeom>
          <a:solidFill>
            <a:srgbClr val="72A7D1"/>
          </a:solidFill>
          <a:ln w="12700">
            <a:solidFill>
              <a:srgbClr val="FFFFFF">
                <a:alpha val="0"/>
              </a:srgbClr>
            </a:solidFill>
            <a:prstDash val="solid"/>
          </a:ln>
        </p:spPr>
      </p:sp>
      <p:sp>
        <p:nvSpPr>
          <p:cNvPr id="54" name="row-2-y2029-conditional-boundary-bottom-1"/>
          <p:cNvSpPr/>
          <p:nvPr/>
        </p:nvSpPr>
        <p:spPr>
          <a:xfrm>
            <a:off x="8536781" y="3327797"/>
            <a:ext cx="41672" cy="11906"/>
          </a:xfrm>
          <a:prstGeom prst="rect">
            <a:avLst/>
          </a:prstGeom>
          <a:solidFill>
            <a:srgbClr val="72A7D1"/>
          </a:solidFill>
          <a:ln w="12700">
            <a:solidFill>
              <a:srgbClr val="FFFFFF">
                <a:alpha val="0"/>
              </a:srgbClr>
            </a:solidFill>
            <a:prstDash val="solid"/>
          </a:ln>
        </p:spPr>
      </p:sp>
      <p:sp>
        <p:nvSpPr>
          <p:cNvPr id="55" name="row-2-y2029-conditional-boundary-bottom-2"/>
          <p:cNvSpPr/>
          <p:nvPr/>
        </p:nvSpPr>
        <p:spPr>
          <a:xfrm>
            <a:off x="8608219" y="3327797"/>
            <a:ext cx="41672" cy="11906"/>
          </a:xfrm>
          <a:prstGeom prst="rect">
            <a:avLst/>
          </a:prstGeom>
          <a:solidFill>
            <a:srgbClr val="72A7D1"/>
          </a:solidFill>
          <a:ln w="12700">
            <a:solidFill>
              <a:srgbClr val="FFFFFF">
                <a:alpha val="0"/>
              </a:srgbClr>
            </a:solidFill>
            <a:prstDash val="solid"/>
          </a:ln>
        </p:spPr>
      </p:sp>
      <p:sp>
        <p:nvSpPr>
          <p:cNvPr id="56" name="row-2-y2029-conditional-boundary-bottom-3"/>
          <p:cNvSpPr/>
          <p:nvPr/>
        </p:nvSpPr>
        <p:spPr>
          <a:xfrm>
            <a:off x="8679656" y="3327797"/>
            <a:ext cx="41672" cy="11906"/>
          </a:xfrm>
          <a:prstGeom prst="rect">
            <a:avLst/>
          </a:prstGeom>
          <a:solidFill>
            <a:srgbClr val="72A7D1"/>
          </a:solidFill>
          <a:ln w="12700">
            <a:solidFill>
              <a:srgbClr val="FFFFFF">
                <a:alpha val="0"/>
              </a:srgbClr>
            </a:solidFill>
            <a:prstDash val="solid"/>
          </a:ln>
        </p:spPr>
      </p:sp>
      <p:sp>
        <p:nvSpPr>
          <p:cNvPr id="57" name="row-2-y2029-conditional-boundary-bottom-4"/>
          <p:cNvSpPr/>
          <p:nvPr/>
        </p:nvSpPr>
        <p:spPr>
          <a:xfrm>
            <a:off x="8751094" y="3327797"/>
            <a:ext cx="41672" cy="11906"/>
          </a:xfrm>
          <a:prstGeom prst="rect">
            <a:avLst/>
          </a:prstGeom>
          <a:solidFill>
            <a:srgbClr val="72A7D1"/>
          </a:solidFill>
          <a:ln w="12700">
            <a:solidFill>
              <a:srgbClr val="FFFFFF">
                <a:alpha val="0"/>
              </a:srgbClr>
            </a:solidFill>
            <a:prstDash val="solid"/>
          </a:ln>
        </p:spPr>
      </p:sp>
      <p:sp>
        <p:nvSpPr>
          <p:cNvPr id="58" name="row-2-y2029-conditional-boundary-bottom-5"/>
          <p:cNvSpPr/>
          <p:nvPr/>
        </p:nvSpPr>
        <p:spPr>
          <a:xfrm>
            <a:off x="8822531" y="3327797"/>
            <a:ext cx="11906" cy="11906"/>
          </a:xfrm>
          <a:prstGeom prst="rect">
            <a:avLst/>
          </a:prstGeom>
          <a:solidFill>
            <a:srgbClr val="72A7D1"/>
          </a:solidFill>
          <a:ln w="12700">
            <a:solidFill>
              <a:srgbClr val="FFFFFF">
                <a:alpha val="0"/>
              </a:srgbClr>
            </a:solidFill>
            <a:prstDash val="solid"/>
          </a:ln>
        </p:spPr>
      </p:sp>
      <p:sp>
        <p:nvSpPr>
          <p:cNvPr id="59" name="row-2-y2029-conditional-boundary-left-0"/>
          <p:cNvSpPr/>
          <p:nvPr/>
        </p:nvSpPr>
        <p:spPr>
          <a:xfrm>
            <a:off x="8429625" y="3190875"/>
            <a:ext cx="11906" cy="41672"/>
          </a:xfrm>
          <a:prstGeom prst="rect">
            <a:avLst/>
          </a:prstGeom>
          <a:solidFill>
            <a:srgbClr val="72A7D1"/>
          </a:solidFill>
          <a:ln w="12700">
            <a:solidFill>
              <a:srgbClr val="FFFFFF">
                <a:alpha val="0"/>
              </a:srgbClr>
            </a:solidFill>
            <a:prstDash val="solid"/>
          </a:ln>
        </p:spPr>
      </p:sp>
      <p:sp>
        <p:nvSpPr>
          <p:cNvPr id="60" name="row-2-y2029-conditional-boundary-left-1"/>
          <p:cNvSpPr/>
          <p:nvPr/>
        </p:nvSpPr>
        <p:spPr>
          <a:xfrm>
            <a:off x="8429625" y="3262313"/>
            <a:ext cx="11906" cy="29766"/>
          </a:xfrm>
          <a:prstGeom prst="rect">
            <a:avLst/>
          </a:prstGeom>
          <a:solidFill>
            <a:srgbClr val="72A7D1"/>
          </a:solidFill>
          <a:ln w="12700">
            <a:solidFill>
              <a:srgbClr val="FFFFFF">
                <a:alpha val="0"/>
              </a:srgbClr>
            </a:solidFill>
            <a:prstDash val="solid"/>
          </a:ln>
        </p:spPr>
      </p:sp>
      <p:sp>
        <p:nvSpPr>
          <p:cNvPr id="61" name="row-2-y2029-conditional-boundary-right-0"/>
          <p:cNvSpPr/>
          <p:nvPr/>
        </p:nvSpPr>
        <p:spPr>
          <a:xfrm>
            <a:off x="8858250" y="3190875"/>
            <a:ext cx="11906" cy="41672"/>
          </a:xfrm>
          <a:prstGeom prst="rect">
            <a:avLst/>
          </a:prstGeom>
          <a:solidFill>
            <a:srgbClr val="72A7D1"/>
          </a:solidFill>
          <a:ln w="12700">
            <a:solidFill>
              <a:srgbClr val="FFFFFF">
                <a:alpha val="0"/>
              </a:srgbClr>
            </a:solidFill>
            <a:prstDash val="solid"/>
          </a:ln>
        </p:spPr>
      </p:sp>
      <p:sp>
        <p:nvSpPr>
          <p:cNvPr id="62" name="row-2-y2029-conditional-boundary-right-1"/>
          <p:cNvSpPr/>
          <p:nvPr/>
        </p:nvSpPr>
        <p:spPr>
          <a:xfrm>
            <a:off x="8858250" y="3262313"/>
            <a:ext cx="11906" cy="29766"/>
          </a:xfrm>
          <a:prstGeom prst="rect">
            <a:avLst/>
          </a:prstGeom>
          <a:solidFill>
            <a:srgbClr val="72A7D1"/>
          </a:solidFill>
          <a:ln w="12700">
            <a:solidFill>
              <a:srgbClr val="FFFFFF">
                <a:alpha val="0"/>
              </a:srgbClr>
            </a:solidFill>
            <a:prstDash val="solid"/>
          </a:ln>
        </p:spPr>
      </p:sp>
      <p:sp>
        <p:nvSpPr>
          <p:cNvPr id="63" name="row-4-y2029-conditional-boundary-top-0"/>
          <p:cNvSpPr/>
          <p:nvPr/>
        </p:nvSpPr>
        <p:spPr>
          <a:xfrm>
            <a:off x="8465344" y="4482703"/>
            <a:ext cx="41672" cy="11906"/>
          </a:xfrm>
          <a:prstGeom prst="rect">
            <a:avLst/>
          </a:prstGeom>
          <a:solidFill>
            <a:srgbClr val="72A7D1"/>
          </a:solidFill>
          <a:ln w="12700">
            <a:solidFill>
              <a:srgbClr val="FFFFFF">
                <a:alpha val="0"/>
              </a:srgbClr>
            </a:solidFill>
            <a:prstDash val="solid"/>
          </a:ln>
        </p:spPr>
      </p:sp>
      <p:sp>
        <p:nvSpPr>
          <p:cNvPr id="64" name="row-4-y2029-conditional-boundary-top-1"/>
          <p:cNvSpPr/>
          <p:nvPr/>
        </p:nvSpPr>
        <p:spPr>
          <a:xfrm>
            <a:off x="8536781" y="4482703"/>
            <a:ext cx="41672" cy="11906"/>
          </a:xfrm>
          <a:prstGeom prst="rect">
            <a:avLst/>
          </a:prstGeom>
          <a:solidFill>
            <a:srgbClr val="72A7D1"/>
          </a:solidFill>
          <a:ln w="12700">
            <a:solidFill>
              <a:srgbClr val="FFFFFF">
                <a:alpha val="0"/>
              </a:srgbClr>
            </a:solidFill>
            <a:prstDash val="solid"/>
          </a:ln>
        </p:spPr>
      </p:sp>
      <p:sp>
        <p:nvSpPr>
          <p:cNvPr id="65" name="row-4-y2029-conditional-boundary-top-2"/>
          <p:cNvSpPr/>
          <p:nvPr/>
        </p:nvSpPr>
        <p:spPr>
          <a:xfrm>
            <a:off x="8608219" y="4482703"/>
            <a:ext cx="41672" cy="11906"/>
          </a:xfrm>
          <a:prstGeom prst="rect">
            <a:avLst/>
          </a:prstGeom>
          <a:solidFill>
            <a:srgbClr val="72A7D1"/>
          </a:solidFill>
          <a:ln w="12700">
            <a:solidFill>
              <a:srgbClr val="FFFFFF">
                <a:alpha val="0"/>
              </a:srgbClr>
            </a:solidFill>
            <a:prstDash val="solid"/>
          </a:ln>
        </p:spPr>
      </p:sp>
      <p:sp>
        <p:nvSpPr>
          <p:cNvPr id="66" name="row-4-y2029-conditional-boundary-top-3"/>
          <p:cNvSpPr/>
          <p:nvPr/>
        </p:nvSpPr>
        <p:spPr>
          <a:xfrm>
            <a:off x="8679656" y="4482703"/>
            <a:ext cx="41672" cy="11906"/>
          </a:xfrm>
          <a:prstGeom prst="rect">
            <a:avLst/>
          </a:prstGeom>
          <a:solidFill>
            <a:srgbClr val="72A7D1"/>
          </a:solidFill>
          <a:ln w="12700">
            <a:solidFill>
              <a:srgbClr val="FFFFFF">
                <a:alpha val="0"/>
              </a:srgbClr>
            </a:solidFill>
            <a:prstDash val="solid"/>
          </a:ln>
        </p:spPr>
      </p:sp>
      <p:sp>
        <p:nvSpPr>
          <p:cNvPr id="67" name="row-4-y2029-conditional-boundary-top-4"/>
          <p:cNvSpPr/>
          <p:nvPr/>
        </p:nvSpPr>
        <p:spPr>
          <a:xfrm>
            <a:off x="8751094" y="4482703"/>
            <a:ext cx="41672" cy="11906"/>
          </a:xfrm>
          <a:prstGeom prst="rect">
            <a:avLst/>
          </a:prstGeom>
          <a:solidFill>
            <a:srgbClr val="72A7D1"/>
          </a:solidFill>
          <a:ln w="12700">
            <a:solidFill>
              <a:srgbClr val="FFFFFF">
                <a:alpha val="0"/>
              </a:srgbClr>
            </a:solidFill>
            <a:prstDash val="solid"/>
          </a:ln>
        </p:spPr>
      </p:sp>
      <p:sp>
        <p:nvSpPr>
          <p:cNvPr id="68" name="row-4-y2029-conditional-boundary-top-5"/>
          <p:cNvSpPr/>
          <p:nvPr/>
        </p:nvSpPr>
        <p:spPr>
          <a:xfrm>
            <a:off x="8822531" y="4482703"/>
            <a:ext cx="11906" cy="11906"/>
          </a:xfrm>
          <a:prstGeom prst="rect">
            <a:avLst/>
          </a:prstGeom>
          <a:solidFill>
            <a:srgbClr val="72A7D1"/>
          </a:solidFill>
          <a:ln w="12700">
            <a:solidFill>
              <a:srgbClr val="FFFFFF">
                <a:alpha val="0"/>
              </a:srgbClr>
            </a:solidFill>
            <a:prstDash val="solid"/>
          </a:ln>
        </p:spPr>
      </p:sp>
      <p:sp>
        <p:nvSpPr>
          <p:cNvPr id="69" name="row-4-y2029-conditional-boundary-bottom-0"/>
          <p:cNvSpPr/>
          <p:nvPr/>
        </p:nvSpPr>
        <p:spPr>
          <a:xfrm>
            <a:off x="8465344" y="4661297"/>
            <a:ext cx="41672" cy="11906"/>
          </a:xfrm>
          <a:prstGeom prst="rect">
            <a:avLst/>
          </a:prstGeom>
          <a:solidFill>
            <a:srgbClr val="72A7D1"/>
          </a:solidFill>
          <a:ln w="12700">
            <a:solidFill>
              <a:srgbClr val="FFFFFF">
                <a:alpha val="0"/>
              </a:srgbClr>
            </a:solidFill>
            <a:prstDash val="solid"/>
          </a:ln>
        </p:spPr>
      </p:sp>
      <p:sp>
        <p:nvSpPr>
          <p:cNvPr id="70" name="row-4-y2029-conditional-boundary-bottom-1"/>
          <p:cNvSpPr/>
          <p:nvPr/>
        </p:nvSpPr>
        <p:spPr>
          <a:xfrm>
            <a:off x="8536781" y="4661297"/>
            <a:ext cx="41672" cy="11906"/>
          </a:xfrm>
          <a:prstGeom prst="rect">
            <a:avLst/>
          </a:prstGeom>
          <a:solidFill>
            <a:srgbClr val="72A7D1"/>
          </a:solidFill>
          <a:ln w="12700">
            <a:solidFill>
              <a:srgbClr val="FFFFFF">
                <a:alpha val="0"/>
              </a:srgbClr>
            </a:solidFill>
            <a:prstDash val="solid"/>
          </a:ln>
        </p:spPr>
      </p:sp>
      <p:sp>
        <p:nvSpPr>
          <p:cNvPr id="71" name="row-4-y2029-conditional-boundary-bottom-2"/>
          <p:cNvSpPr/>
          <p:nvPr/>
        </p:nvSpPr>
        <p:spPr>
          <a:xfrm>
            <a:off x="8608219" y="4661297"/>
            <a:ext cx="41672" cy="11906"/>
          </a:xfrm>
          <a:prstGeom prst="rect">
            <a:avLst/>
          </a:prstGeom>
          <a:solidFill>
            <a:srgbClr val="72A7D1"/>
          </a:solidFill>
          <a:ln w="12700">
            <a:solidFill>
              <a:srgbClr val="FFFFFF">
                <a:alpha val="0"/>
              </a:srgbClr>
            </a:solidFill>
            <a:prstDash val="solid"/>
          </a:ln>
        </p:spPr>
      </p:sp>
      <p:sp>
        <p:nvSpPr>
          <p:cNvPr id="72" name="row-4-y2029-conditional-boundary-bottom-3"/>
          <p:cNvSpPr/>
          <p:nvPr/>
        </p:nvSpPr>
        <p:spPr>
          <a:xfrm>
            <a:off x="8679656" y="4661297"/>
            <a:ext cx="41672" cy="11906"/>
          </a:xfrm>
          <a:prstGeom prst="rect">
            <a:avLst/>
          </a:prstGeom>
          <a:solidFill>
            <a:srgbClr val="72A7D1"/>
          </a:solidFill>
          <a:ln w="12700">
            <a:solidFill>
              <a:srgbClr val="FFFFFF">
                <a:alpha val="0"/>
              </a:srgbClr>
            </a:solidFill>
            <a:prstDash val="solid"/>
          </a:ln>
        </p:spPr>
      </p:sp>
      <p:sp>
        <p:nvSpPr>
          <p:cNvPr id="73" name="row-4-y2029-conditional-boundary-bottom-4"/>
          <p:cNvSpPr/>
          <p:nvPr/>
        </p:nvSpPr>
        <p:spPr>
          <a:xfrm>
            <a:off x="8751094" y="4661297"/>
            <a:ext cx="41672" cy="11906"/>
          </a:xfrm>
          <a:prstGeom prst="rect">
            <a:avLst/>
          </a:prstGeom>
          <a:solidFill>
            <a:srgbClr val="72A7D1"/>
          </a:solidFill>
          <a:ln w="12700">
            <a:solidFill>
              <a:srgbClr val="FFFFFF">
                <a:alpha val="0"/>
              </a:srgbClr>
            </a:solidFill>
            <a:prstDash val="solid"/>
          </a:ln>
        </p:spPr>
      </p:sp>
      <p:sp>
        <p:nvSpPr>
          <p:cNvPr id="74" name="row-4-y2029-conditional-boundary-bottom-5"/>
          <p:cNvSpPr/>
          <p:nvPr/>
        </p:nvSpPr>
        <p:spPr>
          <a:xfrm>
            <a:off x="8822531" y="4661297"/>
            <a:ext cx="11906" cy="11906"/>
          </a:xfrm>
          <a:prstGeom prst="rect">
            <a:avLst/>
          </a:prstGeom>
          <a:solidFill>
            <a:srgbClr val="72A7D1"/>
          </a:solidFill>
          <a:ln w="12700">
            <a:solidFill>
              <a:srgbClr val="FFFFFF">
                <a:alpha val="0"/>
              </a:srgbClr>
            </a:solidFill>
            <a:prstDash val="solid"/>
          </a:ln>
        </p:spPr>
      </p:sp>
      <p:sp>
        <p:nvSpPr>
          <p:cNvPr id="75" name="row-4-y2029-conditional-boundary-left-0"/>
          <p:cNvSpPr/>
          <p:nvPr/>
        </p:nvSpPr>
        <p:spPr>
          <a:xfrm>
            <a:off x="8429625" y="4524375"/>
            <a:ext cx="11906" cy="41672"/>
          </a:xfrm>
          <a:prstGeom prst="rect">
            <a:avLst/>
          </a:prstGeom>
          <a:solidFill>
            <a:srgbClr val="72A7D1"/>
          </a:solidFill>
          <a:ln w="12700">
            <a:solidFill>
              <a:srgbClr val="FFFFFF">
                <a:alpha val="0"/>
              </a:srgbClr>
            </a:solidFill>
            <a:prstDash val="solid"/>
          </a:ln>
        </p:spPr>
      </p:sp>
      <p:sp>
        <p:nvSpPr>
          <p:cNvPr id="76" name="row-4-y2029-conditional-boundary-left-1"/>
          <p:cNvSpPr/>
          <p:nvPr/>
        </p:nvSpPr>
        <p:spPr>
          <a:xfrm>
            <a:off x="8429625" y="4595813"/>
            <a:ext cx="11906" cy="29766"/>
          </a:xfrm>
          <a:prstGeom prst="rect">
            <a:avLst/>
          </a:prstGeom>
          <a:solidFill>
            <a:srgbClr val="72A7D1"/>
          </a:solidFill>
          <a:ln w="12700">
            <a:solidFill>
              <a:srgbClr val="FFFFFF">
                <a:alpha val="0"/>
              </a:srgbClr>
            </a:solidFill>
            <a:prstDash val="solid"/>
          </a:ln>
        </p:spPr>
      </p:sp>
      <p:sp>
        <p:nvSpPr>
          <p:cNvPr id="77" name="row-4-y2029-conditional-boundary-right-0"/>
          <p:cNvSpPr/>
          <p:nvPr/>
        </p:nvSpPr>
        <p:spPr>
          <a:xfrm>
            <a:off x="8858250" y="4524375"/>
            <a:ext cx="11906" cy="41672"/>
          </a:xfrm>
          <a:prstGeom prst="rect">
            <a:avLst/>
          </a:prstGeom>
          <a:solidFill>
            <a:srgbClr val="72A7D1"/>
          </a:solidFill>
          <a:ln w="12700">
            <a:solidFill>
              <a:srgbClr val="FFFFFF">
                <a:alpha val="0"/>
              </a:srgbClr>
            </a:solidFill>
            <a:prstDash val="solid"/>
          </a:ln>
        </p:spPr>
      </p:sp>
      <p:sp>
        <p:nvSpPr>
          <p:cNvPr id="78" name="row-4-y2029-conditional-boundary-right-1"/>
          <p:cNvSpPr/>
          <p:nvPr/>
        </p:nvSpPr>
        <p:spPr>
          <a:xfrm>
            <a:off x="8858250" y="4595813"/>
            <a:ext cx="11906" cy="29766"/>
          </a:xfrm>
          <a:prstGeom prst="rect">
            <a:avLst/>
          </a:prstGeom>
          <a:solidFill>
            <a:srgbClr val="72A7D1"/>
          </a:solidFill>
          <a:ln w="12700">
            <a:solidFill>
              <a:srgbClr val="FFFFFF">
                <a:alpha val="0"/>
              </a:srgbClr>
            </a:solidFill>
            <a:prstDash val="solid"/>
          </a:ln>
        </p:spPr>
      </p:sp>
      <p:sp>
        <p:nvSpPr>
          <p:cNvPr id="79" name="row-5-y2029-conditional-boundary-top-0"/>
          <p:cNvSpPr/>
          <p:nvPr/>
        </p:nvSpPr>
        <p:spPr>
          <a:xfrm>
            <a:off x="8465344" y="5149453"/>
            <a:ext cx="41672" cy="11906"/>
          </a:xfrm>
          <a:prstGeom prst="rect">
            <a:avLst/>
          </a:prstGeom>
          <a:solidFill>
            <a:srgbClr val="72A7D1"/>
          </a:solidFill>
          <a:ln w="12700">
            <a:solidFill>
              <a:srgbClr val="FFFFFF">
                <a:alpha val="0"/>
              </a:srgbClr>
            </a:solidFill>
            <a:prstDash val="solid"/>
          </a:ln>
        </p:spPr>
      </p:sp>
      <p:sp>
        <p:nvSpPr>
          <p:cNvPr id="80" name="row-5-y2029-conditional-boundary-top-1"/>
          <p:cNvSpPr/>
          <p:nvPr/>
        </p:nvSpPr>
        <p:spPr>
          <a:xfrm>
            <a:off x="8536781" y="5149453"/>
            <a:ext cx="41672" cy="11906"/>
          </a:xfrm>
          <a:prstGeom prst="rect">
            <a:avLst/>
          </a:prstGeom>
          <a:solidFill>
            <a:srgbClr val="72A7D1"/>
          </a:solidFill>
          <a:ln w="12700">
            <a:solidFill>
              <a:srgbClr val="FFFFFF">
                <a:alpha val="0"/>
              </a:srgbClr>
            </a:solidFill>
            <a:prstDash val="solid"/>
          </a:ln>
        </p:spPr>
      </p:sp>
      <p:sp>
        <p:nvSpPr>
          <p:cNvPr id="81" name="row-5-y2029-conditional-boundary-top-2"/>
          <p:cNvSpPr/>
          <p:nvPr/>
        </p:nvSpPr>
        <p:spPr>
          <a:xfrm>
            <a:off x="8608219" y="5149453"/>
            <a:ext cx="41672" cy="11906"/>
          </a:xfrm>
          <a:prstGeom prst="rect">
            <a:avLst/>
          </a:prstGeom>
          <a:solidFill>
            <a:srgbClr val="72A7D1"/>
          </a:solidFill>
          <a:ln w="12700">
            <a:solidFill>
              <a:srgbClr val="FFFFFF">
                <a:alpha val="0"/>
              </a:srgbClr>
            </a:solidFill>
            <a:prstDash val="solid"/>
          </a:ln>
        </p:spPr>
      </p:sp>
      <p:sp>
        <p:nvSpPr>
          <p:cNvPr id="82" name="row-5-y2029-conditional-boundary-top-3"/>
          <p:cNvSpPr/>
          <p:nvPr/>
        </p:nvSpPr>
        <p:spPr>
          <a:xfrm>
            <a:off x="8679656" y="5149453"/>
            <a:ext cx="41672" cy="11906"/>
          </a:xfrm>
          <a:prstGeom prst="rect">
            <a:avLst/>
          </a:prstGeom>
          <a:solidFill>
            <a:srgbClr val="72A7D1"/>
          </a:solidFill>
          <a:ln w="12700">
            <a:solidFill>
              <a:srgbClr val="FFFFFF">
                <a:alpha val="0"/>
              </a:srgbClr>
            </a:solidFill>
            <a:prstDash val="solid"/>
          </a:ln>
        </p:spPr>
      </p:sp>
      <p:sp>
        <p:nvSpPr>
          <p:cNvPr id="83" name="row-5-y2029-conditional-boundary-top-4"/>
          <p:cNvSpPr/>
          <p:nvPr/>
        </p:nvSpPr>
        <p:spPr>
          <a:xfrm>
            <a:off x="8751094" y="5149453"/>
            <a:ext cx="41672" cy="11906"/>
          </a:xfrm>
          <a:prstGeom prst="rect">
            <a:avLst/>
          </a:prstGeom>
          <a:solidFill>
            <a:srgbClr val="72A7D1"/>
          </a:solidFill>
          <a:ln w="12700">
            <a:solidFill>
              <a:srgbClr val="FFFFFF">
                <a:alpha val="0"/>
              </a:srgbClr>
            </a:solidFill>
            <a:prstDash val="solid"/>
          </a:ln>
        </p:spPr>
      </p:sp>
      <p:sp>
        <p:nvSpPr>
          <p:cNvPr id="84" name="row-5-y2029-conditional-boundary-top-5"/>
          <p:cNvSpPr/>
          <p:nvPr/>
        </p:nvSpPr>
        <p:spPr>
          <a:xfrm>
            <a:off x="8822531" y="5149453"/>
            <a:ext cx="11906" cy="11906"/>
          </a:xfrm>
          <a:prstGeom prst="rect">
            <a:avLst/>
          </a:prstGeom>
          <a:solidFill>
            <a:srgbClr val="72A7D1"/>
          </a:solidFill>
          <a:ln w="12700">
            <a:solidFill>
              <a:srgbClr val="FFFFFF">
                <a:alpha val="0"/>
              </a:srgbClr>
            </a:solidFill>
            <a:prstDash val="solid"/>
          </a:ln>
        </p:spPr>
      </p:sp>
      <p:sp>
        <p:nvSpPr>
          <p:cNvPr id="85" name="row-5-y2029-conditional-boundary-bottom-0"/>
          <p:cNvSpPr/>
          <p:nvPr/>
        </p:nvSpPr>
        <p:spPr>
          <a:xfrm>
            <a:off x="8465344" y="5328047"/>
            <a:ext cx="41672" cy="11906"/>
          </a:xfrm>
          <a:prstGeom prst="rect">
            <a:avLst/>
          </a:prstGeom>
          <a:solidFill>
            <a:srgbClr val="72A7D1"/>
          </a:solidFill>
          <a:ln w="12700">
            <a:solidFill>
              <a:srgbClr val="FFFFFF">
                <a:alpha val="0"/>
              </a:srgbClr>
            </a:solidFill>
            <a:prstDash val="solid"/>
          </a:ln>
        </p:spPr>
      </p:sp>
      <p:sp>
        <p:nvSpPr>
          <p:cNvPr id="86" name="row-5-y2029-conditional-boundary-bottom-1"/>
          <p:cNvSpPr/>
          <p:nvPr/>
        </p:nvSpPr>
        <p:spPr>
          <a:xfrm>
            <a:off x="8536781" y="5328047"/>
            <a:ext cx="41672" cy="11906"/>
          </a:xfrm>
          <a:prstGeom prst="rect">
            <a:avLst/>
          </a:prstGeom>
          <a:solidFill>
            <a:srgbClr val="72A7D1"/>
          </a:solidFill>
          <a:ln w="12700">
            <a:solidFill>
              <a:srgbClr val="FFFFFF">
                <a:alpha val="0"/>
              </a:srgbClr>
            </a:solidFill>
            <a:prstDash val="solid"/>
          </a:ln>
        </p:spPr>
      </p:sp>
      <p:sp>
        <p:nvSpPr>
          <p:cNvPr id="87" name="row-5-y2029-conditional-boundary-bottom-2"/>
          <p:cNvSpPr/>
          <p:nvPr/>
        </p:nvSpPr>
        <p:spPr>
          <a:xfrm>
            <a:off x="8608219" y="5328047"/>
            <a:ext cx="41672" cy="11906"/>
          </a:xfrm>
          <a:prstGeom prst="rect">
            <a:avLst/>
          </a:prstGeom>
          <a:solidFill>
            <a:srgbClr val="72A7D1"/>
          </a:solidFill>
          <a:ln w="12700">
            <a:solidFill>
              <a:srgbClr val="FFFFFF">
                <a:alpha val="0"/>
              </a:srgbClr>
            </a:solidFill>
            <a:prstDash val="solid"/>
          </a:ln>
        </p:spPr>
      </p:sp>
      <p:sp>
        <p:nvSpPr>
          <p:cNvPr id="88" name="row-5-y2029-conditional-boundary-bottom-3"/>
          <p:cNvSpPr/>
          <p:nvPr/>
        </p:nvSpPr>
        <p:spPr>
          <a:xfrm>
            <a:off x="8679656" y="5328047"/>
            <a:ext cx="41672" cy="11906"/>
          </a:xfrm>
          <a:prstGeom prst="rect">
            <a:avLst/>
          </a:prstGeom>
          <a:solidFill>
            <a:srgbClr val="72A7D1"/>
          </a:solidFill>
          <a:ln w="12700">
            <a:solidFill>
              <a:srgbClr val="FFFFFF">
                <a:alpha val="0"/>
              </a:srgbClr>
            </a:solidFill>
            <a:prstDash val="solid"/>
          </a:ln>
        </p:spPr>
      </p:sp>
      <p:sp>
        <p:nvSpPr>
          <p:cNvPr id="89" name="row-5-y2029-conditional-boundary-bottom-4"/>
          <p:cNvSpPr/>
          <p:nvPr/>
        </p:nvSpPr>
        <p:spPr>
          <a:xfrm>
            <a:off x="8751094" y="5328047"/>
            <a:ext cx="41672" cy="11906"/>
          </a:xfrm>
          <a:prstGeom prst="rect">
            <a:avLst/>
          </a:prstGeom>
          <a:solidFill>
            <a:srgbClr val="72A7D1"/>
          </a:solidFill>
          <a:ln w="12700">
            <a:solidFill>
              <a:srgbClr val="FFFFFF">
                <a:alpha val="0"/>
              </a:srgbClr>
            </a:solidFill>
            <a:prstDash val="solid"/>
          </a:ln>
        </p:spPr>
      </p:sp>
      <p:sp>
        <p:nvSpPr>
          <p:cNvPr id="90" name="row-5-y2029-conditional-boundary-bottom-5"/>
          <p:cNvSpPr/>
          <p:nvPr/>
        </p:nvSpPr>
        <p:spPr>
          <a:xfrm>
            <a:off x="8822531" y="5328047"/>
            <a:ext cx="11906" cy="11906"/>
          </a:xfrm>
          <a:prstGeom prst="rect">
            <a:avLst/>
          </a:prstGeom>
          <a:solidFill>
            <a:srgbClr val="72A7D1"/>
          </a:solidFill>
          <a:ln w="12700">
            <a:solidFill>
              <a:srgbClr val="FFFFFF">
                <a:alpha val="0"/>
              </a:srgbClr>
            </a:solidFill>
            <a:prstDash val="solid"/>
          </a:ln>
        </p:spPr>
      </p:sp>
      <p:sp>
        <p:nvSpPr>
          <p:cNvPr id="91" name="row-5-y2029-conditional-boundary-left-0"/>
          <p:cNvSpPr/>
          <p:nvPr/>
        </p:nvSpPr>
        <p:spPr>
          <a:xfrm>
            <a:off x="8429625" y="5191125"/>
            <a:ext cx="11906" cy="41672"/>
          </a:xfrm>
          <a:prstGeom prst="rect">
            <a:avLst/>
          </a:prstGeom>
          <a:solidFill>
            <a:srgbClr val="72A7D1"/>
          </a:solidFill>
          <a:ln w="12700">
            <a:solidFill>
              <a:srgbClr val="FFFFFF">
                <a:alpha val="0"/>
              </a:srgbClr>
            </a:solidFill>
            <a:prstDash val="solid"/>
          </a:ln>
        </p:spPr>
      </p:sp>
      <p:sp>
        <p:nvSpPr>
          <p:cNvPr id="92" name="row-5-y2029-conditional-boundary-left-1"/>
          <p:cNvSpPr/>
          <p:nvPr/>
        </p:nvSpPr>
        <p:spPr>
          <a:xfrm>
            <a:off x="8429625" y="5262563"/>
            <a:ext cx="11906" cy="29766"/>
          </a:xfrm>
          <a:prstGeom prst="rect">
            <a:avLst/>
          </a:prstGeom>
          <a:solidFill>
            <a:srgbClr val="72A7D1"/>
          </a:solidFill>
          <a:ln w="12700">
            <a:solidFill>
              <a:srgbClr val="FFFFFF">
                <a:alpha val="0"/>
              </a:srgbClr>
            </a:solidFill>
            <a:prstDash val="solid"/>
          </a:ln>
        </p:spPr>
      </p:sp>
      <p:sp>
        <p:nvSpPr>
          <p:cNvPr id="93" name="row-5-y2029-conditional-boundary-right-0"/>
          <p:cNvSpPr/>
          <p:nvPr/>
        </p:nvSpPr>
        <p:spPr>
          <a:xfrm>
            <a:off x="8858250" y="5191125"/>
            <a:ext cx="11906" cy="41672"/>
          </a:xfrm>
          <a:prstGeom prst="rect">
            <a:avLst/>
          </a:prstGeom>
          <a:solidFill>
            <a:srgbClr val="72A7D1"/>
          </a:solidFill>
          <a:ln w="12700">
            <a:solidFill>
              <a:srgbClr val="FFFFFF">
                <a:alpha val="0"/>
              </a:srgbClr>
            </a:solidFill>
            <a:prstDash val="solid"/>
          </a:ln>
        </p:spPr>
      </p:sp>
      <p:sp>
        <p:nvSpPr>
          <p:cNvPr id="94" name="row-5-y2029-conditional-boundary-right-1"/>
          <p:cNvSpPr/>
          <p:nvPr/>
        </p:nvSpPr>
        <p:spPr>
          <a:xfrm>
            <a:off x="8858250" y="5262563"/>
            <a:ext cx="11906" cy="29766"/>
          </a:xfrm>
          <a:prstGeom prst="rect">
            <a:avLst/>
          </a:prstGeom>
          <a:solidFill>
            <a:srgbClr val="72A7D1"/>
          </a:solidFill>
          <a:ln w="12700">
            <a:solidFill>
              <a:srgbClr val="FFFFFF">
                <a:alpha val="0"/>
              </a:srgbClr>
            </a:solidFill>
            <a:prstDash val="solid"/>
          </a:ln>
        </p:spPr>
      </p:sp>
      <p:pic>
        <p:nvPicPr>
          <p:cNvPr id="95" name="row-1-icon" descr="decorative_illustration">    </p:cNvPr>
          <p:cNvPicPr>
            <a:picLocks noChangeAspect="1"/>
          </p:cNvPicPr>
          <p:nvPr/>
        </p:nvPicPr>
        <p:blipFill>
          <a:blip r:embed="rId1"/>
          <a:stretch>
            <a:fillRect/>
          </a:stretch>
        </p:blipFill>
        <p:spPr>
          <a:xfrm>
            <a:off x="494109" y="2208609"/>
            <a:ext cx="440531" cy="440531"/>
          </a:xfrm>
          <a:prstGeom prst="rect">
            <a:avLst/>
          </a:prstGeom>
        </p:spPr>
      </p:pic>
      <p:pic>
        <p:nvPicPr>
          <p:cNvPr id="96" name="row-2-icon" descr="decorative_illustration">    </p:cNvPr>
          <p:cNvPicPr>
            <a:picLocks noChangeAspect="1"/>
          </p:cNvPicPr>
          <p:nvPr/>
        </p:nvPicPr>
        <p:blipFill>
          <a:blip r:embed="rId2"/>
          <a:stretch>
            <a:fillRect/>
          </a:stretch>
        </p:blipFill>
        <p:spPr>
          <a:xfrm>
            <a:off x="494109" y="2875359"/>
            <a:ext cx="440531" cy="440531"/>
          </a:xfrm>
          <a:prstGeom prst="rect">
            <a:avLst/>
          </a:prstGeom>
        </p:spPr>
      </p:pic>
      <p:pic>
        <p:nvPicPr>
          <p:cNvPr id="97" name="row-3-icon" descr="decorative_illustration">    </p:cNvPr>
          <p:cNvPicPr>
            <a:picLocks noChangeAspect="1"/>
          </p:cNvPicPr>
          <p:nvPr/>
        </p:nvPicPr>
        <p:blipFill>
          <a:blip r:embed="rId3"/>
          <a:stretch>
            <a:fillRect/>
          </a:stretch>
        </p:blipFill>
        <p:spPr>
          <a:xfrm>
            <a:off x="494109" y="3542109"/>
            <a:ext cx="440531" cy="440531"/>
          </a:xfrm>
          <a:prstGeom prst="rect">
            <a:avLst/>
          </a:prstGeom>
        </p:spPr>
      </p:pic>
      <p:pic>
        <p:nvPicPr>
          <p:cNvPr id="98" name="row-4-icon" descr="decorative_illustration">    </p:cNvPr>
          <p:cNvPicPr>
            <a:picLocks noChangeAspect="1"/>
          </p:cNvPicPr>
          <p:nvPr/>
        </p:nvPicPr>
        <p:blipFill>
          <a:blip r:embed="rId4"/>
          <a:stretch>
            <a:fillRect/>
          </a:stretch>
        </p:blipFill>
        <p:spPr>
          <a:xfrm>
            <a:off x="494109" y="4208859"/>
            <a:ext cx="440531" cy="440531"/>
          </a:xfrm>
          <a:prstGeom prst="rect">
            <a:avLst/>
          </a:prstGeom>
        </p:spPr>
      </p:pic>
      <p:pic>
        <p:nvPicPr>
          <p:cNvPr id="99" name="row-5-icon" descr="decorative_illustration">    </p:cNvPr>
          <p:cNvPicPr>
            <a:picLocks noChangeAspect="1"/>
          </p:cNvPicPr>
          <p:nvPr/>
        </p:nvPicPr>
        <p:blipFill>
          <a:blip r:embed="rId5"/>
          <a:stretch>
            <a:fillRect/>
          </a:stretch>
        </p:blipFill>
        <p:spPr>
          <a:xfrm>
            <a:off x="494109" y="4875609"/>
            <a:ext cx="440531" cy="440531"/>
          </a:xfrm>
          <a:prstGeom prst="rect">
            <a:avLst/>
          </a:prstGeom>
        </p:spPr>
      </p:pic>
      <p:sp>
        <p:nvSpPr>
          <p:cNvPr id="100" name="headline"/>
          <p:cNvSpPr txBox="1"/>
          <p:nvPr/>
        </p:nvSpPr>
        <p:spPr>
          <a:xfrm>
            <a:off x="541734" y="506016"/>
            <a:ext cx="10953750" cy="392906"/>
          </a:xfrm>
          <a:prstGeom prst="rect">
            <a:avLst/>
          </a:prstGeom>
          <a:noFill/>
          <a:ln/>
        </p:spPr>
        <p:txBody>
          <a:bodyPr wrap="square" lIns="0" tIns="0" rIns="0" bIns="0" rtlCol="0" anchor="ctr">
            <a:noAutofit/>
          </a:bodyPr>
          <a:lstStyle/>
          <a:p>
            <a:pPr algn="l" indent="0" marL="0">
              <a:lnSpc>
                <a:spcPct val="100000"/>
              </a:lnSpc>
              <a:buNone/>
              <a:defRPr spc="0"/>
            </a:pPr>
            <a:r>
              <a:rPr lang="en-US" sz="2150" b="1" dirty="0" spc="0">
                <a:solidFill>
                  <a:srgbClr val="102C55"/>
                </a:solidFill>
                <a:latin typeface="Microsoft YaHei" pitchFamily="34" charset="0"/>
                <a:ea typeface="Microsoft YaHei" pitchFamily="34" charset="-122"/>
                <a:cs typeface="Microsoft YaHei" pitchFamily="34" charset="-120"/>
              </a:rPr>
              <a:t>2027—2029：先夯实现有 ISA 与软件，再按证据评估新硬件</a:t>
            </a:r>
            <a:endParaRPr lang="en-US" sz="2150" dirty="0" spc="0"/>
          </a:p>
        </p:txBody>
      </p:sp>
      <p:sp>
        <p:nvSpPr>
          <p:cNvPr id="101" name="subtitle"/>
          <p:cNvSpPr txBox="1"/>
          <p:nvPr/>
        </p:nvSpPr>
        <p:spPr>
          <a:xfrm>
            <a:off x="559594" y="934641"/>
            <a:ext cx="11013281"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dirty="0" spc="0">
                <a:solidFill>
                  <a:srgbClr val="58738A"/>
                </a:solidFill>
                <a:latin typeface="Microsoft YaHei" pitchFamily="34" charset="0"/>
                <a:ea typeface="Microsoft YaHei" pitchFamily="34" charset="-122"/>
                <a:cs typeface="Microsoft YaHei" pitchFamily="34" charset="-120"/>
              </a:rPr>
              <a:t>五个技术层按“2027 夯实基础 → 2028 强化跨层协作 → 2029 持续优化 / 条件研究”渐进演进。</a:t>
            </a:r>
            <a:endParaRPr lang="en-US" sz="1100" dirty="0" spc="0"/>
          </a:p>
        </p:txBody>
      </p:sp>
      <p:sp>
        <p:nvSpPr>
          <p:cNvPr id="102" name="layer-header"/>
          <p:cNvSpPr txBox="1"/>
          <p:nvPr/>
        </p:nvSpPr>
        <p:spPr>
          <a:xfrm>
            <a:off x="398859" y="1559719"/>
            <a:ext cx="1732359" cy="255984"/>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技术层</a:t>
            </a:r>
            <a:endParaRPr lang="en-US" sz="1250" dirty="0" spc="0"/>
          </a:p>
        </p:txBody>
      </p:sp>
      <p:sp>
        <p:nvSpPr>
          <p:cNvPr id="103" name="layer-sub"/>
          <p:cNvSpPr txBox="1"/>
          <p:nvPr/>
        </p:nvSpPr>
        <p:spPr>
          <a:xfrm>
            <a:off x="398859" y="1809750"/>
            <a:ext cx="1732359" cy="196453"/>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dirty="0" spc="0">
                <a:solidFill>
                  <a:srgbClr val="D5E9FB"/>
                </a:solidFill>
                <a:latin typeface="Microsoft YaHei" pitchFamily="34" charset="0"/>
                <a:ea typeface="Microsoft YaHei" pitchFamily="34" charset="-122"/>
                <a:cs typeface="Microsoft YaHei" pitchFamily="34" charset="-120"/>
              </a:rPr>
              <a:t>协作与职责</a:t>
            </a:r>
            <a:endParaRPr lang="en-US" sz="850" dirty="0" spc="0"/>
          </a:p>
        </p:txBody>
      </p:sp>
      <p:sp>
        <p:nvSpPr>
          <p:cNvPr id="104" name="year-2027"/>
          <p:cNvSpPr txBox="1"/>
          <p:nvPr/>
        </p:nvSpPr>
        <p:spPr>
          <a:xfrm>
            <a:off x="2214563" y="1553766"/>
            <a:ext cx="2970609" cy="26789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550" b="1" dirty="0" spc="0">
                <a:solidFill>
                  <a:srgbClr val="173753"/>
                </a:solidFill>
                <a:latin typeface="Microsoft YaHei" pitchFamily="34" charset="0"/>
                <a:ea typeface="Microsoft YaHei" pitchFamily="34" charset="-122"/>
                <a:cs typeface="Microsoft YaHei" pitchFamily="34" charset="-120"/>
              </a:rPr>
              <a:t>2027</a:t>
            </a:r>
            <a:endParaRPr lang="en-US" sz="1550" dirty="0" spc="0"/>
          </a:p>
        </p:txBody>
      </p:sp>
      <p:sp>
        <p:nvSpPr>
          <p:cNvPr id="105" name="year-2027-sub"/>
          <p:cNvSpPr txBox="1"/>
          <p:nvPr/>
        </p:nvSpPr>
        <p:spPr>
          <a:xfrm>
            <a:off x="2214563" y="1797844"/>
            <a:ext cx="2970609" cy="208359"/>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建立可移植工程基础</a:t>
            </a:r>
            <a:endParaRPr lang="en-US" sz="900" dirty="0" spc="0"/>
          </a:p>
        </p:txBody>
      </p:sp>
      <p:sp>
        <p:nvSpPr>
          <p:cNvPr id="106" name="year-2028"/>
          <p:cNvSpPr txBox="1"/>
          <p:nvPr/>
        </p:nvSpPr>
        <p:spPr>
          <a:xfrm>
            <a:off x="5262563" y="1553766"/>
            <a:ext cx="2970609" cy="26789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550" b="1" dirty="0" spc="0">
                <a:solidFill>
                  <a:srgbClr val="FFFFFF"/>
                </a:solidFill>
                <a:latin typeface="Microsoft YaHei" pitchFamily="34" charset="0"/>
                <a:ea typeface="Microsoft YaHei" pitchFamily="34" charset="-122"/>
                <a:cs typeface="Microsoft YaHei" pitchFamily="34" charset="-120"/>
              </a:rPr>
              <a:t>2028</a:t>
            </a:r>
            <a:endParaRPr lang="en-US" sz="1550" dirty="0" spc="0"/>
          </a:p>
        </p:txBody>
      </p:sp>
      <p:sp>
        <p:nvSpPr>
          <p:cNvPr id="107" name="year-2028-sub"/>
          <p:cNvSpPr txBox="1"/>
          <p:nvPr/>
        </p:nvSpPr>
        <p:spPr>
          <a:xfrm>
            <a:off x="5262563" y="1797844"/>
            <a:ext cx="2970609" cy="208359"/>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dirty="0" spc="0">
                <a:solidFill>
                  <a:srgbClr val="FFFFFF"/>
                </a:solidFill>
                <a:latin typeface="Microsoft YaHei" pitchFamily="34" charset="0"/>
                <a:ea typeface="Microsoft YaHei" pitchFamily="34" charset="-122"/>
                <a:cs typeface="Microsoft YaHei" pitchFamily="34" charset="-120"/>
              </a:rPr>
              <a:t>建立跨层协作合同</a:t>
            </a:r>
            <a:endParaRPr lang="en-US" sz="900" dirty="0" spc="0"/>
          </a:p>
        </p:txBody>
      </p:sp>
      <p:sp>
        <p:nvSpPr>
          <p:cNvPr id="108" name="year-2029"/>
          <p:cNvSpPr txBox="1"/>
          <p:nvPr/>
        </p:nvSpPr>
        <p:spPr>
          <a:xfrm>
            <a:off x="8310563" y="1553766"/>
            <a:ext cx="3482578" cy="26789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550" b="1" dirty="0" spc="0">
                <a:solidFill>
                  <a:srgbClr val="FFFFFF"/>
                </a:solidFill>
                <a:latin typeface="Microsoft YaHei" pitchFamily="34" charset="0"/>
                <a:ea typeface="Microsoft YaHei" pitchFamily="34" charset="-122"/>
                <a:cs typeface="Microsoft YaHei" pitchFamily="34" charset="-120"/>
              </a:rPr>
              <a:t>2029</a:t>
            </a:r>
            <a:endParaRPr lang="en-US" sz="1550" dirty="0" spc="0"/>
          </a:p>
        </p:txBody>
      </p:sp>
      <p:sp>
        <p:nvSpPr>
          <p:cNvPr id="109" name="year-2029-sub"/>
          <p:cNvSpPr txBox="1"/>
          <p:nvPr/>
        </p:nvSpPr>
        <p:spPr>
          <a:xfrm>
            <a:off x="8310563" y="1797844"/>
            <a:ext cx="3482578" cy="208359"/>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900" dirty="0" spc="0">
                <a:solidFill>
                  <a:srgbClr val="FFFFFF"/>
                </a:solidFill>
                <a:latin typeface="Microsoft YaHei" pitchFamily="34" charset="0"/>
                <a:ea typeface="Microsoft YaHei" pitchFamily="34" charset="-122"/>
                <a:cs typeface="Microsoft YaHei" pitchFamily="34" charset="-120"/>
              </a:rPr>
              <a:t>持续工程 + 条件性研究</a:t>
            </a:r>
            <a:endParaRPr lang="en-US" sz="900" dirty="0" spc="0"/>
          </a:p>
        </p:txBody>
      </p:sp>
      <p:sp>
        <p:nvSpPr>
          <p:cNvPr id="110" name="year-chevron-1"/>
          <p:cNvSpPr txBox="1"/>
          <p:nvPr/>
        </p:nvSpPr>
        <p:spPr>
          <a:xfrm>
            <a:off x="5149453" y="1678781"/>
            <a:ext cx="166688"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600" b="1" dirty="0" spc="0">
                <a:solidFill>
                  <a:srgbClr val="8BC7F1"/>
                </a:solidFill>
                <a:latin typeface="Microsoft YaHei" pitchFamily="34" charset="0"/>
                <a:ea typeface="Microsoft YaHei" pitchFamily="34" charset="-122"/>
                <a:cs typeface="Microsoft YaHei" pitchFamily="34" charset="-120"/>
              </a:rPr>
              <a:t>›</a:t>
            </a:r>
            <a:endParaRPr lang="en-US" sz="1600" dirty="0" spc="0"/>
          </a:p>
        </p:txBody>
      </p:sp>
      <p:sp>
        <p:nvSpPr>
          <p:cNvPr id="111" name="year-chevron-2"/>
          <p:cNvSpPr txBox="1"/>
          <p:nvPr/>
        </p:nvSpPr>
        <p:spPr>
          <a:xfrm>
            <a:off x="8197453" y="1678781"/>
            <a:ext cx="166688" cy="238125"/>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600" b="1" dirty="0" spc="0">
                <a:solidFill>
                  <a:srgbClr val="8BC7F1"/>
                </a:solidFill>
                <a:latin typeface="Microsoft YaHei" pitchFamily="34" charset="0"/>
                <a:ea typeface="Microsoft YaHei" pitchFamily="34" charset="-122"/>
                <a:cs typeface="Microsoft YaHei" pitchFamily="34" charset="-120"/>
              </a:rPr>
              <a:t>›</a:t>
            </a:r>
            <a:endParaRPr lang="en-US" sz="1600" dirty="0" spc="0"/>
          </a:p>
        </p:txBody>
      </p:sp>
      <p:sp>
        <p:nvSpPr>
          <p:cNvPr id="112" name="row-1-layer"/>
          <p:cNvSpPr txBox="1"/>
          <p:nvPr/>
        </p:nvSpPr>
        <p:spPr>
          <a:xfrm>
            <a:off x="1029891" y="2214563"/>
            <a:ext cx="103584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CPU / LLVM</a:t>
            </a:r>
            <a:endParaRPr lang="en-US" sz="1050" dirty="0" spc="0"/>
          </a:p>
        </p:txBody>
      </p:sp>
      <p:sp>
        <p:nvSpPr>
          <p:cNvPr id="113" name="row-1-owner"/>
          <p:cNvSpPr txBox="1"/>
          <p:nvPr/>
        </p:nvSpPr>
        <p:spPr>
          <a:xfrm>
            <a:off x="1029891" y="2464594"/>
            <a:ext cx="1041797"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现有 ISA 与编译</a:t>
            </a:r>
            <a:endParaRPr lang="en-US" sz="900" dirty="0" spc="0"/>
          </a:p>
        </p:txBody>
      </p:sp>
      <p:sp>
        <p:nvSpPr>
          <p:cNvPr id="114" name="row-1-y2027-main"/>
          <p:cNvSpPr txBox="1"/>
          <p:nvPr/>
        </p:nvSpPr>
        <p:spPr>
          <a:xfrm>
            <a:off x="2357438" y="220265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SME2 / AArch64 lowering</a:t>
            </a:r>
            <a:endParaRPr lang="en-US" sz="1050" dirty="0" spc="0"/>
          </a:p>
        </p:txBody>
      </p:sp>
      <p:sp>
        <p:nvSpPr>
          <p:cNvPr id="115" name="row-1-y2027-detail"/>
          <p:cNvSpPr txBox="1"/>
          <p:nvPr/>
        </p:nvSpPr>
        <p:spPr>
          <a:xfrm>
            <a:off x="2357438" y="244078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微内核、tile、packing、布局复用</a:t>
            </a:r>
            <a:endParaRPr lang="en-US" sz="950" dirty="0" spc="0"/>
          </a:p>
        </p:txBody>
      </p:sp>
      <p:sp>
        <p:nvSpPr>
          <p:cNvPr id="116" name="row-1-y2028-main"/>
          <p:cNvSpPr txBox="1"/>
          <p:nvPr/>
        </p:nvSpPr>
        <p:spPr>
          <a:xfrm>
            <a:off x="5405438" y="220265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CPU↔NPU 能力感知放置</a:t>
            </a:r>
            <a:endParaRPr lang="en-US" sz="1050" dirty="0" spc="0"/>
          </a:p>
        </p:txBody>
      </p:sp>
      <p:sp>
        <p:nvSpPr>
          <p:cNvPr id="117" name="row-1-y2028-detail"/>
          <p:cNvSpPr txBox="1"/>
          <p:nvPr/>
        </p:nvSpPr>
        <p:spPr>
          <a:xfrm>
            <a:off x="5405438" y="244078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编译与 Runtime 接口 / 版本兼容</a:t>
            </a:r>
            <a:endParaRPr lang="en-US" sz="950" dirty="0" spc="0"/>
          </a:p>
        </p:txBody>
      </p:sp>
      <p:sp>
        <p:nvSpPr>
          <p:cNvPr id="118" name="row-1-y2029-ongoing-tag"/>
          <p:cNvSpPr txBox="1"/>
          <p:nvPr/>
        </p:nvSpPr>
        <p:spPr>
          <a:xfrm>
            <a:off x="8429625" y="2220516"/>
            <a:ext cx="440531"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持续</a:t>
            </a:r>
            <a:endParaRPr lang="en-US" sz="850" dirty="0" spc="0"/>
          </a:p>
        </p:txBody>
      </p:sp>
      <p:sp>
        <p:nvSpPr>
          <p:cNvPr id="119" name="row-1-y2029-main"/>
          <p:cNvSpPr txBox="1"/>
          <p:nvPr/>
        </p:nvSpPr>
        <p:spPr>
          <a:xfrm>
            <a:off x="8929688" y="2208609"/>
            <a:ext cx="2738438"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现有 ISA 快速路径</a:t>
            </a:r>
            <a:endParaRPr lang="en-US" sz="950" dirty="0" spc="0"/>
          </a:p>
        </p:txBody>
      </p:sp>
      <p:sp>
        <p:nvSpPr>
          <p:cNvPr id="120" name="row-1-y2029-conditional-tag"/>
          <p:cNvSpPr txBox="1"/>
          <p:nvPr/>
        </p:nvSpPr>
        <p:spPr>
          <a:xfrm>
            <a:off x="8429625" y="2482453"/>
            <a:ext cx="440531" cy="18454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条件</a:t>
            </a:r>
            <a:endParaRPr lang="en-US" sz="850" dirty="0" spc="0"/>
          </a:p>
        </p:txBody>
      </p:sp>
      <p:sp>
        <p:nvSpPr>
          <p:cNvPr id="121" name="row-1-y2029-detail"/>
          <p:cNvSpPr txBox="1"/>
          <p:nvPr/>
        </p:nvSpPr>
        <p:spPr>
          <a:xfrm>
            <a:off x="8929688" y="2458641"/>
            <a:ext cx="2738438"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新指令需独立收益证据</a:t>
            </a:r>
            <a:endParaRPr lang="en-US" sz="950" dirty="0" spc="0"/>
          </a:p>
        </p:txBody>
      </p:sp>
      <p:sp>
        <p:nvSpPr>
          <p:cNvPr id="122" name="row-2-layer"/>
          <p:cNvSpPr txBox="1"/>
          <p:nvPr/>
        </p:nvSpPr>
        <p:spPr>
          <a:xfrm>
            <a:off x="1029891" y="2881313"/>
            <a:ext cx="103584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Runtime / OS</a:t>
            </a:r>
            <a:endParaRPr lang="en-US" sz="1050" dirty="0" spc="0"/>
          </a:p>
        </p:txBody>
      </p:sp>
      <p:sp>
        <p:nvSpPr>
          <p:cNvPr id="123" name="row-2-owner"/>
          <p:cNvSpPr txBox="1"/>
          <p:nvPr/>
        </p:nvSpPr>
        <p:spPr>
          <a:xfrm>
            <a:off x="1029891" y="3131344"/>
            <a:ext cx="1041797"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异构 SoC / QoE</a:t>
            </a:r>
            <a:endParaRPr lang="en-US" sz="900" dirty="0" spc="0"/>
          </a:p>
        </p:txBody>
      </p:sp>
      <p:sp>
        <p:nvSpPr>
          <p:cNvPr id="124" name="row-2-y2027-main"/>
          <p:cNvSpPr txBox="1"/>
          <p:nvPr/>
        </p:nvSpPr>
        <p:spPr>
          <a:xfrm>
            <a:off x="2357438" y="286940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动态阶段 DAG 放置</a:t>
            </a:r>
            <a:endParaRPr lang="en-US" sz="1050" dirty="0" spc="0"/>
          </a:p>
        </p:txBody>
      </p:sp>
      <p:sp>
        <p:nvSpPr>
          <p:cNvPr id="125" name="row-2-y2027-detail"/>
          <p:cNvSpPr txBox="1"/>
          <p:nvPr/>
        </p:nvSpPr>
        <p:spPr>
          <a:xfrm>
            <a:off x="2357438" y="310753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DRAM 争用与前台 QoE 控制</a:t>
            </a:r>
            <a:endParaRPr lang="en-US" sz="950" dirty="0" spc="0"/>
          </a:p>
        </p:txBody>
      </p:sp>
      <p:sp>
        <p:nvSpPr>
          <p:cNvPr id="126" name="row-2-y2028-main"/>
          <p:cNvSpPr txBox="1"/>
          <p:nvPr/>
        </p:nvSpPr>
        <p:spPr>
          <a:xfrm>
            <a:off x="5405438" y="286940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NPU 模型准入与回收</a:t>
            </a:r>
            <a:endParaRPr lang="en-US" sz="1050" dirty="0" spc="0"/>
          </a:p>
        </p:txBody>
      </p:sp>
      <p:sp>
        <p:nvSpPr>
          <p:cNvPr id="127" name="row-2-y2028-detail"/>
          <p:cNvSpPr txBox="1"/>
          <p:nvPr/>
        </p:nvSpPr>
        <p:spPr>
          <a:xfrm>
            <a:off x="5405438" y="310753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优先级、取消、恢复及队列公平</a:t>
            </a:r>
            <a:endParaRPr lang="en-US" sz="950" dirty="0" spc="0"/>
          </a:p>
        </p:txBody>
      </p:sp>
      <p:sp>
        <p:nvSpPr>
          <p:cNvPr id="128" name="row-2-y2029-ongoing-tag"/>
          <p:cNvSpPr txBox="1"/>
          <p:nvPr/>
        </p:nvSpPr>
        <p:spPr>
          <a:xfrm>
            <a:off x="8429625" y="2887266"/>
            <a:ext cx="440531"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持续</a:t>
            </a:r>
            <a:endParaRPr lang="en-US" sz="850" dirty="0" spc="0"/>
          </a:p>
        </p:txBody>
      </p:sp>
      <p:sp>
        <p:nvSpPr>
          <p:cNvPr id="129" name="row-2-y2029-main"/>
          <p:cNvSpPr txBox="1"/>
          <p:nvPr/>
        </p:nvSpPr>
        <p:spPr>
          <a:xfrm>
            <a:off x="8929688" y="2875359"/>
            <a:ext cx="2738438"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跨层调度与体验闭环</a:t>
            </a:r>
            <a:endParaRPr lang="en-US" sz="950" dirty="0" spc="0"/>
          </a:p>
        </p:txBody>
      </p:sp>
      <p:sp>
        <p:nvSpPr>
          <p:cNvPr id="130" name="row-2-y2029-conditional-tag"/>
          <p:cNvSpPr txBox="1"/>
          <p:nvPr/>
        </p:nvSpPr>
        <p:spPr>
          <a:xfrm>
            <a:off x="8429625" y="3149203"/>
            <a:ext cx="440531" cy="18454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条件</a:t>
            </a:r>
            <a:endParaRPr lang="en-US" sz="850" dirty="0" spc="0"/>
          </a:p>
        </p:txBody>
      </p:sp>
      <p:sp>
        <p:nvSpPr>
          <p:cNvPr id="131" name="row-2-y2029-detail"/>
          <p:cNvSpPr txBox="1"/>
          <p:nvPr/>
        </p:nvSpPr>
        <p:spPr>
          <a:xfrm>
            <a:off x="8929688" y="3125391"/>
            <a:ext cx="2738438"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物理状态机制需残余证据</a:t>
            </a:r>
            <a:endParaRPr lang="en-US" sz="950" dirty="0" spc="0"/>
          </a:p>
        </p:txBody>
      </p:sp>
      <p:sp>
        <p:nvSpPr>
          <p:cNvPr id="132" name="row-3-layer"/>
          <p:cNvSpPr txBox="1"/>
          <p:nvPr/>
        </p:nvSpPr>
        <p:spPr>
          <a:xfrm>
            <a:off x="1029891" y="3548063"/>
            <a:ext cx="103584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Agent 可信动作</a:t>
            </a:r>
            <a:endParaRPr lang="en-US" sz="1050" dirty="0" spc="0"/>
          </a:p>
        </p:txBody>
      </p:sp>
      <p:sp>
        <p:nvSpPr>
          <p:cNvPr id="133" name="row-3-owner"/>
          <p:cNvSpPr txBox="1"/>
          <p:nvPr/>
        </p:nvSpPr>
        <p:spPr>
          <a:xfrm>
            <a:off x="1029891" y="3798094"/>
            <a:ext cx="1041797"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应用 / OS 接口</a:t>
            </a:r>
            <a:endParaRPr lang="en-US" sz="900" dirty="0" spc="0"/>
          </a:p>
        </p:txBody>
      </p:sp>
      <p:sp>
        <p:nvSpPr>
          <p:cNvPr id="134" name="row-3-y2027-main"/>
          <p:cNvSpPr txBox="1"/>
          <p:nvPr/>
        </p:nvSpPr>
        <p:spPr>
          <a:xfrm>
            <a:off x="2357438" y="353615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权限、目标新鲜绑定</a:t>
            </a:r>
            <a:endParaRPr lang="en-US" sz="1050" dirty="0" spc="0"/>
          </a:p>
        </p:txBody>
      </p:sp>
      <p:sp>
        <p:nvSpPr>
          <p:cNvPr id="135" name="row-3-y2027-detail"/>
          <p:cNvSpPr txBox="1"/>
          <p:nvPr/>
        </p:nvSpPr>
        <p:spPr>
          <a:xfrm>
            <a:off x="2357438" y="377428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效果验证与有界恢复</a:t>
            </a:r>
            <a:endParaRPr lang="en-US" sz="950" dirty="0" spc="0"/>
          </a:p>
        </p:txBody>
      </p:sp>
      <p:sp>
        <p:nvSpPr>
          <p:cNvPr id="136" name="row-3-y2028-main"/>
          <p:cNvSpPr txBox="1"/>
          <p:nvPr/>
        </p:nvSpPr>
        <p:spPr>
          <a:xfrm>
            <a:off x="5405438" y="353615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跨 App 安全执行合同</a:t>
            </a:r>
            <a:endParaRPr lang="en-US" sz="1050" dirty="0" spc="0"/>
          </a:p>
        </p:txBody>
      </p:sp>
      <p:sp>
        <p:nvSpPr>
          <p:cNvPr id="137" name="row-3-y2028-detail"/>
          <p:cNvSpPr txBox="1"/>
          <p:nvPr/>
        </p:nvSpPr>
        <p:spPr>
          <a:xfrm>
            <a:off x="5405438" y="377428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动作谱系与状态可追溯</a:t>
            </a:r>
            <a:endParaRPr lang="en-US" sz="950" dirty="0" spc="0"/>
          </a:p>
        </p:txBody>
      </p:sp>
      <p:sp>
        <p:nvSpPr>
          <p:cNvPr id="138" name="row-3-y2029-ongoing-tag"/>
          <p:cNvSpPr txBox="1"/>
          <p:nvPr/>
        </p:nvSpPr>
        <p:spPr>
          <a:xfrm>
            <a:off x="8429625" y="3554016"/>
            <a:ext cx="440531"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推进</a:t>
            </a:r>
            <a:endParaRPr lang="en-US" sz="850" dirty="0" spc="0"/>
          </a:p>
        </p:txBody>
      </p:sp>
      <p:sp>
        <p:nvSpPr>
          <p:cNvPr id="139" name="row-3-y2029-main"/>
          <p:cNvSpPr txBox="1"/>
          <p:nvPr/>
        </p:nvSpPr>
        <p:spPr>
          <a:xfrm>
            <a:off x="8929688" y="3542109"/>
            <a:ext cx="2738438"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可信工具生命周期</a:t>
            </a:r>
            <a:endParaRPr lang="en-US" sz="950" dirty="0" spc="0"/>
          </a:p>
        </p:txBody>
      </p:sp>
      <p:sp>
        <p:nvSpPr>
          <p:cNvPr id="140" name="row-3-y2029-conditional-tag"/>
          <p:cNvSpPr txBox="1"/>
          <p:nvPr/>
        </p:nvSpPr>
        <p:spPr>
          <a:xfrm>
            <a:off x="8429625" y="3815953"/>
            <a:ext cx="440531" cy="18454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评价</a:t>
            </a:r>
            <a:endParaRPr lang="en-US" sz="850" dirty="0" spc="0"/>
          </a:p>
        </p:txBody>
      </p:sp>
      <p:sp>
        <p:nvSpPr>
          <p:cNvPr id="141" name="row-3-y2029-detail"/>
          <p:cNvSpPr txBox="1"/>
          <p:nvPr/>
        </p:nvSpPr>
        <p:spPr>
          <a:xfrm>
            <a:off x="8929688" y="3792141"/>
            <a:ext cx="2738438"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以真实任务结果为准</a:t>
            </a:r>
            <a:endParaRPr lang="en-US" sz="950" dirty="0" spc="0"/>
          </a:p>
        </p:txBody>
      </p:sp>
      <p:sp>
        <p:nvSpPr>
          <p:cNvPr id="142" name="row-4-layer"/>
          <p:cNvSpPr txBox="1"/>
          <p:nvPr/>
        </p:nvSpPr>
        <p:spPr>
          <a:xfrm>
            <a:off x="1029891" y="4214813"/>
            <a:ext cx="103584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内存 / 派生状态</a:t>
            </a:r>
            <a:endParaRPr lang="en-US" sz="1050" dirty="0" spc="0"/>
          </a:p>
        </p:txBody>
      </p:sp>
      <p:sp>
        <p:nvSpPr>
          <p:cNvPr id="143" name="row-4-owner"/>
          <p:cNvSpPr txBox="1"/>
          <p:nvPr/>
        </p:nvSpPr>
        <p:spPr>
          <a:xfrm>
            <a:off x="1029891" y="4464844"/>
            <a:ext cx="1041797"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版本与缓存</a:t>
            </a:r>
            <a:endParaRPr lang="en-US" sz="900" dirty="0" spc="0"/>
          </a:p>
        </p:txBody>
      </p:sp>
      <p:sp>
        <p:nvSpPr>
          <p:cNvPr id="144" name="row-4-y2027-main"/>
          <p:cNvSpPr txBox="1"/>
          <p:nvPr/>
        </p:nvSpPr>
        <p:spPr>
          <a:xfrm>
            <a:off x="2357438" y="420290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来源、版本与有效期治理</a:t>
            </a:r>
            <a:endParaRPr lang="en-US" sz="1050" dirty="0" spc="0"/>
          </a:p>
        </p:txBody>
      </p:sp>
      <p:sp>
        <p:nvSpPr>
          <p:cNvPr id="145" name="row-4-y2027-detail"/>
          <p:cNvSpPr txBox="1"/>
          <p:nvPr/>
        </p:nvSpPr>
        <p:spPr>
          <a:xfrm>
            <a:off x="2357438" y="444103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共享缓冲及缓存复用</a:t>
            </a:r>
            <a:endParaRPr lang="en-US" sz="950" dirty="0" spc="0"/>
          </a:p>
        </p:txBody>
      </p:sp>
      <p:sp>
        <p:nvSpPr>
          <p:cNvPr id="146" name="row-4-y2028-main"/>
          <p:cNvSpPr txBox="1"/>
          <p:nvPr/>
        </p:nvSpPr>
        <p:spPr>
          <a:xfrm>
            <a:off x="5405438" y="420290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跨模型 / 跨引擎状态兼容</a:t>
            </a:r>
            <a:endParaRPr lang="en-US" sz="1050" dirty="0" spc="0"/>
          </a:p>
        </p:txBody>
      </p:sp>
      <p:sp>
        <p:nvSpPr>
          <p:cNvPr id="147" name="row-4-y2028-detail"/>
          <p:cNvSpPr txBox="1"/>
          <p:nvPr/>
        </p:nvSpPr>
        <p:spPr>
          <a:xfrm>
            <a:off x="5405438" y="444103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失效与重建成本管理</a:t>
            </a:r>
            <a:endParaRPr lang="en-US" sz="950" dirty="0" spc="0"/>
          </a:p>
        </p:txBody>
      </p:sp>
      <p:sp>
        <p:nvSpPr>
          <p:cNvPr id="148" name="row-4-y2029-ongoing-tag"/>
          <p:cNvSpPr txBox="1"/>
          <p:nvPr/>
        </p:nvSpPr>
        <p:spPr>
          <a:xfrm>
            <a:off x="8429625" y="4220766"/>
            <a:ext cx="440531"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持续</a:t>
            </a:r>
            <a:endParaRPr lang="en-US" sz="850" dirty="0" spc="0"/>
          </a:p>
        </p:txBody>
      </p:sp>
      <p:sp>
        <p:nvSpPr>
          <p:cNvPr id="149" name="row-4-y2029-main"/>
          <p:cNvSpPr txBox="1"/>
          <p:nvPr/>
        </p:nvSpPr>
        <p:spPr>
          <a:xfrm>
            <a:off x="8929688" y="4208859"/>
            <a:ext cx="2738438"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强软件状态合同</a:t>
            </a:r>
            <a:endParaRPr lang="en-US" sz="950" dirty="0" spc="0"/>
          </a:p>
        </p:txBody>
      </p:sp>
      <p:sp>
        <p:nvSpPr>
          <p:cNvPr id="150" name="row-4-y2029-conditional-tag"/>
          <p:cNvSpPr txBox="1"/>
          <p:nvPr/>
        </p:nvSpPr>
        <p:spPr>
          <a:xfrm>
            <a:off x="8429625" y="4482703"/>
            <a:ext cx="440531" cy="18454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条件</a:t>
            </a:r>
            <a:endParaRPr lang="en-US" sz="850" dirty="0" spc="0"/>
          </a:p>
        </p:txBody>
      </p:sp>
      <p:sp>
        <p:nvSpPr>
          <p:cNvPr id="151" name="row-4-y2029-detail"/>
          <p:cNvSpPr txBox="1"/>
          <p:nvPr/>
        </p:nvSpPr>
        <p:spPr>
          <a:xfrm>
            <a:off x="8929688" y="4458891"/>
            <a:ext cx="2738438"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状态 / 局部性硬件残差</a:t>
            </a:r>
            <a:endParaRPr lang="en-US" sz="950" dirty="0" spc="0"/>
          </a:p>
        </p:txBody>
      </p:sp>
      <p:sp>
        <p:nvSpPr>
          <p:cNvPr id="152" name="row-5-layer"/>
          <p:cNvSpPr txBox="1"/>
          <p:nvPr/>
        </p:nvSpPr>
        <p:spPr>
          <a:xfrm>
            <a:off x="1029891" y="4881563"/>
            <a:ext cx="1035844"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主动低功耗</a:t>
            </a:r>
            <a:endParaRPr lang="en-US" sz="1050" dirty="0" spc="0"/>
          </a:p>
        </p:txBody>
      </p:sp>
      <p:sp>
        <p:nvSpPr>
          <p:cNvPr id="153" name="row-5-owner"/>
          <p:cNvSpPr txBox="1"/>
          <p:nvPr/>
        </p:nvSpPr>
        <p:spPr>
          <a:xfrm>
            <a:off x="1029891" y="5131594"/>
            <a:ext cx="1041797"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唤醒 / 准入策略</a:t>
            </a:r>
            <a:endParaRPr lang="en-US" sz="900" dirty="0" spc="0"/>
          </a:p>
        </p:txBody>
      </p:sp>
      <p:sp>
        <p:nvSpPr>
          <p:cNvPr id="154" name="row-5-y2027-main"/>
          <p:cNvSpPr txBox="1"/>
          <p:nvPr/>
        </p:nvSpPr>
        <p:spPr>
          <a:xfrm>
            <a:off x="2357438" y="486965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复用 CHRE / AOP / Hub</a:t>
            </a:r>
            <a:endParaRPr lang="en-US" sz="1050" dirty="0" spc="0"/>
          </a:p>
        </p:txBody>
      </p:sp>
      <p:sp>
        <p:nvSpPr>
          <p:cNvPr id="155" name="row-5-y2027-detail"/>
          <p:cNvSpPr txBox="1"/>
          <p:nvPr/>
        </p:nvSpPr>
        <p:spPr>
          <a:xfrm>
            <a:off x="2357438" y="510778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不行动、误报与漏报成本</a:t>
            </a:r>
            <a:endParaRPr lang="en-US" sz="950" dirty="0" spc="0"/>
          </a:p>
        </p:txBody>
      </p:sp>
      <p:sp>
        <p:nvSpPr>
          <p:cNvPr id="156" name="row-5-y2028-main"/>
          <p:cNvSpPr txBox="1"/>
          <p:nvPr/>
        </p:nvSpPr>
        <p:spPr>
          <a:xfrm>
            <a:off x="5405438" y="4869656"/>
            <a:ext cx="2678906"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唤醒理由与用户价值</a:t>
            </a:r>
            <a:endParaRPr lang="en-US" sz="1050" dirty="0" spc="0"/>
          </a:p>
        </p:txBody>
      </p:sp>
      <p:sp>
        <p:nvSpPr>
          <p:cNvPr id="157" name="row-5-y2028-detail"/>
          <p:cNvSpPr txBox="1"/>
          <p:nvPr/>
        </p:nvSpPr>
        <p:spPr>
          <a:xfrm>
            <a:off x="5405438" y="5107781"/>
            <a:ext cx="267890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隐私同意和能耗预算</a:t>
            </a:r>
            <a:endParaRPr lang="en-US" sz="950" dirty="0" spc="0"/>
          </a:p>
        </p:txBody>
      </p:sp>
      <p:sp>
        <p:nvSpPr>
          <p:cNvPr id="158" name="row-5-y2029-ongoing-tag"/>
          <p:cNvSpPr txBox="1"/>
          <p:nvPr/>
        </p:nvSpPr>
        <p:spPr>
          <a:xfrm>
            <a:off x="8429625" y="4887516"/>
            <a:ext cx="440531" cy="202406"/>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持续</a:t>
            </a:r>
            <a:endParaRPr lang="en-US" sz="850" dirty="0" spc="0"/>
          </a:p>
        </p:txBody>
      </p:sp>
      <p:sp>
        <p:nvSpPr>
          <p:cNvPr id="159" name="row-5-y2029-main"/>
          <p:cNvSpPr txBox="1"/>
          <p:nvPr/>
        </p:nvSpPr>
        <p:spPr>
          <a:xfrm>
            <a:off x="8929688" y="4875609"/>
            <a:ext cx="2738438"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b="1" dirty="0" spc="0">
                <a:solidFill>
                  <a:srgbClr val="173753"/>
                </a:solidFill>
                <a:latin typeface="Microsoft YaHei" pitchFamily="34" charset="0"/>
                <a:ea typeface="Microsoft YaHei" pitchFamily="34" charset="-122"/>
                <a:cs typeface="Microsoft YaHei" pitchFamily="34" charset="-120"/>
              </a:rPr>
              <a:t>低功耗准入策略</a:t>
            </a:r>
            <a:endParaRPr lang="en-US" sz="950" dirty="0" spc="0"/>
          </a:p>
        </p:txBody>
      </p:sp>
      <p:sp>
        <p:nvSpPr>
          <p:cNvPr id="160" name="row-5-y2029-conditional-tag"/>
          <p:cNvSpPr txBox="1"/>
          <p:nvPr/>
        </p:nvSpPr>
        <p:spPr>
          <a:xfrm>
            <a:off x="8429625" y="5149453"/>
            <a:ext cx="440531" cy="184547"/>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173753"/>
                </a:solidFill>
                <a:latin typeface="Microsoft YaHei" pitchFamily="34" charset="0"/>
                <a:ea typeface="Microsoft YaHei" pitchFamily="34" charset="-122"/>
                <a:cs typeface="Microsoft YaHei" pitchFamily="34" charset="-120"/>
              </a:rPr>
              <a:t>条件</a:t>
            </a:r>
            <a:endParaRPr lang="en-US" sz="850" dirty="0" spc="0"/>
          </a:p>
        </p:txBody>
      </p:sp>
      <p:sp>
        <p:nvSpPr>
          <p:cNvPr id="161" name="row-5-y2029-detail"/>
          <p:cNvSpPr txBox="1"/>
          <p:nvPr/>
        </p:nvSpPr>
        <p:spPr>
          <a:xfrm>
            <a:off x="8929688" y="5125641"/>
            <a:ext cx="2738438"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58738A"/>
                </a:solidFill>
                <a:latin typeface="Microsoft YaHei" pitchFamily="34" charset="0"/>
                <a:ea typeface="Microsoft YaHei" pitchFamily="34" charset="-122"/>
                <a:cs typeface="Microsoft YaHei" pitchFamily="34" charset="-120"/>
              </a:rPr>
              <a:t>专用域需独立增益证据</a:t>
            </a:r>
            <a:endParaRPr lang="en-US" sz="950" dirty="0" spc="0"/>
          </a:p>
        </p:txBody>
      </p:sp>
      <p:sp>
        <p:nvSpPr>
          <p:cNvPr id="162" name="gate-label"/>
          <p:cNvSpPr txBox="1"/>
          <p:nvPr/>
        </p:nvSpPr>
        <p:spPr>
          <a:xfrm>
            <a:off x="511969" y="5589984"/>
            <a:ext cx="934641" cy="250031"/>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850" b="1" dirty="0" spc="0">
                <a:solidFill>
                  <a:srgbClr val="FFFFFF"/>
                </a:solidFill>
                <a:latin typeface="Microsoft YaHei" pitchFamily="34" charset="0"/>
                <a:ea typeface="Microsoft YaHei" pitchFamily="34" charset="-122"/>
                <a:cs typeface="Microsoft YaHei" pitchFamily="34" charset="-120"/>
              </a:rPr>
              <a:t>证据升级门槛</a:t>
            </a:r>
            <a:endParaRPr lang="en-US" sz="850" dirty="0" spc="0"/>
          </a:p>
        </p:txBody>
      </p:sp>
      <p:sp>
        <p:nvSpPr>
          <p:cNvPr id="163" name="gate-line-1"/>
          <p:cNvSpPr txBox="1"/>
          <p:nvPr/>
        </p:nvSpPr>
        <p:spPr>
          <a:xfrm>
            <a:off x="1583531" y="5506641"/>
            <a:ext cx="9822656"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3753"/>
                </a:solidFill>
                <a:latin typeface="Microsoft YaHei" pitchFamily="34" charset="0"/>
                <a:ea typeface="Microsoft YaHei" pitchFamily="34" charset="-122"/>
                <a:cs typeface="Microsoft YaHei" pitchFamily="34" charset="-120"/>
              </a:rPr>
              <a:t>先验证现有软件 / ISA 路径；仅在出现可复核的公开物理残差且强软件基线无法吸收时，</a:t>
            </a:r>
            <a:endParaRPr lang="en-US" sz="1000" dirty="0" spc="0"/>
          </a:p>
        </p:txBody>
      </p:sp>
      <p:sp>
        <p:nvSpPr>
          <p:cNvPr id="164" name="gate-line-2"/>
          <p:cNvSpPr txBox="1"/>
          <p:nvPr/>
        </p:nvSpPr>
        <p:spPr>
          <a:xfrm>
            <a:off x="1583531" y="5720953"/>
            <a:ext cx="9822656"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b="1" dirty="0" spc="0">
                <a:solidFill>
                  <a:srgbClr val="173753"/>
                </a:solidFill>
                <a:latin typeface="Microsoft YaHei" pitchFamily="34" charset="0"/>
                <a:ea typeface="Microsoft YaHei" pitchFamily="34" charset="-122"/>
                <a:cs typeface="Microsoft YaHei" pitchFamily="34" charset="-120"/>
              </a:rPr>
              <a:t>才重新评估新缓存、跨引擎状态或专用低功耗域。</a:t>
            </a:r>
            <a:endParaRPr lang="en-US" sz="1000" dirty="0" spc="0"/>
          </a:p>
        </p:txBody>
      </p:sp>
      <p:sp>
        <p:nvSpPr>
          <p:cNvPr id="165" name="source-line"/>
          <p:cNvSpPr txBox="1"/>
          <p:nvPr/>
        </p:nvSpPr>
        <p:spPr>
          <a:xfrm>
            <a:off x="482203" y="6096000"/>
            <a:ext cx="11013281" cy="25598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来源：综合研究终稿第十三章 · current.md · DEC-PORTFOLIO-002 ｜ 规划建议，不是厂商路线或团队已批准交付。</a:t>
            </a:r>
            <a:endParaRPr lang="en-US" sz="900" dirty="0" spc="0"/>
          </a:p>
        </p:txBody>
      </p:sp>
      <p:sp>
        <p:nvSpPr>
          <p:cNvPr id="166" name="boundary-line"/>
          <p:cNvSpPr txBox="1"/>
          <p:nvPr/>
        </p:nvSpPr>
        <p:spPr>
          <a:xfrm>
            <a:off x="482203" y="6286500"/>
            <a:ext cx="11013281" cy="25598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58738A"/>
                </a:solidFill>
                <a:latin typeface="Microsoft YaHei" pitchFamily="34" charset="0"/>
                <a:ea typeface="Microsoft YaHei" pitchFamily="34" charset="-122"/>
                <a:cs typeface="Microsoft YaHei" pitchFamily="34" charset="-120"/>
              </a:rPr>
              <a:t>边界：2029 的“条件研究”不表示必有新硬件；本页没有引入未经公开验证的性能收益和流片日期。</a:t>
            </a:r>
            <a:endParaRPr lang="en-US" sz="900" dirty="0" spc="0"/>
          </a:p>
        </p:txBody>
      </p:sp>
      <p:sp>
        <p:nvSpPr>
          <p:cNvPr id="167"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285750" y="1160859"/>
            <a:ext cx="2738438" cy="1273969"/>
          </a:xfrm>
          <a:prstGeom prst="roundRect">
            <a:avLst>
              <a:gd name="adj" fmla="val 6075"/>
            </a:avLst>
          </a:prstGeom>
          <a:solidFill>
            <a:srgbClr val="FFFFFF"/>
          </a:solidFill>
          <a:ln w="8930">
            <a:solidFill>
              <a:srgbClr val="BCD6EC"/>
            </a:solidFill>
            <a:prstDash val="solid"/>
          </a:ln>
        </p:spPr>
      </p:sp>
      <p:sp>
        <p:nvSpPr>
          <p:cNvPr id="3" name="panel-2"/>
          <p:cNvSpPr/>
          <p:nvPr/>
        </p:nvSpPr>
        <p:spPr>
          <a:xfrm>
            <a:off x="3190875" y="1160859"/>
            <a:ext cx="2738438" cy="1273969"/>
          </a:xfrm>
          <a:prstGeom prst="roundRect">
            <a:avLst>
              <a:gd name="adj" fmla="val 6075"/>
            </a:avLst>
          </a:prstGeom>
          <a:solidFill>
            <a:srgbClr val="F7F9FD"/>
          </a:solidFill>
          <a:ln w="8930">
            <a:solidFill>
              <a:srgbClr val="BCD6EC"/>
            </a:solidFill>
            <a:prstDash val="solid"/>
          </a:ln>
        </p:spPr>
      </p:sp>
      <p:sp>
        <p:nvSpPr>
          <p:cNvPr id="4" name="panel-3"/>
          <p:cNvSpPr/>
          <p:nvPr/>
        </p:nvSpPr>
        <p:spPr>
          <a:xfrm>
            <a:off x="6096000" y="1160859"/>
            <a:ext cx="2738438" cy="1273969"/>
          </a:xfrm>
          <a:prstGeom prst="roundRect">
            <a:avLst>
              <a:gd name="adj" fmla="val 6075"/>
            </a:avLst>
          </a:prstGeom>
          <a:solidFill>
            <a:srgbClr val="FFFFFF"/>
          </a:solidFill>
          <a:ln w="8930">
            <a:solidFill>
              <a:srgbClr val="BCD6EC"/>
            </a:solidFill>
            <a:prstDash val="solid"/>
          </a:ln>
        </p:spPr>
      </p:sp>
      <p:sp>
        <p:nvSpPr>
          <p:cNvPr id="5" name="panel-4"/>
          <p:cNvSpPr/>
          <p:nvPr/>
        </p:nvSpPr>
        <p:spPr>
          <a:xfrm>
            <a:off x="9001125" y="1160859"/>
            <a:ext cx="2899172" cy="1273969"/>
          </a:xfrm>
          <a:prstGeom prst="roundRect">
            <a:avLst>
              <a:gd name="adj" fmla="val 6075"/>
            </a:avLst>
          </a:prstGeom>
          <a:solidFill>
            <a:srgbClr val="F7F9FD"/>
          </a:solidFill>
          <a:ln w="8930">
            <a:solidFill>
              <a:srgbClr val="BCD6EC"/>
            </a:solidFill>
            <a:prstDash val="solid"/>
          </a:ln>
        </p:spPr>
      </p:sp>
      <p:sp>
        <p:nvSpPr>
          <p:cNvPr id="6" name="panel-5"/>
          <p:cNvSpPr/>
          <p:nvPr/>
        </p:nvSpPr>
        <p:spPr>
          <a:xfrm>
            <a:off x="285750" y="2524125"/>
            <a:ext cx="8763000" cy="3387328"/>
          </a:xfrm>
          <a:prstGeom prst="roundRect">
            <a:avLst>
              <a:gd name="adj" fmla="val 2285"/>
            </a:avLst>
          </a:prstGeom>
          <a:solidFill>
            <a:srgbClr val="FFFFFF"/>
          </a:solidFill>
          <a:ln w="8930">
            <a:solidFill>
              <a:srgbClr val="BCD6EC"/>
            </a:solidFill>
            <a:prstDash val="solid"/>
          </a:ln>
        </p:spPr>
      </p:sp>
      <p:sp>
        <p:nvSpPr>
          <p:cNvPr id="7" name="panel-6"/>
          <p:cNvSpPr/>
          <p:nvPr/>
        </p:nvSpPr>
        <p:spPr>
          <a:xfrm>
            <a:off x="9197578" y="2524125"/>
            <a:ext cx="2708672" cy="3387328"/>
          </a:xfrm>
          <a:prstGeom prst="roundRect">
            <a:avLst>
              <a:gd name="adj" fmla="val 2857"/>
            </a:avLst>
          </a:prstGeom>
          <a:solidFill>
            <a:srgbClr val="F7F9FD"/>
          </a:solidFill>
          <a:ln w="8930">
            <a:solidFill>
              <a:srgbClr val="BCD6EC"/>
            </a:solidFill>
            <a:prstDash val="solid"/>
          </a:ln>
        </p:spPr>
      </p:sp>
      <p:sp>
        <p:nvSpPr>
          <p:cNvPr id="8" name="detail-card-1"/>
          <p:cNvSpPr/>
          <p:nvPr/>
        </p:nvSpPr>
        <p:spPr>
          <a:xfrm>
            <a:off x="416719" y="3119438"/>
            <a:ext cx="3542109" cy="815578"/>
          </a:xfrm>
          <a:prstGeom prst="roundRect">
            <a:avLst>
              <a:gd name="adj" fmla="val 8029"/>
            </a:avLst>
          </a:prstGeom>
          <a:solidFill>
            <a:srgbClr val="F7FBFF"/>
          </a:solidFill>
          <a:ln w="7144">
            <a:solidFill>
              <a:srgbClr val="C7E0F3"/>
            </a:solidFill>
            <a:prstDash val="solid"/>
          </a:ln>
        </p:spPr>
      </p:sp>
      <p:sp>
        <p:nvSpPr>
          <p:cNvPr id="9" name="detail-card-2"/>
          <p:cNvSpPr/>
          <p:nvPr/>
        </p:nvSpPr>
        <p:spPr>
          <a:xfrm>
            <a:off x="416719" y="4030266"/>
            <a:ext cx="3542109" cy="815578"/>
          </a:xfrm>
          <a:prstGeom prst="roundRect">
            <a:avLst>
              <a:gd name="adj" fmla="val 8029"/>
            </a:avLst>
          </a:prstGeom>
          <a:solidFill>
            <a:srgbClr val="F7FBFF"/>
          </a:solidFill>
          <a:ln w="7144">
            <a:solidFill>
              <a:srgbClr val="C7E0F3"/>
            </a:solidFill>
            <a:prstDash val="solid"/>
          </a:ln>
        </p:spPr>
      </p:sp>
      <p:sp>
        <p:nvSpPr>
          <p:cNvPr id="10" name="detail-card-3"/>
          <p:cNvSpPr/>
          <p:nvPr/>
        </p:nvSpPr>
        <p:spPr>
          <a:xfrm>
            <a:off x="416719" y="4941094"/>
            <a:ext cx="3542109" cy="815578"/>
          </a:xfrm>
          <a:prstGeom prst="roundRect">
            <a:avLst>
              <a:gd name="adj" fmla="val 8029"/>
            </a:avLst>
          </a:prstGeom>
          <a:solidFill>
            <a:srgbClr val="F7FBFF"/>
          </a:solidFill>
          <a:ln w="7144">
            <a:solidFill>
              <a:srgbClr val="C7E0F3"/>
            </a:solidFill>
            <a:prstDash val="solid"/>
          </a:ln>
        </p:spPr>
      </p:sp>
      <p:sp>
        <p:nvSpPr>
          <p:cNvPr id="11" name="detail-card-4"/>
          <p:cNvSpPr/>
          <p:nvPr/>
        </p:nvSpPr>
        <p:spPr>
          <a:xfrm>
            <a:off x="5869781" y="3119438"/>
            <a:ext cx="3155156" cy="815578"/>
          </a:xfrm>
          <a:prstGeom prst="roundRect">
            <a:avLst>
              <a:gd name="adj" fmla="val 8029"/>
            </a:avLst>
          </a:prstGeom>
          <a:solidFill>
            <a:srgbClr val="FFF4F5"/>
          </a:solidFill>
          <a:ln w="7144">
            <a:solidFill>
              <a:srgbClr val="F1BFC6"/>
            </a:solidFill>
            <a:prstDash val="solid"/>
          </a:ln>
        </p:spPr>
      </p:sp>
      <p:sp>
        <p:nvSpPr>
          <p:cNvPr id="12" name="detail-card-5"/>
          <p:cNvSpPr/>
          <p:nvPr/>
        </p:nvSpPr>
        <p:spPr>
          <a:xfrm>
            <a:off x="5869781" y="4030266"/>
            <a:ext cx="3155156" cy="815578"/>
          </a:xfrm>
          <a:prstGeom prst="roundRect">
            <a:avLst>
              <a:gd name="adj" fmla="val 8029"/>
            </a:avLst>
          </a:prstGeom>
          <a:solidFill>
            <a:srgbClr val="FFF4F5"/>
          </a:solidFill>
          <a:ln w="7144">
            <a:solidFill>
              <a:srgbClr val="F1BFC6"/>
            </a:solidFill>
            <a:prstDash val="solid"/>
          </a:ln>
        </p:spPr>
      </p:sp>
      <p:sp>
        <p:nvSpPr>
          <p:cNvPr id="13" name="detail-card-6"/>
          <p:cNvSpPr/>
          <p:nvPr/>
        </p:nvSpPr>
        <p:spPr>
          <a:xfrm>
            <a:off x="5869781" y="4941094"/>
            <a:ext cx="3155156" cy="815578"/>
          </a:xfrm>
          <a:prstGeom prst="roundRect">
            <a:avLst>
              <a:gd name="adj" fmla="val 8029"/>
            </a:avLst>
          </a:prstGeom>
          <a:solidFill>
            <a:srgbClr val="FFF4F5"/>
          </a:solidFill>
          <a:ln w="7144">
            <a:solidFill>
              <a:srgbClr val="F1BFC6"/>
            </a:solidFill>
            <a:prstDash val="solid"/>
          </a:ln>
        </p:spPr>
      </p:sp>
      <p:sp>
        <p:nvSpPr>
          <p:cNvPr id="14" name="tier-support-strip-1"/>
          <p:cNvSpPr/>
          <p:nvPr/>
        </p:nvSpPr>
        <p:spPr>
          <a:xfrm>
            <a:off x="369094" y="2018109"/>
            <a:ext cx="2571750" cy="327422"/>
          </a:xfrm>
          <a:prstGeom prst="rect">
            <a:avLst/>
          </a:prstGeom>
          <a:solidFill>
            <a:srgbClr val="E2F2FF"/>
          </a:solidFill>
          <a:ln w="12700">
            <a:solidFill>
              <a:srgbClr val="FFFFFF">
                <a:alpha val="0"/>
              </a:srgbClr>
            </a:solidFill>
            <a:prstDash val="solid"/>
          </a:ln>
        </p:spPr>
      </p:sp>
      <p:sp>
        <p:nvSpPr>
          <p:cNvPr id="15" name="tier-support-strip-2"/>
          <p:cNvSpPr/>
          <p:nvPr/>
        </p:nvSpPr>
        <p:spPr>
          <a:xfrm>
            <a:off x="3274219" y="2018109"/>
            <a:ext cx="2571750" cy="327422"/>
          </a:xfrm>
          <a:prstGeom prst="rect">
            <a:avLst/>
          </a:prstGeom>
          <a:solidFill>
            <a:srgbClr val="E2F2FF"/>
          </a:solidFill>
          <a:ln w="12700">
            <a:solidFill>
              <a:srgbClr val="FFFFFF">
                <a:alpha val="0"/>
              </a:srgbClr>
            </a:solidFill>
            <a:prstDash val="solid"/>
          </a:ln>
        </p:spPr>
      </p:sp>
      <p:sp>
        <p:nvSpPr>
          <p:cNvPr id="16" name="tier-support-strip-3"/>
          <p:cNvSpPr/>
          <p:nvPr/>
        </p:nvSpPr>
        <p:spPr>
          <a:xfrm>
            <a:off x="6179344" y="2018109"/>
            <a:ext cx="2571750" cy="327422"/>
          </a:xfrm>
          <a:prstGeom prst="rect">
            <a:avLst/>
          </a:prstGeom>
          <a:solidFill>
            <a:srgbClr val="FFF0DC"/>
          </a:solidFill>
          <a:ln w="12700">
            <a:solidFill>
              <a:srgbClr val="FFFFFF">
                <a:alpha val="0"/>
              </a:srgbClr>
            </a:solidFill>
            <a:prstDash val="solid"/>
          </a:ln>
        </p:spPr>
      </p:sp>
      <p:sp>
        <p:nvSpPr>
          <p:cNvPr id="17" name="tier-support-strip-4"/>
          <p:cNvSpPr/>
          <p:nvPr/>
        </p:nvSpPr>
        <p:spPr>
          <a:xfrm>
            <a:off x="9191625" y="2018109"/>
            <a:ext cx="2637234" cy="327422"/>
          </a:xfrm>
          <a:prstGeom prst="rect">
            <a:avLst/>
          </a:prstGeom>
          <a:solidFill>
            <a:srgbClr val="FFE2E7"/>
          </a:solidFill>
          <a:ln w="12700">
            <a:solidFill>
              <a:srgbClr val="FFFFFF">
                <a:alpha val="0"/>
              </a:srgbClr>
            </a:solidFill>
            <a:prstDash val="solid"/>
          </a:ln>
        </p:spPr>
      </p:sp>
      <p:sp>
        <p:nvSpPr>
          <p:cNvPr id="18"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19"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20" name="blue-bar-1"/>
          <p:cNvSpPr/>
          <p:nvPr/>
        </p:nvSpPr>
        <p:spPr>
          <a:xfrm>
            <a:off x="291703" y="1184672"/>
            <a:ext cx="2797969" cy="333375"/>
          </a:xfrm>
          <a:prstGeom prst="roundRect">
            <a:avLst>
              <a:gd name="adj" fmla="val 14286"/>
            </a:avLst>
          </a:prstGeom>
          <a:solidFill>
            <a:srgbClr val="1769B1"/>
          </a:solidFill>
          <a:ln w="12700">
            <a:solidFill>
              <a:srgbClr val="FFFFFF">
                <a:alpha val="0"/>
              </a:srgbClr>
            </a:solidFill>
            <a:prstDash val="solid"/>
          </a:ln>
        </p:spPr>
      </p:sp>
      <p:sp>
        <p:nvSpPr>
          <p:cNvPr id="21" name="blue-bar-2"/>
          <p:cNvSpPr/>
          <p:nvPr/>
        </p:nvSpPr>
        <p:spPr>
          <a:xfrm>
            <a:off x="3238500" y="1178719"/>
            <a:ext cx="2422922" cy="339328"/>
          </a:xfrm>
          <a:prstGeom prst="roundRect">
            <a:avLst>
              <a:gd name="adj" fmla="val 14035"/>
            </a:avLst>
          </a:prstGeom>
          <a:solidFill>
            <a:srgbClr val="1769B1"/>
          </a:solidFill>
          <a:ln w="12700">
            <a:solidFill>
              <a:srgbClr val="FFFFFF">
                <a:alpha val="0"/>
              </a:srgbClr>
            </a:solidFill>
            <a:prstDash val="solid"/>
          </a:ln>
        </p:spPr>
      </p:sp>
      <p:sp>
        <p:nvSpPr>
          <p:cNvPr id="22" name="blue-bar-3"/>
          <p:cNvSpPr/>
          <p:nvPr/>
        </p:nvSpPr>
        <p:spPr>
          <a:xfrm>
            <a:off x="2815828" y="2530078"/>
            <a:ext cx="4107656" cy="422672"/>
          </a:xfrm>
          <a:prstGeom prst="roundRect">
            <a:avLst>
              <a:gd name="adj" fmla="val 11268"/>
            </a:avLst>
          </a:prstGeom>
          <a:solidFill>
            <a:srgbClr val="1769B1"/>
          </a:solidFill>
          <a:ln w="12700">
            <a:solidFill>
              <a:srgbClr val="FFFFFF">
                <a:alpha val="0"/>
              </a:srgbClr>
            </a:solidFill>
            <a:prstDash val="solid"/>
          </a:ln>
        </p:spPr>
      </p:sp>
      <p:sp>
        <p:nvSpPr>
          <p:cNvPr id="23" name="blue-bar-4"/>
          <p:cNvSpPr/>
          <p:nvPr/>
        </p:nvSpPr>
        <p:spPr>
          <a:xfrm>
            <a:off x="9221391" y="2530078"/>
            <a:ext cx="2696766" cy="500063"/>
          </a:xfrm>
          <a:prstGeom prst="roundRect">
            <a:avLst>
              <a:gd name="adj" fmla="val 9524"/>
            </a:avLst>
          </a:prstGeom>
          <a:solidFill>
            <a:srgbClr val="1769B1"/>
          </a:solidFill>
          <a:ln w="12700">
            <a:solidFill>
              <a:srgbClr val="FFFFFF">
                <a:alpha val="0"/>
              </a:srgbClr>
            </a:solidFill>
            <a:prstDash val="solid"/>
          </a:ln>
        </p:spPr>
      </p:sp>
      <p:sp>
        <p:nvSpPr>
          <p:cNvPr id="24" name="blue-bar-5"/>
          <p:cNvSpPr/>
          <p:nvPr/>
        </p:nvSpPr>
        <p:spPr>
          <a:xfrm>
            <a:off x="369094" y="5959078"/>
            <a:ext cx="1696641" cy="381000"/>
          </a:xfrm>
          <a:prstGeom prst="roundRect">
            <a:avLst>
              <a:gd name="adj" fmla="val 12500"/>
            </a:avLst>
          </a:prstGeom>
          <a:solidFill>
            <a:srgbClr val="1769B1"/>
          </a:solidFill>
          <a:ln w="12700">
            <a:solidFill>
              <a:srgbClr val="FFFFFF">
                <a:alpha val="0"/>
              </a:srgbClr>
            </a:solidFill>
            <a:prstDash val="solid"/>
          </a:ln>
        </p:spPr>
      </p:sp>
      <p:sp>
        <p:nvSpPr>
          <p:cNvPr id="25" name="evidence-tier-bar-3"/>
          <p:cNvSpPr/>
          <p:nvPr/>
        </p:nvSpPr>
        <p:spPr>
          <a:xfrm>
            <a:off x="6179344" y="1184672"/>
            <a:ext cx="2797969" cy="333375"/>
          </a:xfrm>
          <a:prstGeom prst="rect">
            <a:avLst/>
          </a:prstGeom>
          <a:solidFill>
            <a:srgbClr val="F2A52D"/>
          </a:solidFill>
          <a:ln w="12700">
            <a:solidFill>
              <a:srgbClr val="FFFFFF">
                <a:alpha val="0"/>
              </a:srgbClr>
            </a:solidFill>
            <a:prstDash val="solid"/>
          </a:ln>
        </p:spPr>
      </p:sp>
      <p:sp>
        <p:nvSpPr>
          <p:cNvPr id="26" name="evidence-tier-bar-4"/>
          <p:cNvSpPr/>
          <p:nvPr/>
        </p:nvSpPr>
        <p:spPr>
          <a:xfrm>
            <a:off x="9120188" y="1184672"/>
            <a:ext cx="2780109" cy="333375"/>
          </a:xfrm>
          <a:prstGeom prst="rect">
            <a:avLst/>
          </a:prstGeom>
          <a:solidFill>
            <a:srgbClr val="E72A4C"/>
          </a:solidFill>
          <a:ln w="12700">
            <a:solidFill>
              <a:srgbClr val="FFFFFF">
                <a:alpha val="0"/>
              </a:srgbClr>
            </a:solidFill>
            <a:prstDash val="solid"/>
          </a:ln>
        </p:spPr>
      </p:sp>
      <p:sp>
        <p:nvSpPr>
          <p:cNvPr id="27" name="evidence-tier-badge-1"/>
          <p:cNvSpPr/>
          <p:nvPr/>
        </p:nvSpPr>
        <p:spPr>
          <a:xfrm>
            <a:off x="375047" y="1226344"/>
            <a:ext cx="297656" cy="297656"/>
          </a:xfrm>
          <a:prstGeom prst="ellipse">
            <a:avLst/>
          </a:prstGeom>
          <a:solidFill>
            <a:srgbClr val="FFFFFF"/>
          </a:solidFill>
          <a:ln w="12700">
            <a:solidFill>
              <a:srgbClr val="FFFFFF">
                <a:alpha val="0"/>
              </a:srgbClr>
            </a:solidFill>
            <a:prstDash val="solid"/>
          </a:ln>
        </p:spPr>
      </p:sp>
      <p:sp>
        <p:nvSpPr>
          <p:cNvPr id="28" name="evidence-tier-badge-2"/>
          <p:cNvSpPr/>
          <p:nvPr/>
        </p:nvSpPr>
        <p:spPr>
          <a:xfrm>
            <a:off x="3321844" y="1226344"/>
            <a:ext cx="297656" cy="297656"/>
          </a:xfrm>
          <a:prstGeom prst="ellipse">
            <a:avLst/>
          </a:prstGeom>
          <a:solidFill>
            <a:srgbClr val="FFFFFF"/>
          </a:solidFill>
          <a:ln w="12700">
            <a:solidFill>
              <a:srgbClr val="FFFFFF">
                <a:alpha val="0"/>
              </a:srgbClr>
            </a:solidFill>
            <a:prstDash val="solid"/>
          </a:ln>
        </p:spPr>
      </p:sp>
      <p:sp>
        <p:nvSpPr>
          <p:cNvPr id="29" name="evidence-tier-badge-3"/>
          <p:cNvSpPr/>
          <p:nvPr/>
        </p:nvSpPr>
        <p:spPr>
          <a:xfrm>
            <a:off x="6286500" y="1226344"/>
            <a:ext cx="297656" cy="297656"/>
          </a:xfrm>
          <a:prstGeom prst="ellipse">
            <a:avLst/>
          </a:prstGeom>
          <a:solidFill>
            <a:srgbClr val="FFFFFF"/>
          </a:solidFill>
          <a:ln w="12700">
            <a:solidFill>
              <a:srgbClr val="FFFFFF">
                <a:alpha val="0"/>
              </a:srgbClr>
            </a:solidFill>
            <a:prstDash val="solid"/>
          </a:ln>
        </p:spPr>
      </p:sp>
      <p:sp>
        <p:nvSpPr>
          <p:cNvPr id="30" name="evidence-tier-badge-4"/>
          <p:cNvSpPr/>
          <p:nvPr/>
        </p:nvSpPr>
        <p:spPr>
          <a:xfrm>
            <a:off x="9215438" y="1226344"/>
            <a:ext cx="297656" cy="297656"/>
          </a:xfrm>
          <a:prstGeom prst="ellipse">
            <a:avLst/>
          </a:prstGeom>
          <a:solidFill>
            <a:srgbClr val="FFFFFF"/>
          </a:solidFill>
          <a:ln w="12700">
            <a:solidFill>
              <a:srgbClr val="FFFFFF">
                <a:alpha val="0"/>
              </a:srgbClr>
            </a:solidFill>
            <a:prstDash val="solid"/>
          </a:ln>
        </p:spPr>
      </p:sp>
      <p:cxnSp>
        <p:nvCxnSpPr>
          <p:cNvPr id="31" name="SC_CONNECTOR__fact-to-inference__0"/>
          <p:cNvCxnSpPr/>
          <p:nvPr/>
        </p:nvCxnSpPr>
        <p:spPr>
          <a:xfrm>
            <a:off x="3024188" y="1797844"/>
            <a:ext cx="166687" cy="0"/>
          </a:xfrm>
          <a:prstGeom prst="line">
            <a:avLst/>
          </a:prstGeom>
          <a:noFill/>
          <a:ln w="17859">
            <a:solidFill>
              <a:srgbClr val="2473B6"/>
            </a:solidFill>
            <a:prstDash val="solid"/>
            <a:round/>
            <a:headEnd type="none"/>
            <a:tailEnd type="triangle" w="med" len="med"/>
          </a:ln>
        </p:spPr>
      </p:cxnSp>
      <p:cxnSp>
        <p:nvCxnSpPr>
          <p:cNvPr id="32" name="SC_CONNECTOR__inference-to-hypothesis__0"/>
          <p:cNvCxnSpPr/>
          <p:nvPr/>
        </p:nvCxnSpPr>
        <p:spPr>
          <a:xfrm>
            <a:off x="5929313" y="1797844"/>
            <a:ext cx="166688" cy="0"/>
          </a:xfrm>
          <a:prstGeom prst="line">
            <a:avLst/>
          </a:prstGeom>
          <a:noFill/>
          <a:ln w="17859">
            <a:solidFill>
              <a:srgbClr val="2473B6"/>
            </a:solidFill>
            <a:prstDash val="solid"/>
            <a:round/>
            <a:headEnd type="none"/>
            <a:tailEnd type="triangle" w="med" len="med"/>
          </a:ln>
        </p:spPr>
      </p:cxnSp>
      <p:cxnSp>
        <p:nvCxnSpPr>
          <p:cNvPr id="33" name="SC_CONNECTOR__hypothesis-to-unsupported__0"/>
          <p:cNvCxnSpPr/>
          <p:nvPr/>
        </p:nvCxnSpPr>
        <p:spPr>
          <a:xfrm>
            <a:off x="8834438" y="1797844"/>
            <a:ext cx="166687" cy="0"/>
          </a:xfrm>
          <a:prstGeom prst="line">
            <a:avLst/>
          </a:prstGeom>
          <a:noFill/>
          <a:ln w="17859">
            <a:solidFill>
              <a:srgbClr val="2473B6"/>
            </a:solidFill>
            <a:prstDash val="solid"/>
            <a:round/>
            <a:headEnd type="none"/>
            <a:tailEnd type="triangle" w="med" len="med"/>
          </a:ln>
        </p:spPr>
      </p:cxnSp>
      <p:cxnSp>
        <p:nvCxnSpPr>
          <p:cNvPr id="34" name="SC_CONNECTOR__crossover-extrapolation__0"/>
          <p:cNvCxnSpPr/>
          <p:nvPr/>
        </p:nvCxnSpPr>
        <p:spPr>
          <a:xfrm>
            <a:off x="3958828" y="3527227"/>
            <a:ext cx="1910953" cy="0"/>
          </a:xfrm>
          <a:prstGeom prst="line">
            <a:avLst/>
          </a:prstGeom>
          <a:noFill/>
          <a:ln w="17859">
            <a:solidFill>
              <a:srgbClr val="2473B6"/>
            </a:solidFill>
            <a:prstDash val="solid"/>
            <a:round/>
            <a:headEnd type="none"/>
            <a:tailEnd type="triangle" w="med" len="med"/>
          </a:ln>
        </p:spPr>
      </p:cxnSp>
      <p:cxnSp>
        <p:nvCxnSpPr>
          <p:cNvPr id="35" name="SC_CONNECTOR__sme2-extrapolation__0"/>
          <p:cNvCxnSpPr/>
          <p:nvPr/>
        </p:nvCxnSpPr>
        <p:spPr>
          <a:xfrm>
            <a:off x="3958828" y="4438055"/>
            <a:ext cx="1910953" cy="0"/>
          </a:xfrm>
          <a:prstGeom prst="line">
            <a:avLst/>
          </a:prstGeom>
          <a:noFill/>
          <a:ln w="17859">
            <a:solidFill>
              <a:srgbClr val="2473B6"/>
            </a:solidFill>
            <a:prstDash val="solid"/>
            <a:round/>
            <a:headEnd type="none"/>
            <a:tailEnd type="triangle" w="med" len="med"/>
          </a:ln>
        </p:spPr>
      </p:cxnSp>
      <p:cxnSp>
        <p:nvCxnSpPr>
          <p:cNvPr id="36" name="SC_CONNECTOR__progress-extrapolation__0"/>
          <p:cNvCxnSpPr/>
          <p:nvPr/>
        </p:nvCxnSpPr>
        <p:spPr>
          <a:xfrm>
            <a:off x="3958828" y="5348883"/>
            <a:ext cx="1910953" cy="0"/>
          </a:xfrm>
          <a:prstGeom prst="line">
            <a:avLst/>
          </a:prstGeom>
          <a:noFill/>
          <a:ln w="17859">
            <a:solidFill>
              <a:srgbClr val="2473B6"/>
            </a:solidFill>
            <a:prstDash val="solid"/>
            <a:round/>
            <a:headEnd type="none"/>
            <a:tailEnd type="triangle" w="med" len="med"/>
          </a:ln>
        </p:spPr>
      </p:cxnSp>
      <p:sp>
        <p:nvSpPr>
          <p:cNvPr id="37" name="invalid-inference-1"/>
          <p:cNvSpPr/>
          <p:nvPr/>
        </p:nvSpPr>
        <p:spPr>
          <a:xfrm>
            <a:off x="4762500" y="3393281"/>
            <a:ext cx="369094" cy="369094"/>
          </a:xfrm>
          <a:prstGeom prst="ellipse">
            <a:avLst/>
          </a:prstGeom>
          <a:solidFill>
            <a:srgbClr val="DD243A"/>
          </a:solidFill>
          <a:ln w="17859">
            <a:solidFill>
              <a:srgbClr val="FFFFFF"/>
            </a:solidFill>
            <a:prstDash val="solid"/>
          </a:ln>
        </p:spPr>
      </p:sp>
      <p:sp>
        <p:nvSpPr>
          <p:cNvPr id="38" name="invalid-inference-2"/>
          <p:cNvSpPr/>
          <p:nvPr/>
        </p:nvSpPr>
        <p:spPr>
          <a:xfrm>
            <a:off x="4762500" y="4304109"/>
            <a:ext cx="369094" cy="369094"/>
          </a:xfrm>
          <a:prstGeom prst="ellipse">
            <a:avLst/>
          </a:prstGeom>
          <a:solidFill>
            <a:srgbClr val="DD243A"/>
          </a:solidFill>
          <a:ln w="17859">
            <a:solidFill>
              <a:srgbClr val="FFFFFF"/>
            </a:solidFill>
            <a:prstDash val="solid"/>
          </a:ln>
        </p:spPr>
      </p:sp>
      <p:sp>
        <p:nvSpPr>
          <p:cNvPr id="39" name="invalid-inference-3"/>
          <p:cNvSpPr/>
          <p:nvPr/>
        </p:nvSpPr>
        <p:spPr>
          <a:xfrm>
            <a:off x="4762500" y="5214938"/>
            <a:ext cx="369094" cy="369094"/>
          </a:xfrm>
          <a:prstGeom prst="ellipse">
            <a:avLst/>
          </a:prstGeom>
          <a:solidFill>
            <a:srgbClr val="DD243A"/>
          </a:solidFill>
          <a:ln w="17859">
            <a:solidFill>
              <a:srgbClr val="FFFFFF"/>
            </a:solidFill>
            <a:prstDash val="solid"/>
          </a:ln>
        </p:spPr>
      </p:sp>
      <p:sp>
        <p:nvSpPr>
          <p:cNvPr id="40" name="ocr-001"/>
          <p:cNvSpPr txBox="1"/>
          <p:nvPr/>
        </p:nvSpPr>
        <p:spPr>
          <a:xfrm>
            <a:off x="571500" y="345281"/>
            <a:ext cx="6125766" cy="398859"/>
          </a:xfrm>
          <a:prstGeom prst="rect">
            <a:avLst/>
          </a:prstGeom>
          <a:noFill/>
          <a:ln/>
        </p:spPr>
        <p:txBody>
          <a:bodyPr wrap="square" lIns="0" tIns="0" rIns="0" bIns="0" rtlCol="0" anchor="ctr">
            <a:noAutofit/>
          </a:bodyPr>
          <a:lstStyle/>
          <a:p>
            <a:pPr algn="l" indent="0" marL="0">
              <a:lnSpc>
                <a:spcPct val="100000"/>
              </a:lnSpc>
              <a:buNone/>
              <a:defRPr spc="0"/>
            </a:pPr>
            <a:r>
              <a:rPr lang="en-US" sz="2500" b="1" dirty="0" spc="0">
                <a:solidFill>
                  <a:srgbClr val="102C55"/>
                </a:solidFill>
                <a:latin typeface="Microsoft YaHei" pitchFamily="34" charset="0"/>
                <a:ea typeface="Microsoft YaHei" pitchFamily="34" charset="-122"/>
                <a:cs typeface="Microsoft YaHei" pitchFamily="34" charset="-120"/>
              </a:rPr>
              <a:t>证据边界比论文数量更重要</a:t>
            </a:r>
            <a:endParaRPr lang="en-US" sz="2500" dirty="0" spc="0"/>
          </a:p>
        </p:txBody>
      </p:sp>
      <p:sp>
        <p:nvSpPr>
          <p:cNvPr id="41" name="ocr-002"/>
          <p:cNvSpPr txBox="1"/>
          <p:nvPr/>
        </p:nvSpPr>
        <p:spPr>
          <a:xfrm>
            <a:off x="565547" y="803672"/>
            <a:ext cx="11608594"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500" dirty="0" spc="0">
                <a:solidFill>
                  <a:srgbClr val="58738A"/>
                </a:solidFill>
                <a:latin typeface="Microsoft YaHei" pitchFamily="34" charset="0"/>
                <a:ea typeface="Microsoft YaHei" pitchFamily="34" charset="-122"/>
                <a:cs typeface="Microsoft YaHei" pitchFamily="34" charset="-120"/>
              </a:rPr>
              <a:t>技术决策应依赖证据的适用范围、独立性与边界，而非仅看论文数量。更多论文并不自动提升因果可信度。</a:t>
            </a:r>
            <a:endParaRPr lang="en-US" sz="1500" dirty="0" spc="0"/>
          </a:p>
        </p:txBody>
      </p:sp>
      <p:sp>
        <p:nvSpPr>
          <p:cNvPr id="42" name="ocr-003"/>
          <p:cNvSpPr txBox="1"/>
          <p:nvPr/>
        </p:nvSpPr>
        <p:spPr>
          <a:xfrm>
            <a:off x="809625" y="1220391"/>
            <a:ext cx="1006078"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00" b="1" dirty="0" spc="0">
                <a:solidFill>
                  <a:srgbClr val="FFFFFF"/>
                </a:solidFill>
                <a:latin typeface="Microsoft YaHei" pitchFamily="34" charset="0"/>
                <a:ea typeface="Microsoft YaHei" pitchFamily="34" charset="-122"/>
                <a:cs typeface="Microsoft YaHei" pitchFamily="34" charset="-120"/>
              </a:rPr>
              <a:t>直接事实</a:t>
            </a:r>
            <a:endParaRPr lang="en-US" sz="1400" dirty="0" spc="0"/>
          </a:p>
        </p:txBody>
      </p:sp>
      <p:sp>
        <p:nvSpPr>
          <p:cNvPr id="43" name="ocr-004"/>
          <p:cNvSpPr txBox="1"/>
          <p:nvPr/>
        </p:nvSpPr>
        <p:spPr>
          <a:xfrm>
            <a:off x="3881438" y="1232297"/>
            <a:ext cx="1279922"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跨来源推断</a:t>
            </a:r>
            <a:endParaRPr lang="en-US" sz="1250" dirty="0" spc="0"/>
          </a:p>
        </p:txBody>
      </p:sp>
      <p:sp>
        <p:nvSpPr>
          <p:cNvPr id="44" name="ocr-006"/>
          <p:cNvSpPr txBox="1"/>
          <p:nvPr/>
        </p:nvSpPr>
        <p:spPr>
          <a:xfrm>
            <a:off x="6786563" y="1244203"/>
            <a:ext cx="1262063"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FFFFFF"/>
                </a:solidFill>
                <a:latin typeface="Microsoft YaHei" pitchFamily="34" charset="0"/>
                <a:ea typeface="Microsoft YaHei" pitchFamily="34" charset="-122"/>
                <a:cs typeface="Microsoft YaHei" pitchFamily="34" charset="-120"/>
              </a:rPr>
              <a:t>待证实假设</a:t>
            </a:r>
            <a:endParaRPr lang="en-US" sz="1150" dirty="0" spc="0"/>
          </a:p>
        </p:txBody>
      </p:sp>
      <p:sp>
        <p:nvSpPr>
          <p:cNvPr id="45" name="ocr-007"/>
          <p:cNvSpPr txBox="1"/>
          <p:nvPr/>
        </p:nvSpPr>
        <p:spPr>
          <a:xfrm>
            <a:off x="9697641" y="1244203"/>
            <a:ext cx="2476500"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尚无足够证据支持的主张</a:t>
            </a:r>
            <a:endParaRPr lang="en-US" sz="1100" dirty="0" spc="0"/>
          </a:p>
        </p:txBody>
      </p:sp>
      <p:sp>
        <p:nvSpPr>
          <p:cNvPr id="46" name="ocr-008"/>
          <p:cNvSpPr txBox="1"/>
          <p:nvPr/>
        </p:nvSpPr>
        <p:spPr>
          <a:xfrm>
            <a:off x="1131094" y="1595438"/>
            <a:ext cx="2101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在特定条件下可直接观察、</a:t>
            </a:r>
            <a:endParaRPr lang="en-US" sz="800" dirty="0" spc="0"/>
          </a:p>
        </p:txBody>
      </p:sp>
      <p:sp>
        <p:nvSpPr>
          <p:cNvPr id="47" name="ocr-009"/>
          <p:cNvSpPr txBox="1"/>
          <p:nvPr/>
        </p:nvSpPr>
        <p:spPr>
          <a:xfrm>
            <a:off x="4071938" y="1589484"/>
            <a:ext cx="207168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基于多个来源、合理假设</a:t>
            </a:r>
            <a:endParaRPr lang="en-US" sz="950" dirty="0" spc="0"/>
          </a:p>
        </p:txBody>
      </p:sp>
      <p:sp>
        <p:nvSpPr>
          <p:cNvPr id="48" name="ocr-011"/>
          <p:cNvSpPr txBox="1"/>
          <p:nvPr/>
        </p:nvSpPr>
        <p:spPr>
          <a:xfrm>
            <a:off x="7012781" y="1589484"/>
            <a:ext cx="1952625"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有合理动机与初步证据，</a:t>
            </a:r>
            <a:endParaRPr lang="en-US" sz="950" dirty="0" spc="0"/>
          </a:p>
        </p:txBody>
      </p:sp>
      <p:sp>
        <p:nvSpPr>
          <p:cNvPr id="49" name="ocr-012"/>
          <p:cNvSpPr txBox="1"/>
          <p:nvPr/>
        </p:nvSpPr>
        <p:spPr>
          <a:xfrm>
            <a:off x="9965531" y="1595438"/>
            <a:ext cx="21133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当前证据不足或相互矛盾，</a:t>
            </a:r>
            <a:endParaRPr lang="en-US" sz="800" dirty="0" spc="0"/>
          </a:p>
        </p:txBody>
      </p:sp>
      <p:sp>
        <p:nvSpPr>
          <p:cNvPr id="50" name="ocr-013"/>
          <p:cNvSpPr txBox="1"/>
          <p:nvPr/>
        </p:nvSpPr>
        <p:spPr>
          <a:xfrm>
            <a:off x="1131094" y="1774031"/>
            <a:ext cx="211931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可复现的实测或实验结果。</a:t>
            </a:r>
            <a:endParaRPr lang="en-US" sz="800" dirty="0" spc="0"/>
          </a:p>
        </p:txBody>
      </p:sp>
      <p:sp>
        <p:nvSpPr>
          <p:cNvPr id="51" name="ocr-014"/>
          <p:cNvSpPr txBox="1"/>
          <p:nvPr/>
        </p:nvSpPr>
        <p:spPr>
          <a:xfrm>
            <a:off x="4071938" y="1768078"/>
            <a:ext cx="157757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得到的推断性结论。</a:t>
            </a:r>
            <a:endParaRPr lang="en-US" sz="950" dirty="0" spc="0"/>
          </a:p>
        </p:txBody>
      </p:sp>
      <p:sp>
        <p:nvSpPr>
          <p:cNvPr id="52" name="ocr-015"/>
          <p:cNvSpPr txBox="1"/>
          <p:nvPr/>
        </p:nvSpPr>
        <p:spPr>
          <a:xfrm>
            <a:off x="7018734" y="1768078"/>
            <a:ext cx="195857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但仍需更多验证的假设。</a:t>
            </a:r>
            <a:endParaRPr lang="en-US" sz="950" dirty="0" spc="0"/>
          </a:p>
        </p:txBody>
      </p:sp>
      <p:sp>
        <p:nvSpPr>
          <p:cNvPr id="53" name="ocr-016"/>
          <p:cNvSpPr txBox="1"/>
          <p:nvPr/>
        </p:nvSpPr>
        <p:spPr>
          <a:xfrm>
            <a:off x="9947672" y="1768078"/>
            <a:ext cx="1952625"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无法支持的泛化性主张。</a:t>
            </a:r>
            <a:endParaRPr lang="en-US" sz="950" dirty="0" spc="0"/>
          </a:p>
        </p:txBody>
      </p:sp>
      <p:sp>
        <p:nvSpPr>
          <p:cNvPr id="54" name="ocr-017"/>
          <p:cNvSpPr txBox="1"/>
          <p:nvPr/>
        </p:nvSpPr>
        <p:spPr>
          <a:xfrm>
            <a:off x="6792516" y="2047875"/>
            <a:ext cx="209550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支持范围：仅用于指导研究，</a:t>
            </a:r>
            <a:endParaRPr lang="en-US" sz="800" dirty="0" spc="0"/>
          </a:p>
        </p:txBody>
      </p:sp>
      <p:sp>
        <p:nvSpPr>
          <p:cNvPr id="55" name="ocr-018"/>
          <p:cNvSpPr txBox="1"/>
          <p:nvPr/>
        </p:nvSpPr>
        <p:spPr>
          <a:xfrm>
            <a:off x="9769078" y="2053828"/>
            <a:ext cx="226218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支持范围：不应作为研究结论</a:t>
            </a:r>
            <a:endParaRPr lang="en-US" sz="800" dirty="0" spc="0"/>
          </a:p>
        </p:txBody>
      </p:sp>
      <p:sp>
        <p:nvSpPr>
          <p:cNvPr id="56" name="ocr-019"/>
          <p:cNvSpPr txBox="1"/>
          <p:nvPr/>
        </p:nvSpPr>
        <p:spPr>
          <a:xfrm>
            <a:off x="898922" y="2113359"/>
            <a:ext cx="2214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支持范围：限于原场景和条件</a:t>
            </a:r>
            <a:endParaRPr lang="en-US" sz="800" dirty="0" spc="0"/>
          </a:p>
        </p:txBody>
      </p:sp>
      <p:sp>
        <p:nvSpPr>
          <p:cNvPr id="57" name="ocr-020"/>
          <p:cNvSpPr txBox="1"/>
          <p:nvPr/>
        </p:nvSpPr>
        <p:spPr>
          <a:xfrm>
            <a:off x="3756422" y="2113359"/>
            <a:ext cx="2381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支持范围：可扩展但有明确边界</a:t>
            </a:r>
            <a:endParaRPr lang="en-US" sz="800" dirty="0" spc="0"/>
          </a:p>
        </p:txBody>
      </p:sp>
      <p:sp>
        <p:nvSpPr>
          <p:cNvPr id="58" name="ocr-021"/>
          <p:cNvSpPr txBox="1"/>
          <p:nvPr/>
        </p:nvSpPr>
        <p:spPr>
          <a:xfrm>
            <a:off x="6983016" y="2208609"/>
            <a:ext cx="17025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不宜直接用于工程决策</a:t>
            </a:r>
            <a:endParaRPr lang="en-US" sz="800" dirty="0" spc="0"/>
          </a:p>
        </p:txBody>
      </p:sp>
      <p:sp>
        <p:nvSpPr>
          <p:cNvPr id="59" name="ocr-022"/>
          <p:cNvSpPr txBox="1"/>
          <p:nvPr/>
        </p:nvSpPr>
        <p:spPr>
          <a:xfrm>
            <a:off x="10263188" y="2208609"/>
            <a:ext cx="875109"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或产品承诺</a:t>
            </a:r>
            <a:endParaRPr lang="en-US" sz="850" dirty="0" spc="0"/>
          </a:p>
        </p:txBody>
      </p:sp>
      <p:sp>
        <p:nvSpPr>
          <p:cNvPr id="60" name="ocr-023"/>
          <p:cNvSpPr txBox="1"/>
          <p:nvPr/>
        </p:nvSpPr>
        <p:spPr>
          <a:xfrm>
            <a:off x="3786188" y="2643188"/>
            <a:ext cx="2982516"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FFFFFF"/>
                </a:solidFill>
                <a:latin typeface="Microsoft YaHei" pitchFamily="34" charset="0"/>
                <a:ea typeface="Microsoft YaHei" pitchFamily="34" charset="-122"/>
                <a:cs typeface="Microsoft YaHei" pitchFamily="34" charset="-120"/>
              </a:rPr>
              <a:t>从证据到决策的合理链条</a:t>
            </a:r>
            <a:endParaRPr lang="en-US" sz="1100" dirty="0" spc="0"/>
          </a:p>
        </p:txBody>
      </p:sp>
      <p:sp>
        <p:nvSpPr>
          <p:cNvPr id="61" name="ocr-024"/>
          <p:cNvSpPr txBox="1"/>
          <p:nvPr/>
        </p:nvSpPr>
        <p:spPr>
          <a:xfrm>
            <a:off x="9786938" y="2637234"/>
            <a:ext cx="239315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FFFFFF"/>
                </a:solidFill>
                <a:latin typeface="Microsoft YaHei" pitchFamily="34" charset="0"/>
                <a:ea typeface="Microsoft YaHei" pitchFamily="34" charset="-122"/>
                <a:cs typeface="Microsoft YaHei" pitchFamily="34" charset="-120"/>
              </a:rPr>
              <a:t>证据适用性边界检查清单</a:t>
            </a:r>
            <a:endParaRPr lang="en-US" sz="1000" dirty="0" spc="0"/>
          </a:p>
        </p:txBody>
      </p:sp>
      <p:sp>
        <p:nvSpPr>
          <p:cNvPr id="62" name="ocr-025"/>
          <p:cNvSpPr txBox="1"/>
          <p:nvPr/>
        </p:nvSpPr>
        <p:spPr>
          <a:xfrm>
            <a:off x="613172" y="2720578"/>
            <a:ext cx="2214563" cy="22621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b="1" dirty="0" spc="0">
                <a:solidFill>
                  <a:srgbClr val="173753"/>
                </a:solidFill>
                <a:latin typeface="Microsoft YaHei" pitchFamily="34" charset="0"/>
                <a:ea typeface="Microsoft YaHei" pitchFamily="34" charset="-122"/>
                <a:cs typeface="Microsoft YaHei" pitchFamily="34" charset="-120"/>
              </a:rPr>
              <a:t>已有证据 (适用于限定条件)</a:t>
            </a:r>
            <a:endParaRPr lang="en-US" sz="1150" dirty="0" spc="0"/>
          </a:p>
        </p:txBody>
      </p:sp>
      <p:sp>
        <p:nvSpPr>
          <p:cNvPr id="63" name="ocr-026"/>
          <p:cNvSpPr txBox="1"/>
          <p:nvPr/>
        </p:nvSpPr>
        <p:spPr>
          <a:xfrm>
            <a:off x="6881813" y="2768203"/>
            <a:ext cx="277415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不宜推导的泛化结论（超出证据边界）</a:t>
            </a:r>
            <a:endParaRPr lang="en-US" sz="800" dirty="0" spc="0"/>
          </a:p>
        </p:txBody>
      </p:sp>
      <p:sp>
        <p:nvSpPr>
          <p:cNvPr id="64" name="ocr-027"/>
          <p:cNvSpPr txBox="1"/>
          <p:nvPr/>
        </p:nvSpPr>
        <p:spPr>
          <a:xfrm>
            <a:off x="10108406" y="3024188"/>
            <a:ext cx="83939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设备/平台</a:t>
            </a:r>
            <a:endParaRPr lang="en-US" sz="850" dirty="0" spc="0"/>
          </a:p>
        </p:txBody>
      </p:sp>
      <p:sp>
        <p:nvSpPr>
          <p:cNvPr id="65" name="ocr-028"/>
          <p:cNvSpPr txBox="1"/>
          <p:nvPr/>
        </p:nvSpPr>
        <p:spPr>
          <a:xfrm>
            <a:off x="1369219" y="3155156"/>
            <a:ext cx="1756172"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特定手机CPU/NPU</a:t>
            </a:r>
            <a:endParaRPr lang="en-US" sz="1050" dirty="0" spc="0"/>
          </a:p>
        </p:txBody>
      </p:sp>
      <p:sp>
        <p:nvSpPr>
          <p:cNvPr id="66" name="ocr-029"/>
          <p:cNvSpPr txBox="1"/>
          <p:nvPr/>
        </p:nvSpPr>
        <p:spPr>
          <a:xfrm>
            <a:off x="4429125" y="3184922"/>
            <a:ext cx="1238250"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不能直接外推</a:t>
            </a:r>
            <a:endParaRPr lang="en-US" sz="1000" dirty="0" spc="0"/>
          </a:p>
        </p:txBody>
      </p:sp>
      <p:sp>
        <p:nvSpPr>
          <p:cNvPr id="67" name="ocr-030"/>
          <p:cNvSpPr txBox="1"/>
          <p:nvPr/>
        </p:nvSpPr>
        <p:spPr>
          <a:xfrm>
            <a:off x="6697266" y="3149203"/>
            <a:ext cx="1774031"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所有手机CPU更快</a:t>
            </a:r>
            <a:endParaRPr lang="en-US" sz="1050" dirty="0" spc="0"/>
          </a:p>
        </p:txBody>
      </p:sp>
      <p:sp>
        <p:nvSpPr>
          <p:cNvPr id="68" name="ocr-031"/>
          <p:cNvSpPr txBox="1"/>
          <p:nvPr/>
        </p:nvSpPr>
        <p:spPr>
          <a:xfrm>
            <a:off x="10096500" y="3173016"/>
            <a:ext cx="20776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适用于哪些设备、SoC、架构、型号？</a:t>
            </a:r>
            <a:endParaRPr lang="en-US" sz="800" dirty="0" spc="0"/>
          </a:p>
        </p:txBody>
      </p:sp>
      <p:sp>
        <p:nvSpPr>
          <p:cNvPr id="69" name="ocr-032"/>
          <p:cNvSpPr txBox="1"/>
          <p:nvPr/>
        </p:nvSpPr>
        <p:spPr>
          <a:xfrm>
            <a:off x="1351359" y="3321844"/>
            <a:ext cx="1452563" cy="232172"/>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173753"/>
                </a:solidFill>
                <a:latin typeface="Microsoft YaHei" pitchFamily="34" charset="0"/>
                <a:ea typeface="Microsoft YaHei" pitchFamily="34" charset="-122"/>
                <a:cs typeface="Microsoft YaHei" pitchFamily="34" charset="-120"/>
              </a:rPr>
              <a:t>crossover 事实</a:t>
            </a:r>
            <a:endParaRPr lang="en-US" sz="1200" dirty="0" spc="0"/>
          </a:p>
        </p:txBody>
      </p:sp>
      <p:sp>
        <p:nvSpPr>
          <p:cNvPr id="70" name="ocr-033"/>
          <p:cNvSpPr txBox="1"/>
          <p:nvPr/>
        </p:nvSpPr>
        <p:spPr>
          <a:xfrm>
            <a:off x="6709172" y="3393281"/>
            <a:ext cx="286345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不同手机SoC、模型、软件栈与基线不同，</a:t>
            </a:r>
            <a:endParaRPr lang="en-US" sz="800" dirty="0" spc="0"/>
          </a:p>
        </p:txBody>
      </p:sp>
      <p:sp>
        <p:nvSpPr>
          <p:cNvPr id="71" name="ocr-034"/>
          <p:cNvSpPr txBox="1"/>
          <p:nvPr/>
        </p:nvSpPr>
        <p:spPr>
          <a:xfrm>
            <a:off x="10102453" y="3417094"/>
            <a:ext cx="898922"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模型/任务</a:t>
            </a:r>
            <a:endParaRPr lang="en-US" sz="1000" dirty="0" spc="0"/>
          </a:p>
        </p:txBody>
      </p:sp>
      <p:sp>
        <p:nvSpPr>
          <p:cNvPr id="72" name="ocr-036"/>
          <p:cNvSpPr txBox="1"/>
          <p:nvPr/>
        </p:nvSpPr>
        <p:spPr>
          <a:xfrm>
            <a:off x="1369219" y="3559969"/>
            <a:ext cx="224432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在某款手机、特定模型与基线下，</a:t>
            </a:r>
            <a:endParaRPr lang="en-US" sz="800" dirty="0" spc="0"/>
          </a:p>
        </p:txBody>
      </p:sp>
      <p:sp>
        <p:nvSpPr>
          <p:cNvPr id="73" name="ocr-037"/>
          <p:cNvSpPr txBox="1"/>
          <p:nvPr/>
        </p:nvSpPr>
        <p:spPr>
          <a:xfrm>
            <a:off x="6703219" y="3548063"/>
            <a:ext cx="252412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无法由个别机型的crossover推导出</a:t>
            </a:r>
            <a:endParaRPr lang="en-US" sz="800" dirty="0" spc="0"/>
          </a:p>
        </p:txBody>
      </p:sp>
      <p:sp>
        <p:nvSpPr>
          <p:cNvPr id="74" name="ocr-038"/>
          <p:cNvSpPr txBox="1"/>
          <p:nvPr/>
        </p:nvSpPr>
        <p:spPr>
          <a:xfrm>
            <a:off x="10096500" y="3589734"/>
            <a:ext cx="20776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适用于哪些模型、任务类型与规模？</a:t>
            </a:r>
            <a:endParaRPr lang="en-US" sz="800" dirty="0" spc="0"/>
          </a:p>
        </p:txBody>
      </p:sp>
      <p:sp>
        <p:nvSpPr>
          <p:cNvPr id="75" name="ocr-039"/>
          <p:cNvSpPr txBox="1"/>
          <p:nvPr/>
        </p:nvSpPr>
        <p:spPr>
          <a:xfrm>
            <a:off x="1363266" y="3720703"/>
            <a:ext cx="3298031"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CPU与NPU的性能收致/交叉点已被多次实测。</a:t>
            </a:r>
            <a:endParaRPr lang="en-US" sz="850" dirty="0" spc="0"/>
          </a:p>
        </p:txBody>
      </p:sp>
      <p:sp>
        <p:nvSpPr>
          <p:cNvPr id="76" name="ocr-040"/>
          <p:cNvSpPr txBox="1"/>
          <p:nvPr/>
        </p:nvSpPr>
        <p:spPr>
          <a:xfrm>
            <a:off x="6697266" y="3708797"/>
            <a:ext cx="155971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所有手机CPU都更快。</a:t>
            </a:r>
            <a:endParaRPr lang="en-US" sz="800" dirty="0" spc="0"/>
          </a:p>
        </p:txBody>
      </p:sp>
      <p:sp>
        <p:nvSpPr>
          <p:cNvPr id="77" name="ocr-041"/>
          <p:cNvSpPr txBox="1"/>
          <p:nvPr/>
        </p:nvSpPr>
        <p:spPr>
          <a:xfrm>
            <a:off x="10108406" y="3857625"/>
            <a:ext cx="88106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基线/对比</a:t>
            </a:r>
            <a:endParaRPr lang="en-US" sz="850" dirty="0" spc="0"/>
          </a:p>
        </p:txBody>
      </p:sp>
      <p:sp>
        <p:nvSpPr>
          <p:cNvPr id="78" name="ocr-043"/>
          <p:cNvSpPr txBox="1"/>
          <p:nvPr/>
        </p:nvSpPr>
        <p:spPr>
          <a:xfrm>
            <a:off x="10102453" y="4018359"/>
            <a:ext cx="207168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与什么基线对比？是否公平、可复现？</a:t>
            </a:r>
            <a:endParaRPr lang="en-US" sz="800" dirty="0" spc="0"/>
          </a:p>
        </p:txBody>
      </p:sp>
      <p:sp>
        <p:nvSpPr>
          <p:cNvPr id="79" name="ocr-045"/>
          <p:cNvSpPr txBox="1"/>
          <p:nvPr/>
        </p:nvSpPr>
        <p:spPr>
          <a:xfrm>
            <a:off x="4429125" y="4089797"/>
            <a:ext cx="1244203"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不能直接推出</a:t>
            </a:r>
            <a:endParaRPr lang="en-US" sz="1100" dirty="0" spc="0"/>
          </a:p>
        </p:txBody>
      </p:sp>
      <p:sp>
        <p:nvSpPr>
          <p:cNvPr id="80" name="ocr-046"/>
          <p:cNvSpPr txBox="1"/>
          <p:nvPr/>
        </p:nvSpPr>
        <p:spPr>
          <a:xfrm>
            <a:off x="6703219" y="4089797"/>
            <a:ext cx="1881188"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必须新增 Agent ISA</a:t>
            </a:r>
            <a:endParaRPr lang="en-US" sz="1100" dirty="0" spc="0"/>
          </a:p>
        </p:txBody>
      </p:sp>
      <p:sp>
        <p:nvSpPr>
          <p:cNvPr id="81" name="ocr-047"/>
          <p:cNvSpPr txBox="1"/>
          <p:nvPr/>
        </p:nvSpPr>
        <p:spPr>
          <a:xfrm>
            <a:off x="1381125" y="4185047"/>
            <a:ext cx="269081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SME2在当前CPU路径可加速</a:t>
            </a:r>
            <a:endParaRPr lang="en-US" sz="800" dirty="0" spc="0"/>
          </a:p>
        </p:txBody>
      </p:sp>
      <p:sp>
        <p:nvSpPr>
          <p:cNvPr id="82" name="ocr-048"/>
          <p:cNvSpPr txBox="1"/>
          <p:nvPr/>
        </p:nvSpPr>
        <p:spPr>
          <a:xfrm>
            <a:off x="6703219" y="4316016"/>
            <a:ext cx="25360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SME2的可加速性不能推出必须新增</a:t>
            </a:r>
            <a:endParaRPr lang="en-US" sz="800" dirty="0" spc="0"/>
          </a:p>
        </p:txBody>
      </p:sp>
      <p:sp>
        <p:nvSpPr>
          <p:cNvPr id="83" name="ocr-049"/>
          <p:cNvSpPr txBox="1"/>
          <p:nvPr/>
        </p:nvSpPr>
        <p:spPr>
          <a:xfrm>
            <a:off x="10108406" y="4292203"/>
            <a:ext cx="898922"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指标/单位</a:t>
            </a:r>
            <a:endParaRPr lang="en-US" sz="1000" dirty="0" spc="0"/>
          </a:p>
        </p:txBody>
      </p:sp>
      <p:sp>
        <p:nvSpPr>
          <p:cNvPr id="84" name="ocr-050"/>
          <p:cNvSpPr txBox="1"/>
          <p:nvPr/>
        </p:nvSpPr>
        <p:spPr>
          <a:xfrm>
            <a:off x="1375172" y="4405313"/>
            <a:ext cx="303014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在特定CPU、特定工作负载与软件实现下，</a:t>
            </a:r>
            <a:endParaRPr lang="en-US" sz="800" dirty="0" spc="0"/>
          </a:p>
        </p:txBody>
      </p:sp>
      <p:sp>
        <p:nvSpPr>
          <p:cNvPr id="85" name="ocr-051"/>
          <p:cNvSpPr txBox="1"/>
          <p:nvPr/>
        </p:nvSpPr>
        <p:spPr>
          <a:xfrm>
            <a:off x="6709172" y="4470797"/>
            <a:ext cx="25955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专用的AgentISA，仍需在更多场景、</a:t>
            </a:r>
            <a:endParaRPr lang="en-US" sz="800" dirty="0" spc="0"/>
          </a:p>
        </p:txBody>
      </p:sp>
      <p:sp>
        <p:nvSpPr>
          <p:cNvPr id="86" name="ocr-052"/>
          <p:cNvSpPr txBox="1"/>
          <p:nvPr/>
        </p:nvSpPr>
        <p:spPr>
          <a:xfrm>
            <a:off x="10096500" y="4458891"/>
            <a:ext cx="207764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使用哪些指标 (性能/能耗/延迟)</a:t>
            </a:r>
            <a:endParaRPr lang="en-US" sz="950" dirty="0" spc="0"/>
          </a:p>
        </p:txBody>
      </p:sp>
      <p:sp>
        <p:nvSpPr>
          <p:cNvPr id="87" name="ocr-053"/>
          <p:cNvSpPr txBox="1"/>
          <p:nvPr/>
        </p:nvSpPr>
        <p:spPr>
          <a:xfrm>
            <a:off x="1381125" y="4583906"/>
            <a:ext cx="197048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启用SME2确实可提升性能。</a:t>
            </a:r>
            <a:endParaRPr lang="en-US" sz="750" dirty="0" spc="0"/>
          </a:p>
        </p:txBody>
      </p:sp>
      <p:sp>
        <p:nvSpPr>
          <p:cNvPr id="88" name="ocr-054"/>
          <p:cNvSpPr txBox="1"/>
          <p:nvPr/>
        </p:nvSpPr>
        <p:spPr>
          <a:xfrm>
            <a:off x="6697266" y="4619625"/>
            <a:ext cx="2083594" cy="19050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00" dirty="0" spc="0">
                <a:solidFill>
                  <a:srgbClr val="173753"/>
                </a:solidFill>
                <a:latin typeface="Microsoft YaHei" pitchFamily="34" charset="0"/>
                <a:ea typeface="Microsoft YaHei" pitchFamily="34" charset="-122"/>
                <a:cs typeface="Microsoft YaHei" pitchFamily="34" charset="-120"/>
              </a:rPr>
              <a:t>收益-成本与生态等维度验证。</a:t>
            </a:r>
            <a:endParaRPr lang="en-US" sz="900" dirty="0" spc="0"/>
          </a:p>
        </p:txBody>
      </p:sp>
      <p:sp>
        <p:nvSpPr>
          <p:cNvPr id="89" name="ocr-055"/>
          <p:cNvSpPr txBox="1"/>
          <p:nvPr/>
        </p:nvSpPr>
        <p:spPr>
          <a:xfrm>
            <a:off x="10096500" y="4613672"/>
            <a:ext cx="857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和计量单位？</a:t>
            </a:r>
            <a:endParaRPr lang="en-US" sz="800" dirty="0" spc="0"/>
          </a:p>
        </p:txBody>
      </p:sp>
      <p:sp>
        <p:nvSpPr>
          <p:cNvPr id="90" name="ocr-056"/>
          <p:cNvSpPr txBox="1"/>
          <p:nvPr/>
        </p:nvSpPr>
        <p:spPr>
          <a:xfrm>
            <a:off x="10108406" y="4827984"/>
            <a:ext cx="102393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平均vs峰值</a:t>
            </a:r>
            <a:endParaRPr lang="en-US" sz="1000" dirty="0" spc="0"/>
          </a:p>
        </p:txBody>
      </p:sp>
      <p:sp>
        <p:nvSpPr>
          <p:cNvPr id="91" name="ocr-058"/>
          <p:cNvSpPr txBox="1"/>
          <p:nvPr/>
        </p:nvSpPr>
        <p:spPr>
          <a:xfrm>
            <a:off x="4500563" y="5006578"/>
            <a:ext cx="1041797"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不能推导出</a:t>
            </a:r>
            <a:endParaRPr lang="en-US" sz="1100" dirty="0" spc="0"/>
          </a:p>
        </p:txBody>
      </p:sp>
      <p:sp>
        <p:nvSpPr>
          <p:cNvPr id="92" name="ocr-059"/>
          <p:cNvSpPr txBox="1"/>
          <p:nvPr/>
        </p:nvSpPr>
        <p:spPr>
          <a:xfrm>
            <a:off x="6697266" y="5018484"/>
            <a:ext cx="2500313"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存在不可观察硬件语义信息</a:t>
            </a:r>
            <a:endParaRPr lang="en-US" sz="950" dirty="0" spc="0"/>
          </a:p>
        </p:txBody>
      </p:sp>
      <p:sp>
        <p:nvSpPr>
          <p:cNvPr id="93" name="ocr-060"/>
          <p:cNvSpPr txBox="1"/>
          <p:nvPr/>
        </p:nvSpPr>
        <p:spPr>
          <a:xfrm>
            <a:off x="10102453" y="5006578"/>
            <a:ext cx="207168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是平均表现还是最佳/峰值表现？</a:t>
            </a:r>
            <a:endParaRPr lang="en-US" sz="950" dirty="0" spc="0"/>
          </a:p>
        </p:txBody>
      </p:sp>
      <p:sp>
        <p:nvSpPr>
          <p:cNvPr id="94" name="ocr-061"/>
          <p:cNvSpPr txBox="1"/>
          <p:nvPr/>
        </p:nvSpPr>
        <p:spPr>
          <a:xfrm>
            <a:off x="1375172" y="5066109"/>
            <a:ext cx="1660922"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软件进度调度有效</a:t>
            </a:r>
            <a:endParaRPr lang="en-US" sz="1000" dirty="0" spc="0"/>
          </a:p>
        </p:txBody>
      </p:sp>
      <p:sp>
        <p:nvSpPr>
          <p:cNvPr id="95" name="ocr-062"/>
          <p:cNvSpPr txBox="1"/>
          <p:nvPr/>
        </p:nvSpPr>
        <p:spPr>
          <a:xfrm>
            <a:off x="10102453" y="5149453"/>
            <a:ext cx="99417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波动范围如何？</a:t>
            </a:r>
            <a:endParaRPr lang="en-US" sz="800" dirty="0" spc="0"/>
          </a:p>
        </p:txBody>
      </p:sp>
      <p:sp>
        <p:nvSpPr>
          <p:cNvPr id="96" name="ocr-063"/>
          <p:cNvSpPr txBox="1"/>
          <p:nvPr/>
        </p:nvSpPr>
        <p:spPr>
          <a:xfrm>
            <a:off x="6709172" y="5208984"/>
            <a:ext cx="1863328"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并已证明有独立收益</a:t>
            </a:r>
            <a:endParaRPr lang="en-US" sz="950" dirty="0" spc="0"/>
          </a:p>
        </p:txBody>
      </p:sp>
      <p:sp>
        <p:nvSpPr>
          <p:cNvPr id="97" name="ocr-064"/>
          <p:cNvSpPr txBox="1"/>
          <p:nvPr/>
        </p:nvSpPr>
        <p:spPr>
          <a:xfrm>
            <a:off x="1375172" y="5316141"/>
            <a:ext cx="281582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在实验环境中，某种软件进度调度策略</a:t>
            </a:r>
            <a:endParaRPr lang="en-US" sz="800" dirty="0" spc="0"/>
          </a:p>
        </p:txBody>
      </p:sp>
      <p:sp>
        <p:nvSpPr>
          <p:cNvPr id="98" name="ocr-065"/>
          <p:cNvSpPr txBox="1"/>
          <p:nvPr/>
        </p:nvSpPr>
        <p:spPr>
          <a:xfrm>
            <a:off x="6703219" y="5405438"/>
            <a:ext cx="265509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软件层收益不能直接推出存在不可观察的</a:t>
            </a:r>
            <a:endParaRPr lang="en-US" sz="800" dirty="0" spc="0"/>
          </a:p>
        </p:txBody>
      </p:sp>
      <p:sp>
        <p:nvSpPr>
          <p:cNvPr id="99" name="ocr-066"/>
          <p:cNvSpPr txBox="1"/>
          <p:nvPr/>
        </p:nvSpPr>
        <p:spPr>
          <a:xfrm>
            <a:off x="10108406" y="5351859"/>
            <a:ext cx="1422797"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来源谱系/独立性</a:t>
            </a:r>
            <a:endParaRPr lang="en-US" sz="950" dirty="0" spc="0"/>
          </a:p>
        </p:txBody>
      </p:sp>
      <p:sp>
        <p:nvSpPr>
          <p:cNvPr id="100" name="ocr-067"/>
          <p:cNvSpPr txBox="1"/>
          <p:nvPr/>
        </p:nvSpPr>
        <p:spPr>
          <a:xfrm>
            <a:off x="1375172" y="5488781"/>
            <a:ext cx="177998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提升了性能/降低了延迟。</a:t>
            </a:r>
            <a:endParaRPr lang="en-US" sz="800" dirty="0" spc="0"/>
          </a:p>
        </p:txBody>
      </p:sp>
      <p:sp>
        <p:nvSpPr>
          <p:cNvPr id="101" name="ocr-069"/>
          <p:cNvSpPr txBox="1"/>
          <p:nvPr/>
        </p:nvSpPr>
        <p:spPr>
          <a:xfrm>
            <a:off x="6697266" y="5572125"/>
            <a:ext cx="3030141"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硬件语义信息，且已经证明其具有独立收益。</a:t>
            </a:r>
            <a:endParaRPr lang="en-US" sz="750" dirty="0" spc="0"/>
          </a:p>
        </p:txBody>
      </p:sp>
      <p:sp>
        <p:nvSpPr>
          <p:cNvPr id="102" name="ocr-070"/>
          <p:cNvSpPr txBox="1"/>
          <p:nvPr/>
        </p:nvSpPr>
        <p:spPr>
          <a:xfrm>
            <a:off x="10102453" y="5524500"/>
            <a:ext cx="193476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数据来自哪些研究、是否独立、</a:t>
            </a:r>
            <a:endParaRPr lang="en-US" sz="800" dirty="0" spc="0"/>
          </a:p>
        </p:txBody>
      </p:sp>
      <p:sp>
        <p:nvSpPr>
          <p:cNvPr id="103" name="ocr-071"/>
          <p:cNvSpPr txBox="1"/>
          <p:nvPr/>
        </p:nvSpPr>
        <p:spPr>
          <a:xfrm>
            <a:off x="10108406" y="5673328"/>
            <a:ext cx="1541859"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是否存在重复或相关性？</a:t>
            </a:r>
            <a:endParaRPr lang="en-US" sz="750" dirty="0" spc="0"/>
          </a:p>
        </p:txBody>
      </p:sp>
      <p:sp>
        <p:nvSpPr>
          <p:cNvPr id="104" name="ocr-072"/>
          <p:cNvSpPr txBox="1"/>
          <p:nvPr/>
        </p:nvSpPr>
        <p:spPr>
          <a:xfrm>
            <a:off x="2393156" y="5947172"/>
            <a:ext cx="503039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应在明确证据适用范围的前提下做研究与工程决策，</a:t>
            </a:r>
            <a:endParaRPr lang="en-US" sz="1100" dirty="0" spc="0"/>
          </a:p>
        </p:txBody>
      </p:sp>
      <p:sp>
        <p:nvSpPr>
          <p:cNvPr id="105" name="ocr-073"/>
          <p:cNvSpPr txBox="1"/>
          <p:nvPr/>
        </p:nvSpPr>
        <p:spPr>
          <a:xfrm>
            <a:off x="7453313" y="5976938"/>
            <a:ext cx="2571750"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更多论文不等于更高的因果可信度。</a:t>
            </a:r>
            <a:endParaRPr lang="en-US" sz="850" dirty="0" spc="0"/>
          </a:p>
        </p:txBody>
      </p:sp>
      <p:sp>
        <p:nvSpPr>
          <p:cNvPr id="106" name="ocr-074"/>
          <p:cNvSpPr txBox="1"/>
          <p:nvPr/>
        </p:nvSpPr>
        <p:spPr>
          <a:xfrm>
            <a:off x="1000125" y="6036469"/>
            <a:ext cx="1071563" cy="26193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350" b="1" dirty="0" spc="0">
                <a:solidFill>
                  <a:srgbClr val="FFFFFF"/>
                </a:solidFill>
                <a:latin typeface="Microsoft YaHei" pitchFamily="34" charset="0"/>
                <a:ea typeface="Microsoft YaHei" pitchFamily="34" charset="-122"/>
                <a:cs typeface="Microsoft YaHei" pitchFamily="34" charset="-120"/>
              </a:rPr>
              <a:t>关键结论</a:t>
            </a:r>
            <a:endParaRPr lang="en-US" sz="1350" dirty="0" spc="0"/>
          </a:p>
        </p:txBody>
      </p:sp>
      <p:sp>
        <p:nvSpPr>
          <p:cNvPr id="107" name="ocr-075"/>
          <p:cNvSpPr txBox="1"/>
          <p:nvPr/>
        </p:nvSpPr>
        <p:spPr>
          <a:xfrm>
            <a:off x="2387203" y="6143625"/>
            <a:ext cx="3911203"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避免将有限证据过早外推为普遍结论。</a:t>
            </a:r>
            <a:endParaRPr lang="en-US" sz="1050" dirty="0" spc="0"/>
          </a:p>
        </p:txBody>
      </p:sp>
      <p:sp>
        <p:nvSpPr>
          <p:cNvPr id="108" name="ocr-076"/>
          <p:cNvSpPr txBox="1"/>
          <p:nvPr/>
        </p:nvSpPr>
        <p:spPr>
          <a:xfrm>
            <a:off x="7459266" y="6173391"/>
            <a:ext cx="47148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在证据独立、边界清晰、条件满足时，才考虑将结论用于更广的场景或硬件方向。</a:t>
            </a:r>
            <a:endParaRPr lang="en-US" sz="800" dirty="0" spc="0"/>
          </a:p>
        </p:txBody>
      </p:sp>
      <p:sp>
        <p:nvSpPr>
          <p:cNvPr id="109" name="ocr-077"/>
          <p:cNvSpPr txBox="1"/>
          <p:nvPr/>
        </p:nvSpPr>
        <p:spPr>
          <a:xfrm>
            <a:off x="279797" y="6417469"/>
            <a:ext cx="537567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综合终稿第14-15章·PAPER-009/052/057/059/098/003·证据独立性审计</a:t>
            </a:r>
            <a:endParaRPr lang="en-US" sz="800" dirty="0" spc="0"/>
          </a:p>
        </p:txBody>
      </p:sp>
      <p:sp>
        <p:nvSpPr>
          <p:cNvPr id="110" name="evidence-tier-number-1"/>
          <p:cNvSpPr txBox="1"/>
          <p:nvPr/>
        </p:nvSpPr>
        <p:spPr>
          <a:xfrm>
            <a:off x="404813" y="1238250"/>
            <a:ext cx="238125" cy="255984"/>
          </a:xfrm>
          <a:prstGeom prst="rect">
            <a:avLst/>
          </a:prstGeom>
          <a:noFill/>
          <a:ln/>
        </p:spPr>
        <p:txBody>
          <a:bodyPr wrap="square" lIns="0" tIns="0" rIns="0" bIns="0" rtlCol="0" anchor="ctr">
            <a:noAutofit/>
          </a:bodyPr>
          <a:lstStyle/>
          <a:p>
            <a:pPr algn="ctr" indent="0" marL="0">
              <a:lnSpc>
                <a:spcPct val="100000"/>
              </a:lnSpc>
              <a:buNone/>
              <a:defRPr spc="0"/>
            </a:pPr>
            <a:r>
              <a:rPr lang="en-US" sz="1550" b="1" dirty="0" spc="0">
                <a:solidFill>
                  <a:srgbClr val="102C55"/>
                </a:solidFill>
                <a:latin typeface="Microsoft YaHei" pitchFamily="34" charset="0"/>
                <a:ea typeface="Microsoft YaHei" pitchFamily="34" charset="-122"/>
                <a:cs typeface="Microsoft YaHei" pitchFamily="34" charset="-120"/>
              </a:rPr>
              <a:t>1</a:t>
            </a:r>
            <a:endParaRPr lang="en-US" sz="1550" dirty="0" spc="0"/>
          </a:p>
        </p:txBody>
      </p:sp>
      <p:sp>
        <p:nvSpPr>
          <p:cNvPr id="111" name="evidence-tier-number-2"/>
          <p:cNvSpPr txBox="1"/>
          <p:nvPr/>
        </p:nvSpPr>
        <p:spPr>
          <a:xfrm>
            <a:off x="3351609" y="1238250"/>
            <a:ext cx="238125" cy="255984"/>
          </a:xfrm>
          <a:prstGeom prst="rect">
            <a:avLst/>
          </a:prstGeom>
          <a:noFill/>
          <a:ln/>
        </p:spPr>
        <p:txBody>
          <a:bodyPr wrap="square" lIns="0" tIns="0" rIns="0" bIns="0" rtlCol="0" anchor="ctr">
            <a:noAutofit/>
          </a:bodyPr>
          <a:lstStyle/>
          <a:p>
            <a:pPr algn="ctr" indent="0" marL="0">
              <a:lnSpc>
                <a:spcPct val="100000"/>
              </a:lnSpc>
              <a:buNone/>
              <a:defRPr spc="0"/>
            </a:pPr>
            <a:r>
              <a:rPr lang="en-US" sz="1550" b="1" dirty="0" spc="0">
                <a:solidFill>
                  <a:srgbClr val="102C55"/>
                </a:solidFill>
                <a:latin typeface="Microsoft YaHei" pitchFamily="34" charset="0"/>
                <a:ea typeface="Microsoft YaHei" pitchFamily="34" charset="-122"/>
                <a:cs typeface="Microsoft YaHei" pitchFamily="34" charset="-120"/>
              </a:rPr>
              <a:t>2</a:t>
            </a:r>
            <a:endParaRPr lang="en-US" sz="1550" dirty="0" spc="0"/>
          </a:p>
        </p:txBody>
      </p:sp>
      <p:sp>
        <p:nvSpPr>
          <p:cNvPr id="112" name="evidence-tier-number-3"/>
          <p:cNvSpPr txBox="1"/>
          <p:nvPr/>
        </p:nvSpPr>
        <p:spPr>
          <a:xfrm>
            <a:off x="6316266" y="1238250"/>
            <a:ext cx="238125" cy="255984"/>
          </a:xfrm>
          <a:prstGeom prst="rect">
            <a:avLst/>
          </a:prstGeom>
          <a:noFill/>
          <a:ln/>
        </p:spPr>
        <p:txBody>
          <a:bodyPr wrap="square" lIns="0" tIns="0" rIns="0" bIns="0" rtlCol="0" anchor="ctr">
            <a:noAutofit/>
          </a:bodyPr>
          <a:lstStyle/>
          <a:p>
            <a:pPr algn="ctr" indent="0" marL="0">
              <a:lnSpc>
                <a:spcPct val="100000"/>
              </a:lnSpc>
              <a:buNone/>
              <a:defRPr spc="0"/>
            </a:pPr>
            <a:r>
              <a:rPr lang="en-US" sz="1550" b="1" dirty="0" spc="0">
                <a:solidFill>
                  <a:srgbClr val="A72428"/>
                </a:solidFill>
                <a:latin typeface="Microsoft YaHei" pitchFamily="34" charset="0"/>
                <a:ea typeface="Microsoft YaHei" pitchFamily="34" charset="-122"/>
                <a:cs typeface="Microsoft YaHei" pitchFamily="34" charset="-120"/>
              </a:rPr>
              <a:t>3</a:t>
            </a:r>
            <a:endParaRPr lang="en-US" sz="1550" dirty="0" spc="0"/>
          </a:p>
        </p:txBody>
      </p:sp>
      <p:sp>
        <p:nvSpPr>
          <p:cNvPr id="113" name="evidence-tier-number-4"/>
          <p:cNvSpPr txBox="1"/>
          <p:nvPr/>
        </p:nvSpPr>
        <p:spPr>
          <a:xfrm>
            <a:off x="9245203" y="1238250"/>
            <a:ext cx="238125" cy="255984"/>
          </a:xfrm>
          <a:prstGeom prst="rect">
            <a:avLst/>
          </a:prstGeom>
          <a:noFill/>
          <a:ln/>
        </p:spPr>
        <p:txBody>
          <a:bodyPr wrap="square" lIns="0" tIns="0" rIns="0" bIns="0" rtlCol="0" anchor="ctr">
            <a:noAutofit/>
          </a:bodyPr>
          <a:lstStyle/>
          <a:p>
            <a:pPr algn="ctr" indent="0" marL="0">
              <a:lnSpc>
                <a:spcPct val="100000"/>
              </a:lnSpc>
              <a:buNone/>
              <a:defRPr spc="0"/>
            </a:pPr>
            <a:r>
              <a:rPr lang="en-US" sz="1550" b="1" dirty="0" spc="0">
                <a:solidFill>
                  <a:srgbClr val="A72428"/>
                </a:solidFill>
                <a:latin typeface="Microsoft YaHei" pitchFamily="34" charset="0"/>
                <a:ea typeface="Microsoft YaHei" pitchFamily="34" charset="-122"/>
                <a:cs typeface="Microsoft YaHei" pitchFamily="34" charset="-120"/>
              </a:rPr>
              <a:t>4</a:t>
            </a:r>
            <a:endParaRPr lang="en-US" sz="1550" dirty="0" spc="0"/>
          </a:p>
        </p:txBody>
      </p:sp>
      <p:sp>
        <p:nvSpPr>
          <p:cNvPr id="114" name="invalid-inference-x-1"/>
          <p:cNvSpPr txBox="1"/>
          <p:nvPr/>
        </p:nvSpPr>
        <p:spPr>
          <a:xfrm>
            <a:off x="4810125" y="3423047"/>
            <a:ext cx="273844" cy="285750"/>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950" b="1" dirty="0" spc="0">
                <a:solidFill>
                  <a:srgbClr val="FFFFFF"/>
                </a:solidFill>
                <a:latin typeface="Microsoft YaHei" pitchFamily="34" charset="0"/>
                <a:ea typeface="Microsoft YaHei" pitchFamily="34" charset="-122"/>
                <a:cs typeface="Microsoft YaHei" pitchFamily="34" charset="-120"/>
              </a:rPr>
              <a:t>×</a:t>
            </a:r>
            <a:endParaRPr lang="en-US" sz="1950" dirty="0" spc="0"/>
          </a:p>
        </p:txBody>
      </p:sp>
      <p:sp>
        <p:nvSpPr>
          <p:cNvPr id="115" name="invalid-inference-x-2"/>
          <p:cNvSpPr txBox="1"/>
          <p:nvPr/>
        </p:nvSpPr>
        <p:spPr>
          <a:xfrm>
            <a:off x="4810125" y="4333875"/>
            <a:ext cx="273844" cy="285750"/>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950" b="1" dirty="0" spc="0">
                <a:solidFill>
                  <a:srgbClr val="FFFFFF"/>
                </a:solidFill>
                <a:latin typeface="Microsoft YaHei" pitchFamily="34" charset="0"/>
                <a:ea typeface="Microsoft YaHei" pitchFamily="34" charset="-122"/>
                <a:cs typeface="Microsoft YaHei" pitchFamily="34" charset="-120"/>
              </a:rPr>
              <a:t>×</a:t>
            </a:r>
            <a:endParaRPr lang="en-US" sz="1950" dirty="0" spc="0"/>
          </a:p>
        </p:txBody>
      </p:sp>
      <p:sp>
        <p:nvSpPr>
          <p:cNvPr id="116" name="invalid-inference-x-3"/>
          <p:cNvSpPr txBox="1"/>
          <p:nvPr/>
        </p:nvSpPr>
        <p:spPr>
          <a:xfrm>
            <a:off x="4810125" y="5244703"/>
            <a:ext cx="273844" cy="285750"/>
          </a:xfrm>
          <a:prstGeom prst="rect">
            <a:avLst/>
          </a:prstGeom>
          <a:noFill/>
          <a:ln/>
        </p:spPr>
        <p:txBody>
          <a:bodyPr wrap="square" lIns="11906" tIns="11906" rIns="11906" bIns="11906" rtlCol="0" anchor="ctr">
            <a:noAutofit/>
          </a:bodyPr>
          <a:lstStyle/>
          <a:p>
            <a:pPr algn="ctr" indent="0" marL="0">
              <a:lnSpc>
                <a:spcPct val="100000"/>
              </a:lnSpc>
              <a:buNone/>
              <a:defRPr spc="0"/>
            </a:pPr>
            <a:r>
              <a:rPr lang="en-US" sz="1950" b="1" dirty="0" spc="0">
                <a:solidFill>
                  <a:srgbClr val="FFFFFF"/>
                </a:solidFill>
                <a:latin typeface="Microsoft YaHei" pitchFamily="34" charset="0"/>
                <a:ea typeface="Microsoft YaHei" pitchFamily="34" charset="-122"/>
                <a:cs typeface="Microsoft YaHei" pitchFamily="34" charset="-120"/>
              </a:rPr>
              <a:t>×</a:t>
            </a:r>
            <a:endParaRPr lang="en-US" sz="1950" dirty="0" spc="0"/>
          </a:p>
        </p:txBody>
      </p:sp>
      <p:sp>
        <p:nvSpPr>
          <p:cNvPr id="117"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panel-1"/>
          <p:cNvSpPr/>
          <p:nvPr/>
        </p:nvSpPr>
        <p:spPr>
          <a:xfrm>
            <a:off x="744141" y="1273969"/>
            <a:ext cx="4316016" cy="2768203"/>
          </a:xfrm>
          <a:prstGeom prst="roundRect">
            <a:avLst>
              <a:gd name="adj" fmla="val 2796"/>
            </a:avLst>
          </a:prstGeom>
          <a:solidFill>
            <a:srgbClr val="FFFFFF"/>
          </a:solidFill>
          <a:ln w="8930">
            <a:solidFill>
              <a:srgbClr val="BCD6EC"/>
            </a:solidFill>
            <a:prstDash val="solid"/>
          </a:ln>
        </p:spPr>
      </p:sp>
      <p:sp>
        <p:nvSpPr>
          <p:cNvPr id="3" name="panel-2"/>
          <p:cNvSpPr/>
          <p:nvPr/>
        </p:nvSpPr>
        <p:spPr>
          <a:xfrm>
            <a:off x="5143500" y="1273969"/>
            <a:ext cx="3220641" cy="2768203"/>
          </a:xfrm>
          <a:prstGeom prst="roundRect">
            <a:avLst>
              <a:gd name="adj" fmla="val 2796"/>
            </a:avLst>
          </a:prstGeom>
          <a:solidFill>
            <a:srgbClr val="F7F9FD"/>
          </a:solidFill>
          <a:ln w="8930">
            <a:solidFill>
              <a:srgbClr val="BCD6EC"/>
            </a:solidFill>
            <a:prstDash val="solid"/>
          </a:ln>
        </p:spPr>
      </p:sp>
      <p:sp>
        <p:nvSpPr>
          <p:cNvPr id="4" name="panel-3"/>
          <p:cNvSpPr/>
          <p:nvPr/>
        </p:nvSpPr>
        <p:spPr>
          <a:xfrm>
            <a:off x="8453438" y="1273969"/>
            <a:ext cx="3006328" cy="2768203"/>
          </a:xfrm>
          <a:prstGeom prst="roundRect">
            <a:avLst>
              <a:gd name="adj" fmla="val 2796"/>
            </a:avLst>
          </a:prstGeom>
          <a:solidFill>
            <a:srgbClr val="FFFFFF"/>
          </a:solidFill>
          <a:ln w="8930">
            <a:solidFill>
              <a:srgbClr val="BCD6EC"/>
            </a:solidFill>
            <a:prstDash val="solid"/>
          </a:ln>
        </p:spPr>
      </p:sp>
      <p:sp>
        <p:nvSpPr>
          <p:cNvPr id="5" name="panel-4"/>
          <p:cNvSpPr/>
          <p:nvPr/>
        </p:nvSpPr>
        <p:spPr>
          <a:xfrm>
            <a:off x="744141" y="4113609"/>
            <a:ext cx="10715625" cy="2059781"/>
          </a:xfrm>
          <a:prstGeom prst="roundRect">
            <a:avLst>
              <a:gd name="adj" fmla="val 3757"/>
            </a:avLst>
          </a:prstGeom>
          <a:solidFill>
            <a:srgbClr val="F7F9FD"/>
          </a:solidFill>
          <a:ln w="8930">
            <a:solidFill>
              <a:srgbClr val="BCD6EC"/>
            </a:solidFill>
            <a:prstDash val="solid"/>
          </a:ln>
        </p:spPr>
      </p:sp>
      <p:sp>
        <p:nvSpPr>
          <p:cNvPr id="6" name="detail-card-1"/>
          <p:cNvSpPr/>
          <p:nvPr/>
        </p:nvSpPr>
        <p:spPr>
          <a:xfrm>
            <a:off x="845344" y="1779984"/>
            <a:ext cx="4107656" cy="648891"/>
          </a:xfrm>
          <a:prstGeom prst="roundRect">
            <a:avLst>
              <a:gd name="adj" fmla="val 10092"/>
            </a:avLst>
          </a:prstGeom>
          <a:solidFill>
            <a:srgbClr val="F7FBFF"/>
          </a:solidFill>
          <a:ln w="7144">
            <a:solidFill>
              <a:srgbClr val="C7E0F3"/>
            </a:solidFill>
            <a:prstDash val="solid"/>
          </a:ln>
        </p:spPr>
      </p:sp>
      <p:sp>
        <p:nvSpPr>
          <p:cNvPr id="7" name="detail-card-2"/>
          <p:cNvSpPr/>
          <p:nvPr/>
        </p:nvSpPr>
        <p:spPr>
          <a:xfrm>
            <a:off x="845344" y="2506266"/>
            <a:ext cx="4107656" cy="648891"/>
          </a:xfrm>
          <a:prstGeom prst="roundRect">
            <a:avLst>
              <a:gd name="adj" fmla="val 10092"/>
            </a:avLst>
          </a:prstGeom>
          <a:solidFill>
            <a:srgbClr val="F7FBFF"/>
          </a:solidFill>
          <a:ln w="7144">
            <a:solidFill>
              <a:srgbClr val="C7E0F3"/>
            </a:solidFill>
            <a:prstDash val="solid"/>
          </a:ln>
        </p:spPr>
      </p:sp>
      <p:sp>
        <p:nvSpPr>
          <p:cNvPr id="8" name="detail-card-3"/>
          <p:cNvSpPr/>
          <p:nvPr/>
        </p:nvSpPr>
        <p:spPr>
          <a:xfrm>
            <a:off x="845344" y="3232547"/>
            <a:ext cx="4107656" cy="648891"/>
          </a:xfrm>
          <a:prstGeom prst="roundRect">
            <a:avLst>
              <a:gd name="adj" fmla="val 10092"/>
            </a:avLst>
          </a:prstGeom>
          <a:solidFill>
            <a:srgbClr val="F7FBFF"/>
          </a:solidFill>
          <a:ln w="7144">
            <a:solidFill>
              <a:srgbClr val="C7E0F3"/>
            </a:solidFill>
            <a:prstDash val="solid"/>
          </a:ln>
        </p:spPr>
      </p:sp>
      <p:sp>
        <p:nvSpPr>
          <p:cNvPr id="9" name="detail-card-4"/>
          <p:cNvSpPr/>
          <p:nvPr/>
        </p:nvSpPr>
        <p:spPr>
          <a:xfrm>
            <a:off x="5238750" y="1779984"/>
            <a:ext cx="3006328" cy="648891"/>
          </a:xfrm>
          <a:prstGeom prst="roundRect">
            <a:avLst>
              <a:gd name="adj" fmla="val 10092"/>
            </a:avLst>
          </a:prstGeom>
          <a:solidFill>
            <a:srgbClr val="F7FBFF"/>
          </a:solidFill>
          <a:ln w="7144">
            <a:solidFill>
              <a:srgbClr val="C7E0F3"/>
            </a:solidFill>
            <a:prstDash val="solid"/>
          </a:ln>
        </p:spPr>
      </p:sp>
      <p:sp>
        <p:nvSpPr>
          <p:cNvPr id="10" name="detail-card-5"/>
          <p:cNvSpPr/>
          <p:nvPr/>
        </p:nvSpPr>
        <p:spPr>
          <a:xfrm>
            <a:off x="5238750" y="2506266"/>
            <a:ext cx="3006328" cy="648891"/>
          </a:xfrm>
          <a:prstGeom prst="roundRect">
            <a:avLst>
              <a:gd name="adj" fmla="val 10092"/>
            </a:avLst>
          </a:prstGeom>
          <a:solidFill>
            <a:srgbClr val="F7FBFF"/>
          </a:solidFill>
          <a:ln w="7144">
            <a:solidFill>
              <a:srgbClr val="C7E0F3"/>
            </a:solidFill>
            <a:prstDash val="solid"/>
          </a:ln>
        </p:spPr>
      </p:sp>
      <p:sp>
        <p:nvSpPr>
          <p:cNvPr id="11" name="detail-card-6"/>
          <p:cNvSpPr/>
          <p:nvPr/>
        </p:nvSpPr>
        <p:spPr>
          <a:xfrm>
            <a:off x="5238750" y="3232547"/>
            <a:ext cx="3006328" cy="648891"/>
          </a:xfrm>
          <a:prstGeom prst="roundRect">
            <a:avLst>
              <a:gd name="adj" fmla="val 10092"/>
            </a:avLst>
          </a:prstGeom>
          <a:solidFill>
            <a:srgbClr val="F7FBFF"/>
          </a:solidFill>
          <a:ln w="7144">
            <a:solidFill>
              <a:srgbClr val="C7E0F3"/>
            </a:solidFill>
            <a:prstDash val="solid"/>
          </a:ln>
        </p:spPr>
      </p:sp>
      <p:sp>
        <p:nvSpPr>
          <p:cNvPr id="12" name="detail-card-7"/>
          <p:cNvSpPr/>
          <p:nvPr/>
        </p:nvSpPr>
        <p:spPr>
          <a:xfrm>
            <a:off x="8542734" y="1779984"/>
            <a:ext cx="2827734" cy="648891"/>
          </a:xfrm>
          <a:prstGeom prst="roundRect">
            <a:avLst>
              <a:gd name="adj" fmla="val 10092"/>
            </a:avLst>
          </a:prstGeom>
          <a:solidFill>
            <a:srgbClr val="F7FBFF"/>
          </a:solidFill>
          <a:ln w="7144">
            <a:solidFill>
              <a:srgbClr val="C7E0F3"/>
            </a:solidFill>
            <a:prstDash val="solid"/>
          </a:ln>
        </p:spPr>
      </p:sp>
      <p:sp>
        <p:nvSpPr>
          <p:cNvPr id="13" name="detail-card-8"/>
          <p:cNvSpPr/>
          <p:nvPr/>
        </p:nvSpPr>
        <p:spPr>
          <a:xfrm>
            <a:off x="8542734" y="2506266"/>
            <a:ext cx="2827734" cy="648891"/>
          </a:xfrm>
          <a:prstGeom prst="roundRect">
            <a:avLst>
              <a:gd name="adj" fmla="val 10092"/>
            </a:avLst>
          </a:prstGeom>
          <a:solidFill>
            <a:srgbClr val="F7FBFF"/>
          </a:solidFill>
          <a:ln w="7144">
            <a:solidFill>
              <a:srgbClr val="C7E0F3"/>
            </a:solidFill>
            <a:prstDash val="solid"/>
          </a:ln>
        </p:spPr>
      </p:sp>
      <p:sp>
        <p:nvSpPr>
          <p:cNvPr id="14" name="detail-card-9"/>
          <p:cNvSpPr/>
          <p:nvPr/>
        </p:nvSpPr>
        <p:spPr>
          <a:xfrm>
            <a:off x="8542734" y="3232547"/>
            <a:ext cx="2827734" cy="648891"/>
          </a:xfrm>
          <a:prstGeom prst="roundRect">
            <a:avLst>
              <a:gd name="adj" fmla="val 10092"/>
            </a:avLst>
          </a:prstGeom>
          <a:solidFill>
            <a:srgbClr val="F7FBFF"/>
          </a:solidFill>
          <a:ln w="7144">
            <a:solidFill>
              <a:srgbClr val="C7E0F3"/>
            </a:solidFill>
            <a:prstDash val="solid"/>
          </a:ln>
        </p:spPr>
      </p:sp>
      <p:sp>
        <p:nvSpPr>
          <p:cNvPr id="15" name="detail-card-10"/>
          <p:cNvSpPr/>
          <p:nvPr/>
        </p:nvSpPr>
        <p:spPr>
          <a:xfrm>
            <a:off x="773906" y="4881563"/>
            <a:ext cx="2202656" cy="648891"/>
          </a:xfrm>
          <a:prstGeom prst="roundRect">
            <a:avLst>
              <a:gd name="adj" fmla="val 10092"/>
            </a:avLst>
          </a:prstGeom>
          <a:solidFill>
            <a:srgbClr val="F7FBFF"/>
          </a:solidFill>
          <a:ln w="7144">
            <a:solidFill>
              <a:srgbClr val="C7E0F3"/>
            </a:solidFill>
            <a:prstDash val="solid"/>
          </a:ln>
        </p:spPr>
      </p:sp>
      <p:sp>
        <p:nvSpPr>
          <p:cNvPr id="16" name="detail-card-11"/>
          <p:cNvSpPr/>
          <p:nvPr/>
        </p:nvSpPr>
        <p:spPr>
          <a:xfrm>
            <a:off x="3024188" y="4881563"/>
            <a:ext cx="2071688" cy="648891"/>
          </a:xfrm>
          <a:prstGeom prst="roundRect">
            <a:avLst>
              <a:gd name="adj" fmla="val 10092"/>
            </a:avLst>
          </a:prstGeom>
          <a:solidFill>
            <a:srgbClr val="F7FBFF"/>
          </a:solidFill>
          <a:ln w="7144">
            <a:solidFill>
              <a:srgbClr val="C7E0F3"/>
            </a:solidFill>
            <a:prstDash val="solid"/>
          </a:ln>
        </p:spPr>
      </p:sp>
      <p:sp>
        <p:nvSpPr>
          <p:cNvPr id="17" name="detail-card-12"/>
          <p:cNvSpPr/>
          <p:nvPr/>
        </p:nvSpPr>
        <p:spPr>
          <a:xfrm>
            <a:off x="5143500" y="4881563"/>
            <a:ext cx="2071688" cy="648891"/>
          </a:xfrm>
          <a:prstGeom prst="roundRect">
            <a:avLst>
              <a:gd name="adj" fmla="val 10092"/>
            </a:avLst>
          </a:prstGeom>
          <a:solidFill>
            <a:srgbClr val="F7FBFF"/>
          </a:solidFill>
          <a:ln w="7144">
            <a:solidFill>
              <a:srgbClr val="C7E0F3"/>
            </a:solidFill>
            <a:prstDash val="solid"/>
          </a:ln>
        </p:spPr>
      </p:sp>
      <p:sp>
        <p:nvSpPr>
          <p:cNvPr id="18" name="detail-card-13"/>
          <p:cNvSpPr/>
          <p:nvPr/>
        </p:nvSpPr>
        <p:spPr>
          <a:xfrm>
            <a:off x="7262813" y="4881563"/>
            <a:ext cx="2071688" cy="648891"/>
          </a:xfrm>
          <a:prstGeom prst="roundRect">
            <a:avLst>
              <a:gd name="adj" fmla="val 10092"/>
            </a:avLst>
          </a:prstGeom>
          <a:solidFill>
            <a:srgbClr val="F7FBFF"/>
          </a:solidFill>
          <a:ln w="7144">
            <a:solidFill>
              <a:srgbClr val="C7E0F3"/>
            </a:solidFill>
            <a:prstDash val="solid"/>
          </a:ln>
        </p:spPr>
      </p:sp>
      <p:sp>
        <p:nvSpPr>
          <p:cNvPr id="19" name="detail-card-14"/>
          <p:cNvSpPr/>
          <p:nvPr/>
        </p:nvSpPr>
        <p:spPr>
          <a:xfrm>
            <a:off x="9382125" y="4881563"/>
            <a:ext cx="2071688" cy="648891"/>
          </a:xfrm>
          <a:prstGeom prst="roundRect">
            <a:avLst>
              <a:gd name="adj" fmla="val 10092"/>
            </a:avLst>
          </a:prstGeom>
          <a:solidFill>
            <a:srgbClr val="F7FBFF"/>
          </a:solidFill>
          <a:ln w="7144">
            <a:solidFill>
              <a:srgbClr val="C7E0F3"/>
            </a:solidFill>
            <a:prstDash val="solid"/>
          </a:ln>
        </p:spPr>
      </p:sp>
      <p:sp>
        <p:nvSpPr>
          <p:cNvPr id="20" name="review-horizon-rule"/>
          <p:cNvSpPr/>
          <p:nvPr/>
        </p:nvSpPr>
        <p:spPr>
          <a:xfrm>
            <a:off x="1357313" y="4744641"/>
            <a:ext cx="9465469" cy="23813"/>
          </a:xfrm>
          <a:prstGeom prst="rect">
            <a:avLst/>
          </a:prstGeom>
          <a:solidFill>
            <a:srgbClr val="65B3E7"/>
          </a:solidFill>
          <a:ln w="12700">
            <a:solidFill>
              <a:srgbClr val="FFFFFF">
                <a:alpha val="0"/>
              </a:srgbClr>
            </a:solidFill>
            <a:prstDash val="solid"/>
          </a:ln>
        </p:spPr>
      </p:sp>
      <p:sp>
        <p:nvSpPr>
          <p:cNvPr id="21" name="title-accent"/>
          <p:cNvSpPr/>
          <p:nvPr/>
        </p:nvSpPr>
        <p:spPr>
          <a:xfrm>
            <a:off x="309563" y="375047"/>
            <a:ext cx="47625" cy="619125"/>
          </a:xfrm>
          <a:prstGeom prst="rect">
            <a:avLst/>
          </a:prstGeom>
          <a:solidFill>
            <a:srgbClr val="2473B6"/>
          </a:solidFill>
          <a:ln w="12700">
            <a:solidFill>
              <a:srgbClr val="FFFFFF">
                <a:alpha val="0"/>
              </a:srgbClr>
            </a:solidFill>
            <a:prstDash val="solid"/>
          </a:ln>
        </p:spPr>
      </p:sp>
      <p:sp>
        <p:nvSpPr>
          <p:cNvPr id="22" name="title-divider"/>
          <p:cNvSpPr/>
          <p:nvPr/>
        </p:nvSpPr>
        <p:spPr>
          <a:xfrm>
            <a:off x="327422" y="1071563"/>
            <a:ext cx="11549063" cy="11906"/>
          </a:xfrm>
          <a:prstGeom prst="rect">
            <a:avLst/>
          </a:prstGeom>
          <a:solidFill>
            <a:srgbClr val="C9DBEA"/>
          </a:solidFill>
          <a:ln w="12700">
            <a:solidFill>
              <a:srgbClr val="FFFFFF">
                <a:alpha val="0"/>
              </a:srgbClr>
            </a:solidFill>
            <a:prstDash val="solid"/>
          </a:ln>
        </p:spPr>
      </p:sp>
      <p:sp>
        <p:nvSpPr>
          <p:cNvPr id="23" name="review-milestone-1"/>
          <p:cNvSpPr/>
          <p:nvPr/>
        </p:nvSpPr>
        <p:spPr>
          <a:xfrm>
            <a:off x="4839891" y="4649391"/>
            <a:ext cx="202406" cy="202406"/>
          </a:xfrm>
          <a:prstGeom prst="ellipse">
            <a:avLst/>
          </a:prstGeom>
          <a:solidFill>
            <a:srgbClr val="F9FDFF"/>
          </a:solidFill>
          <a:ln w="23813">
            <a:solidFill>
              <a:srgbClr val="388FCB"/>
            </a:solidFill>
            <a:prstDash val="solid"/>
          </a:ln>
        </p:spPr>
      </p:sp>
      <p:sp>
        <p:nvSpPr>
          <p:cNvPr id="24" name="review-milestone-2"/>
          <p:cNvSpPr/>
          <p:nvPr/>
        </p:nvSpPr>
        <p:spPr>
          <a:xfrm>
            <a:off x="8167688" y="4649391"/>
            <a:ext cx="202406" cy="202406"/>
          </a:xfrm>
          <a:prstGeom prst="ellipse">
            <a:avLst/>
          </a:prstGeom>
          <a:solidFill>
            <a:srgbClr val="F9FDFF"/>
          </a:solidFill>
          <a:ln w="23813">
            <a:solidFill>
              <a:srgbClr val="388FCB"/>
            </a:solidFill>
            <a:prstDash val="solid"/>
          </a:ln>
        </p:spPr>
      </p:sp>
      <p:sp>
        <p:nvSpPr>
          <p:cNvPr id="25" name="review-milestone-3"/>
          <p:cNvSpPr/>
          <p:nvPr/>
        </p:nvSpPr>
        <p:spPr>
          <a:xfrm>
            <a:off x="10727531" y="4649391"/>
            <a:ext cx="202406" cy="202406"/>
          </a:xfrm>
          <a:prstGeom prst="ellipse">
            <a:avLst/>
          </a:prstGeom>
          <a:solidFill>
            <a:srgbClr val="F9FDFF"/>
          </a:solidFill>
          <a:ln w="23813">
            <a:solidFill>
              <a:srgbClr val="388FCB"/>
            </a:solidFill>
            <a:prstDash val="solid"/>
          </a:ln>
        </p:spPr>
      </p:sp>
      <p:sp>
        <p:nvSpPr>
          <p:cNvPr id="26" name="blue-bar-1"/>
          <p:cNvSpPr/>
          <p:nvPr/>
        </p:nvSpPr>
        <p:spPr>
          <a:xfrm>
            <a:off x="744141" y="1268016"/>
            <a:ext cx="4310063" cy="428625"/>
          </a:xfrm>
          <a:prstGeom prst="roundRect">
            <a:avLst>
              <a:gd name="adj" fmla="val 11111"/>
            </a:avLst>
          </a:prstGeom>
          <a:solidFill>
            <a:srgbClr val="1769B1"/>
          </a:solidFill>
          <a:ln w="12700">
            <a:solidFill>
              <a:srgbClr val="FFFFFF">
                <a:alpha val="0"/>
              </a:srgbClr>
            </a:solidFill>
            <a:prstDash val="solid"/>
          </a:ln>
        </p:spPr>
      </p:sp>
      <p:sp>
        <p:nvSpPr>
          <p:cNvPr id="27" name="blue-bar-2"/>
          <p:cNvSpPr/>
          <p:nvPr/>
        </p:nvSpPr>
        <p:spPr>
          <a:xfrm>
            <a:off x="5149453" y="1268016"/>
            <a:ext cx="3214688" cy="517922"/>
          </a:xfrm>
          <a:prstGeom prst="roundRect">
            <a:avLst>
              <a:gd name="adj" fmla="val 9195"/>
            </a:avLst>
          </a:prstGeom>
          <a:solidFill>
            <a:srgbClr val="1769B1"/>
          </a:solidFill>
          <a:ln w="12700">
            <a:solidFill>
              <a:srgbClr val="FFFFFF">
                <a:alpha val="0"/>
              </a:srgbClr>
            </a:solidFill>
            <a:prstDash val="solid"/>
          </a:ln>
        </p:spPr>
      </p:sp>
      <p:sp>
        <p:nvSpPr>
          <p:cNvPr id="28" name="blue-bar-3"/>
          <p:cNvSpPr/>
          <p:nvPr/>
        </p:nvSpPr>
        <p:spPr>
          <a:xfrm>
            <a:off x="8465344" y="1273969"/>
            <a:ext cx="2976563" cy="392906"/>
          </a:xfrm>
          <a:prstGeom prst="roundRect">
            <a:avLst>
              <a:gd name="adj" fmla="val 12121"/>
            </a:avLst>
          </a:prstGeom>
          <a:solidFill>
            <a:srgbClr val="1769B1"/>
          </a:solidFill>
          <a:ln w="12700">
            <a:solidFill>
              <a:srgbClr val="FFFFFF">
                <a:alpha val="0"/>
              </a:srgbClr>
            </a:solidFill>
            <a:prstDash val="solid"/>
          </a:ln>
        </p:spPr>
      </p:sp>
      <p:sp>
        <p:nvSpPr>
          <p:cNvPr id="29" name="blue-bar-4"/>
          <p:cNvSpPr/>
          <p:nvPr/>
        </p:nvSpPr>
        <p:spPr>
          <a:xfrm>
            <a:off x="756047" y="5589984"/>
            <a:ext cx="10691813" cy="583406"/>
          </a:xfrm>
          <a:prstGeom prst="roundRect">
            <a:avLst>
              <a:gd name="adj" fmla="val 8163"/>
            </a:avLst>
          </a:prstGeom>
          <a:solidFill>
            <a:srgbClr val="1769B1"/>
          </a:solidFill>
          <a:ln w="12700">
            <a:solidFill>
              <a:srgbClr val="FFFFFF">
                <a:alpha val="0"/>
              </a:srgbClr>
            </a:solidFill>
            <a:prstDash val="solid"/>
          </a:ln>
        </p:spPr>
      </p:sp>
      <p:cxnSp>
        <p:nvCxnSpPr>
          <p:cNvPr id="30" name="SC_CONNECTOR__priority-to-reserve__0"/>
          <p:cNvCxnSpPr/>
          <p:nvPr/>
        </p:nvCxnSpPr>
        <p:spPr>
          <a:xfrm>
            <a:off x="4953000" y="2104430"/>
            <a:ext cx="285750" cy="0"/>
          </a:xfrm>
          <a:prstGeom prst="line">
            <a:avLst/>
          </a:prstGeom>
          <a:noFill/>
          <a:ln w="17859">
            <a:solidFill>
              <a:srgbClr val="2473B6"/>
            </a:solidFill>
            <a:prstDash val="solid"/>
            <a:round/>
            <a:headEnd type="none"/>
            <a:tailEnd type="triangle" w="med" len="med"/>
          </a:ln>
        </p:spPr>
      </p:cxnSp>
      <p:cxnSp>
        <p:nvCxnSpPr>
          <p:cNvPr id="31" name="SC_CONNECTOR__reserve-to-no-bet__0"/>
          <p:cNvCxnSpPr/>
          <p:nvPr/>
        </p:nvCxnSpPr>
        <p:spPr>
          <a:xfrm>
            <a:off x="8245078" y="2104430"/>
            <a:ext cx="297656" cy="0"/>
          </a:xfrm>
          <a:prstGeom prst="line">
            <a:avLst/>
          </a:prstGeom>
          <a:noFill/>
          <a:ln w="17859">
            <a:solidFill>
              <a:srgbClr val="2473B6"/>
            </a:solidFill>
            <a:prstDash val="solid"/>
            <a:round/>
            <a:headEnd type="none"/>
            <a:tailEnd type="triangle" w="med" len="med"/>
          </a:ln>
        </p:spPr>
      </p:cxnSp>
      <p:sp>
        <p:nvSpPr>
          <p:cNvPr id="32" name="ocr-001"/>
          <p:cNvSpPr txBox="1"/>
          <p:nvPr/>
        </p:nvSpPr>
        <p:spPr>
          <a:xfrm>
            <a:off x="946547" y="458391"/>
            <a:ext cx="11227594" cy="327422"/>
          </a:xfrm>
          <a:prstGeom prst="rect">
            <a:avLst/>
          </a:prstGeom>
          <a:noFill/>
          <a:ln/>
        </p:spPr>
        <p:txBody>
          <a:bodyPr wrap="square" lIns="0" tIns="0" rIns="0" bIns="0" rtlCol="0" anchor="ctr">
            <a:noAutofit/>
          </a:bodyPr>
          <a:lstStyle/>
          <a:p>
            <a:pPr algn="l" indent="0" marL="0">
              <a:lnSpc>
                <a:spcPct val="100000"/>
              </a:lnSpc>
              <a:buNone/>
              <a:defRPr spc="0"/>
            </a:pPr>
            <a:r>
              <a:rPr lang="en-US" sz="2250" b="1" dirty="0" spc="0">
                <a:solidFill>
                  <a:srgbClr val="102C55"/>
                </a:solidFill>
                <a:latin typeface="Microsoft YaHei" pitchFamily="34" charset="0"/>
                <a:ea typeface="Microsoft YaHei" pitchFamily="34" charset="-122"/>
                <a:cs typeface="Microsoft YaHei" pitchFamily="34" charset="-120"/>
              </a:rPr>
              <a:t>未来三年的建议应以软件工程优先、条件研究保留、季度复审收口</a:t>
            </a:r>
            <a:endParaRPr lang="en-US" sz="2250" dirty="0" spc="0"/>
          </a:p>
        </p:txBody>
      </p:sp>
      <p:sp>
        <p:nvSpPr>
          <p:cNvPr id="33" name="ocr-002"/>
          <p:cNvSpPr txBox="1"/>
          <p:nvPr/>
        </p:nvSpPr>
        <p:spPr>
          <a:xfrm>
            <a:off x="940594" y="863203"/>
            <a:ext cx="7375922"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50" dirty="0" spc="0">
                <a:solidFill>
                  <a:srgbClr val="58738A"/>
                </a:solidFill>
                <a:latin typeface="Microsoft YaHei" pitchFamily="34" charset="0"/>
                <a:ea typeface="Microsoft YaHei" pitchFamily="34" charset="-122"/>
                <a:cs typeface="Microsoft YaHei" pitchFamily="34" charset="-120"/>
              </a:rPr>
              <a:t>把资源集中到可落地的系统能力，同时为潜在硬件方向设置明确的重审门槛。</a:t>
            </a:r>
            <a:endParaRPr lang="en-US" sz="1150" dirty="0" spc="0"/>
          </a:p>
        </p:txBody>
      </p:sp>
      <p:sp>
        <p:nvSpPr>
          <p:cNvPr id="34" name="ocr-003"/>
          <p:cNvSpPr txBox="1"/>
          <p:nvPr/>
        </p:nvSpPr>
        <p:spPr>
          <a:xfrm>
            <a:off x="1214438" y="1351359"/>
            <a:ext cx="1393031"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FFFFFF"/>
                </a:solidFill>
                <a:latin typeface="Microsoft YaHei" pitchFamily="34" charset="0"/>
                <a:ea typeface="Microsoft YaHei" pitchFamily="34" charset="-122"/>
                <a:cs typeface="Microsoft YaHei" pitchFamily="34" charset="-120"/>
              </a:rPr>
              <a:t>现在优先推进</a:t>
            </a:r>
            <a:endParaRPr lang="en-US" sz="1200" dirty="0" spc="0"/>
          </a:p>
        </p:txBody>
      </p:sp>
      <p:sp>
        <p:nvSpPr>
          <p:cNvPr id="35" name="ocr-004"/>
          <p:cNvSpPr txBox="1"/>
          <p:nvPr/>
        </p:nvSpPr>
        <p:spPr>
          <a:xfrm>
            <a:off x="5595938" y="1351359"/>
            <a:ext cx="1440656" cy="238125"/>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00" b="1" dirty="0" spc="0">
                <a:solidFill>
                  <a:srgbClr val="FFFFFF"/>
                </a:solidFill>
                <a:latin typeface="Microsoft YaHei" pitchFamily="34" charset="0"/>
                <a:ea typeface="Microsoft YaHei" pitchFamily="34" charset="-122"/>
                <a:cs typeface="Microsoft YaHei" pitchFamily="34" charset="-120"/>
              </a:rPr>
              <a:t>条件研究储备</a:t>
            </a:r>
            <a:endParaRPr lang="en-US" sz="1200" dirty="0" spc="0"/>
          </a:p>
        </p:txBody>
      </p:sp>
      <p:sp>
        <p:nvSpPr>
          <p:cNvPr id="36" name="ocr-005"/>
          <p:cNvSpPr txBox="1"/>
          <p:nvPr/>
        </p:nvSpPr>
        <p:spPr>
          <a:xfrm>
            <a:off x="8888016" y="1351359"/>
            <a:ext cx="1154906"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FFFFFF"/>
                </a:solidFill>
                <a:latin typeface="Microsoft YaHei" pitchFamily="34" charset="0"/>
                <a:ea typeface="Microsoft YaHei" pitchFamily="34" charset="-122"/>
                <a:cs typeface="Microsoft YaHei" pitchFamily="34" charset="-120"/>
              </a:rPr>
              <a:t>当前不主押</a:t>
            </a:r>
            <a:endParaRPr lang="en-US" sz="1250" dirty="0" spc="0"/>
          </a:p>
        </p:txBody>
      </p:sp>
      <p:sp>
        <p:nvSpPr>
          <p:cNvPr id="37" name="ocr-006"/>
          <p:cNvSpPr txBox="1"/>
          <p:nvPr/>
        </p:nvSpPr>
        <p:spPr>
          <a:xfrm>
            <a:off x="2643188" y="1410891"/>
            <a:ext cx="291703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聚焦可落地的系统能力，形成确定的用户价值</a:t>
            </a:r>
            <a:endParaRPr lang="en-US" sz="800" dirty="0" spc="0"/>
          </a:p>
        </p:txBody>
      </p:sp>
      <p:sp>
        <p:nvSpPr>
          <p:cNvPr id="38" name="ocr-007"/>
          <p:cNvSpPr txBox="1"/>
          <p:nvPr/>
        </p:nvSpPr>
        <p:spPr>
          <a:xfrm>
            <a:off x="10078641" y="1404938"/>
            <a:ext cx="16787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在证据充分前不作为主线</a:t>
            </a:r>
            <a:endParaRPr lang="en-US" sz="800" dirty="0" spc="0"/>
          </a:p>
        </p:txBody>
      </p:sp>
      <p:sp>
        <p:nvSpPr>
          <p:cNvPr id="39" name="ocr-008"/>
          <p:cNvSpPr txBox="1"/>
          <p:nvPr/>
        </p:nvSpPr>
        <p:spPr>
          <a:xfrm>
            <a:off x="5595938" y="1559719"/>
            <a:ext cx="245864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FFFFFF"/>
                </a:solidFill>
                <a:latin typeface="Microsoft YaHei" pitchFamily="34" charset="0"/>
                <a:ea typeface="Microsoft YaHei" pitchFamily="34" charset="-122"/>
                <a:cs typeface="Microsoft YaHei" pitchFamily="34" charset="-120"/>
              </a:rPr>
              <a:t>保持开放，满足门槛后再重新评估</a:t>
            </a:r>
            <a:endParaRPr lang="en-US" sz="950" dirty="0" spc="0"/>
          </a:p>
        </p:txBody>
      </p:sp>
      <p:sp>
        <p:nvSpPr>
          <p:cNvPr id="40" name="ocr-009"/>
          <p:cNvSpPr txBox="1"/>
          <p:nvPr/>
        </p:nvSpPr>
        <p:spPr>
          <a:xfrm>
            <a:off x="9149953" y="1815703"/>
            <a:ext cx="220265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新Agent专用ISA/寄存器/</a:t>
            </a:r>
            <a:endParaRPr lang="en-US" sz="950" dirty="0" spc="0"/>
          </a:p>
        </p:txBody>
      </p:sp>
      <p:sp>
        <p:nvSpPr>
          <p:cNvPr id="41" name="ocr-010"/>
          <p:cNvSpPr txBox="1"/>
          <p:nvPr/>
        </p:nvSpPr>
        <p:spPr>
          <a:xfrm>
            <a:off x="1577578" y="1899047"/>
            <a:ext cx="260151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CPU/LLVM异构快速执行</a:t>
            </a:r>
            <a:endParaRPr lang="en-US" sz="1000" dirty="0" spc="0"/>
          </a:p>
        </p:txBody>
      </p:sp>
      <p:sp>
        <p:nvSpPr>
          <p:cNvPr id="42" name="ocr-011"/>
          <p:cNvSpPr txBox="1"/>
          <p:nvPr/>
        </p:nvSpPr>
        <p:spPr>
          <a:xfrm>
            <a:off x="5863828" y="1952625"/>
            <a:ext cx="1601391"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额外任务进度信息</a:t>
            </a:r>
            <a:endParaRPr lang="en-US" sz="1000" dirty="0" spc="0"/>
          </a:p>
        </p:txBody>
      </p:sp>
      <p:sp>
        <p:nvSpPr>
          <p:cNvPr id="43" name="ocr-012"/>
          <p:cNvSpPr txBox="1"/>
          <p:nvPr/>
        </p:nvSpPr>
        <p:spPr>
          <a:xfrm>
            <a:off x="4042172" y="2018109"/>
            <a:ext cx="952500"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→近期重点</a:t>
            </a:r>
            <a:endParaRPr lang="en-US" sz="1000" dirty="0" spc="0"/>
          </a:p>
        </p:txBody>
      </p:sp>
      <p:sp>
        <p:nvSpPr>
          <p:cNvPr id="44" name="ocr-013"/>
          <p:cNvSpPr txBox="1"/>
          <p:nvPr/>
        </p:nvSpPr>
        <p:spPr>
          <a:xfrm>
            <a:off x="7673578" y="1982391"/>
            <a:ext cx="583406" cy="166688"/>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条件研究</a:t>
            </a:r>
            <a:endParaRPr lang="en-US" sz="750" dirty="0" spc="0"/>
          </a:p>
        </p:txBody>
      </p:sp>
      <p:sp>
        <p:nvSpPr>
          <p:cNvPr id="45" name="ocr-014"/>
          <p:cNvSpPr txBox="1"/>
          <p:nvPr/>
        </p:nvSpPr>
        <p:spPr>
          <a:xfrm>
            <a:off x="9167813" y="2000250"/>
            <a:ext cx="1232297"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大规模硬件承诺</a:t>
            </a:r>
            <a:endParaRPr lang="en-US" sz="850" dirty="0" spc="0"/>
          </a:p>
        </p:txBody>
      </p:sp>
      <p:sp>
        <p:nvSpPr>
          <p:cNvPr id="46" name="ocr-015"/>
          <p:cNvSpPr txBox="1"/>
          <p:nvPr/>
        </p:nvSpPr>
        <p:spPr>
          <a:xfrm>
            <a:off x="1553766" y="2119313"/>
            <a:ext cx="2184797"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降低跨阶段调度与执行开销</a:t>
            </a:r>
            <a:endParaRPr lang="en-US" sz="1000" dirty="0" spc="0"/>
          </a:p>
        </p:txBody>
      </p:sp>
      <p:sp>
        <p:nvSpPr>
          <p:cNvPr id="47" name="ocr-016"/>
          <p:cNvSpPr txBox="1"/>
          <p:nvPr/>
        </p:nvSpPr>
        <p:spPr>
          <a:xfrm>
            <a:off x="5857875" y="2160984"/>
            <a:ext cx="222051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需真实手机收益与明确接口定义</a:t>
            </a:r>
            <a:endParaRPr lang="en-US" sz="800" dirty="0" spc="0"/>
          </a:p>
        </p:txBody>
      </p:sp>
      <p:sp>
        <p:nvSpPr>
          <p:cNvPr id="48" name="ocr-017"/>
          <p:cNvSpPr txBox="1"/>
          <p:nvPr/>
        </p:nvSpPr>
        <p:spPr>
          <a:xfrm>
            <a:off x="9161859" y="2190750"/>
            <a:ext cx="191690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当前尚无充分证据支持投入。</a:t>
            </a:r>
            <a:endParaRPr lang="en-US" sz="800" dirty="0" spc="0"/>
          </a:p>
        </p:txBody>
      </p:sp>
      <p:sp>
        <p:nvSpPr>
          <p:cNvPr id="49" name="ocr-018"/>
          <p:cNvSpPr txBox="1"/>
          <p:nvPr/>
        </p:nvSpPr>
        <p:spPr>
          <a:xfrm>
            <a:off x="1595438" y="2655094"/>
            <a:ext cx="2458641"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可信工具动作与效果验证</a:t>
            </a:r>
            <a:endParaRPr lang="en-US" sz="1000" dirty="0" spc="0"/>
          </a:p>
        </p:txBody>
      </p:sp>
      <p:sp>
        <p:nvSpPr>
          <p:cNvPr id="50" name="ocr-019"/>
          <p:cNvSpPr txBox="1"/>
          <p:nvPr/>
        </p:nvSpPr>
        <p:spPr>
          <a:xfrm>
            <a:off x="5857875" y="2649141"/>
            <a:ext cx="178593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跨引擎派生状态有效性</a:t>
            </a:r>
            <a:endParaRPr lang="en-US" sz="1000" dirty="0" spc="0"/>
          </a:p>
        </p:txBody>
      </p:sp>
      <p:sp>
        <p:nvSpPr>
          <p:cNvPr id="51" name="ocr-020"/>
          <p:cNvSpPr txBox="1"/>
          <p:nvPr/>
        </p:nvSpPr>
        <p:spPr>
          <a:xfrm>
            <a:off x="9161859" y="2601516"/>
            <a:ext cx="2875359"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缺乏强软件基线之外的稳定残差证据</a:t>
            </a:r>
            <a:endParaRPr lang="en-US" sz="800" dirty="0" spc="0"/>
          </a:p>
        </p:txBody>
      </p:sp>
      <p:sp>
        <p:nvSpPr>
          <p:cNvPr id="52" name="ocr-021"/>
          <p:cNvSpPr txBox="1"/>
          <p:nvPr/>
        </p:nvSpPr>
        <p:spPr>
          <a:xfrm>
            <a:off x="7673578" y="2678906"/>
            <a:ext cx="601266"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条件研究</a:t>
            </a:r>
            <a:endParaRPr lang="en-US" sz="850" dirty="0" spc="0"/>
          </a:p>
        </p:txBody>
      </p:sp>
      <p:sp>
        <p:nvSpPr>
          <p:cNvPr id="53" name="ocr-022"/>
          <p:cNvSpPr txBox="1"/>
          <p:nvPr/>
        </p:nvSpPr>
        <p:spPr>
          <a:xfrm>
            <a:off x="4131469" y="2780109"/>
            <a:ext cx="833438"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近期重点</a:t>
            </a:r>
            <a:endParaRPr lang="en-US" sz="1000" dirty="0" spc="0"/>
          </a:p>
        </p:txBody>
      </p:sp>
      <p:sp>
        <p:nvSpPr>
          <p:cNvPr id="54" name="ocr-023"/>
          <p:cNvSpPr txBox="1"/>
          <p:nvPr/>
        </p:nvSpPr>
        <p:spPr>
          <a:xfrm>
            <a:off x="5857875" y="2863453"/>
            <a:ext cx="222051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需真实手机收益与明确接口定义</a:t>
            </a:r>
            <a:endParaRPr lang="en-US" sz="800" dirty="0" spc="0"/>
          </a:p>
        </p:txBody>
      </p:sp>
      <p:sp>
        <p:nvSpPr>
          <p:cNvPr id="55" name="ocr-024"/>
          <p:cNvSpPr txBox="1"/>
          <p:nvPr/>
        </p:nvSpPr>
        <p:spPr>
          <a:xfrm>
            <a:off x="9149953" y="2809875"/>
            <a:ext cx="2256234"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现有公开与实验数据尚不能证明</a:t>
            </a:r>
            <a:endParaRPr lang="en-US" sz="800" dirty="0" spc="0"/>
          </a:p>
        </p:txBody>
      </p:sp>
      <p:sp>
        <p:nvSpPr>
          <p:cNvPr id="56" name="ocr-025"/>
          <p:cNvSpPr txBox="1"/>
          <p:nvPr/>
        </p:nvSpPr>
        <p:spPr>
          <a:xfrm>
            <a:off x="1559719" y="2893219"/>
            <a:ext cx="263128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把API成功与真实完成分开管理</a:t>
            </a:r>
            <a:endParaRPr lang="en-US" sz="950" dirty="0" spc="0"/>
          </a:p>
        </p:txBody>
      </p:sp>
      <p:sp>
        <p:nvSpPr>
          <p:cNvPr id="57" name="ocr-026"/>
          <p:cNvSpPr txBox="1"/>
          <p:nvPr/>
        </p:nvSpPr>
        <p:spPr>
          <a:xfrm>
            <a:off x="9161859" y="2982516"/>
            <a:ext cx="2291953"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存在不可被软件吸收的显著收益。</a:t>
            </a:r>
            <a:endParaRPr lang="en-US" sz="750" dirty="0" spc="0"/>
          </a:p>
        </p:txBody>
      </p:sp>
      <p:sp>
        <p:nvSpPr>
          <p:cNvPr id="58" name="ocr-027"/>
          <p:cNvSpPr txBox="1"/>
          <p:nvPr/>
        </p:nvSpPr>
        <p:spPr>
          <a:xfrm>
            <a:off x="1595438" y="3411141"/>
            <a:ext cx="3030141" cy="22026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100" b="1" dirty="0" spc="0">
                <a:solidFill>
                  <a:srgbClr val="173753"/>
                </a:solidFill>
                <a:latin typeface="Microsoft YaHei" pitchFamily="34" charset="0"/>
                <a:ea typeface="Microsoft YaHei" pitchFamily="34" charset="-122"/>
                <a:cs typeface="Microsoft YaHei" pitchFamily="34" charset="-120"/>
              </a:rPr>
              <a:t>Runtime/OS调度与前台体验</a:t>
            </a:r>
            <a:endParaRPr lang="en-US" sz="1100" dirty="0" spc="0"/>
          </a:p>
        </p:txBody>
      </p:sp>
      <p:sp>
        <p:nvSpPr>
          <p:cNvPr id="59" name="ocr-028"/>
          <p:cNvSpPr txBox="1"/>
          <p:nvPr/>
        </p:nvSpPr>
        <p:spPr>
          <a:xfrm>
            <a:off x="5863828" y="3387328"/>
            <a:ext cx="1684734"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CPU续执行局部性</a:t>
            </a:r>
            <a:endParaRPr lang="en-US" sz="1000" dirty="0" spc="0"/>
          </a:p>
        </p:txBody>
      </p:sp>
      <p:sp>
        <p:nvSpPr>
          <p:cNvPr id="60" name="ocr-029"/>
          <p:cNvSpPr txBox="1"/>
          <p:nvPr/>
        </p:nvSpPr>
        <p:spPr>
          <a:xfrm>
            <a:off x="7673578" y="3405188"/>
            <a:ext cx="595313" cy="184547"/>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50" dirty="0" spc="0">
                <a:solidFill>
                  <a:srgbClr val="173753"/>
                </a:solidFill>
                <a:latin typeface="Microsoft YaHei" pitchFamily="34" charset="0"/>
                <a:ea typeface="Microsoft YaHei" pitchFamily="34" charset="-122"/>
                <a:cs typeface="Microsoft YaHei" pitchFamily="34" charset="-120"/>
              </a:rPr>
              <a:t>条件研究</a:t>
            </a:r>
            <a:endParaRPr lang="en-US" sz="850" dirty="0" spc="0"/>
          </a:p>
        </p:txBody>
      </p:sp>
      <p:sp>
        <p:nvSpPr>
          <p:cNvPr id="61" name="ocr-030"/>
          <p:cNvSpPr txBox="1"/>
          <p:nvPr/>
        </p:nvSpPr>
        <p:spPr>
          <a:xfrm>
            <a:off x="9161859" y="3387328"/>
            <a:ext cx="29527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在证据不足前，不宜上升为主线投资判断</a:t>
            </a:r>
            <a:endParaRPr lang="en-US" sz="800" dirty="0" spc="0"/>
          </a:p>
        </p:txBody>
      </p:sp>
      <p:sp>
        <p:nvSpPr>
          <p:cNvPr id="62" name="ocr-031"/>
          <p:cNvSpPr txBox="1"/>
          <p:nvPr/>
        </p:nvSpPr>
        <p:spPr>
          <a:xfrm>
            <a:off x="4113609" y="3524250"/>
            <a:ext cx="857250"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》近期重点</a:t>
            </a:r>
            <a:endParaRPr lang="en-US" sz="1000" dirty="0" spc="0"/>
          </a:p>
        </p:txBody>
      </p:sp>
      <p:sp>
        <p:nvSpPr>
          <p:cNvPr id="63" name="ocr-032"/>
          <p:cNvSpPr txBox="1"/>
          <p:nvPr/>
        </p:nvSpPr>
        <p:spPr>
          <a:xfrm>
            <a:off x="5857875" y="3595688"/>
            <a:ext cx="2220516"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需真实手机收益与明确接口定义</a:t>
            </a:r>
            <a:endParaRPr lang="en-US" sz="800" dirty="0" spc="0"/>
          </a:p>
        </p:txBody>
      </p:sp>
      <p:sp>
        <p:nvSpPr>
          <p:cNvPr id="64" name="ocr-033"/>
          <p:cNvSpPr txBox="1"/>
          <p:nvPr/>
        </p:nvSpPr>
        <p:spPr>
          <a:xfrm>
            <a:off x="9155906" y="3577828"/>
            <a:ext cx="2244328"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可继续观察，待满足明确门槛后</a:t>
            </a:r>
            <a:endParaRPr lang="en-US" sz="800" dirty="0" spc="0"/>
          </a:p>
        </p:txBody>
      </p:sp>
      <p:sp>
        <p:nvSpPr>
          <p:cNvPr id="65" name="ocr-034"/>
          <p:cNvSpPr txBox="1"/>
          <p:nvPr/>
        </p:nvSpPr>
        <p:spPr>
          <a:xfrm>
            <a:off x="1571625" y="3637359"/>
            <a:ext cx="2119313" cy="21431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50" b="1" dirty="0" spc="0">
                <a:solidFill>
                  <a:srgbClr val="173753"/>
                </a:solidFill>
                <a:latin typeface="Microsoft YaHei" pitchFamily="34" charset="0"/>
                <a:ea typeface="Microsoft YaHei" pitchFamily="34" charset="-122"/>
                <a:cs typeface="Microsoft YaHei" pitchFamily="34" charset="-120"/>
              </a:rPr>
              <a:t>兼顾任务完成时间与QoE</a:t>
            </a:r>
            <a:endParaRPr lang="en-US" sz="1050" dirty="0" spc="0"/>
          </a:p>
        </p:txBody>
      </p:sp>
      <p:sp>
        <p:nvSpPr>
          <p:cNvPr id="66" name="ocr-035"/>
          <p:cNvSpPr txBox="1"/>
          <p:nvPr/>
        </p:nvSpPr>
        <p:spPr>
          <a:xfrm>
            <a:off x="9149953" y="3744516"/>
            <a:ext cx="1220391"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再进入硬件论证。</a:t>
            </a:r>
            <a:endParaRPr lang="en-US" sz="950" dirty="0" spc="0"/>
          </a:p>
        </p:txBody>
      </p:sp>
      <p:sp>
        <p:nvSpPr>
          <p:cNvPr id="67" name="ocr-036"/>
          <p:cNvSpPr txBox="1"/>
          <p:nvPr/>
        </p:nvSpPr>
        <p:spPr>
          <a:xfrm>
            <a:off x="5834063" y="4143375"/>
            <a:ext cx="678656"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稳步推进</a:t>
            </a:r>
            <a:endParaRPr lang="en-US" sz="1000" dirty="0" spc="0"/>
          </a:p>
        </p:txBody>
      </p:sp>
      <p:sp>
        <p:nvSpPr>
          <p:cNvPr id="68" name="ocr-037"/>
          <p:cNvSpPr txBox="1"/>
          <p:nvPr/>
        </p:nvSpPr>
        <p:spPr>
          <a:xfrm>
            <a:off x="1774031" y="4244578"/>
            <a:ext cx="3042047"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173753"/>
                </a:solidFill>
                <a:latin typeface="Microsoft YaHei" pitchFamily="34" charset="0"/>
                <a:ea typeface="Microsoft YaHei" pitchFamily="34" charset="-122"/>
                <a:cs typeface="Microsoft YaHei" pitchFamily="34" charset="-120"/>
              </a:rPr>
              <a:t>当前阶段：夯实软件工程与系统能力</a:t>
            </a:r>
            <a:endParaRPr lang="en-US" sz="950" dirty="0" spc="0"/>
          </a:p>
        </p:txBody>
      </p:sp>
      <p:sp>
        <p:nvSpPr>
          <p:cNvPr id="69" name="ocr-038"/>
          <p:cNvSpPr txBox="1"/>
          <p:nvPr/>
        </p:nvSpPr>
        <p:spPr>
          <a:xfrm>
            <a:off x="8941594" y="4244578"/>
            <a:ext cx="2440781"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未来阶段：基于证据的硬件论证</a:t>
            </a:r>
            <a:endParaRPr lang="en-US" sz="800" dirty="0" spc="0"/>
          </a:p>
        </p:txBody>
      </p:sp>
      <p:sp>
        <p:nvSpPr>
          <p:cNvPr id="70" name="ocr-039"/>
          <p:cNvSpPr txBox="1"/>
          <p:nvPr/>
        </p:nvSpPr>
        <p:spPr>
          <a:xfrm>
            <a:off x="1768078" y="4441031"/>
            <a:ext cx="295870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形成可验证、可交付、可持续的基线收益</a:t>
            </a:r>
            <a:endParaRPr lang="en-US" sz="800" dirty="0" spc="0"/>
          </a:p>
        </p:txBody>
      </p:sp>
      <p:sp>
        <p:nvSpPr>
          <p:cNvPr id="71" name="ocr-040"/>
          <p:cNvSpPr txBox="1"/>
          <p:nvPr/>
        </p:nvSpPr>
        <p:spPr>
          <a:xfrm>
            <a:off x="8947547" y="4435078"/>
            <a:ext cx="2351484"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当条件成熟且证据充分时再行评估</a:t>
            </a:r>
            <a:endParaRPr lang="en-US" sz="750" dirty="0" spc="0"/>
          </a:p>
        </p:txBody>
      </p:sp>
      <p:sp>
        <p:nvSpPr>
          <p:cNvPr id="72" name="ocr-041"/>
          <p:cNvSpPr txBox="1"/>
          <p:nvPr/>
        </p:nvSpPr>
        <p:spPr>
          <a:xfrm>
            <a:off x="1357313" y="4899422"/>
            <a:ext cx="1000125" cy="25003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250" b="1" dirty="0" spc="0">
                <a:solidFill>
                  <a:srgbClr val="173753"/>
                </a:solidFill>
                <a:latin typeface="Microsoft YaHei" pitchFamily="34" charset="0"/>
                <a:ea typeface="Microsoft YaHei" pitchFamily="34" charset="-122"/>
                <a:cs typeface="Microsoft YaHei" pitchFamily="34" charset="-120"/>
              </a:rPr>
              <a:t>管理动作</a:t>
            </a:r>
            <a:endParaRPr lang="en-US" sz="1250" dirty="0" spc="0"/>
          </a:p>
        </p:txBody>
      </p:sp>
      <p:sp>
        <p:nvSpPr>
          <p:cNvPr id="73" name="ocr-042"/>
          <p:cNvSpPr txBox="1"/>
          <p:nvPr/>
        </p:nvSpPr>
        <p:spPr>
          <a:xfrm>
            <a:off x="3429000" y="4994672"/>
            <a:ext cx="756047" cy="208359"/>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统一评测</a:t>
            </a:r>
            <a:endParaRPr lang="en-US" sz="1000" dirty="0" spc="0"/>
          </a:p>
        </p:txBody>
      </p:sp>
      <p:sp>
        <p:nvSpPr>
          <p:cNvPr id="74" name="ocr-043"/>
          <p:cNvSpPr txBox="1"/>
          <p:nvPr/>
        </p:nvSpPr>
        <p:spPr>
          <a:xfrm>
            <a:off x="5554266" y="5006578"/>
            <a:ext cx="744141"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持续跟踪</a:t>
            </a:r>
            <a:endParaRPr lang="en-US" sz="1000" dirty="0" spc="0"/>
          </a:p>
        </p:txBody>
      </p:sp>
      <p:sp>
        <p:nvSpPr>
          <p:cNvPr id="75" name="ocr-044"/>
          <p:cNvSpPr txBox="1"/>
          <p:nvPr/>
        </p:nvSpPr>
        <p:spPr>
          <a:xfrm>
            <a:off x="7703344" y="5006578"/>
            <a:ext cx="744141" cy="202406"/>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000" dirty="0" spc="0">
                <a:solidFill>
                  <a:srgbClr val="173753"/>
                </a:solidFill>
                <a:latin typeface="Microsoft YaHei" pitchFamily="34" charset="0"/>
                <a:ea typeface="Microsoft YaHei" pitchFamily="34" charset="-122"/>
                <a:cs typeface="Microsoft YaHei" pitchFamily="34" charset="-120"/>
              </a:rPr>
              <a:t>季度复审</a:t>
            </a:r>
            <a:endParaRPr lang="en-US" sz="1000" dirty="0" spc="0"/>
          </a:p>
        </p:txBody>
      </p:sp>
      <p:sp>
        <p:nvSpPr>
          <p:cNvPr id="76" name="ocr-045"/>
          <p:cNvSpPr txBox="1"/>
          <p:nvPr/>
        </p:nvSpPr>
        <p:spPr>
          <a:xfrm>
            <a:off x="9810750" y="5018484"/>
            <a:ext cx="164306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成熟后再进入硬件论证</a:t>
            </a:r>
            <a:endParaRPr lang="en-US" sz="800" dirty="0" spc="0"/>
          </a:p>
        </p:txBody>
      </p:sp>
      <p:sp>
        <p:nvSpPr>
          <p:cNvPr id="77" name="ocr-046"/>
          <p:cNvSpPr txBox="1"/>
          <p:nvPr/>
        </p:nvSpPr>
        <p:spPr>
          <a:xfrm>
            <a:off x="1351359" y="5149453"/>
            <a:ext cx="2047875"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建立持续、可验证、可复盘的</a:t>
            </a:r>
            <a:endParaRPr lang="en-US" sz="800" dirty="0" spc="0"/>
          </a:p>
        </p:txBody>
      </p:sp>
      <p:sp>
        <p:nvSpPr>
          <p:cNvPr id="78" name="ocr-047"/>
          <p:cNvSpPr txBox="1"/>
          <p:nvPr/>
        </p:nvSpPr>
        <p:spPr>
          <a:xfrm>
            <a:off x="3434953" y="5191125"/>
            <a:ext cx="1756172"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阶段、QoE、能耗、恢复性</a:t>
            </a:r>
            <a:endParaRPr lang="en-US" sz="800" dirty="0" spc="0"/>
          </a:p>
        </p:txBody>
      </p:sp>
      <p:sp>
        <p:nvSpPr>
          <p:cNvPr id="79" name="ocr-048"/>
          <p:cNvSpPr txBox="1"/>
          <p:nvPr/>
        </p:nvSpPr>
        <p:spPr>
          <a:xfrm>
            <a:off x="5566172" y="5203031"/>
            <a:ext cx="174426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软件强基线与系统接口演进</a:t>
            </a:r>
            <a:endParaRPr lang="en-US" sz="750" dirty="0" spc="0"/>
          </a:p>
        </p:txBody>
      </p:sp>
      <p:sp>
        <p:nvSpPr>
          <p:cNvPr id="80" name="ocr-049"/>
          <p:cNvSpPr txBox="1"/>
          <p:nvPr/>
        </p:nvSpPr>
        <p:spPr>
          <a:xfrm>
            <a:off x="7715250" y="5191125"/>
            <a:ext cx="1619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证据边界与条件研究状态</a:t>
            </a:r>
            <a:endParaRPr lang="en-US" sz="800" dirty="0" spc="0"/>
          </a:p>
        </p:txBody>
      </p:sp>
      <p:sp>
        <p:nvSpPr>
          <p:cNvPr id="81" name="ocr-050"/>
          <p:cNvSpPr txBox="1"/>
          <p:nvPr/>
        </p:nvSpPr>
        <p:spPr>
          <a:xfrm>
            <a:off x="9804797" y="5203031"/>
            <a:ext cx="2012156" cy="16073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满足明确门槛，基于新证据决策</a:t>
            </a:r>
            <a:endParaRPr lang="en-US" sz="750" dirty="0" spc="0"/>
          </a:p>
        </p:txBody>
      </p:sp>
      <p:sp>
        <p:nvSpPr>
          <p:cNvPr id="82" name="ocr-051"/>
          <p:cNvSpPr txBox="1"/>
          <p:nvPr/>
        </p:nvSpPr>
        <p:spPr>
          <a:xfrm>
            <a:off x="1351359" y="5304234"/>
            <a:ext cx="1238250"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173753"/>
                </a:solidFill>
                <a:latin typeface="Microsoft YaHei" pitchFamily="34" charset="0"/>
                <a:ea typeface="Microsoft YaHei" pitchFamily="34" charset="-122"/>
                <a:cs typeface="Microsoft YaHei" pitchFamily="34" charset="-120"/>
              </a:rPr>
              <a:t>决策与执行机制。</a:t>
            </a:r>
            <a:endParaRPr lang="en-US" sz="800" dirty="0" spc="0"/>
          </a:p>
        </p:txBody>
      </p:sp>
      <p:sp>
        <p:nvSpPr>
          <p:cNvPr id="83" name="ocr-052"/>
          <p:cNvSpPr txBox="1"/>
          <p:nvPr/>
        </p:nvSpPr>
        <p:spPr>
          <a:xfrm>
            <a:off x="1541859" y="5738813"/>
            <a:ext cx="6768703" cy="285750"/>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1450" b="1" dirty="0" spc="0">
                <a:solidFill>
                  <a:srgbClr val="FFFFFF"/>
                </a:solidFill>
                <a:latin typeface="Microsoft YaHei" pitchFamily="34" charset="0"/>
                <a:ea typeface="Microsoft YaHei" pitchFamily="34" charset="-122"/>
                <a:cs typeface="Microsoft YaHei" pitchFamily="34" charset="-120"/>
              </a:rPr>
              <a:t>一句话结论：先把软件、系统与运行时做到强，再用证据决定硬件。</a:t>
            </a:r>
            <a:endParaRPr lang="en-US" sz="1450" dirty="0" spc="0"/>
          </a:p>
        </p:txBody>
      </p:sp>
      <p:sp>
        <p:nvSpPr>
          <p:cNvPr id="84" name="ocr-053"/>
          <p:cNvSpPr txBox="1"/>
          <p:nvPr/>
        </p:nvSpPr>
        <p:spPr>
          <a:xfrm>
            <a:off x="8364141" y="5715000"/>
            <a:ext cx="2690813" cy="178594"/>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800" dirty="0" spc="0">
                <a:solidFill>
                  <a:srgbClr val="FFFFFF"/>
                </a:solidFill>
                <a:latin typeface="Microsoft YaHei" pitchFamily="34" charset="0"/>
                <a:ea typeface="Microsoft YaHei" pitchFamily="34" charset="-122"/>
                <a:cs typeface="Microsoft YaHei" pitchFamily="34" charset="-120"/>
              </a:rPr>
              <a:t>以可验证的系统能力创造确定价值，</a:t>
            </a:r>
            <a:endParaRPr lang="en-US" sz="800" dirty="0" spc="0"/>
          </a:p>
        </p:txBody>
      </p:sp>
      <p:sp>
        <p:nvSpPr>
          <p:cNvPr id="85" name="ocr-054"/>
          <p:cNvSpPr txBox="1"/>
          <p:nvPr/>
        </p:nvSpPr>
        <p:spPr>
          <a:xfrm>
            <a:off x="8346281" y="5899547"/>
            <a:ext cx="3631406" cy="196453"/>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950" dirty="0" spc="0">
                <a:solidFill>
                  <a:srgbClr val="FFFFFF"/>
                </a:solidFill>
                <a:latin typeface="Microsoft YaHei" pitchFamily="34" charset="0"/>
                <a:ea typeface="Microsoft YaHei" pitchFamily="34" charset="-122"/>
                <a:cs typeface="Microsoft YaHei" pitchFamily="34" charset="-120"/>
              </a:rPr>
              <a:t>在证据充分时再讨论硬件的必要性与投入节奏。</a:t>
            </a:r>
            <a:endParaRPr lang="en-US" sz="950" dirty="0" spc="0"/>
          </a:p>
        </p:txBody>
      </p:sp>
      <p:sp>
        <p:nvSpPr>
          <p:cNvPr id="86" name="ocr-055"/>
          <p:cNvSpPr txBox="1"/>
          <p:nvPr/>
        </p:nvSpPr>
        <p:spPr>
          <a:xfrm>
            <a:off x="738188" y="6322219"/>
            <a:ext cx="5054203" cy="154781"/>
          </a:xfrm>
          <a:prstGeom prst="rect">
            <a:avLst/>
          </a:prstGeom>
          <a:noFill/>
          <a:ln/>
        </p:spPr>
        <p:txBody>
          <a:bodyPr wrap="square" lIns="11906" tIns="11906" rIns="11906" bIns="11906" rtlCol="0" anchor="ctr">
            <a:noAutofit/>
          </a:bodyPr>
          <a:lstStyle/>
          <a:p>
            <a:pPr algn="l" indent="0" marL="0">
              <a:lnSpc>
                <a:spcPct val="100000"/>
              </a:lnSpc>
              <a:buNone/>
              <a:defRPr spc="0"/>
            </a:pPr>
            <a:r>
              <a:rPr lang="en-US" sz="750" dirty="0" spc="0">
                <a:solidFill>
                  <a:srgbClr val="58738A"/>
                </a:solidFill>
                <a:latin typeface="Microsoft YaHei" pitchFamily="34" charset="0"/>
                <a:ea typeface="Microsoft YaHei" pitchFamily="34" charset="-122"/>
                <a:cs typeface="Microsoft YaHei" pitchFamily="34" charset="-120"/>
              </a:rPr>
              <a:t>决策依据：S03/S06-S14/current.md/DEC-PORTFOLIO-002/DEC-A-008</a:t>
            </a:r>
            <a:endParaRPr lang="en-US" sz="750" dirty="0" spc="0"/>
          </a:p>
        </p:txBody>
      </p:sp>
      <p:sp>
        <p:nvSpPr>
          <p:cNvPr id="87" name="Slide Number Placeholder 0"/>
          <p:cNvSpPr>
            <a:spLocks noGrp="1"/>
          </p:cNvSpPr>
          <p:nvPr>
            <p:ph type="sldNum" sz="quarter" idx="4294967295"/>
          </p:nvPr>
        </p:nvSpPr>
        <p:spPr>
          <a:xfrm>
            <a:off x="11001375" y="6643688"/>
            <a:ext cx="952500" cy="184547"/>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550">
                <a:solidFill>
                  <a:srgbClr val="58738A"/>
                </a:solidFill>
                <a:latin typeface="Microsoft YaHei"/>
                <a:ea typeface="Microsoft YaHei"/>
                <a:cs typeface="Microsoft YaHe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xjs-work-lab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CPU µArch Insight | 17-slide editable deck</dc:title>
  <dc:subject>Editable presentation generated from SlidePoise scene contracts</dc:subject>
  <dc:creator>SlidePoise</dc:creator>
  <cp:lastModifiedBy>SlidePoise</cp:lastModifiedBy>
  <cp:revision>1</cp:revision>
  <dcterms:created xsi:type="dcterms:W3CDTF">2026-10-27T12:03:57Z</dcterms:created>
  <dcterms:modified xsi:type="dcterms:W3CDTF">2026-10-27T12:03:57Z</dcterms:modified>
</cp:coreProperties>
</file>